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9160" autoAdjust="0"/>
  </p:normalViewPr>
  <p:slideViewPr>
    <p:cSldViewPr snapToGrid="0" snapToObjects="1">
      <p:cViewPr varScale="1">
        <p:scale>
          <a:sx n="66" d="100"/>
          <a:sy n="66" d="100"/>
        </p:scale>
        <p:origin x="19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1349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 OPENING]</a:t>
            </a:r>
          </a:p>
          <a:p>
            <a:endParaRPr lang="en-US" dirty="0"/>
          </a:p>
          <a:p>
            <a:r>
              <a:rPr lang="en-US" dirty="0"/>
              <a:t>Start before the slides go up if possible — introduce yourself while people settle.</a:t>
            </a:r>
          </a:p>
          <a:p>
            <a:endParaRPr lang="en-US" dirty="0"/>
          </a:p>
          <a:p>
            <a:r>
              <a:rPr lang="en-US" dirty="0"/>
              <a:t>"My name is Dumisani Masimini, I'm a penetration tester at Pentest People. And this talk is about something I see every week — testers, sometimes myself included, leaning on AI in ways that are quietly hurting the quality of their work."</a:t>
            </a:r>
          </a:p>
          <a:p>
            <a:endParaRPr lang="en-US" dirty="0"/>
          </a:p>
          <a:p>
            <a:r>
              <a:rPr lang="en-US" dirty="0"/>
              <a:t>Pause. Let that land.</a:t>
            </a:r>
          </a:p>
          <a:p>
            <a:endParaRPr lang="en-US" dirty="0"/>
          </a:p>
          <a:p>
            <a:r>
              <a:rPr lang="en-US" dirty="0"/>
              <a:t>"This isn't a talk about whether AI is good or bad. I use it. You probably use it. The question is whether we're using it well."</a:t>
            </a:r>
          </a:p>
          <a:p>
            <a:endParaRPr lang="en-US" dirty="0"/>
          </a:p>
          <a:p>
            <a:r>
              <a:rPr lang="en-US" dirty="0"/>
              <a:t>Point to the terminal on the right — "247 findings, 14 confirmed. That gap? That's what this talk is about."</a:t>
            </a:r>
          </a:p>
          <a:p>
            <a:endParaRPr lang="en-US" dirty="0"/>
          </a:p>
          <a:p>
            <a:r>
              <a:rPr lang="en-US" dirty="0"/>
              <a:t>Transition: "Let's start with why I wanted to give this talk."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SCENE SETTING]</a:t>
            </a:r>
          </a:p>
          <a:p>
            <a:endParaRPr lang="en-US" dirty="0"/>
          </a:p>
          <a:p>
            <a:r>
              <a:rPr lang="en-US" dirty="0"/>
              <a:t>Why this talk?</a:t>
            </a:r>
          </a:p>
          <a:p>
            <a:endParaRPr lang="en-US" dirty="0"/>
          </a:p>
          <a:p>
            <a:r>
              <a:rPr lang="en-US" dirty="0"/>
              <a:t>AI is Everywhere:</a:t>
            </a:r>
          </a:p>
          <a:p>
            <a:r>
              <a:rPr lang="en-US" dirty="0"/>
              <a:t>"It's not just vendors pushing this. It's in LinkedIn posts, conference talks, job ads. Everyone is talking about AI and offensive security in the same breath."</a:t>
            </a:r>
          </a:p>
          <a:p>
            <a:endParaRPr lang="en-US" dirty="0"/>
          </a:p>
          <a:p>
            <a:r>
              <a:rPr lang="en-US" dirty="0"/>
              <a:t>The Big Question:</a:t>
            </a:r>
          </a:p>
          <a:p>
            <a:r>
              <a:rPr lang="en-US" dirty="0"/>
              <a:t>"And the question everyone is quietly asking — can AI just do it for me? If you've never thought this, you're either very experienced or not being honest with yourself."</a:t>
            </a:r>
          </a:p>
          <a:p>
            <a:endParaRPr lang="en-US" dirty="0"/>
          </a:p>
          <a:p>
            <a:r>
              <a:rPr lang="en-US" dirty="0"/>
              <a:t>The Real Risk:</a:t>
            </a:r>
          </a:p>
          <a:p>
            <a:r>
              <a:rPr lang="en-US" dirty="0"/>
              <a:t>"But here's what I've noticed. The risk isn't that AI replaces us. The risk is that we start relying on it without thinking. That we get careless. That we start treating AI output as verified truth."</a:t>
            </a:r>
          </a:p>
          <a:p>
            <a:endParaRPr lang="en-US" dirty="0"/>
          </a:p>
          <a:p>
            <a:r>
              <a:rPr lang="en-US" dirty="0"/>
              <a:t>Bottom bar: Read it out loud. "This is a reality check. Not a vendor pitch, not a scare story — a practical look at where we are."</a:t>
            </a:r>
          </a:p>
          <a:p>
            <a:endParaRPr lang="en-US" dirty="0"/>
          </a:p>
          <a:p>
            <a:r>
              <a:rPr lang="en-US" dirty="0"/>
              <a:t>Transition: "So let me frame the whole talk with one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 CORE FRAMING]</a:t>
            </a:r>
          </a:p>
          <a:p>
            <a:endParaRPr lang="en-US" dirty="0"/>
          </a:p>
          <a:p>
            <a:r>
              <a:rPr lang="en-US" dirty="0"/>
              <a:t>This is the slide to pause on longest. Read the question aloud, slowly.</a:t>
            </a:r>
          </a:p>
          <a:p>
            <a:endParaRPr lang="en-US" dirty="0"/>
          </a:p>
          <a:p>
            <a:r>
              <a:rPr lang="en-US" dirty="0"/>
              <a:t>"Are you using AI as a tool… or letting it think for you?"</a:t>
            </a:r>
          </a:p>
          <a:p>
            <a:endParaRPr lang="en-US" dirty="0"/>
          </a:p>
          <a:p>
            <a:r>
              <a:rPr lang="en-US" dirty="0"/>
              <a:t>Then silence for 3-5 seconds. Let the room sit with it.</a:t>
            </a:r>
          </a:p>
          <a:p>
            <a:endParaRPr lang="en-US" dirty="0"/>
          </a:p>
          <a:p>
            <a:r>
              <a:rPr lang="en-US" dirty="0"/>
              <a:t>"Two outcomes. Tool — you get better, faster. Dependent — you start producing work you can't stand behind."</a:t>
            </a:r>
          </a:p>
          <a:p>
            <a:endParaRPr lang="en-US" dirty="0"/>
          </a:p>
          <a:p>
            <a:r>
              <a:rPr lang="en-US" dirty="0"/>
              <a:t>"Everything in this talk comes back to this question. Keep it in mind."</a:t>
            </a:r>
          </a:p>
          <a:p>
            <a:endParaRPr lang="en-US" dirty="0"/>
          </a:p>
          <a:p>
            <a:r>
              <a:rPr lang="en-US" dirty="0"/>
              <a:t>Optional: Ask the room — "How many of you use AI in your workflow today?" (Show of hands expected to be high.)</a:t>
            </a:r>
          </a:p>
          <a:p>
            <a:r>
              <a:rPr lang="en-US" dirty="0"/>
              <a:t>"And how many of you have caught it being wrong?" (Also high.)</a:t>
            </a:r>
          </a:p>
          <a:p>
            <a:r>
              <a:rPr lang="en-US" dirty="0"/>
              <a:t>"Right. So we already know it fails. The question is what we do about it."</a:t>
            </a:r>
          </a:p>
          <a:p>
            <a:endParaRPr lang="en-US" dirty="0"/>
          </a:p>
          <a:p>
            <a:r>
              <a:rPr lang="en-US" dirty="0"/>
              <a:t>Transition: "Here's where we're going."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 ROADMAP]</a:t>
            </a:r>
          </a:p>
          <a:p>
            <a:endParaRPr lang="en-US" dirty="0"/>
          </a:p>
          <a:p>
            <a:r>
              <a:rPr lang="en-US" dirty="0"/>
              <a:t>Keep this brief — it's orientation, not content.</a:t>
            </a:r>
          </a:p>
          <a:p>
            <a:endParaRPr lang="en-US" dirty="0"/>
          </a:p>
          <a:p>
            <a:r>
              <a:rPr lang="en-US" dirty="0"/>
              <a:t>"Six areas. We'll move through them quickly. First the hype, then where AI genuinely helps, where it fails, the real risks, how to use it properly, and what it means for your career."</a:t>
            </a:r>
          </a:p>
          <a:p>
            <a:endParaRPr lang="en-US" dirty="0"/>
          </a:p>
          <a:p>
            <a:r>
              <a:rPr lang="en-US" dirty="0"/>
              <a:t>"If you're taking notes — the last three sections are the ones to focus on. The first three set the context."</a:t>
            </a:r>
          </a:p>
          <a:p>
            <a:endParaRPr lang="en-US" dirty="0"/>
          </a:p>
          <a:p>
            <a:r>
              <a:rPr lang="en-US" dirty="0"/>
              <a:t>Transition: "Let's start with the hype."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INDUSTRY CONTEXT]</a:t>
            </a:r>
          </a:p>
          <a:p>
            <a:endParaRPr lang="en-US" dirty="0"/>
          </a:p>
          <a:p>
            <a:r>
              <a:rPr lang="en-US" dirty="0"/>
              <a:t>Read each claim with a slight pause after each one — let people recognise them.</a:t>
            </a:r>
          </a:p>
          <a:p>
            <a:endParaRPr lang="en-US" dirty="0"/>
          </a:p>
          <a:p>
            <a:r>
              <a:rPr lang="en-US" dirty="0"/>
              <a:t>"AI will replace pentesters." Pause.</a:t>
            </a:r>
          </a:p>
          <a:p>
            <a:r>
              <a:rPr lang="en-US" dirty="0"/>
              <a:t>"Just prompt your way to exploitation." Pause.</a:t>
            </a:r>
          </a:p>
          <a:p>
            <a:r>
              <a:rPr lang="en-US" dirty="0"/>
              <a:t>"Fully automated pentesting is here." Pause.</a:t>
            </a:r>
          </a:p>
          <a:p>
            <a:endParaRPr lang="en-US" dirty="0"/>
          </a:p>
          <a:p>
            <a:r>
              <a:rPr lang="en-US" dirty="0"/>
              <a:t>"I've heard all of these. At conferences. From vendors. On LinkedIn. And there's enough truth in each of them to make them sound plausible."</a:t>
            </a:r>
          </a:p>
          <a:p>
            <a:endParaRPr lang="en-US" dirty="0"/>
          </a:p>
          <a:p>
            <a:r>
              <a:rPr lang="en-US" dirty="0"/>
              <a:t>"But here's what happens when you actually try it on a real engagement..."</a:t>
            </a:r>
          </a:p>
          <a:p>
            <a:endParaRPr lang="en-US" dirty="0"/>
          </a:p>
          <a:p>
            <a:r>
              <a:rPr lang="en-US" dirty="0"/>
              <a:t>Bottom bar: "Sounds great... until you try it."</a:t>
            </a:r>
          </a:p>
          <a:p>
            <a:endParaRPr lang="en-US" dirty="0"/>
          </a:p>
          <a:p>
            <a:r>
              <a:rPr lang="en-US" dirty="0"/>
              <a:t>"Not because the tools are useless. But because real engagements are messy, contextual, and full of edge cases that AI isn't built to handle."</a:t>
            </a:r>
          </a:p>
          <a:p>
            <a:endParaRPr lang="en-US" dirty="0"/>
          </a:p>
          <a:p>
            <a:r>
              <a:rPr lang="en-US" dirty="0"/>
              <a:t>Transition: "So let's be fair — where does AI actually deliver?"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GIVING CREDIT]</a:t>
            </a:r>
          </a:p>
          <a:p>
            <a:endParaRPr lang="en-US" dirty="0"/>
          </a:p>
          <a:p>
            <a:r>
              <a:rPr lang="en-US" dirty="0"/>
              <a:t>Important: be genuinely positive here. Don't be dismissive.</a:t>
            </a:r>
          </a:p>
          <a:p>
            <a:endParaRPr lang="en-US" dirty="0"/>
          </a:p>
          <a:p>
            <a:r>
              <a:rPr lang="en-US" dirty="0"/>
              <a:t>"I want to be clear — AI is genuinely useful. These four things are real wins."</a:t>
            </a:r>
          </a:p>
          <a:p>
            <a:endParaRPr lang="en-US" dirty="0"/>
          </a:p>
          <a:p>
            <a:r>
              <a:rPr lang="en-US" dirty="0"/>
              <a:t>Walk through each card:</a:t>
            </a:r>
          </a:p>
          <a:p>
            <a:endParaRPr lang="en-US" dirty="0"/>
          </a:p>
          <a:p>
            <a:r>
              <a:rPr lang="en-US" dirty="0"/>
              <a:t>Payload Generation: "If I need 20 variations of an XSS payload fast, AI is brilliant at that. It's pattern generation at speed."</a:t>
            </a:r>
          </a:p>
          <a:p>
            <a:endParaRPr lang="en-US" dirty="0"/>
          </a:p>
          <a:p>
            <a:r>
              <a:rPr lang="en-US" dirty="0"/>
              <a:t>Scripting: "Need a quick Python script to parse Burp output or automate a workflow? AI gets you 80% of the way there in seconds."</a:t>
            </a:r>
          </a:p>
          <a:p>
            <a:endParaRPr lang="en-US" dirty="0"/>
          </a:p>
          <a:p>
            <a:r>
              <a:rPr lang="en-US" dirty="0"/>
              <a:t>Recon &amp; Enumeration: "Feeding scan results into AI to get a structured summary and suggested next steps? Very useful, especially under time pressure."</a:t>
            </a:r>
          </a:p>
          <a:p>
            <a:endParaRPr lang="en-US" dirty="0"/>
          </a:p>
          <a:p>
            <a:r>
              <a:rPr lang="en-US" dirty="0"/>
              <a:t>Report Writing: "First draft of a finding description? AI will give you something to work with. It saves time."</a:t>
            </a:r>
          </a:p>
          <a:p>
            <a:endParaRPr lang="en-US" dirty="0"/>
          </a:p>
          <a:p>
            <a:r>
              <a:rPr lang="en-US" dirty="0"/>
              <a:t>"The key phrase in all of those is 'starting point.' AI gives you speed and breadth. It does not give you understanding."</a:t>
            </a:r>
          </a:p>
          <a:p>
            <a:endParaRPr lang="en-US" dirty="0"/>
          </a:p>
          <a:p>
            <a:r>
              <a:rPr lang="en-US" dirty="0"/>
              <a:t>Bottom bar: Read it. "AI equals speed, not understanding."</a:t>
            </a:r>
          </a:p>
          <a:p>
            <a:endParaRPr lang="en-US" dirty="0"/>
          </a:p>
          <a:p>
            <a:r>
              <a:rPr lang="en-US" dirty="0"/>
              <a:t>Transition: "Let me show you what that looks like in practice."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 DEMO — HIGH IMPACT SLIDE]</a:t>
            </a:r>
          </a:p>
          <a:p>
            <a:endParaRPr lang="en-US" dirty="0"/>
          </a:p>
          <a:p>
            <a:r>
              <a:rPr lang="en-US" dirty="0"/>
              <a:t>If doing a live demo: open a chat with an AI tool, type 'find SQL injection vulnerabilities' or 'give me SQL injection payloads.'</a:t>
            </a:r>
          </a:p>
          <a:p>
            <a:endParaRPr lang="en-US" dirty="0"/>
          </a:p>
          <a:p>
            <a:r>
              <a:rPr lang="en-US" dirty="0"/>
              <a:t>If not live, walk through the terminal on screen.</a:t>
            </a:r>
          </a:p>
          <a:p>
            <a:endParaRPr lang="en-US" dirty="0"/>
          </a:p>
          <a:p>
            <a:r>
              <a:rPr lang="en-US" dirty="0"/>
              <a:t>"Watch what happens. I ask for SQL injection payloads. Within seconds..."</a:t>
            </a:r>
          </a:p>
          <a:p>
            <a:endParaRPr lang="en-US" dirty="0"/>
          </a:p>
          <a:p>
            <a:r>
              <a:rPr lang="en-US" dirty="0"/>
              <a:t>Point to the left terminal: "I get a list. It looks right. ' OR 1=1--, UNION SELECT, the classics. It's impressive. It feels like progress."</a:t>
            </a:r>
          </a:p>
          <a:p>
            <a:endParaRPr lang="en-US" dirty="0"/>
          </a:p>
          <a:p>
            <a:r>
              <a:rPr lang="en-US" dirty="0"/>
              <a:t>"Now look at the right side."</a:t>
            </a:r>
          </a:p>
          <a:p>
            <a:endParaRPr lang="en-US" dirty="0"/>
          </a:p>
          <a:p>
            <a:r>
              <a:rPr lang="en-US" dirty="0"/>
              <a:t>Point to the green checks: "AI gave us payloads instantly. It looks impressive. It feels like progress."</a:t>
            </a:r>
          </a:p>
          <a:p>
            <a:endParaRPr lang="en-US" dirty="0"/>
          </a:p>
          <a:p>
            <a:r>
              <a:rPr lang="en-US" dirty="0"/>
              <a:t>Then shift to the red crosses: "But — did we validate a single one? Did we look at the actual HTTP response? Did we confirm there's even a SQL injection point? Did we check the context — authentication, WAF, parameterisation?"</a:t>
            </a:r>
          </a:p>
          <a:p>
            <a:endParaRPr lang="en-US" dirty="0"/>
          </a:p>
          <a:p>
            <a:r>
              <a:rPr lang="en-US" dirty="0"/>
              <a:t>"No. We got a list and it felt like work. That's the trap."</a:t>
            </a:r>
          </a:p>
          <a:p>
            <a:endParaRPr lang="en-US" dirty="0"/>
          </a:p>
          <a:p>
            <a:r>
              <a:rPr lang="en-US" dirty="0"/>
              <a:t> "Did we validate anything?"</a:t>
            </a:r>
          </a:p>
          <a:p>
            <a:endParaRPr lang="en-US" dirty="0"/>
          </a:p>
          <a:p>
            <a:r>
              <a:rPr lang="en-US" dirty="0"/>
              <a:t>"This gap — between generating output and doing the work — is where Auto-Fail begins."</a:t>
            </a:r>
          </a:p>
          <a:p>
            <a:endParaRPr lang="en-US" dirty="0"/>
          </a:p>
          <a:p>
            <a:r>
              <a:rPr lang="en-US" dirty="0"/>
              <a:t>Transition: "Let me show you exactly what that failure looks like."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THE FAILURES]</a:t>
            </a:r>
          </a:p>
          <a:p>
            <a:endParaRPr lang="en-US" dirty="0"/>
          </a:p>
          <a:p>
            <a:r>
              <a:rPr lang="en-US" dirty="0"/>
              <a:t>"AI doesn't just occasionally get things wrong. It fails in specific, predictable ways that are dangerous in a pentesting context."</a:t>
            </a:r>
          </a:p>
          <a:p>
            <a:endParaRPr lang="en-US" dirty="0"/>
          </a:p>
          <a:p>
            <a:r>
              <a:rPr lang="en-US" dirty="0"/>
              <a:t>Walk through each card:</a:t>
            </a:r>
          </a:p>
          <a:p>
            <a:endParaRPr lang="en-US" dirty="0"/>
          </a:p>
          <a:p>
            <a:r>
              <a:rPr lang="en-US" dirty="0"/>
              <a:t>Hallucinated Vulnerabilities: "This is the worst one. AI will report a vulnerability with full confidence — CVE reference, description, remediation, severity — and it simply doesn't exist on the target. It invented it. And it won't tell you that."</a:t>
            </a:r>
          </a:p>
          <a:p>
            <a:endParaRPr lang="en-US" dirty="0"/>
          </a:p>
          <a:p>
            <a:r>
              <a:rPr lang="en-US" dirty="0"/>
              <a:t>Incorrect Payloads: "Payloads that look syntactically correct but don't work. Or worse — payloads that crash the application. I've seen both."</a:t>
            </a:r>
          </a:p>
          <a:p>
            <a:endParaRPr lang="en-US" dirty="0"/>
          </a:p>
          <a:p>
            <a:r>
              <a:rPr lang="en-US" dirty="0"/>
              <a:t>Outdated Techniques: "AI training data has a cutoff. The bypass that worked in 2022 might be blocked by every modern WAF. AI doesn't know that."</a:t>
            </a:r>
          </a:p>
          <a:p>
            <a:endParaRPr lang="en-US" dirty="0"/>
          </a:p>
          <a:p>
            <a:r>
              <a:rPr lang="en-US" dirty="0"/>
              <a:t>Misread Responses: "AI can't actually interact with the target. It's guessing based on patterns. When you describe a response, it interprets it — often wrong."</a:t>
            </a:r>
          </a:p>
          <a:p>
            <a:endParaRPr lang="en-US" dirty="0"/>
          </a:p>
          <a:p>
            <a:r>
              <a:rPr lang="en-US" dirty="0"/>
              <a:t>Bottom bar: "AI sounds confident even when it's completely wrong."</a:t>
            </a:r>
          </a:p>
          <a:p>
            <a:endParaRPr lang="en-US" dirty="0"/>
          </a:p>
          <a:p>
            <a:r>
              <a:rPr lang="en-US" dirty="0"/>
              <a:t>"And that confidence is the real problem. Humans hedge. AI doesn't. It presents a hallucinated finding with the same tone as a real one."</a:t>
            </a:r>
          </a:p>
          <a:p>
            <a:endParaRPr lang="en-US" dirty="0"/>
          </a:p>
          <a:p>
            <a:r>
              <a:rPr lang="en-US" dirty="0"/>
              <a:t>Transition: "This creates a dangerous shift in how we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THE CORE PARADOX]</a:t>
            </a:r>
          </a:p>
          <a:p>
            <a:endParaRPr lang="en-US" dirty="0"/>
          </a:p>
          <a:p>
            <a:r>
              <a:rPr lang="en-US" dirty="0"/>
              <a:t>Read the quote slowly: "AI lowers the barrier to doing things... but not to doing them well."</a:t>
            </a:r>
          </a:p>
          <a:p>
            <a:endParaRPr lang="en-US" dirty="0"/>
          </a:p>
          <a:p>
            <a:r>
              <a:rPr lang="en-US" dirty="0"/>
              <a:t>"That's the paradox. More output, less understanding, higher risk."</a:t>
            </a:r>
          </a:p>
          <a:p>
            <a:endParaRPr lang="en-US" dirty="0"/>
          </a:p>
          <a:p>
            <a:r>
              <a:rPr lang="en-US" dirty="0"/>
              <a:t>Walk through the three columns:</a:t>
            </a:r>
          </a:p>
          <a:p>
            <a:endParaRPr lang="en-US" dirty="0"/>
          </a:p>
          <a:p>
            <a:r>
              <a:rPr lang="en-US" dirty="0"/>
              <a:t>More Output: "You can generate more findings, more payloads, more report text than ever before. Volume goes up."</a:t>
            </a:r>
          </a:p>
          <a:p>
            <a:endParaRPr lang="en-US" dirty="0"/>
          </a:p>
          <a:p>
            <a:r>
              <a:rPr lang="en-US" dirty="0"/>
              <a:t>Less Understanding: "But when AI does the thinking, your own understanding doesn't grow. You get the answer without learning the method."</a:t>
            </a:r>
          </a:p>
          <a:p>
            <a:endParaRPr lang="en-US" dirty="0"/>
          </a:p>
          <a:p>
            <a:r>
              <a:rPr lang="en-US" dirty="0"/>
              <a:t>Higher Risk: "Combine more output with less understanding and you've created the conditions for serious mistakes to enter a client report."</a:t>
            </a:r>
          </a:p>
          <a:p>
            <a:endParaRPr lang="en-US" dirty="0"/>
          </a:p>
          <a:p>
            <a:r>
              <a:rPr lang="en-US" dirty="0"/>
              <a:t>"This isn't unique to pentesting. It's the pattern with every productivity tool that does cognitive work for you. But in our field, the stakes are higher — because clients make security decisions based on what we tell them."</a:t>
            </a:r>
          </a:p>
          <a:p>
            <a:endParaRPr lang="en-US" dirty="0"/>
          </a:p>
          <a:p>
            <a:r>
              <a:rPr lang="en-US" dirty="0"/>
              <a:t>Transition: "Let me show you what this looks like as a behaviour pattern."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BEHAVIOUR PATTERNS]</a:t>
            </a:r>
          </a:p>
          <a:p>
            <a:endParaRPr lang="en-US" dirty="0"/>
          </a:p>
          <a:p>
            <a:r>
              <a:rPr lang="en-US" dirty="0"/>
              <a:t>"I want to read through these and be honest — I've done at least two of these myself."</a:t>
            </a:r>
          </a:p>
          <a:p>
            <a:endParaRPr lang="en-US" dirty="0"/>
          </a:p>
          <a:p>
            <a:r>
              <a:rPr lang="en-US" dirty="0"/>
              <a:t>Walk through each behaviour:</a:t>
            </a:r>
          </a:p>
          <a:p>
            <a:endParaRPr lang="en-US" dirty="0"/>
          </a:p>
          <a:p>
            <a:r>
              <a:rPr lang="en-US" dirty="0"/>
              <a:t>1: "Copy/paste payloads without testing. You find a list that looks right and put it straight into the report. It looks complete and thoughtful. It isn't."</a:t>
            </a:r>
          </a:p>
          <a:p>
            <a:endParaRPr lang="en-US" dirty="0"/>
          </a:p>
          <a:p>
            <a:r>
              <a:rPr lang="en-US" dirty="0"/>
              <a:t>2: "Trusting AI explanations blindly. AI explains how the vulnerability works. You use that explanation in the report. But you never verified the explanation is correct for this specific implementation."</a:t>
            </a:r>
          </a:p>
          <a:p>
            <a:endParaRPr lang="en-US" dirty="0"/>
          </a:p>
          <a:p>
            <a:r>
              <a:rPr lang="en-US" dirty="0"/>
              <a:t>3: "Skipping fundamentals because AI can explain it. 'I don't need to understand SQLi properly, I can just ask AI.' That's a ceiling on your development."</a:t>
            </a:r>
          </a:p>
          <a:p>
            <a:endParaRPr lang="en-US" dirty="0"/>
          </a:p>
          <a:p>
            <a:r>
              <a:rPr lang="en-US" dirty="0"/>
              <a:t>4: "Chasing speed over accuracy. More findings in less time. Sounds like a win — until a client pushes back on three of them."</a:t>
            </a:r>
          </a:p>
          <a:p>
            <a:endParaRPr lang="en-US" dirty="0"/>
          </a:p>
          <a:p>
            <a:r>
              <a:rPr lang="en-US" dirty="0"/>
              <a:t>5: "Can't explain your own findings. If a client asks 'how does this work?' and you can't answer without AI, you don't own the finding."</a:t>
            </a:r>
          </a:p>
          <a:p>
            <a:endParaRPr lang="en-US" dirty="0"/>
          </a:p>
          <a:p>
            <a:r>
              <a:rPr lang="en-US" dirty="0"/>
              <a:t>Bottom bar: "Feels efficient. Isn't."</a:t>
            </a:r>
          </a:p>
          <a:p>
            <a:endParaRPr lang="en-US" dirty="0"/>
          </a:p>
          <a:p>
            <a:r>
              <a:rPr lang="en-US" dirty="0"/>
              <a:t>Transition: "And here's what happens when these behaviours play out on a real engagement."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REAL CONSEQUENCES]</a:t>
            </a:r>
          </a:p>
          <a:p>
            <a:endParaRPr lang="en-US" dirty="0"/>
          </a:p>
          <a:p>
            <a:r>
              <a:rPr lang="en-US" dirty="0"/>
              <a:t>"These aren't theoretical. These are things that happen on real engagements."</a:t>
            </a:r>
          </a:p>
          <a:p>
            <a:endParaRPr lang="en-US" dirty="0"/>
          </a:p>
          <a:p>
            <a:r>
              <a:rPr lang="en-US" dirty="0"/>
              <a:t>False Positives: "You report a SQL injection that doesn't exist. The client's dev team spends a week investigating. They come back and tell you it's not there. That conversation is awful."</a:t>
            </a:r>
          </a:p>
          <a:p>
            <a:endParaRPr lang="en-US" dirty="0"/>
          </a:p>
          <a:p>
            <a:r>
              <a:rPr lang="en-US" dirty="0"/>
              <a:t>Missed Vulnerabilities: "AI finds the patterns it's been trained on. A chained vulnerability — a minor IDOR that combines with a misconfigured S3 bucket — it won't find that. You might miss the critical finding because you relied on AI to do the discovery."</a:t>
            </a:r>
          </a:p>
          <a:p>
            <a:endParaRPr lang="en-US" dirty="0"/>
          </a:p>
          <a:p>
            <a:r>
              <a:rPr lang="en-US" dirty="0"/>
              <a:t>Broken Exploit Chains: "Each step looks valid in isolation. But the full chain doesn't work because context was lost between prompts. You can't demo it. The client loses confidence."</a:t>
            </a:r>
          </a:p>
          <a:p>
            <a:endParaRPr lang="en-US" dirty="0"/>
          </a:p>
          <a:p>
            <a:r>
              <a:rPr lang="en-US" dirty="0"/>
              <a:t>Loss of Trust: "One wrong finding is recoverable. Multiple wrong findings are not. A client who doubts your report won't act on the real findings. That's a security failure — not just a reputation failure."</a:t>
            </a:r>
          </a:p>
          <a:p>
            <a:endParaRPr lang="en-US" dirty="0"/>
          </a:p>
          <a:p>
            <a:r>
              <a:rPr lang="en-US" dirty="0"/>
              <a:t>Bottom bar: "This is where careers take a hit."</a:t>
            </a:r>
          </a:p>
          <a:p>
            <a:endParaRPr lang="en-US" dirty="0"/>
          </a:p>
          <a:p>
            <a:r>
              <a:rPr lang="en-US" dirty="0"/>
              <a:t>Transition: "Which brings me to the thing I want to talk about most — credibility."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HIGH STAKES — PAUSE HERE]</a:t>
            </a:r>
          </a:p>
          <a:p>
            <a:endParaRPr lang="en-US" dirty="0"/>
          </a:p>
          <a:p>
            <a:r>
              <a:rPr lang="en-US" dirty="0"/>
              <a:t>"Credibility is everything in this field. And it's fragile."</a:t>
            </a:r>
          </a:p>
          <a:p>
            <a:r>
              <a:rPr lang="en-US" dirty="0"/>
              <a:t>"One wrong finding — creates doubt. The client starts wondering about the others."</a:t>
            </a:r>
          </a:p>
          <a:p>
            <a:r>
              <a:rPr lang="en-US" dirty="0"/>
              <a:t>"Several wrong findings — adds distrust. They're now scrutinising everything."</a:t>
            </a:r>
          </a:p>
          <a:p>
            <a:r>
              <a:rPr lang="en-US" dirty="0"/>
              <a:t>"Blind AI usage — eventually reputation damage. Not just with this client. Word travels."</a:t>
            </a:r>
          </a:p>
          <a:p>
            <a:endParaRPr lang="en-US" dirty="0"/>
          </a:p>
          <a:p>
            <a:r>
              <a:rPr lang="en-US" dirty="0"/>
              <a:t>The quote — read it twice:</a:t>
            </a:r>
          </a:p>
          <a:p>
            <a:r>
              <a:rPr lang="en-US" dirty="0"/>
              <a:t>"You don't lose credibility because AI is wrong."</a:t>
            </a:r>
          </a:p>
          <a:p>
            <a:r>
              <a:rPr lang="en-US" dirty="0"/>
              <a:t>"You lose it because you didn't catch it."</a:t>
            </a:r>
          </a:p>
          <a:p>
            <a:endParaRPr lang="en-US" dirty="0"/>
          </a:p>
          <a:p>
            <a:r>
              <a:rPr lang="en-US" dirty="0"/>
              <a:t>"That's the part people miss. Everyone knows AI can be wrong. What they won't forgive is a professional who didn't notice."</a:t>
            </a:r>
          </a:p>
          <a:p>
            <a:endParaRPr lang="en-US" dirty="0"/>
          </a:p>
          <a:p>
            <a:r>
              <a:rPr lang="en-US" dirty="0"/>
              <a:t>"Your job isn't to use AI. Your job is to produce accurate, trustworthy assessments. AI assists with that— but you are still accountable for everything that goes in the report."</a:t>
            </a:r>
          </a:p>
          <a:p>
            <a:endParaRPr lang="en-US" dirty="0"/>
          </a:p>
          <a:p>
            <a:r>
              <a:rPr lang="en-US" dirty="0"/>
              <a:t>Pause. Let this breathe.</a:t>
            </a:r>
          </a:p>
          <a:p>
            <a:endParaRPr lang="en-US" dirty="0"/>
          </a:p>
          <a:p>
            <a:r>
              <a:rPr lang="en-US" dirty="0"/>
              <a:t>Transition: "Nowhere is this more critical than in reporting."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REPORTING — CRITICAL]</a:t>
            </a:r>
          </a:p>
          <a:p>
            <a:endParaRPr lang="en-US" dirty="0"/>
          </a:p>
          <a:p>
            <a:r>
              <a:rPr lang="en-US" dirty="0"/>
              <a:t>"Reporting is where I see the most damage done. Because it's where AI looks most impressive — and fails most subtly."</a:t>
            </a:r>
          </a:p>
          <a:p>
            <a:endParaRPr lang="en-US" dirty="0"/>
          </a:p>
          <a:p>
            <a:r>
              <a:rPr lang="en-US" dirty="0"/>
              <a:t>Left column — what AI CAN do:</a:t>
            </a:r>
          </a:p>
          <a:p>
            <a:r>
              <a:rPr lang="en-US" dirty="0"/>
              <a:t>"All of this is real. AI writes clean prose. It structures things nicely. It saves time on the first draft."</a:t>
            </a:r>
          </a:p>
          <a:p>
            <a:endParaRPr lang="en-US" dirty="0"/>
          </a:p>
          <a:p>
            <a:r>
              <a:rPr lang="en-US" dirty="0"/>
              <a:t>Right column — what it WILL do:</a:t>
            </a:r>
          </a:p>
          <a:p>
            <a:r>
              <a:rPr lang="en-US" dirty="0"/>
              <a:t>"But watch what happens in the process."</a:t>
            </a:r>
          </a:p>
          <a:p>
            <a:endParaRPr lang="en-US" dirty="0"/>
          </a:p>
          <a:p>
            <a:r>
              <a:rPr lang="en-US" dirty="0"/>
              <a:t>"It removes context. The specific way this finding affects THIS client — gone. Replaced with generic language."</a:t>
            </a:r>
          </a:p>
          <a:p>
            <a:endParaRPr lang="en-US" dirty="0"/>
          </a:p>
          <a:p>
            <a:r>
              <a:rPr lang="en-US" dirty="0"/>
              <a:t>"It generalises risk. Everything becomes Medium, some even Critical where </a:t>
            </a:r>
            <a:r>
              <a:rPr lang="en-US"/>
              <a:t>they should not be. </a:t>
            </a:r>
            <a:r>
              <a:rPr lang="en-US" dirty="0"/>
              <a:t>Because AI doesn't know whether your client handles financial data or runs a blog."</a:t>
            </a:r>
          </a:p>
          <a:p>
            <a:endParaRPr lang="en-US" dirty="0"/>
          </a:p>
          <a:p>
            <a:r>
              <a:rPr lang="en-US" dirty="0"/>
              <a:t>"It misses business impact. 'An attacker could access the database' — yes, but which database? With what data? What are the regulatory implications?"</a:t>
            </a:r>
          </a:p>
          <a:p>
            <a:endParaRPr lang="en-US" dirty="0"/>
          </a:p>
          <a:p>
            <a:r>
              <a:rPr lang="en-US" dirty="0"/>
              <a:t>"And it sounds authoritative while being wrong. That's the dangerous combination."</a:t>
            </a:r>
          </a:p>
          <a:p>
            <a:endParaRPr lang="en-US" dirty="0"/>
          </a:p>
          <a:p>
            <a:r>
              <a:rPr lang="en-US" dirty="0"/>
              <a:t>Bottom bar: "Reports are your professional reputation. Don't outsource that."</a:t>
            </a:r>
          </a:p>
          <a:p>
            <a:endParaRPr lang="en-US" dirty="0"/>
          </a:p>
          <a:p>
            <a:r>
              <a:rPr lang="en-US" dirty="0"/>
              <a:t>Transition: "Let me show you exactly what I mean."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CONTRAST SLIDE — PART 1]</a:t>
            </a:r>
          </a:p>
          <a:p>
            <a:endParaRPr lang="en-US" dirty="0"/>
          </a:p>
          <a:p>
            <a:r>
              <a:rPr lang="en-US" dirty="0"/>
              <a:t>"This is a real-world style AI-generated finding. I've tidied it up slightly but this is the kind of output you'll get."</a:t>
            </a:r>
          </a:p>
          <a:p>
            <a:endParaRPr lang="en-US" dirty="0"/>
          </a:p>
          <a:p>
            <a:r>
              <a:rPr lang="en-US" dirty="0"/>
              <a:t>Read it aloud or ask the audience to read it.</a:t>
            </a:r>
          </a:p>
          <a:p>
            <a:endParaRPr lang="en-US" dirty="0"/>
          </a:p>
          <a:p>
            <a:r>
              <a:rPr lang="en-US" dirty="0"/>
              <a:t>"Now. Technically — is it wrong? Not really. SQL injection, parameterised queries, that's all correct."</a:t>
            </a:r>
          </a:p>
          <a:p>
            <a:endParaRPr lang="en-US" dirty="0"/>
          </a:p>
          <a:p>
            <a:r>
              <a:rPr lang="en-US" dirty="0"/>
              <a:t>"But ask yourself: if you were the CISO of this company and you read this — would you prioritise it? Would you escalate it to the board? Would you pull developers off other work to fix it this sprint?"</a:t>
            </a:r>
          </a:p>
          <a:p>
            <a:endParaRPr lang="en-US" dirty="0"/>
          </a:p>
          <a:p>
            <a:r>
              <a:rPr lang="en-US" dirty="0"/>
              <a:t>"Probably not. There's nothing urgent here. No proof it works. No data at risk. No deadline. No context."</a:t>
            </a:r>
          </a:p>
          <a:p>
            <a:endParaRPr lang="en-US" dirty="0"/>
          </a:p>
          <a:p>
            <a:r>
              <a:rPr lang="en-US" dirty="0"/>
              <a:t>Point to the annotations:</a:t>
            </a:r>
          </a:p>
          <a:p>
            <a:r>
              <a:rPr lang="en-US" dirty="0"/>
              <a:t>"No exploitation evidence. No business context. Generic recommendation."</a:t>
            </a:r>
          </a:p>
          <a:p>
            <a:endParaRPr lang="en-US" dirty="0"/>
          </a:p>
          <a:p>
            <a:r>
              <a:rPr lang="en-US" dirty="0"/>
              <a:t>"This is the AI-generated finding problem. Not wrong — but not useful either."</a:t>
            </a:r>
          </a:p>
          <a:p>
            <a:endParaRPr lang="en-US" dirty="0"/>
          </a:p>
          <a:p>
            <a:r>
              <a:rPr lang="en-US" dirty="0"/>
              <a:t>Transition: "Here's what the same finding looks like with a human layer."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CONTRAST SLIDE — PART 2]</a:t>
            </a:r>
          </a:p>
          <a:p>
            <a:endParaRPr lang="en-US" dirty="0"/>
          </a:p>
          <a:p>
            <a:r>
              <a:rPr lang="en-US" dirty="0"/>
              <a:t>"Same vulnerability. Different output."</a:t>
            </a:r>
          </a:p>
          <a:p>
            <a:endParaRPr lang="en-US" dirty="0"/>
          </a:p>
          <a:p>
            <a:r>
              <a:rPr lang="en-US" dirty="0"/>
              <a:t>Read through the finding, emphasising the differences:</a:t>
            </a:r>
          </a:p>
          <a:p>
            <a:endParaRPr lang="en-US" dirty="0"/>
          </a:p>
          <a:p>
            <a:r>
              <a:rPr lang="en-US" dirty="0"/>
              <a:t>"Confirmed — we actually tested it. 3 rows extracted. Admin credentials. Full database access."</a:t>
            </a:r>
          </a:p>
          <a:p>
            <a:endParaRPr lang="en-US" dirty="0"/>
          </a:p>
          <a:p>
            <a:r>
              <a:rPr lang="en-US" dirty="0"/>
              <a:t>"50,000 customers. PCI DSS. Regulatory action. Immediate patching before next release."</a:t>
            </a:r>
          </a:p>
          <a:p>
            <a:endParaRPr lang="en-US" dirty="0"/>
          </a:p>
          <a:p>
            <a:r>
              <a:rPr lang="en-US" dirty="0"/>
              <a:t>"Now ask the same question — would the CISO prioritise this? Yes. Would it get escalated? Yes. Would developers get pulled in? Absolutely."</a:t>
            </a:r>
          </a:p>
          <a:p>
            <a:endParaRPr lang="en-US" dirty="0"/>
          </a:p>
          <a:p>
            <a:r>
              <a:rPr lang="en-US" dirty="0"/>
              <a:t>"The difference between these two findings is the difference between a client acting on your report and a client filing it away."</a:t>
            </a:r>
          </a:p>
          <a:p>
            <a:endParaRPr lang="en-US" dirty="0"/>
          </a:p>
          <a:p>
            <a:r>
              <a:rPr lang="en-US" dirty="0"/>
              <a:t>"AI wrote the first version in about 3 seconds. The second version took me 5 minutes and required me to actually understand what I'd found."</a:t>
            </a:r>
          </a:p>
          <a:p>
            <a:endParaRPr lang="en-US" dirty="0"/>
          </a:p>
          <a:p>
            <a:r>
              <a:rPr lang="en-US" dirty="0"/>
              <a:t>Right box: "AI drafts. You decide what matters."</a:t>
            </a:r>
          </a:p>
          <a:p>
            <a:endParaRPr lang="en-US" dirty="0"/>
          </a:p>
          <a:p>
            <a:r>
              <a:rPr lang="en-US" dirty="0"/>
              <a:t>Transition: "There are other places AI fails that are harder to see in a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ENGAGEMENT FAILURES]</a:t>
            </a:r>
          </a:p>
          <a:p>
            <a:endParaRPr lang="en-US" dirty="0"/>
          </a:p>
          <a:p>
            <a:r>
              <a:rPr lang="en-US" dirty="0"/>
              <a:t>"Beyond reporting — there are four ways AI fails during the actual engagement."</a:t>
            </a:r>
          </a:p>
          <a:p>
            <a:endParaRPr lang="en-US" dirty="0"/>
          </a:p>
          <a:p>
            <a:r>
              <a:rPr lang="en-US" dirty="0"/>
              <a:t>Walk through each:</a:t>
            </a:r>
          </a:p>
          <a:p>
            <a:endParaRPr lang="en-US" dirty="0"/>
          </a:p>
          <a:p>
            <a:r>
              <a:rPr lang="en-US" dirty="0"/>
              <a:t>Scope Nuance: "You can't prompt an AI with your scope document and expect it to understand the nuance. 'Is this subdomain in scope?' — that requires reading a contract, understanding context, sometimes calling the client. AI can't do any of that."</a:t>
            </a:r>
          </a:p>
          <a:p>
            <a:endParaRPr lang="en-US" dirty="0"/>
          </a:p>
          <a:p>
            <a:r>
              <a:rPr lang="en-US" dirty="0"/>
              <a:t>Weird Environments: "Legacy IIS 6 on Windows Server 2003. A custom ERP system with proprietary auth. A Cisco appliance with a modified web interface. Old mainframe, </a:t>
            </a:r>
            <a:r>
              <a:rPr lang="en-US" dirty="0" err="1"/>
              <a:t>scada</a:t>
            </a:r>
            <a:r>
              <a:rPr lang="en-US" dirty="0"/>
              <a:t> networks…AI has never seen these. Its suggestions will be generic at best, harmful at worst."</a:t>
            </a:r>
          </a:p>
          <a:p>
            <a:endParaRPr lang="en-US" dirty="0"/>
          </a:p>
          <a:p>
            <a:r>
              <a:rPr lang="en-US" dirty="0"/>
              <a:t>Chained Attacks: "The most valuable findings are often chains. A low-severity IDOR plus an exposed internal API plus a misconfigured role — together, they're critical. AI looks for individual patterns. It doesn't reason about combinations."</a:t>
            </a:r>
          </a:p>
          <a:p>
            <a:endParaRPr lang="en-US" dirty="0"/>
          </a:p>
          <a:p>
            <a:r>
              <a:rPr lang="en-US" dirty="0"/>
              <a:t>Client Conversations: "Explaining a critical finding to a CTO who thinks everything is patched. Handling a client who's defensive about their architecture. Reading the room. These are human skills. Full stop."</a:t>
            </a:r>
          </a:p>
          <a:p>
            <a:endParaRPr lang="en-US" dirty="0"/>
          </a:p>
          <a:p>
            <a:r>
              <a:rPr lang="en-US" dirty="0"/>
              <a:t>Bottom bar: "Pentesting is not just pattern matching."</a:t>
            </a:r>
          </a:p>
          <a:p>
            <a:endParaRPr lang="en-US" dirty="0"/>
          </a:p>
          <a:p>
            <a:r>
              <a:rPr lang="en-US" dirty="0"/>
              <a:t>Transition: "So let me give you the core principle to carry away from this section."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 THE DIVIDING LINE]</a:t>
            </a:r>
          </a:p>
          <a:p>
            <a:endParaRPr lang="en-US" dirty="0"/>
          </a:p>
          <a:p>
            <a:r>
              <a:rPr lang="en-US" dirty="0"/>
              <a:t>Read the quote slowly, with emphasis:</a:t>
            </a:r>
          </a:p>
          <a:p>
            <a:r>
              <a:rPr lang="en-US" dirty="0"/>
              <a:t>"AI can help you find things."</a:t>
            </a:r>
          </a:p>
          <a:p>
            <a:r>
              <a:rPr lang="en-US" dirty="0"/>
              <a:t>Pause.</a:t>
            </a:r>
          </a:p>
          <a:p>
            <a:r>
              <a:rPr lang="en-US" dirty="0"/>
              <a:t>"It cannot help you think critically about them."</a:t>
            </a:r>
          </a:p>
          <a:p>
            <a:endParaRPr lang="en-US" dirty="0"/>
          </a:p>
          <a:p>
            <a:r>
              <a:rPr lang="en-US" dirty="0"/>
              <a:t>"That's the dividing line. And if you take nothing else from this talk, take that."</a:t>
            </a:r>
          </a:p>
          <a:p>
            <a:endParaRPr lang="en-US" dirty="0"/>
          </a:p>
          <a:p>
            <a:r>
              <a:rPr lang="en-US" dirty="0"/>
              <a:t>Left column — what AI helps with:</a:t>
            </a:r>
          </a:p>
          <a:p>
            <a:r>
              <a:rPr lang="en-US" dirty="0"/>
              <a:t>"Pattern matching, draft content, speed tasks. All real value."</a:t>
            </a:r>
          </a:p>
          <a:p>
            <a:endParaRPr lang="en-US" dirty="0"/>
          </a:p>
          <a:p>
            <a:r>
              <a:rPr lang="en-US" dirty="0"/>
              <a:t>Right column — what humans provide:</a:t>
            </a:r>
          </a:p>
          <a:p>
            <a:r>
              <a:rPr lang="en-US" dirty="0"/>
              <a:t>"Exploitation validity, risk prioritisation, business impact, attack chain reasoning. None of these can be delegated."</a:t>
            </a:r>
          </a:p>
          <a:p>
            <a:endParaRPr lang="en-US" dirty="0"/>
          </a:p>
          <a:p>
            <a:r>
              <a:rPr lang="en-US" dirty="0"/>
              <a:t>"The testers who'll thrive are the ones who understand exactly which column they're operating in at any given moment."</a:t>
            </a:r>
          </a:p>
          <a:p>
            <a:endParaRPr lang="en-US" dirty="0"/>
          </a:p>
          <a:p>
            <a:r>
              <a:rPr lang="en-US" dirty="0"/>
              <a:t>Transition: "So how do you actually use AI properly? Here's the practical framework."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 THE FRAMEWORK — ACTIONABLE]</a:t>
            </a:r>
          </a:p>
          <a:p>
            <a:endParaRPr lang="en-US" dirty="0"/>
          </a:p>
          <a:p>
            <a:r>
              <a:rPr lang="en-US" dirty="0"/>
              <a:t>"This is the most practical slide in the deck. If you're going to remember one thing to change tomorrow, this is it."</a:t>
            </a:r>
          </a:p>
          <a:p>
            <a:endParaRPr lang="en-US" dirty="0"/>
          </a:p>
          <a:p>
            <a:r>
              <a:rPr lang="en-US" dirty="0"/>
              <a:t>The framing: "Treat AI like a capable but junior tester. Smart, fast, useful — but not experienced. You review their work. You don't submit it unreviewed."</a:t>
            </a:r>
          </a:p>
          <a:p>
            <a:endParaRPr lang="en-US" dirty="0"/>
          </a:p>
          <a:p>
            <a:r>
              <a:rPr lang="en-US" dirty="0"/>
              <a:t>Left column — what to use AI for:</a:t>
            </a:r>
          </a:p>
          <a:p>
            <a:r>
              <a:rPr lang="en-US" dirty="0"/>
              <a:t>"Brainstorm payload variations — yes. You still decide which ones are plausible."</a:t>
            </a:r>
          </a:p>
          <a:p>
            <a:r>
              <a:rPr lang="en-US" dirty="0"/>
              <a:t>"Draft scripts — yes. You still test them and understand what they do."</a:t>
            </a:r>
          </a:p>
          <a:p>
            <a:r>
              <a:rPr lang="en-US" dirty="0"/>
              <a:t>"Rephrase findings — yes. You still check that context is preserved."</a:t>
            </a:r>
          </a:p>
          <a:p>
            <a:r>
              <a:rPr lang="en-US" dirty="0"/>
              <a:t>"Summarise scan output — yes. You still verify the summary is accurate."</a:t>
            </a:r>
          </a:p>
          <a:p>
            <a:endParaRPr lang="en-US" dirty="0"/>
          </a:p>
          <a:p>
            <a:r>
              <a:rPr lang="en-US" dirty="0"/>
              <a:t>Right column — what not to use it for:</a:t>
            </a:r>
          </a:p>
          <a:p>
            <a:r>
              <a:rPr lang="en-US" dirty="0"/>
              <a:t>"Final decisions on exploitability — never. That's your job."</a:t>
            </a:r>
          </a:p>
          <a:p>
            <a:r>
              <a:rPr lang="en-US" dirty="0"/>
              <a:t>"Validation — never. AI can't test against the real target."</a:t>
            </a:r>
          </a:p>
          <a:p>
            <a:r>
              <a:rPr lang="en-US" dirty="0"/>
              <a:t>"Replacing your understanding — never. If you don't understand it, you don't own it."</a:t>
            </a:r>
          </a:p>
          <a:p>
            <a:r>
              <a:rPr lang="en-US" dirty="0"/>
              <a:t>"Unreviewed reports — never. Your name is on that document."</a:t>
            </a:r>
          </a:p>
          <a:p>
            <a:endParaRPr lang="en-US" dirty="0"/>
          </a:p>
          <a:p>
            <a:r>
              <a:rPr lang="en-US" dirty="0"/>
              <a:t>"This isn't about using AI less. It's about using it right."</a:t>
            </a:r>
          </a:p>
          <a:p>
            <a:endParaRPr lang="en-US" dirty="0"/>
          </a:p>
          <a:p>
            <a:r>
              <a:rPr lang="en-US" dirty="0"/>
              <a:t>Transition: "Let me put this in a workflow you can actually follow."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WORKFLOW — TACTICAL]</a:t>
            </a:r>
          </a:p>
          <a:p>
            <a:endParaRPr lang="en-US" dirty="0"/>
          </a:p>
          <a:p>
            <a:r>
              <a:rPr lang="en-US" dirty="0"/>
              <a:t>"Five steps. Use these as a mental checklist on your next engagement."</a:t>
            </a:r>
          </a:p>
          <a:p>
            <a:endParaRPr lang="en-US" dirty="0"/>
          </a:p>
          <a:p>
            <a:r>
              <a:rPr lang="en-US" dirty="0"/>
              <a:t>Step 1 — Own your enumeration:</a:t>
            </a:r>
          </a:p>
          <a:p>
            <a:r>
              <a:rPr lang="en-US" dirty="0"/>
              <a:t>"Do your own discovery first. Understand the attack surface yourself. Don't start by feeding targets to AI. You need to know what you're looking at."</a:t>
            </a:r>
          </a:p>
          <a:p>
            <a:endParaRPr lang="en-US" dirty="0"/>
          </a:p>
          <a:p>
            <a:r>
              <a:rPr lang="en-US" dirty="0"/>
              <a:t>Step 2 — Use AI to expand:</a:t>
            </a:r>
          </a:p>
          <a:p>
            <a:r>
              <a:rPr lang="en-US" dirty="0"/>
              <a:t>"Once you've done your own enumeration, bring AI in. 'Given this application structure, what attack vectors would you explore?' That's a useful prompt because you already have context to evaluate the answer."</a:t>
            </a:r>
          </a:p>
          <a:p>
            <a:endParaRPr lang="en-US" dirty="0"/>
          </a:p>
          <a:p>
            <a:r>
              <a:rPr lang="en-US" dirty="0"/>
              <a:t>Step 3 — Validate manually:</a:t>
            </a:r>
          </a:p>
          <a:p>
            <a:r>
              <a:rPr lang="en-US" dirty="0"/>
              <a:t>"Every. Single. Suggestion. If AI suggests an attack vector — you test it. No exceptions. Not even for time-pressured engagements. Especially not then."</a:t>
            </a:r>
          </a:p>
          <a:p>
            <a:endParaRPr lang="en-US" dirty="0"/>
          </a:p>
          <a:p>
            <a:r>
              <a:rPr lang="en-US" dirty="0"/>
              <a:t>Step 4 — Test edge cases:</a:t>
            </a:r>
          </a:p>
          <a:p>
            <a:r>
              <a:rPr lang="en-US" dirty="0"/>
              <a:t>"After validating the obvious paths, push further. What did AI miss? What variations didn't it suggest? This is where your expertise adds value."</a:t>
            </a:r>
          </a:p>
          <a:p>
            <a:endParaRPr lang="en-US" dirty="0"/>
          </a:p>
          <a:p>
            <a:r>
              <a:rPr lang="en-US" dirty="0"/>
              <a:t>Step 5 — Then document:</a:t>
            </a:r>
          </a:p>
          <a:p>
            <a:r>
              <a:rPr lang="en-US" dirty="0"/>
              <a:t>"Now write the report. With your analysis, your context, your understanding of this specific client's risk profile. Use AI to draft if you want — but you're driving."</a:t>
            </a:r>
          </a:p>
          <a:p>
            <a:endParaRPr lang="en-US" dirty="0"/>
          </a:p>
          <a:p>
            <a:r>
              <a:rPr lang="en-US" dirty="0"/>
              <a:t>Bottom — the key principle:</a:t>
            </a:r>
          </a:p>
          <a:p>
            <a:r>
              <a:rPr lang="en-US" dirty="0"/>
              <a:t>"AI fits in the middle. Not the start. Not the end. The start is your expertise. The end is your judgment."</a:t>
            </a:r>
          </a:p>
          <a:p>
            <a:endParaRPr lang="en-US" dirty="0"/>
          </a:p>
          <a:p>
            <a:r>
              <a:rPr lang="en-US" dirty="0"/>
              <a:t>Transition: "How do you know if you've drifted too far? Here are the red flags."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SELF-CHECK]</a:t>
            </a:r>
          </a:p>
          <a:p>
            <a:endParaRPr lang="en-US" dirty="0"/>
          </a:p>
          <a:p>
            <a:r>
              <a:rPr lang="en-US" dirty="0"/>
              <a:t>"I want you to be honest with yourself here. How many of these have you done in the last month?"</a:t>
            </a:r>
          </a:p>
          <a:p>
            <a:endParaRPr lang="en-US" dirty="0"/>
          </a:p>
          <a:p>
            <a:r>
              <a:rPr lang="en-US" dirty="0"/>
              <a:t>Walk through each slowly:</a:t>
            </a:r>
          </a:p>
          <a:p>
            <a:endParaRPr lang="en-US" dirty="0"/>
          </a:p>
          <a:p>
            <a:r>
              <a:rPr lang="en-US" dirty="0"/>
              <a:t>"'This looks right' — instead of actually running it. Sounds familiar?"</a:t>
            </a:r>
          </a:p>
          <a:p>
            <a:endParaRPr lang="en-US" dirty="0"/>
          </a:p>
          <a:p>
            <a:r>
              <a:rPr lang="en-US" dirty="0"/>
              <a:t>"Copy/paste into a report. How many of us have done this? Just changed the target name and submitted?"</a:t>
            </a:r>
          </a:p>
          <a:p>
            <a:endParaRPr lang="en-US" dirty="0"/>
          </a:p>
          <a:p>
            <a:r>
              <a:rPr lang="en-US" dirty="0"/>
              <a:t>"Can't explain your own findings. If a client asked you right now to walk them through how this exploit works — could you do it without AI?"</a:t>
            </a:r>
          </a:p>
          <a:p>
            <a:endParaRPr lang="en-US" dirty="0"/>
          </a:p>
          <a:p>
            <a:r>
              <a:rPr lang="en-US" dirty="0"/>
              <a:t>"Skipping manual verification. 'AI said it's confirmed.' Is it though?"</a:t>
            </a:r>
          </a:p>
          <a:p>
            <a:endParaRPr lang="en-US" dirty="0"/>
          </a:p>
          <a:p>
            <a:r>
              <a:rPr lang="en-US" dirty="0"/>
              <a:t>"Your understanding isn't growing. This is the long-term one. If you've been using AI for 6 months and you're not better at pentesting — just faster — something's wrong."</a:t>
            </a:r>
          </a:p>
          <a:p>
            <a:endParaRPr lang="en-US" dirty="0"/>
          </a:p>
          <a:p>
            <a:r>
              <a:rPr lang="en-US" dirty="0"/>
              <a:t>Bottom bar — the key line:</a:t>
            </a:r>
          </a:p>
          <a:p>
            <a:r>
              <a:rPr lang="en-US" dirty="0"/>
              <a:t>"If you can't explain it, you don't own it."</a:t>
            </a:r>
          </a:p>
          <a:p>
            <a:endParaRPr lang="en-US" dirty="0"/>
          </a:p>
          <a:p>
            <a:r>
              <a:rPr lang="en-US" dirty="0"/>
              <a:t>"That phrase should be your internal validator every time you put a finding in a report."</a:t>
            </a:r>
          </a:p>
          <a:p>
            <a:endParaRPr lang="en-US" dirty="0"/>
          </a:p>
          <a:p>
            <a:r>
              <a:rPr lang="en-US" dirty="0"/>
              <a:t>Transition: "The positive side — here's what this means for your value as a tester."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 THE POSITIVE MESSAGE]</a:t>
            </a:r>
          </a:p>
          <a:p>
            <a:endParaRPr lang="en-US" dirty="0"/>
          </a:p>
          <a:p>
            <a:r>
              <a:rPr lang="en-US" dirty="0"/>
              <a:t>"Everything I've said so far might sound like a warning. It is. But it's also an opportunity."</a:t>
            </a:r>
          </a:p>
          <a:p>
            <a:endParaRPr lang="en-US" dirty="0"/>
          </a:p>
          <a:p>
            <a:r>
              <a:rPr lang="en-US" dirty="0"/>
              <a:t>"Because the skills that AI can't replicate — those are the skills that will define the best testers for the next decade."</a:t>
            </a:r>
          </a:p>
          <a:p>
            <a:endParaRPr lang="en-US" dirty="0"/>
          </a:p>
          <a:p>
            <a:r>
              <a:rPr lang="en-US" dirty="0"/>
              <a:t>Walk through each:</a:t>
            </a:r>
          </a:p>
          <a:p>
            <a:endParaRPr lang="en-US" dirty="0"/>
          </a:p>
          <a:p>
            <a:r>
              <a:rPr lang="en-US" dirty="0"/>
              <a:t>Critical Thinking: "The ability to look at a finding and ask 'so what?' and actually answer it. Not just technically — commercially, operationally, possibly  legally. AI can't do that."</a:t>
            </a:r>
          </a:p>
          <a:p>
            <a:endParaRPr lang="en-US" dirty="0"/>
          </a:p>
          <a:p>
            <a:r>
              <a:rPr lang="en-US" dirty="0"/>
              <a:t>Curiosity: "The drive to go deeper than the first result. To ask 'what else is here?' when AI says there's nothing. That mindset is irreplaceable."</a:t>
            </a:r>
          </a:p>
          <a:p>
            <a:endParaRPr lang="en-US" dirty="0"/>
          </a:p>
          <a:p>
            <a:r>
              <a:rPr lang="en-US" dirty="0"/>
              <a:t>Validation Discipline: "The habit of always verifying. Not because you don't trust AI — but because you own the output. This habit, consistently applied, is what separates credible testers from the rest."</a:t>
            </a:r>
          </a:p>
          <a:p>
            <a:endParaRPr lang="en-US" dirty="0"/>
          </a:p>
          <a:p>
            <a:r>
              <a:rPr lang="en-US" dirty="0"/>
              <a:t>Clear Communication: "Translating technical findings into language a board can act on. Handling a difficult debrief call. Building trust with a client. Human skills, permanently."</a:t>
            </a:r>
          </a:p>
          <a:p>
            <a:endParaRPr lang="en-US" dirty="0"/>
          </a:p>
          <a:p>
            <a:r>
              <a:rPr lang="en-US" dirty="0"/>
              <a:t>Bottom: "These are harder to automate. Build them deliberately."</a:t>
            </a:r>
          </a:p>
          <a:p>
            <a:endParaRPr lang="en-US" dirty="0"/>
          </a:p>
          <a:p>
            <a:r>
              <a:rPr lang="en-US" dirty="0"/>
              <a:t>"The tester who pairs these skills with smart AI use will be more valuable than either the tester who refuses AI or the one who depends on it entirely."</a:t>
            </a:r>
          </a:p>
          <a:p>
            <a:endParaRPr lang="en-US" dirty="0"/>
          </a:p>
          <a:p>
            <a:r>
              <a:rPr lang="en-US" dirty="0"/>
              <a:t>Transition: "What does the future look like?"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FUTURE OUTLOOK]</a:t>
            </a:r>
          </a:p>
          <a:p>
            <a:endParaRPr lang="en-US" dirty="0"/>
          </a:p>
          <a:p>
            <a:r>
              <a:rPr lang="en-US" dirty="0"/>
              <a:t>"Three things are certain."</a:t>
            </a:r>
          </a:p>
          <a:p>
            <a:endParaRPr lang="en-US" dirty="0"/>
          </a:p>
          <a:p>
            <a:r>
              <a:rPr lang="en-US" dirty="0"/>
              <a:t>Left column:</a:t>
            </a:r>
          </a:p>
          <a:p>
            <a:r>
              <a:rPr lang="en-US" dirty="0"/>
              <a:t>"AI tools will stay and improve — that's not in question."</a:t>
            </a:r>
          </a:p>
          <a:p>
            <a:r>
              <a:rPr lang="en-US" dirty="0"/>
              <a:t>"Automation will increase — more phases of a pentest will have AI assistance."</a:t>
            </a:r>
          </a:p>
          <a:p>
            <a:r>
              <a:rPr lang="en-US" dirty="0"/>
              <a:t>"The tool landscape will change rapidly — what's new today will be standard in 18 months."</a:t>
            </a:r>
          </a:p>
          <a:p>
            <a:endParaRPr lang="en-US" dirty="0"/>
          </a:p>
          <a:p>
            <a:r>
              <a:rPr lang="en-US" dirty="0"/>
              <a:t>Right quote:</a:t>
            </a:r>
          </a:p>
          <a:p>
            <a:r>
              <a:rPr lang="en-US" dirty="0"/>
              <a:t>"But here's the thing that won't change."</a:t>
            </a:r>
          </a:p>
          <a:p>
            <a:r>
              <a:rPr lang="en-US" dirty="0"/>
              <a:t>Read it: "The best testers won't be the fastest. They'll be the most reliable."</a:t>
            </a:r>
          </a:p>
          <a:p>
            <a:endParaRPr lang="en-US" dirty="0"/>
          </a:p>
          <a:p>
            <a:r>
              <a:rPr lang="en-US" dirty="0"/>
              <a:t>"Clients don't want the report that was generated in half the time. They want the report they can trust. The one that leads to good decisions. The one they can take to their board."</a:t>
            </a:r>
          </a:p>
          <a:p>
            <a:endParaRPr lang="en-US" dirty="0"/>
          </a:p>
          <a:p>
            <a:r>
              <a:rPr lang="en-US" dirty="0"/>
              <a:t>How to stay ahead:</a:t>
            </a:r>
          </a:p>
          <a:p>
            <a:r>
              <a:rPr lang="en-US" dirty="0"/>
              <a:t>"Keep building manual skills alongside AI. Don't let your fundamentals atrophy."</a:t>
            </a:r>
          </a:p>
          <a:p>
            <a:r>
              <a:rPr lang="en-US" dirty="0"/>
              <a:t>"Understand what the tools do, not just their output. Read the source, try to break things manually."</a:t>
            </a:r>
          </a:p>
          <a:p>
            <a:r>
              <a:rPr lang="en-US" dirty="0"/>
              <a:t>"Stay curious. The fundamentals still matter. Buffer overflows still exist. Business logic still gets broken by testers who understand what they're looking at."</a:t>
            </a:r>
          </a:p>
          <a:p>
            <a:endParaRPr lang="en-US" dirty="0"/>
          </a:p>
          <a:p>
            <a:r>
              <a:rPr lang="en-US" dirty="0"/>
              <a:t>Transition: "Let me close with the final message."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 CLOSING STATEMENT]</a:t>
            </a:r>
          </a:p>
          <a:p>
            <a:endParaRPr lang="en-US" dirty="0"/>
          </a:p>
          <a:p>
            <a:r>
              <a:rPr lang="en-US" dirty="0"/>
              <a:t>Read this slide slowly. No rush.</a:t>
            </a:r>
          </a:p>
          <a:p>
            <a:endParaRPr lang="en-US" dirty="0"/>
          </a:p>
          <a:p>
            <a:r>
              <a:rPr lang="en-US" dirty="0"/>
              <a:t>"AI can help you move faster." Pause.</a:t>
            </a:r>
          </a:p>
          <a:p>
            <a:r>
              <a:rPr lang="en-US" dirty="0"/>
              <a:t>"It can even make you look smarter." Pause.</a:t>
            </a:r>
          </a:p>
          <a:p>
            <a:r>
              <a:rPr lang="en-US" dirty="0"/>
              <a:t>"But it cannot replace your judgment." Longer pause.</a:t>
            </a:r>
          </a:p>
          <a:p>
            <a:r>
              <a:rPr lang="en-US" dirty="0"/>
              <a:t>"Auto-Pwn is easy." Pause.</a:t>
            </a:r>
          </a:p>
          <a:p>
            <a:r>
              <a:rPr lang="en-US" dirty="0"/>
              <a:t>"Avoiding Auto-Fail is the real skill."</a:t>
            </a:r>
          </a:p>
          <a:p>
            <a:endParaRPr lang="en-US" dirty="0"/>
          </a:p>
          <a:p>
            <a:r>
              <a:rPr lang="en-US" dirty="0"/>
              <a:t>Silence for 3-4 seconds after the last line.</a:t>
            </a:r>
          </a:p>
          <a:p>
            <a:endParaRPr lang="en-US" dirty="0"/>
          </a:p>
          <a:p>
            <a:r>
              <a:rPr lang="en-US" dirty="0"/>
              <a:t>"Everything I've covered today comes back to that. The tools are available to everyone. The judgment — the ability to know what's real, what matters, and how to communicate it — that's yours."</a:t>
            </a:r>
          </a:p>
          <a:p>
            <a:endParaRPr lang="en-US" dirty="0"/>
          </a:p>
          <a:p>
            <a:r>
              <a:rPr lang="en-US" dirty="0"/>
              <a:t>"Use it."</a:t>
            </a:r>
          </a:p>
          <a:p>
            <a:endParaRPr lang="en-US" dirty="0"/>
          </a:p>
          <a:p>
            <a:r>
              <a:rPr lang="en-US" dirty="0"/>
              <a:t>Transition: "Let me leave you with five things to take home."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 TAKEAWAYS]</a:t>
            </a:r>
          </a:p>
          <a:p>
            <a:endParaRPr lang="en-US" dirty="0"/>
          </a:p>
          <a:p>
            <a:r>
              <a:rPr lang="en-US" dirty="0"/>
              <a:t>Go through each one deliberately. These are the action points.</a:t>
            </a:r>
          </a:p>
          <a:p>
            <a:endParaRPr lang="en-US" dirty="0"/>
          </a:p>
          <a:p>
            <a:r>
              <a:rPr lang="en-US" dirty="0"/>
              <a:t>1 — Validate everything:</a:t>
            </a:r>
          </a:p>
          <a:p>
            <a:r>
              <a:rPr lang="en-US" dirty="0"/>
              <a:t>"Every AI output is a hypothesis until you test it. Treat it that way."</a:t>
            </a:r>
          </a:p>
          <a:p>
            <a:endParaRPr lang="en-US" dirty="0"/>
          </a:p>
          <a:p>
            <a:r>
              <a:rPr lang="en-US" dirty="0"/>
              <a:t>2 — Never outsource your thinking:</a:t>
            </a:r>
          </a:p>
          <a:p>
            <a:r>
              <a:rPr lang="en-US" dirty="0"/>
              <a:t>"You sign the report. You own every finding in it. No exceptions."</a:t>
            </a:r>
          </a:p>
          <a:p>
            <a:endParaRPr lang="en-US" dirty="0"/>
          </a:p>
          <a:p>
            <a:r>
              <a:rPr lang="en-US" dirty="0"/>
              <a:t>3 — Use AI to assist, not decide:</a:t>
            </a:r>
          </a:p>
          <a:p>
            <a:r>
              <a:rPr lang="en-US" dirty="0"/>
              <a:t>"The decision about whether something is a real finding, what severity it is, what the business impact is — those are yours."</a:t>
            </a:r>
          </a:p>
          <a:p>
            <a:endParaRPr lang="en-US" dirty="0"/>
          </a:p>
          <a:p>
            <a:r>
              <a:rPr lang="en-US" dirty="0"/>
              <a:t>4 — Accuracy over speed:</a:t>
            </a:r>
          </a:p>
          <a:p>
            <a:r>
              <a:rPr lang="en-US" dirty="0"/>
              <a:t>"A report with 10 solid findings is worth more than a report with 40 questionable ones. Quality is the differentiator."</a:t>
            </a:r>
          </a:p>
          <a:p>
            <a:endParaRPr lang="en-US" dirty="0"/>
          </a:p>
          <a:p>
            <a:r>
              <a:rPr lang="en-US" dirty="0"/>
              <a:t>5 — Protect your credibility:</a:t>
            </a:r>
          </a:p>
          <a:p>
            <a:r>
              <a:rPr lang="en-US" dirty="0"/>
              <a:t>"It takes years to build trust with clients and a community. One AI-generated false positive in the wrong report can undo that. Not worth it."</a:t>
            </a:r>
          </a:p>
          <a:p>
            <a:endParaRPr lang="en-US" dirty="0"/>
          </a:p>
          <a:p>
            <a:r>
              <a:rPr lang="en-US" dirty="0"/>
              <a:t>"These five habits. That's the talk."</a:t>
            </a:r>
          </a:p>
          <a:p>
            <a:endParaRPr lang="en-US" dirty="0"/>
          </a:p>
          <a:p>
            <a:r>
              <a:rPr lang="en-US" dirty="0"/>
              <a:t>Transition: "And with that — I'm done. Let's talk."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 min | CLOSE — QUESTIONS]</a:t>
            </a:r>
          </a:p>
          <a:p>
            <a:endParaRPr lang="en-US" dirty="0"/>
          </a:p>
          <a:p>
            <a:r>
              <a:rPr lang="en-US" dirty="0"/>
              <a:t>"Use AI. Don't depend on it."</a:t>
            </a:r>
          </a:p>
          <a:p>
            <a:endParaRPr lang="en-US" dirty="0"/>
          </a:p>
          <a:p>
            <a:r>
              <a:rPr lang="en-US" dirty="0"/>
              <a:t>Let the room settle. Don't rush to questions.</a:t>
            </a:r>
          </a:p>
          <a:p>
            <a:endParaRPr lang="en-US" dirty="0"/>
          </a:p>
          <a:p>
            <a:r>
              <a:rPr lang="en-US" dirty="0"/>
              <a:t>"I'm happy to talk about specific tools, specific workflows, real examples from engagements, or anything else you want to dig into."</a:t>
            </a:r>
          </a:p>
          <a:p>
            <a:endParaRPr lang="en-US" dirty="0"/>
          </a:p>
          <a:p>
            <a:r>
              <a:rPr lang="en-US" dirty="0"/>
              <a:t>COMMON QUESTIONS TO PREPARE FOR:</a:t>
            </a:r>
          </a:p>
          <a:p>
            <a:endParaRPr lang="en-US" dirty="0"/>
          </a:p>
          <a:p>
            <a:r>
              <a:rPr lang="en-US" dirty="0"/>
              <a:t>Q: "What AI tools do you actually use?"</a:t>
            </a:r>
          </a:p>
          <a:p>
            <a:r>
              <a:rPr lang="en-US" dirty="0"/>
              <a:t>A: Be specific — mention Claude, ChatGPT, Copilot for code. Talk about what works for each use case. Don't recommend one as a silver bullet.</a:t>
            </a:r>
          </a:p>
          <a:p>
            <a:endParaRPr lang="en-US" dirty="0"/>
          </a:p>
          <a:p>
            <a:r>
              <a:rPr lang="en-US" dirty="0"/>
              <a:t>Q: "What about fully automated pentesting platforms?"</a:t>
            </a:r>
          </a:p>
          <a:p>
            <a:r>
              <a:rPr lang="en-US" dirty="0"/>
              <a:t>A: They have a place — scheduled scans, compliance baselines. But they're not a replacement for manual testing on complex environments. Same principle applies.</a:t>
            </a:r>
          </a:p>
          <a:p>
            <a:endParaRPr lang="en-US" dirty="0"/>
          </a:p>
          <a:p>
            <a:r>
              <a:rPr lang="en-US" dirty="0"/>
              <a:t>Q: "Isn't this just a skill issue? Better prompts = better results?"</a:t>
            </a:r>
          </a:p>
          <a:p>
            <a:r>
              <a:rPr lang="en-US" dirty="0"/>
              <a:t>A: Partially. Better prompts do help. But the fundamental issue is validation — no prompt changes the fact that you need to verify AI output before trusting it.</a:t>
            </a:r>
          </a:p>
          <a:p>
            <a:endParaRPr lang="en-US" dirty="0"/>
          </a:p>
          <a:p>
            <a:r>
              <a:rPr lang="en-US" dirty="0"/>
              <a:t>Q: "Will AI improve to the point where this isn't a problem?"</a:t>
            </a:r>
          </a:p>
          <a:p>
            <a:r>
              <a:rPr lang="en-US" dirty="0"/>
              <a:t>A: Probably for some things. But the judgement layer — business context, chained attacks, client communication — that's a much harder problem. Plan for the current reality.</a:t>
            </a:r>
          </a:p>
          <a:p>
            <a:endParaRPr lang="en-US" dirty="0"/>
          </a:p>
          <a:p>
            <a:r>
              <a:rPr lang="en-US" dirty="0"/>
              <a:t>Thank the audience. Take photos of engaged people for social posts if appropriate.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4757"/>
          </a:solidFill>
          <a:ln/>
        </p:spPr>
      </p:sp>
      <p:sp>
        <p:nvSpPr>
          <p:cNvPr id="3" name="Text 1"/>
          <p:cNvSpPr/>
          <p:nvPr/>
        </p:nvSpPr>
        <p:spPr>
          <a:xfrm>
            <a:off x="365760" y="274320"/>
            <a:ext cx="8229600" cy="320040"/>
          </a:xfrm>
          <a:prstGeom prst="rect">
            <a:avLst/>
          </a:prstGeom>
          <a:noFill/>
          <a:ln/>
        </p:spPr>
        <p:txBody>
          <a:bodyPr wrap="square" lIns="0" tIns="0" rIns="0" bIns="0" rtlCol="0" anchor="ctr"/>
          <a:lstStyle/>
          <a:p>
            <a:pPr marL="0" indent="0">
              <a:buNone/>
            </a:pPr>
            <a:r>
              <a:rPr lang="en-US" sz="1300" dirty="0">
                <a:solidFill>
                  <a:srgbClr val="8B949E"/>
                </a:solidFill>
                <a:latin typeface="Consolas" pitchFamily="34" charset="0"/>
                <a:ea typeface="Consolas" pitchFamily="34" charset="-122"/>
                <a:cs typeface="Consolas" pitchFamily="34" charset="-120"/>
              </a:rPr>
              <a:t>BSides Exeter</a:t>
            </a:r>
            <a:endParaRPr lang="en-US" sz="1300" dirty="0"/>
          </a:p>
        </p:txBody>
      </p:sp>
      <p:sp>
        <p:nvSpPr>
          <p:cNvPr id="4" name="Text 2"/>
          <p:cNvSpPr/>
          <p:nvPr/>
        </p:nvSpPr>
        <p:spPr>
          <a:xfrm>
            <a:off x="365760" y="1005840"/>
            <a:ext cx="5303520" cy="1188720"/>
          </a:xfrm>
          <a:prstGeom prst="rect">
            <a:avLst/>
          </a:prstGeom>
          <a:noFill/>
          <a:ln/>
        </p:spPr>
        <p:txBody>
          <a:bodyPr wrap="square" lIns="0" tIns="0" rIns="0" bIns="0" rtlCol="0" anchor="ctr"/>
          <a:lstStyle/>
          <a:p>
            <a:pPr marL="0" indent="0">
              <a:buNone/>
            </a:pPr>
            <a:r>
              <a:rPr lang="en-US" sz="4400" b="1" dirty="0">
                <a:solidFill>
                  <a:srgbClr val="FFFFFF"/>
                </a:solidFill>
                <a:latin typeface="Arial Black" pitchFamily="34" charset="0"/>
                <a:ea typeface="Arial Black" pitchFamily="34" charset="-122"/>
                <a:cs typeface="Arial Black" pitchFamily="34" charset="-120"/>
              </a:rPr>
              <a:t>Auto-Pwn or Auto-Fail</a:t>
            </a:r>
            <a:endParaRPr lang="en-US" sz="4400" dirty="0"/>
          </a:p>
        </p:txBody>
      </p:sp>
      <p:sp>
        <p:nvSpPr>
          <p:cNvPr id="5" name="Text 3"/>
          <p:cNvSpPr/>
          <p:nvPr/>
        </p:nvSpPr>
        <p:spPr>
          <a:xfrm>
            <a:off x="365760" y="2331720"/>
            <a:ext cx="5303520" cy="640080"/>
          </a:xfrm>
          <a:prstGeom prst="rect">
            <a:avLst/>
          </a:prstGeom>
          <a:noFill/>
          <a:ln/>
        </p:spPr>
        <p:txBody>
          <a:bodyPr wrap="square" lIns="0" tIns="0" rIns="0" bIns="0" rtlCol="0" anchor="ctr"/>
          <a:lstStyle/>
          <a:p>
            <a:pPr marL="0" indent="0">
              <a:buNone/>
            </a:pPr>
            <a:r>
              <a:rPr lang="en-US" sz="1600" dirty="0">
                <a:solidFill>
                  <a:srgbClr val="00D2FF"/>
                </a:solidFill>
                <a:latin typeface="Calibri" pitchFamily="34" charset="0"/>
                <a:ea typeface="Calibri" pitchFamily="34" charset="-122"/>
                <a:cs typeface="Calibri" pitchFamily="34" charset="-120"/>
              </a:rPr>
              <a:t>AI in Penetration Testing: The truth about AI in Offensive Security</a:t>
            </a:r>
            <a:endParaRPr lang="en-US" sz="1600" dirty="0"/>
          </a:p>
        </p:txBody>
      </p:sp>
      <p:sp>
        <p:nvSpPr>
          <p:cNvPr id="6" name="Shape 4"/>
          <p:cNvSpPr/>
          <p:nvPr/>
        </p:nvSpPr>
        <p:spPr>
          <a:xfrm>
            <a:off x="365760" y="3108960"/>
            <a:ext cx="4114800" cy="36576"/>
          </a:xfrm>
          <a:prstGeom prst="rect">
            <a:avLst/>
          </a:prstGeom>
          <a:solidFill>
            <a:srgbClr val="30363D"/>
          </a:solidFill>
          <a:ln/>
        </p:spPr>
      </p:sp>
      <p:sp>
        <p:nvSpPr>
          <p:cNvPr id="7" name="Text 5"/>
          <p:cNvSpPr/>
          <p:nvPr/>
        </p:nvSpPr>
        <p:spPr>
          <a:xfrm>
            <a:off x="365760" y="3291840"/>
            <a:ext cx="5486400" cy="365760"/>
          </a:xfrm>
          <a:prstGeom prst="rect">
            <a:avLst/>
          </a:prstGeom>
          <a:noFill/>
          <a:ln/>
        </p:spPr>
        <p:txBody>
          <a:bodyPr wrap="square" lIns="0" tIns="0" rIns="0" bIns="0" rtlCol="0" anchor="ctr"/>
          <a:lstStyle/>
          <a:p>
            <a:pPr marL="0" indent="0">
              <a:buNone/>
            </a:pPr>
            <a:r>
              <a:rPr lang="en-US" sz="1500" dirty="0">
                <a:solidFill>
                  <a:srgbClr val="8B949E"/>
                </a:solidFill>
                <a:latin typeface="Calibri" pitchFamily="34" charset="0"/>
                <a:ea typeface="Calibri" pitchFamily="34" charset="-122"/>
                <a:cs typeface="Calibri" pitchFamily="34" charset="-120"/>
              </a:rPr>
              <a:t>Dumisani Masimini  |  Pentest People</a:t>
            </a:r>
            <a:endParaRPr lang="en-US" sz="1500" dirty="0"/>
          </a:p>
        </p:txBody>
      </p:sp>
      <p:sp>
        <p:nvSpPr>
          <p:cNvPr id="8" name="Shape 6"/>
          <p:cNvSpPr/>
          <p:nvPr/>
        </p:nvSpPr>
        <p:spPr>
          <a:xfrm>
            <a:off x="5943600" y="914400"/>
            <a:ext cx="2743200" cy="2926080"/>
          </a:xfrm>
          <a:prstGeom prst="rect">
            <a:avLst/>
          </a:prstGeom>
          <a:solidFill>
            <a:srgbClr val="161B22"/>
          </a:solidFill>
          <a:ln/>
        </p:spPr>
      </p:sp>
      <p:sp>
        <p:nvSpPr>
          <p:cNvPr id="9" name="Text 7"/>
          <p:cNvSpPr/>
          <p:nvPr/>
        </p:nvSpPr>
        <p:spPr>
          <a:xfrm>
            <a:off x="6035040" y="1005840"/>
            <a:ext cx="2560320" cy="2743200"/>
          </a:xfrm>
          <a:prstGeom prst="rect">
            <a:avLst/>
          </a:prstGeom>
          <a:noFill/>
          <a:ln/>
        </p:spPr>
        <p:txBody>
          <a:bodyPr wrap="square" rtlCol="0" anchor="t"/>
          <a:lstStyle/>
          <a:p>
            <a:pPr marL="0" indent="0">
              <a:buNone/>
            </a:pPr>
            <a:r>
              <a:rPr lang="en-US" sz="1100" b="1" dirty="0">
                <a:solidFill>
                  <a:srgbClr val="2ED573"/>
                </a:solidFill>
                <a:latin typeface="Consolas" pitchFamily="34" charset="0"/>
                <a:ea typeface="Consolas" pitchFamily="34" charset="-122"/>
                <a:cs typeface="Consolas" pitchFamily="34" charset="-120"/>
              </a:rPr>
              <a:t>$ ai-pentest --target all
</a:t>
            </a:r>
            <a:r>
              <a:rPr lang="en-US" sz="1100" dirty="0">
                <a:solidFill>
                  <a:srgbClr val="8B949E"/>
                </a:solidFill>
                <a:latin typeface="Consolas" pitchFamily="34" charset="0"/>
                <a:ea typeface="Consolas" pitchFamily="34" charset="-122"/>
                <a:cs typeface="Consolas" pitchFamily="34" charset="-120"/>
              </a:rPr>
              <a:t>&gt; scanning...
</a:t>
            </a:r>
            <a:r>
              <a:rPr lang="en-US" sz="1100" dirty="0">
                <a:solidFill>
                  <a:srgbClr val="FFD700"/>
                </a:solidFill>
                <a:latin typeface="Consolas" pitchFamily="34" charset="0"/>
                <a:ea typeface="Consolas" pitchFamily="34" charset="-122"/>
                <a:cs typeface="Consolas" pitchFamily="34" charset="-120"/>
              </a:rPr>
              <a:t>&gt; 247 findings
</a:t>
            </a:r>
            <a:r>
              <a:rPr lang="en-US" sz="1100" dirty="0">
                <a:solidFill>
                  <a:srgbClr val="8B949E"/>
                </a:solidFill>
                <a:latin typeface="Consolas" pitchFamily="34" charset="0"/>
                <a:ea typeface="Consolas" pitchFamily="34" charset="-122"/>
                <a:cs typeface="Consolas" pitchFamily="34" charset="-120"/>
              </a:rPr>
              <a:t>&gt; validating...
</a:t>
            </a:r>
            <a:r>
              <a:rPr lang="en-US" sz="1100" dirty="0">
                <a:solidFill>
                  <a:srgbClr val="FF4757"/>
                </a:solidFill>
                <a:latin typeface="Consolas" pitchFamily="34" charset="0"/>
                <a:ea typeface="Consolas" pitchFamily="34" charset="-122"/>
                <a:cs typeface="Consolas" pitchFamily="34" charset="-120"/>
              </a:rPr>
              <a:t>&gt; 14 confirmed
</a:t>
            </a:r>
            <a:r>
              <a:rPr lang="en-US" sz="1100" dirty="0">
                <a:solidFill>
                  <a:srgbClr val="2ED573"/>
                </a:solidFill>
                <a:latin typeface="Consolas" pitchFamily="34" charset="0"/>
                <a:ea typeface="Consolas" pitchFamily="34" charset="-122"/>
                <a:cs typeface="Consolas" pitchFamily="34" charset="-120"/>
              </a:rPr>
              <a:t>&gt; report.pdf ✓
</a:t>
            </a:r>
            <a:endParaRPr lang="en-US" sz="1100" dirty="0"/>
          </a:p>
          <a:p>
            <a:pPr marL="0" indent="0">
              <a:buNone/>
            </a:pPr>
            <a:r>
              <a:rPr lang="en-US" sz="1100" b="1" dirty="0">
                <a:solidFill>
                  <a:srgbClr val="00D2FF"/>
                </a:solidFill>
                <a:latin typeface="Consolas" pitchFamily="34" charset="0"/>
                <a:ea typeface="Consolas" pitchFamily="34" charset="-122"/>
                <a:cs typeface="Consolas" pitchFamily="34" charset="-120"/>
              </a:rPr>
              <a:t>&gt; but did you</a:t>
            </a:r>
            <a:endParaRPr lang="en-US" sz="1100" dirty="0"/>
          </a:p>
          <a:p>
            <a:pPr marL="0" indent="0">
              <a:buNone/>
            </a:pPr>
            <a:r>
              <a:rPr lang="en-US" sz="1100" b="1" dirty="0">
                <a:solidFill>
                  <a:srgbClr val="00D2FF"/>
                </a:solidFill>
                <a:latin typeface="Consolas" pitchFamily="34" charset="0"/>
                <a:ea typeface="Consolas" pitchFamily="34" charset="-122"/>
                <a:cs typeface="Consolas" pitchFamily="34" charset="-120"/>
              </a:rPr>
              <a:t>  understand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Why This Talk?</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320040" y="1097280"/>
            <a:ext cx="2697480" cy="3291840"/>
          </a:xfrm>
          <a:prstGeom prst="rect">
            <a:avLst/>
          </a:prstGeom>
          <a:solidFill>
            <a:srgbClr val="161B22"/>
          </a:solidFill>
          <a:ln/>
        </p:spPr>
      </p:sp>
      <p:sp>
        <p:nvSpPr>
          <p:cNvPr id="5" name="Shape 3"/>
          <p:cNvSpPr/>
          <p:nvPr/>
        </p:nvSpPr>
        <p:spPr>
          <a:xfrm>
            <a:off x="320040" y="1097280"/>
            <a:ext cx="2697480" cy="64008"/>
          </a:xfrm>
          <a:prstGeom prst="rect">
            <a:avLst/>
          </a:prstGeom>
          <a:solidFill>
            <a:srgbClr val="00D2FF"/>
          </a:solidFill>
          <a:ln/>
        </p:spPr>
      </p:sp>
      <p:sp>
        <p:nvSpPr>
          <p:cNvPr id="6" name="Text 4"/>
          <p:cNvSpPr/>
          <p:nvPr/>
        </p:nvSpPr>
        <p:spPr>
          <a:xfrm>
            <a:off x="457200" y="2148840"/>
            <a:ext cx="24231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 is Everywhere</a:t>
            </a:r>
            <a:endParaRPr lang="en-US" sz="1400" dirty="0"/>
          </a:p>
        </p:txBody>
      </p:sp>
      <p:sp>
        <p:nvSpPr>
          <p:cNvPr id="7" name="Text 5"/>
          <p:cNvSpPr/>
          <p:nvPr/>
        </p:nvSpPr>
        <p:spPr>
          <a:xfrm>
            <a:off x="457200" y="2651760"/>
            <a:ext cx="2423160" cy="1554480"/>
          </a:xfrm>
          <a:prstGeom prst="rect">
            <a:avLst/>
          </a:prstGeom>
          <a:noFill/>
          <a:ln/>
        </p:spPr>
        <p:txBody>
          <a:bodyPr wrap="square" rtlCol="0" anchor="t"/>
          <a:lstStyle/>
          <a:p>
            <a:pPr marL="0" indent="0" algn="ctr">
              <a:buNone/>
            </a:pPr>
            <a:r>
              <a:rPr lang="en-US" sz="1200" dirty="0">
                <a:solidFill>
                  <a:srgbClr val="8B949E"/>
                </a:solidFill>
                <a:latin typeface="Calibri" pitchFamily="34" charset="0"/>
                <a:ea typeface="Calibri" pitchFamily="34" charset="-122"/>
                <a:cs typeface="Calibri" pitchFamily="34" charset="-120"/>
              </a:rPr>
              <a:t>Every tool, every vendor, every conference is talking about AI in offensive security.</a:t>
            </a:r>
            <a:endParaRPr lang="en-US" sz="1200" dirty="0"/>
          </a:p>
        </p:txBody>
      </p:sp>
      <p:sp>
        <p:nvSpPr>
          <p:cNvPr id="8" name="Shape 6"/>
          <p:cNvSpPr/>
          <p:nvPr/>
        </p:nvSpPr>
        <p:spPr>
          <a:xfrm>
            <a:off x="3200400" y="1097280"/>
            <a:ext cx="2697480" cy="3291840"/>
          </a:xfrm>
          <a:prstGeom prst="rect">
            <a:avLst/>
          </a:prstGeom>
          <a:solidFill>
            <a:srgbClr val="161B22"/>
          </a:solidFill>
          <a:ln/>
        </p:spPr>
      </p:sp>
      <p:sp>
        <p:nvSpPr>
          <p:cNvPr id="9" name="Shape 7"/>
          <p:cNvSpPr/>
          <p:nvPr/>
        </p:nvSpPr>
        <p:spPr>
          <a:xfrm>
            <a:off x="3200400" y="1097280"/>
            <a:ext cx="2697480" cy="64008"/>
          </a:xfrm>
          <a:prstGeom prst="rect">
            <a:avLst/>
          </a:prstGeom>
          <a:solidFill>
            <a:srgbClr val="FFD700"/>
          </a:solidFill>
          <a:ln/>
        </p:spPr>
      </p:sp>
      <p:sp>
        <p:nvSpPr>
          <p:cNvPr id="10" name="Text 8"/>
          <p:cNvSpPr/>
          <p:nvPr/>
        </p:nvSpPr>
        <p:spPr>
          <a:xfrm>
            <a:off x="3337560" y="2148840"/>
            <a:ext cx="24231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The Big Question</a:t>
            </a:r>
            <a:endParaRPr lang="en-US" sz="1400" dirty="0"/>
          </a:p>
        </p:txBody>
      </p:sp>
      <p:sp>
        <p:nvSpPr>
          <p:cNvPr id="11" name="Text 9"/>
          <p:cNvSpPr/>
          <p:nvPr/>
        </p:nvSpPr>
        <p:spPr>
          <a:xfrm>
            <a:off x="3337560" y="2651760"/>
            <a:ext cx="2423160" cy="1554480"/>
          </a:xfrm>
          <a:prstGeom prst="rect">
            <a:avLst/>
          </a:prstGeom>
          <a:noFill/>
          <a:ln/>
        </p:spPr>
        <p:txBody>
          <a:bodyPr wrap="square" rtlCol="0" anchor="t"/>
          <a:lstStyle/>
          <a:p>
            <a:pPr marL="0" indent="0" algn="ctr">
              <a:buNone/>
            </a:pPr>
            <a:r>
              <a:rPr lang="en-US" sz="1200" dirty="0">
                <a:solidFill>
                  <a:srgbClr val="8B949E"/>
                </a:solidFill>
                <a:latin typeface="Calibri" pitchFamily="34" charset="0"/>
                <a:ea typeface="Calibri" pitchFamily="34" charset="-122"/>
                <a:cs typeface="Calibri" pitchFamily="34" charset="-120"/>
              </a:rPr>
              <a:t>"Can AI do the job for me?" — Clients ask it. Juniors ask it. You've probably asked it.</a:t>
            </a:r>
            <a:endParaRPr lang="en-US" sz="1200" dirty="0"/>
          </a:p>
        </p:txBody>
      </p:sp>
      <p:sp>
        <p:nvSpPr>
          <p:cNvPr id="12" name="Shape 10"/>
          <p:cNvSpPr/>
          <p:nvPr/>
        </p:nvSpPr>
        <p:spPr>
          <a:xfrm>
            <a:off x="6080760" y="1097280"/>
            <a:ext cx="2697480" cy="3291840"/>
          </a:xfrm>
          <a:prstGeom prst="rect">
            <a:avLst/>
          </a:prstGeom>
          <a:solidFill>
            <a:srgbClr val="161B22"/>
          </a:solidFill>
          <a:ln/>
        </p:spPr>
      </p:sp>
      <p:sp>
        <p:nvSpPr>
          <p:cNvPr id="13" name="Shape 11"/>
          <p:cNvSpPr/>
          <p:nvPr/>
        </p:nvSpPr>
        <p:spPr>
          <a:xfrm>
            <a:off x="6080760" y="1097280"/>
            <a:ext cx="2697480" cy="64008"/>
          </a:xfrm>
          <a:prstGeom prst="rect">
            <a:avLst/>
          </a:prstGeom>
          <a:solidFill>
            <a:srgbClr val="FF4757"/>
          </a:solidFill>
          <a:ln/>
        </p:spPr>
      </p:sp>
      <p:sp>
        <p:nvSpPr>
          <p:cNvPr id="14" name="Text 12"/>
          <p:cNvSpPr/>
          <p:nvPr/>
        </p:nvSpPr>
        <p:spPr>
          <a:xfrm>
            <a:off x="6217920" y="2148840"/>
            <a:ext cx="24231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The Real Risk</a:t>
            </a:r>
            <a:endParaRPr lang="en-US" sz="1400" dirty="0"/>
          </a:p>
        </p:txBody>
      </p:sp>
      <p:sp>
        <p:nvSpPr>
          <p:cNvPr id="15" name="Text 13"/>
          <p:cNvSpPr/>
          <p:nvPr/>
        </p:nvSpPr>
        <p:spPr>
          <a:xfrm>
            <a:off x="6217920" y="2651760"/>
            <a:ext cx="2423160" cy="1554480"/>
          </a:xfrm>
          <a:prstGeom prst="rect">
            <a:avLst/>
          </a:prstGeom>
          <a:noFill/>
          <a:ln/>
        </p:spPr>
        <p:txBody>
          <a:bodyPr wrap="square" rtlCol="0" anchor="t"/>
          <a:lstStyle/>
          <a:p>
            <a:pPr marL="0" indent="0" algn="ctr">
              <a:buNone/>
            </a:pPr>
            <a:r>
              <a:rPr lang="en-US" sz="1200" dirty="0">
                <a:solidFill>
                  <a:srgbClr val="8B949E"/>
                </a:solidFill>
                <a:latin typeface="Calibri" pitchFamily="34" charset="0"/>
                <a:ea typeface="Calibri" pitchFamily="34" charset="-122"/>
                <a:cs typeface="Calibri" pitchFamily="34" charset="-120"/>
              </a:rPr>
              <a:t>It isn't being replaced by AI. It's becoming careless because of it.</a:t>
            </a:r>
            <a:endParaRPr lang="en-US" sz="1200" dirty="0"/>
          </a:p>
        </p:txBody>
      </p:sp>
      <p:sp>
        <p:nvSpPr>
          <p:cNvPr id="16" name="Shape 14"/>
          <p:cNvSpPr/>
          <p:nvPr/>
        </p:nvSpPr>
        <p:spPr>
          <a:xfrm>
            <a:off x="457200" y="4526280"/>
            <a:ext cx="8229600" cy="457200"/>
          </a:xfrm>
          <a:prstGeom prst="rect">
            <a:avLst/>
          </a:prstGeom>
          <a:solidFill>
            <a:srgbClr val="1A0008"/>
          </a:solidFill>
          <a:ln/>
        </p:spPr>
      </p:sp>
      <p:sp>
        <p:nvSpPr>
          <p:cNvPr id="17" name="Text 15"/>
          <p:cNvSpPr/>
          <p:nvPr/>
        </p:nvSpPr>
        <p:spPr>
          <a:xfrm>
            <a:off x="457200" y="4526280"/>
            <a:ext cx="8229600" cy="457200"/>
          </a:xfrm>
          <a:prstGeom prst="rect">
            <a:avLst/>
          </a:prstGeom>
          <a:noFill/>
          <a:ln/>
        </p:spPr>
        <p:txBody>
          <a:bodyPr wrap="square" rtlCol="0" anchor="ctr"/>
          <a:lstStyle/>
          <a:p>
            <a:pPr marL="0" indent="0" algn="ctr">
              <a:buNone/>
            </a:pPr>
            <a:r>
              <a:rPr lang="en-US" sz="1500" b="1" dirty="0">
                <a:solidFill>
                  <a:srgbClr val="FF4757"/>
                </a:solidFill>
                <a:latin typeface="Calibri" pitchFamily="34" charset="0"/>
                <a:ea typeface="Calibri" pitchFamily="34" charset="-122"/>
                <a:cs typeface="Calibri" pitchFamily="34" charset="-120"/>
              </a:rPr>
              <a:t>This is a reality check for pentesters.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Core Question</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914400" y="1280160"/>
            <a:ext cx="7315200" cy="2286000"/>
          </a:xfrm>
          <a:prstGeom prst="rect">
            <a:avLst/>
          </a:prstGeom>
          <a:solidFill>
            <a:srgbClr val="161B22"/>
          </a:solidFill>
          <a:ln/>
        </p:spPr>
      </p:sp>
      <p:sp>
        <p:nvSpPr>
          <p:cNvPr id="5" name="Shape 3"/>
          <p:cNvSpPr/>
          <p:nvPr/>
        </p:nvSpPr>
        <p:spPr>
          <a:xfrm>
            <a:off x="914400" y="1280160"/>
            <a:ext cx="109728" cy="2286000"/>
          </a:xfrm>
          <a:prstGeom prst="rect">
            <a:avLst/>
          </a:prstGeom>
          <a:solidFill>
            <a:srgbClr val="00D2FF"/>
          </a:solidFill>
          <a:ln/>
        </p:spPr>
      </p:sp>
      <p:sp>
        <p:nvSpPr>
          <p:cNvPr id="6" name="Text 4"/>
          <p:cNvSpPr/>
          <p:nvPr/>
        </p:nvSpPr>
        <p:spPr>
          <a:xfrm>
            <a:off x="1188720" y="1463040"/>
            <a:ext cx="6858000" cy="1920240"/>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Are you using AI as a tool…</a:t>
            </a:r>
            <a:endParaRPr lang="en-US" sz="3000" dirty="0"/>
          </a:p>
          <a:p>
            <a:pPr marL="0" indent="0" algn="ctr">
              <a:buNone/>
            </a:pPr>
            <a:r>
              <a:rPr lang="en-US" sz="3000" b="1" dirty="0">
                <a:solidFill>
                  <a:srgbClr val="FFFFFF"/>
                </a:solidFill>
                <a:latin typeface="Georgia" pitchFamily="34" charset="0"/>
                <a:ea typeface="Georgia" pitchFamily="34" charset="-122"/>
                <a:cs typeface="Georgia" pitchFamily="34" charset="-120"/>
              </a:rPr>
              <a:t>or letting it think for you?</a:t>
            </a:r>
            <a:endParaRPr lang="en-US" sz="3000" dirty="0"/>
          </a:p>
        </p:txBody>
      </p:sp>
      <p:sp>
        <p:nvSpPr>
          <p:cNvPr id="7" name="Shape 5"/>
          <p:cNvSpPr/>
          <p:nvPr/>
        </p:nvSpPr>
        <p:spPr>
          <a:xfrm>
            <a:off x="914400" y="3749040"/>
            <a:ext cx="3474720" cy="1005840"/>
          </a:xfrm>
          <a:prstGeom prst="rect">
            <a:avLst/>
          </a:prstGeom>
          <a:solidFill>
            <a:srgbClr val="0D2B1A"/>
          </a:solidFill>
          <a:ln/>
        </p:spPr>
      </p:sp>
      <p:sp>
        <p:nvSpPr>
          <p:cNvPr id="8" name="Shape 6"/>
          <p:cNvSpPr/>
          <p:nvPr/>
        </p:nvSpPr>
        <p:spPr>
          <a:xfrm>
            <a:off x="914400" y="3749040"/>
            <a:ext cx="3474720" cy="54864"/>
          </a:xfrm>
          <a:prstGeom prst="rect">
            <a:avLst/>
          </a:prstGeom>
          <a:solidFill>
            <a:srgbClr val="2ED573"/>
          </a:solidFill>
          <a:ln/>
        </p:spPr>
      </p:sp>
      <p:sp>
        <p:nvSpPr>
          <p:cNvPr id="9" name="Text 7"/>
          <p:cNvSpPr/>
          <p:nvPr/>
        </p:nvSpPr>
        <p:spPr>
          <a:xfrm>
            <a:off x="914400" y="3840480"/>
            <a:ext cx="3474720" cy="822960"/>
          </a:xfrm>
          <a:prstGeom prst="rect">
            <a:avLst/>
          </a:prstGeom>
          <a:noFill/>
          <a:ln/>
        </p:spPr>
        <p:txBody>
          <a:bodyPr wrap="square" rtlCol="0" anchor="ctr"/>
          <a:lstStyle/>
          <a:p>
            <a:pPr marL="0" indent="0" algn="ctr">
              <a:buNone/>
            </a:pPr>
            <a:r>
              <a:rPr lang="en-US" sz="1800" b="1" dirty="0">
                <a:solidFill>
                  <a:srgbClr val="2ED573"/>
                </a:solidFill>
                <a:latin typeface="Calibri" pitchFamily="34" charset="0"/>
                <a:ea typeface="Calibri" pitchFamily="34" charset="-122"/>
                <a:cs typeface="Calibri" pitchFamily="34" charset="-120"/>
              </a:rPr>
              <a:t>Tool  →  Auto-Pwn</a:t>
            </a:r>
            <a:endParaRPr lang="en-US" sz="1800" dirty="0"/>
          </a:p>
        </p:txBody>
      </p:sp>
      <p:sp>
        <p:nvSpPr>
          <p:cNvPr id="10" name="Shape 8"/>
          <p:cNvSpPr/>
          <p:nvPr/>
        </p:nvSpPr>
        <p:spPr>
          <a:xfrm>
            <a:off x="4754880" y="3749040"/>
            <a:ext cx="3474720" cy="1005840"/>
          </a:xfrm>
          <a:prstGeom prst="rect">
            <a:avLst/>
          </a:prstGeom>
          <a:solidFill>
            <a:srgbClr val="2B0D0D"/>
          </a:solidFill>
          <a:ln/>
        </p:spPr>
      </p:sp>
      <p:sp>
        <p:nvSpPr>
          <p:cNvPr id="11" name="Shape 9"/>
          <p:cNvSpPr/>
          <p:nvPr/>
        </p:nvSpPr>
        <p:spPr>
          <a:xfrm>
            <a:off x="4754880" y="3749040"/>
            <a:ext cx="3474720" cy="54864"/>
          </a:xfrm>
          <a:prstGeom prst="rect">
            <a:avLst/>
          </a:prstGeom>
          <a:solidFill>
            <a:srgbClr val="FF4757"/>
          </a:solidFill>
          <a:ln/>
        </p:spPr>
      </p:sp>
      <p:sp>
        <p:nvSpPr>
          <p:cNvPr id="12" name="Text 10"/>
          <p:cNvSpPr/>
          <p:nvPr/>
        </p:nvSpPr>
        <p:spPr>
          <a:xfrm>
            <a:off x="4754880" y="3840480"/>
            <a:ext cx="3474720" cy="822960"/>
          </a:xfrm>
          <a:prstGeom prst="rect">
            <a:avLst/>
          </a:prstGeom>
          <a:noFill/>
          <a:ln/>
        </p:spPr>
        <p:txBody>
          <a:bodyPr wrap="square" rtlCol="0" anchor="ctr"/>
          <a:lstStyle/>
          <a:p>
            <a:pPr marL="0" indent="0" algn="ctr">
              <a:buNone/>
            </a:pPr>
            <a:r>
              <a:rPr lang="en-US" sz="1800" b="1" dirty="0">
                <a:solidFill>
                  <a:srgbClr val="FF4757"/>
                </a:solidFill>
                <a:latin typeface="Calibri" pitchFamily="34" charset="0"/>
                <a:ea typeface="Calibri" pitchFamily="34" charset="-122"/>
                <a:cs typeface="Calibri" pitchFamily="34" charset="-120"/>
              </a:rPr>
              <a:t>Dependent  →  Auto-Fail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What We'll Cover</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51560"/>
            <a:ext cx="4023360" cy="1005840"/>
          </a:xfrm>
          <a:prstGeom prst="rect">
            <a:avLst/>
          </a:prstGeom>
          <a:solidFill>
            <a:srgbClr val="161B22"/>
          </a:solidFill>
          <a:ln/>
        </p:spPr>
      </p:sp>
      <p:sp>
        <p:nvSpPr>
          <p:cNvPr id="5" name="Shape 3"/>
          <p:cNvSpPr/>
          <p:nvPr/>
        </p:nvSpPr>
        <p:spPr>
          <a:xfrm>
            <a:off x="457200" y="1051560"/>
            <a:ext cx="73152" cy="1005840"/>
          </a:xfrm>
          <a:prstGeom prst="rect">
            <a:avLst/>
          </a:prstGeom>
          <a:solidFill>
            <a:srgbClr val="00D2FF"/>
          </a:solidFill>
          <a:ln/>
        </p:spPr>
      </p:sp>
      <p:sp>
        <p:nvSpPr>
          <p:cNvPr id="6" name="Text 4"/>
          <p:cNvSpPr/>
          <p:nvPr/>
        </p:nvSpPr>
        <p:spPr>
          <a:xfrm>
            <a:off x="621792" y="1051560"/>
            <a:ext cx="640080" cy="1005840"/>
          </a:xfrm>
          <a:prstGeom prst="rect">
            <a:avLst/>
          </a:prstGeom>
          <a:noFill/>
          <a:ln/>
        </p:spPr>
        <p:txBody>
          <a:bodyPr wrap="square" rtlCol="0" anchor="ctr"/>
          <a:lstStyle/>
          <a:p>
            <a:pPr marL="0" indent="0">
              <a:buNone/>
            </a:pPr>
            <a:r>
              <a:rPr lang="en-US" sz="2200" b="1" dirty="0">
                <a:solidFill>
                  <a:srgbClr val="00D2FF"/>
                </a:solidFill>
                <a:latin typeface="Consolas" pitchFamily="34" charset="0"/>
                <a:ea typeface="Consolas" pitchFamily="34" charset="-122"/>
                <a:cs typeface="Consolas" pitchFamily="34" charset="-120"/>
              </a:rPr>
              <a:t>01</a:t>
            </a:r>
            <a:endParaRPr lang="en-US" sz="2200" dirty="0"/>
          </a:p>
        </p:txBody>
      </p:sp>
      <p:sp>
        <p:nvSpPr>
          <p:cNvPr id="7" name="Text 5"/>
          <p:cNvSpPr/>
          <p:nvPr/>
        </p:nvSpPr>
        <p:spPr>
          <a:xfrm>
            <a:off x="1280160" y="1143000"/>
            <a:ext cx="301752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AI Hype vs Reality</a:t>
            </a:r>
            <a:endParaRPr lang="en-US" sz="1300" dirty="0"/>
          </a:p>
        </p:txBody>
      </p:sp>
      <p:sp>
        <p:nvSpPr>
          <p:cNvPr id="8" name="Shape 6"/>
          <p:cNvSpPr/>
          <p:nvPr/>
        </p:nvSpPr>
        <p:spPr>
          <a:xfrm>
            <a:off x="4800600" y="1051560"/>
            <a:ext cx="4023360" cy="1005840"/>
          </a:xfrm>
          <a:prstGeom prst="rect">
            <a:avLst/>
          </a:prstGeom>
          <a:solidFill>
            <a:srgbClr val="161B22"/>
          </a:solidFill>
          <a:ln/>
        </p:spPr>
      </p:sp>
      <p:sp>
        <p:nvSpPr>
          <p:cNvPr id="9" name="Shape 7"/>
          <p:cNvSpPr/>
          <p:nvPr/>
        </p:nvSpPr>
        <p:spPr>
          <a:xfrm>
            <a:off x="4800600" y="1051560"/>
            <a:ext cx="73152" cy="1005840"/>
          </a:xfrm>
          <a:prstGeom prst="rect">
            <a:avLst/>
          </a:prstGeom>
          <a:solidFill>
            <a:srgbClr val="2ED573"/>
          </a:solidFill>
          <a:ln/>
        </p:spPr>
      </p:sp>
      <p:sp>
        <p:nvSpPr>
          <p:cNvPr id="10" name="Text 8"/>
          <p:cNvSpPr/>
          <p:nvPr/>
        </p:nvSpPr>
        <p:spPr>
          <a:xfrm>
            <a:off x="4965192" y="1051560"/>
            <a:ext cx="640080" cy="1005840"/>
          </a:xfrm>
          <a:prstGeom prst="rect">
            <a:avLst/>
          </a:prstGeom>
          <a:noFill/>
          <a:ln/>
        </p:spPr>
        <p:txBody>
          <a:bodyPr wrap="square" rtlCol="0" anchor="ctr"/>
          <a:lstStyle/>
          <a:p>
            <a:pPr marL="0" indent="0">
              <a:buNone/>
            </a:pPr>
            <a:r>
              <a:rPr lang="en-US" sz="2200" b="1" dirty="0">
                <a:solidFill>
                  <a:srgbClr val="2ED573"/>
                </a:solidFill>
                <a:latin typeface="Consolas" pitchFamily="34" charset="0"/>
                <a:ea typeface="Consolas" pitchFamily="34" charset="-122"/>
                <a:cs typeface="Consolas" pitchFamily="34" charset="-120"/>
              </a:rPr>
              <a:t>02</a:t>
            </a:r>
            <a:endParaRPr lang="en-US" sz="2200" dirty="0"/>
          </a:p>
        </p:txBody>
      </p:sp>
      <p:sp>
        <p:nvSpPr>
          <p:cNvPr id="11" name="Text 9"/>
          <p:cNvSpPr/>
          <p:nvPr/>
        </p:nvSpPr>
        <p:spPr>
          <a:xfrm>
            <a:off x="5623560" y="1143000"/>
            <a:ext cx="301752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Where AI Actually Helps (Auto-Pwn)</a:t>
            </a:r>
            <a:endParaRPr lang="en-US" sz="1300" dirty="0"/>
          </a:p>
        </p:txBody>
      </p:sp>
      <p:sp>
        <p:nvSpPr>
          <p:cNvPr id="12" name="Shape 10"/>
          <p:cNvSpPr/>
          <p:nvPr/>
        </p:nvSpPr>
        <p:spPr>
          <a:xfrm>
            <a:off x="457200" y="2240280"/>
            <a:ext cx="4023360" cy="1005840"/>
          </a:xfrm>
          <a:prstGeom prst="rect">
            <a:avLst/>
          </a:prstGeom>
          <a:solidFill>
            <a:srgbClr val="161B22"/>
          </a:solidFill>
          <a:ln/>
        </p:spPr>
      </p:sp>
      <p:sp>
        <p:nvSpPr>
          <p:cNvPr id="13" name="Shape 11"/>
          <p:cNvSpPr/>
          <p:nvPr/>
        </p:nvSpPr>
        <p:spPr>
          <a:xfrm>
            <a:off x="457200" y="2240280"/>
            <a:ext cx="73152" cy="1005840"/>
          </a:xfrm>
          <a:prstGeom prst="rect">
            <a:avLst/>
          </a:prstGeom>
          <a:solidFill>
            <a:srgbClr val="FF4757"/>
          </a:solidFill>
          <a:ln/>
        </p:spPr>
      </p:sp>
      <p:sp>
        <p:nvSpPr>
          <p:cNvPr id="14" name="Text 12"/>
          <p:cNvSpPr/>
          <p:nvPr/>
        </p:nvSpPr>
        <p:spPr>
          <a:xfrm>
            <a:off x="621792" y="2240280"/>
            <a:ext cx="640080" cy="1005840"/>
          </a:xfrm>
          <a:prstGeom prst="rect">
            <a:avLst/>
          </a:prstGeom>
          <a:noFill/>
          <a:ln/>
        </p:spPr>
        <p:txBody>
          <a:bodyPr wrap="square" rtlCol="0" anchor="ctr"/>
          <a:lstStyle/>
          <a:p>
            <a:pPr marL="0" indent="0">
              <a:buNone/>
            </a:pPr>
            <a:r>
              <a:rPr lang="en-US" sz="2200" b="1" dirty="0">
                <a:solidFill>
                  <a:srgbClr val="FF4757"/>
                </a:solidFill>
                <a:latin typeface="Consolas" pitchFamily="34" charset="0"/>
                <a:ea typeface="Consolas" pitchFamily="34" charset="-122"/>
                <a:cs typeface="Consolas" pitchFamily="34" charset="-120"/>
              </a:rPr>
              <a:t>03</a:t>
            </a:r>
            <a:endParaRPr lang="en-US" sz="2200" dirty="0"/>
          </a:p>
        </p:txBody>
      </p:sp>
      <p:sp>
        <p:nvSpPr>
          <p:cNvPr id="15" name="Text 13"/>
          <p:cNvSpPr/>
          <p:nvPr/>
        </p:nvSpPr>
        <p:spPr>
          <a:xfrm>
            <a:off x="1280160" y="2331720"/>
            <a:ext cx="301752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Where AI Fails (Auto-Fail)</a:t>
            </a:r>
            <a:endParaRPr lang="en-US" sz="1300" dirty="0"/>
          </a:p>
        </p:txBody>
      </p:sp>
      <p:sp>
        <p:nvSpPr>
          <p:cNvPr id="16" name="Shape 14"/>
          <p:cNvSpPr/>
          <p:nvPr/>
        </p:nvSpPr>
        <p:spPr>
          <a:xfrm>
            <a:off x="4800600" y="2240280"/>
            <a:ext cx="4023360" cy="1005840"/>
          </a:xfrm>
          <a:prstGeom prst="rect">
            <a:avLst/>
          </a:prstGeom>
          <a:solidFill>
            <a:srgbClr val="161B22"/>
          </a:solidFill>
          <a:ln/>
        </p:spPr>
      </p:sp>
      <p:sp>
        <p:nvSpPr>
          <p:cNvPr id="17" name="Shape 15"/>
          <p:cNvSpPr/>
          <p:nvPr/>
        </p:nvSpPr>
        <p:spPr>
          <a:xfrm>
            <a:off x="4800600" y="2240280"/>
            <a:ext cx="73152" cy="1005840"/>
          </a:xfrm>
          <a:prstGeom prst="rect">
            <a:avLst/>
          </a:prstGeom>
          <a:solidFill>
            <a:srgbClr val="FFD700"/>
          </a:solidFill>
          <a:ln/>
        </p:spPr>
      </p:sp>
      <p:sp>
        <p:nvSpPr>
          <p:cNvPr id="18" name="Text 16"/>
          <p:cNvSpPr/>
          <p:nvPr/>
        </p:nvSpPr>
        <p:spPr>
          <a:xfrm>
            <a:off x="4965192" y="2240280"/>
            <a:ext cx="640080" cy="1005840"/>
          </a:xfrm>
          <a:prstGeom prst="rect">
            <a:avLst/>
          </a:prstGeom>
          <a:noFill/>
          <a:ln/>
        </p:spPr>
        <p:txBody>
          <a:bodyPr wrap="square" rtlCol="0" anchor="ctr"/>
          <a:lstStyle/>
          <a:p>
            <a:pPr marL="0" indent="0">
              <a:buNone/>
            </a:pPr>
            <a:r>
              <a:rPr lang="en-US" sz="2200" b="1" dirty="0">
                <a:solidFill>
                  <a:srgbClr val="FFD700"/>
                </a:solidFill>
                <a:latin typeface="Consolas" pitchFamily="34" charset="0"/>
                <a:ea typeface="Consolas" pitchFamily="34" charset="-122"/>
                <a:cs typeface="Consolas" pitchFamily="34" charset="-120"/>
              </a:rPr>
              <a:t>04</a:t>
            </a:r>
            <a:endParaRPr lang="en-US" sz="2200" dirty="0"/>
          </a:p>
        </p:txBody>
      </p:sp>
      <p:sp>
        <p:nvSpPr>
          <p:cNvPr id="19" name="Text 17"/>
          <p:cNvSpPr/>
          <p:nvPr/>
        </p:nvSpPr>
        <p:spPr>
          <a:xfrm>
            <a:off x="5623560" y="2331720"/>
            <a:ext cx="301752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Real Risks in Pentesting Workflows</a:t>
            </a:r>
            <a:endParaRPr lang="en-US" sz="1300" dirty="0"/>
          </a:p>
        </p:txBody>
      </p:sp>
      <p:sp>
        <p:nvSpPr>
          <p:cNvPr id="20" name="Shape 18"/>
          <p:cNvSpPr/>
          <p:nvPr/>
        </p:nvSpPr>
        <p:spPr>
          <a:xfrm>
            <a:off x="457200" y="3429000"/>
            <a:ext cx="4023360" cy="1005840"/>
          </a:xfrm>
          <a:prstGeom prst="rect">
            <a:avLst/>
          </a:prstGeom>
          <a:solidFill>
            <a:srgbClr val="161B22"/>
          </a:solidFill>
          <a:ln/>
        </p:spPr>
      </p:sp>
      <p:sp>
        <p:nvSpPr>
          <p:cNvPr id="21" name="Shape 19"/>
          <p:cNvSpPr/>
          <p:nvPr/>
        </p:nvSpPr>
        <p:spPr>
          <a:xfrm>
            <a:off x="457200" y="3429000"/>
            <a:ext cx="73152" cy="1005840"/>
          </a:xfrm>
          <a:prstGeom prst="rect">
            <a:avLst/>
          </a:prstGeom>
          <a:solidFill>
            <a:srgbClr val="FF6B35"/>
          </a:solidFill>
          <a:ln/>
        </p:spPr>
      </p:sp>
      <p:sp>
        <p:nvSpPr>
          <p:cNvPr id="22" name="Text 20"/>
          <p:cNvSpPr/>
          <p:nvPr/>
        </p:nvSpPr>
        <p:spPr>
          <a:xfrm>
            <a:off x="621792" y="3429000"/>
            <a:ext cx="640080" cy="1005840"/>
          </a:xfrm>
          <a:prstGeom prst="rect">
            <a:avLst/>
          </a:prstGeom>
          <a:noFill/>
          <a:ln/>
        </p:spPr>
        <p:txBody>
          <a:bodyPr wrap="square" rtlCol="0" anchor="ctr"/>
          <a:lstStyle/>
          <a:p>
            <a:pPr marL="0" indent="0">
              <a:buNone/>
            </a:pPr>
            <a:r>
              <a:rPr lang="en-US" sz="2200" b="1" dirty="0">
                <a:solidFill>
                  <a:srgbClr val="FF6B35"/>
                </a:solidFill>
                <a:latin typeface="Consolas" pitchFamily="34" charset="0"/>
                <a:ea typeface="Consolas" pitchFamily="34" charset="-122"/>
                <a:cs typeface="Consolas" pitchFamily="34" charset="-120"/>
              </a:rPr>
              <a:t>05</a:t>
            </a:r>
            <a:endParaRPr lang="en-US" sz="2200" dirty="0"/>
          </a:p>
        </p:txBody>
      </p:sp>
      <p:sp>
        <p:nvSpPr>
          <p:cNvPr id="23" name="Text 21"/>
          <p:cNvSpPr/>
          <p:nvPr/>
        </p:nvSpPr>
        <p:spPr>
          <a:xfrm>
            <a:off x="1280160" y="3520440"/>
            <a:ext cx="301752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Using AI Without Losing Credibility</a:t>
            </a:r>
            <a:endParaRPr lang="en-US" sz="1300" dirty="0"/>
          </a:p>
        </p:txBody>
      </p:sp>
      <p:sp>
        <p:nvSpPr>
          <p:cNvPr id="24" name="Shape 22"/>
          <p:cNvSpPr/>
          <p:nvPr/>
        </p:nvSpPr>
        <p:spPr>
          <a:xfrm>
            <a:off x="4800600" y="3429000"/>
            <a:ext cx="4023360" cy="1005840"/>
          </a:xfrm>
          <a:prstGeom prst="rect">
            <a:avLst/>
          </a:prstGeom>
          <a:solidFill>
            <a:srgbClr val="161B22"/>
          </a:solidFill>
          <a:ln/>
        </p:spPr>
      </p:sp>
      <p:sp>
        <p:nvSpPr>
          <p:cNvPr id="25" name="Shape 23"/>
          <p:cNvSpPr/>
          <p:nvPr/>
        </p:nvSpPr>
        <p:spPr>
          <a:xfrm>
            <a:off x="4800600" y="3429000"/>
            <a:ext cx="73152" cy="1005840"/>
          </a:xfrm>
          <a:prstGeom prst="rect">
            <a:avLst/>
          </a:prstGeom>
          <a:solidFill>
            <a:srgbClr val="00D2FF"/>
          </a:solidFill>
          <a:ln/>
        </p:spPr>
      </p:sp>
      <p:sp>
        <p:nvSpPr>
          <p:cNvPr id="26" name="Text 24"/>
          <p:cNvSpPr/>
          <p:nvPr/>
        </p:nvSpPr>
        <p:spPr>
          <a:xfrm>
            <a:off x="4965192" y="3429000"/>
            <a:ext cx="640080" cy="1005840"/>
          </a:xfrm>
          <a:prstGeom prst="rect">
            <a:avLst/>
          </a:prstGeom>
          <a:noFill/>
          <a:ln/>
        </p:spPr>
        <p:txBody>
          <a:bodyPr wrap="square" rtlCol="0" anchor="ctr"/>
          <a:lstStyle/>
          <a:p>
            <a:pPr marL="0" indent="0">
              <a:buNone/>
            </a:pPr>
            <a:r>
              <a:rPr lang="en-US" sz="2200" b="1" dirty="0">
                <a:solidFill>
                  <a:srgbClr val="00D2FF"/>
                </a:solidFill>
                <a:latin typeface="Consolas" pitchFamily="34" charset="0"/>
                <a:ea typeface="Consolas" pitchFamily="34" charset="-122"/>
                <a:cs typeface="Consolas" pitchFamily="34" charset="-120"/>
              </a:rPr>
              <a:t>06</a:t>
            </a:r>
            <a:endParaRPr lang="en-US" sz="2200" dirty="0"/>
          </a:p>
        </p:txBody>
      </p:sp>
      <p:sp>
        <p:nvSpPr>
          <p:cNvPr id="27" name="Text 25"/>
          <p:cNvSpPr/>
          <p:nvPr/>
        </p:nvSpPr>
        <p:spPr>
          <a:xfrm>
            <a:off x="5623560" y="3520440"/>
            <a:ext cx="301752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What Makes a Strong Pentester Now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Industry Right Now</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97280"/>
            <a:ext cx="6858000" cy="822960"/>
          </a:xfrm>
          <a:prstGeom prst="rect">
            <a:avLst/>
          </a:prstGeom>
          <a:solidFill>
            <a:srgbClr val="1C2430"/>
          </a:solidFill>
          <a:ln/>
        </p:spPr>
      </p:sp>
      <p:sp>
        <p:nvSpPr>
          <p:cNvPr id="5" name="Shape 3"/>
          <p:cNvSpPr/>
          <p:nvPr/>
        </p:nvSpPr>
        <p:spPr>
          <a:xfrm>
            <a:off x="457200" y="1097280"/>
            <a:ext cx="73152" cy="822960"/>
          </a:xfrm>
          <a:prstGeom prst="rect">
            <a:avLst/>
          </a:prstGeom>
          <a:solidFill>
            <a:srgbClr val="FFD700"/>
          </a:solidFill>
          <a:ln/>
        </p:spPr>
      </p:sp>
      <p:sp>
        <p:nvSpPr>
          <p:cNvPr id="6" name="Text 4"/>
          <p:cNvSpPr/>
          <p:nvPr/>
        </p:nvSpPr>
        <p:spPr>
          <a:xfrm>
            <a:off x="640080" y="1097280"/>
            <a:ext cx="6583680" cy="822960"/>
          </a:xfrm>
          <a:prstGeom prst="rect">
            <a:avLst/>
          </a:prstGeom>
          <a:noFill/>
          <a:ln/>
        </p:spPr>
        <p:txBody>
          <a:bodyPr wrap="square" rtlCol="0" anchor="ctr"/>
          <a:lstStyle/>
          <a:p>
            <a:pPr marL="0" indent="0">
              <a:buNone/>
            </a:pPr>
            <a:r>
              <a:rPr lang="en-US" sz="1700" i="1" dirty="0">
                <a:solidFill>
                  <a:srgbClr val="FFD700"/>
                </a:solidFill>
                <a:latin typeface="Georgia" pitchFamily="34" charset="0"/>
                <a:ea typeface="Georgia" pitchFamily="34" charset="-122"/>
                <a:cs typeface="Georgia" pitchFamily="34" charset="-120"/>
              </a:rPr>
              <a:t>"AI will replace pentesters"</a:t>
            </a:r>
            <a:endParaRPr lang="en-US" sz="1700" dirty="0"/>
          </a:p>
        </p:txBody>
      </p:sp>
      <p:sp>
        <p:nvSpPr>
          <p:cNvPr id="7" name="Shape 5"/>
          <p:cNvSpPr/>
          <p:nvPr/>
        </p:nvSpPr>
        <p:spPr>
          <a:xfrm>
            <a:off x="457200" y="2103120"/>
            <a:ext cx="6858000" cy="822960"/>
          </a:xfrm>
          <a:prstGeom prst="rect">
            <a:avLst/>
          </a:prstGeom>
          <a:solidFill>
            <a:srgbClr val="1C2430"/>
          </a:solidFill>
          <a:ln/>
        </p:spPr>
      </p:sp>
      <p:sp>
        <p:nvSpPr>
          <p:cNvPr id="8" name="Shape 6"/>
          <p:cNvSpPr/>
          <p:nvPr/>
        </p:nvSpPr>
        <p:spPr>
          <a:xfrm>
            <a:off x="457200" y="2103120"/>
            <a:ext cx="73152" cy="822960"/>
          </a:xfrm>
          <a:prstGeom prst="rect">
            <a:avLst/>
          </a:prstGeom>
          <a:solidFill>
            <a:srgbClr val="FFD700"/>
          </a:solidFill>
          <a:ln/>
        </p:spPr>
      </p:sp>
      <p:sp>
        <p:nvSpPr>
          <p:cNvPr id="9" name="Text 7"/>
          <p:cNvSpPr/>
          <p:nvPr/>
        </p:nvSpPr>
        <p:spPr>
          <a:xfrm>
            <a:off x="640080" y="2103120"/>
            <a:ext cx="6583680" cy="822960"/>
          </a:xfrm>
          <a:prstGeom prst="rect">
            <a:avLst/>
          </a:prstGeom>
          <a:noFill/>
          <a:ln/>
        </p:spPr>
        <p:txBody>
          <a:bodyPr wrap="square" rtlCol="0" anchor="ctr"/>
          <a:lstStyle/>
          <a:p>
            <a:pPr marL="0" indent="0">
              <a:buNone/>
            </a:pPr>
            <a:r>
              <a:rPr lang="en-US" sz="1700" i="1" dirty="0">
                <a:solidFill>
                  <a:srgbClr val="FFD700"/>
                </a:solidFill>
                <a:latin typeface="Georgia" pitchFamily="34" charset="0"/>
                <a:ea typeface="Georgia" pitchFamily="34" charset="-122"/>
                <a:cs typeface="Georgia" pitchFamily="34" charset="-120"/>
              </a:rPr>
              <a:t>"Just prompt your way to exploitation"</a:t>
            </a:r>
            <a:endParaRPr lang="en-US" sz="1700" dirty="0"/>
          </a:p>
        </p:txBody>
      </p:sp>
      <p:sp>
        <p:nvSpPr>
          <p:cNvPr id="10" name="Shape 8"/>
          <p:cNvSpPr/>
          <p:nvPr/>
        </p:nvSpPr>
        <p:spPr>
          <a:xfrm>
            <a:off x="457200" y="3108960"/>
            <a:ext cx="6858000" cy="822960"/>
          </a:xfrm>
          <a:prstGeom prst="rect">
            <a:avLst/>
          </a:prstGeom>
          <a:solidFill>
            <a:srgbClr val="1C2430"/>
          </a:solidFill>
          <a:ln/>
        </p:spPr>
      </p:sp>
      <p:sp>
        <p:nvSpPr>
          <p:cNvPr id="11" name="Shape 9"/>
          <p:cNvSpPr/>
          <p:nvPr/>
        </p:nvSpPr>
        <p:spPr>
          <a:xfrm>
            <a:off x="457200" y="3108960"/>
            <a:ext cx="73152" cy="822960"/>
          </a:xfrm>
          <a:prstGeom prst="rect">
            <a:avLst/>
          </a:prstGeom>
          <a:solidFill>
            <a:srgbClr val="FFD700"/>
          </a:solidFill>
          <a:ln/>
        </p:spPr>
      </p:sp>
      <p:sp>
        <p:nvSpPr>
          <p:cNvPr id="12" name="Text 10"/>
          <p:cNvSpPr/>
          <p:nvPr/>
        </p:nvSpPr>
        <p:spPr>
          <a:xfrm>
            <a:off x="640080" y="3108960"/>
            <a:ext cx="6583680" cy="822960"/>
          </a:xfrm>
          <a:prstGeom prst="rect">
            <a:avLst/>
          </a:prstGeom>
          <a:noFill/>
          <a:ln/>
        </p:spPr>
        <p:txBody>
          <a:bodyPr wrap="square" rtlCol="0" anchor="ctr"/>
          <a:lstStyle/>
          <a:p>
            <a:pPr marL="0" indent="0">
              <a:buNone/>
            </a:pPr>
            <a:r>
              <a:rPr lang="en-US" sz="1700" i="1" dirty="0">
                <a:solidFill>
                  <a:srgbClr val="FFD700"/>
                </a:solidFill>
                <a:latin typeface="Georgia" pitchFamily="34" charset="0"/>
                <a:ea typeface="Georgia" pitchFamily="34" charset="-122"/>
                <a:cs typeface="Georgia" pitchFamily="34" charset="-120"/>
              </a:rPr>
              <a:t>"Fully automated pentesting is here"</a:t>
            </a:r>
            <a:endParaRPr lang="en-US" sz="1700" dirty="0"/>
          </a:p>
        </p:txBody>
      </p:sp>
      <p:sp>
        <p:nvSpPr>
          <p:cNvPr id="13" name="Shape 11"/>
          <p:cNvSpPr/>
          <p:nvPr/>
        </p:nvSpPr>
        <p:spPr>
          <a:xfrm>
            <a:off x="457200" y="4114800"/>
            <a:ext cx="8229600" cy="777240"/>
          </a:xfrm>
          <a:prstGeom prst="rect">
            <a:avLst/>
          </a:prstGeom>
          <a:solidFill>
            <a:srgbClr val="1A1200"/>
          </a:solidFill>
          <a:ln/>
        </p:spPr>
      </p:sp>
      <p:sp>
        <p:nvSpPr>
          <p:cNvPr id="14" name="Shape 12"/>
          <p:cNvSpPr/>
          <p:nvPr/>
        </p:nvSpPr>
        <p:spPr>
          <a:xfrm>
            <a:off x="457200" y="4114800"/>
            <a:ext cx="73152" cy="777240"/>
          </a:xfrm>
          <a:prstGeom prst="rect">
            <a:avLst/>
          </a:prstGeom>
          <a:solidFill>
            <a:srgbClr val="FF6B35"/>
          </a:solidFill>
          <a:ln/>
        </p:spPr>
      </p:sp>
      <p:sp>
        <p:nvSpPr>
          <p:cNvPr id="15" name="Text 13"/>
          <p:cNvSpPr/>
          <p:nvPr/>
        </p:nvSpPr>
        <p:spPr>
          <a:xfrm>
            <a:off x="640080" y="4114800"/>
            <a:ext cx="7863840" cy="777240"/>
          </a:xfrm>
          <a:prstGeom prst="rect">
            <a:avLst/>
          </a:prstGeom>
          <a:noFill/>
          <a:ln/>
        </p:spPr>
        <p:txBody>
          <a:bodyPr wrap="square" rtlCol="0" anchor="ctr"/>
          <a:lstStyle/>
          <a:p>
            <a:pPr marL="0" indent="0">
              <a:buNone/>
            </a:pPr>
            <a:r>
              <a:rPr lang="en-US" sz="1800" b="1" dirty="0">
                <a:solidFill>
                  <a:srgbClr val="FF6B35"/>
                </a:solidFill>
                <a:latin typeface="Calibri" pitchFamily="34" charset="0"/>
                <a:ea typeface="Calibri" pitchFamily="34" charset="-122"/>
                <a:cs typeface="Calibri" pitchFamily="34" charset="-120"/>
              </a:rPr>
              <a:t>Sounds great… until you try it on a real engagement.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ED573"/>
          </a:solidFill>
          <a:ln/>
        </p:spPr>
      </p:sp>
      <p:sp>
        <p:nvSpPr>
          <p:cNvPr id="3" name="Text 1"/>
          <p:cNvSpPr/>
          <p:nvPr/>
        </p:nvSpPr>
        <p:spPr>
          <a:xfrm>
            <a:off x="0" y="36576"/>
            <a:ext cx="2286000" cy="73152"/>
          </a:xfrm>
          <a:prstGeom prst="rect">
            <a:avLst/>
          </a:prstGeom>
          <a:noFill/>
          <a:ln/>
        </p:spPr>
        <p:txBody>
          <a:bodyPr wrap="square" rtlCol="0" anchor="ctr"/>
          <a:lstStyle/>
          <a:p>
            <a:pPr marL="0" indent="0" algn="ctr">
              <a:buNone/>
            </a:pPr>
            <a:r>
              <a:rPr lang="en-US" sz="700" b="1" dirty="0">
                <a:solidFill>
                  <a:srgbClr val="0D1117"/>
                </a:solidFill>
                <a:latin typeface="Consolas" pitchFamily="34" charset="0"/>
                <a:ea typeface="Consolas" pitchFamily="34" charset="-122"/>
                <a:cs typeface="Consolas" pitchFamily="34" charset="-120"/>
              </a:rPr>
              <a:t>AUTO-PWN</a:t>
            </a:r>
            <a:endParaRPr lang="en-US" sz="700" dirty="0"/>
          </a:p>
        </p:txBody>
      </p:sp>
      <p:sp>
        <p:nvSpPr>
          <p:cNvPr id="4" name="Text 2"/>
          <p:cNvSpPr/>
          <p:nvPr/>
        </p:nvSpPr>
        <p:spPr>
          <a:xfrm>
            <a:off x="457200" y="22860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What AI Is Actually Good At</a:t>
            </a:r>
            <a:endParaRPr lang="en-US" sz="3600" dirty="0"/>
          </a:p>
        </p:txBody>
      </p:sp>
      <p:sp>
        <p:nvSpPr>
          <p:cNvPr id="5" name="Shape 3"/>
          <p:cNvSpPr/>
          <p:nvPr/>
        </p:nvSpPr>
        <p:spPr>
          <a:xfrm>
            <a:off x="457200" y="822960"/>
            <a:ext cx="8229600" cy="36576"/>
          </a:xfrm>
          <a:prstGeom prst="rect">
            <a:avLst/>
          </a:prstGeom>
          <a:solidFill>
            <a:srgbClr val="30363D"/>
          </a:solidFill>
          <a:ln/>
        </p:spPr>
      </p:sp>
      <p:sp>
        <p:nvSpPr>
          <p:cNvPr id="6" name="Shape 4"/>
          <p:cNvSpPr/>
          <p:nvPr/>
        </p:nvSpPr>
        <p:spPr>
          <a:xfrm>
            <a:off x="457200" y="960120"/>
            <a:ext cx="4023360" cy="1645920"/>
          </a:xfrm>
          <a:prstGeom prst="rect">
            <a:avLst/>
          </a:prstGeom>
          <a:solidFill>
            <a:srgbClr val="161B22"/>
          </a:solidFill>
          <a:ln/>
        </p:spPr>
      </p:sp>
      <p:sp>
        <p:nvSpPr>
          <p:cNvPr id="7" name="Shape 5"/>
          <p:cNvSpPr/>
          <p:nvPr/>
        </p:nvSpPr>
        <p:spPr>
          <a:xfrm>
            <a:off x="457200" y="960120"/>
            <a:ext cx="4023360" cy="54864"/>
          </a:xfrm>
          <a:prstGeom prst="rect">
            <a:avLst/>
          </a:prstGeom>
          <a:solidFill>
            <a:srgbClr val="2ED573"/>
          </a:solidFill>
          <a:ln/>
        </p:spPr>
      </p:sp>
      <p:sp>
        <p:nvSpPr>
          <p:cNvPr id="8" name="Text 6"/>
          <p:cNvSpPr/>
          <p:nvPr/>
        </p:nvSpPr>
        <p:spPr>
          <a:xfrm>
            <a:off x="1234440" y="1097280"/>
            <a:ext cx="310896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Generate Payload Ideas</a:t>
            </a:r>
            <a:endParaRPr lang="en-US" sz="1400" dirty="0"/>
          </a:p>
        </p:txBody>
      </p:sp>
      <p:sp>
        <p:nvSpPr>
          <p:cNvPr id="9" name="Text 7"/>
          <p:cNvSpPr/>
          <p:nvPr/>
        </p:nvSpPr>
        <p:spPr>
          <a:xfrm>
            <a:off x="640080" y="1645920"/>
            <a:ext cx="3657600" cy="82296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Quickly surfaces relevant payloads, bypasses, and one-liners based on context</a:t>
            </a:r>
            <a:endParaRPr lang="en-US" sz="1200" dirty="0"/>
          </a:p>
        </p:txBody>
      </p:sp>
      <p:sp>
        <p:nvSpPr>
          <p:cNvPr id="10" name="Shape 8"/>
          <p:cNvSpPr/>
          <p:nvPr/>
        </p:nvSpPr>
        <p:spPr>
          <a:xfrm>
            <a:off x="4800600" y="960120"/>
            <a:ext cx="4023360" cy="1645920"/>
          </a:xfrm>
          <a:prstGeom prst="rect">
            <a:avLst/>
          </a:prstGeom>
          <a:solidFill>
            <a:srgbClr val="161B22"/>
          </a:solidFill>
          <a:ln/>
        </p:spPr>
      </p:sp>
      <p:sp>
        <p:nvSpPr>
          <p:cNvPr id="11" name="Shape 9"/>
          <p:cNvSpPr/>
          <p:nvPr/>
        </p:nvSpPr>
        <p:spPr>
          <a:xfrm>
            <a:off x="4800600" y="960120"/>
            <a:ext cx="4023360" cy="54864"/>
          </a:xfrm>
          <a:prstGeom prst="rect">
            <a:avLst/>
          </a:prstGeom>
          <a:solidFill>
            <a:srgbClr val="00D2FF"/>
          </a:solidFill>
          <a:ln/>
        </p:spPr>
      </p:sp>
      <p:sp>
        <p:nvSpPr>
          <p:cNvPr id="12" name="Text 10"/>
          <p:cNvSpPr/>
          <p:nvPr/>
        </p:nvSpPr>
        <p:spPr>
          <a:xfrm>
            <a:off x="5577840" y="1097280"/>
            <a:ext cx="310896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Write Scripts Fast</a:t>
            </a:r>
            <a:endParaRPr lang="en-US" sz="1400" dirty="0"/>
          </a:p>
        </p:txBody>
      </p:sp>
      <p:sp>
        <p:nvSpPr>
          <p:cNvPr id="13" name="Text 11"/>
          <p:cNvSpPr/>
          <p:nvPr/>
        </p:nvSpPr>
        <p:spPr>
          <a:xfrm>
            <a:off x="4983480" y="1645920"/>
            <a:ext cx="3657600" cy="82296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Drafts working scripts, reformats output, and automates repetitive tasks</a:t>
            </a:r>
            <a:endParaRPr lang="en-US" sz="1200" dirty="0"/>
          </a:p>
        </p:txBody>
      </p:sp>
      <p:sp>
        <p:nvSpPr>
          <p:cNvPr id="14" name="Shape 12"/>
          <p:cNvSpPr/>
          <p:nvPr/>
        </p:nvSpPr>
        <p:spPr>
          <a:xfrm>
            <a:off x="457200" y="2788920"/>
            <a:ext cx="4023360" cy="1645920"/>
          </a:xfrm>
          <a:prstGeom prst="rect">
            <a:avLst/>
          </a:prstGeom>
          <a:solidFill>
            <a:srgbClr val="161B22"/>
          </a:solidFill>
          <a:ln/>
        </p:spPr>
      </p:sp>
      <p:sp>
        <p:nvSpPr>
          <p:cNvPr id="15" name="Shape 13"/>
          <p:cNvSpPr/>
          <p:nvPr/>
        </p:nvSpPr>
        <p:spPr>
          <a:xfrm>
            <a:off x="457200" y="2788920"/>
            <a:ext cx="4023360" cy="54864"/>
          </a:xfrm>
          <a:prstGeom prst="rect">
            <a:avLst/>
          </a:prstGeom>
          <a:solidFill>
            <a:srgbClr val="FFD700"/>
          </a:solidFill>
          <a:ln/>
        </p:spPr>
      </p:sp>
      <p:sp>
        <p:nvSpPr>
          <p:cNvPr id="16" name="Text 14"/>
          <p:cNvSpPr/>
          <p:nvPr/>
        </p:nvSpPr>
        <p:spPr>
          <a:xfrm>
            <a:off x="1234440" y="2926080"/>
            <a:ext cx="310896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Recon &amp; Enumeration</a:t>
            </a:r>
            <a:endParaRPr lang="en-US" sz="1400" dirty="0"/>
          </a:p>
        </p:txBody>
      </p:sp>
      <p:sp>
        <p:nvSpPr>
          <p:cNvPr id="17" name="Text 15"/>
          <p:cNvSpPr/>
          <p:nvPr/>
        </p:nvSpPr>
        <p:spPr>
          <a:xfrm>
            <a:off x="640080" y="3474720"/>
            <a:ext cx="3657600" cy="82296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Summarises scan results, identifies patterns, suggests next steps</a:t>
            </a:r>
            <a:endParaRPr lang="en-US" sz="1200" dirty="0"/>
          </a:p>
        </p:txBody>
      </p:sp>
      <p:sp>
        <p:nvSpPr>
          <p:cNvPr id="18" name="Shape 16"/>
          <p:cNvSpPr/>
          <p:nvPr/>
        </p:nvSpPr>
        <p:spPr>
          <a:xfrm>
            <a:off x="4800600" y="2788920"/>
            <a:ext cx="4023360" cy="1645920"/>
          </a:xfrm>
          <a:prstGeom prst="rect">
            <a:avLst/>
          </a:prstGeom>
          <a:solidFill>
            <a:srgbClr val="161B22"/>
          </a:solidFill>
          <a:ln/>
        </p:spPr>
      </p:sp>
      <p:sp>
        <p:nvSpPr>
          <p:cNvPr id="19" name="Shape 17"/>
          <p:cNvSpPr/>
          <p:nvPr/>
        </p:nvSpPr>
        <p:spPr>
          <a:xfrm>
            <a:off x="4800600" y="2788920"/>
            <a:ext cx="4023360" cy="54864"/>
          </a:xfrm>
          <a:prstGeom prst="rect">
            <a:avLst/>
          </a:prstGeom>
          <a:solidFill>
            <a:srgbClr val="FF6B35"/>
          </a:solidFill>
          <a:ln/>
        </p:spPr>
      </p:sp>
      <p:sp>
        <p:nvSpPr>
          <p:cNvPr id="20" name="Text 18"/>
          <p:cNvSpPr/>
          <p:nvPr/>
        </p:nvSpPr>
        <p:spPr>
          <a:xfrm>
            <a:off x="5577840" y="2926080"/>
            <a:ext cx="310896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Report Writing</a:t>
            </a:r>
            <a:endParaRPr lang="en-US" sz="1400" dirty="0"/>
          </a:p>
        </p:txBody>
      </p:sp>
      <p:sp>
        <p:nvSpPr>
          <p:cNvPr id="21" name="Text 19"/>
          <p:cNvSpPr/>
          <p:nvPr/>
        </p:nvSpPr>
        <p:spPr>
          <a:xfrm>
            <a:off x="4983480" y="3474720"/>
            <a:ext cx="3657600" cy="82296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Drafts finding descriptions, rewrites technical jargon, speeds up documentation</a:t>
            </a:r>
            <a:endParaRPr lang="en-US" sz="1200" dirty="0"/>
          </a:p>
        </p:txBody>
      </p:sp>
      <p:sp>
        <p:nvSpPr>
          <p:cNvPr id="22" name="Shape 20"/>
          <p:cNvSpPr/>
          <p:nvPr/>
        </p:nvSpPr>
        <p:spPr>
          <a:xfrm>
            <a:off x="457200" y="4709160"/>
            <a:ext cx="8229600" cy="320040"/>
          </a:xfrm>
          <a:prstGeom prst="rect">
            <a:avLst/>
          </a:prstGeom>
          <a:solidFill>
            <a:srgbClr val="0A1A0A"/>
          </a:solidFill>
          <a:ln/>
        </p:spPr>
      </p:sp>
      <p:sp>
        <p:nvSpPr>
          <p:cNvPr id="23" name="Text 21"/>
          <p:cNvSpPr/>
          <p:nvPr/>
        </p:nvSpPr>
        <p:spPr>
          <a:xfrm>
            <a:off x="457200" y="4709160"/>
            <a:ext cx="8229600" cy="320040"/>
          </a:xfrm>
          <a:prstGeom prst="rect">
            <a:avLst/>
          </a:prstGeom>
          <a:noFill/>
          <a:ln/>
        </p:spPr>
        <p:txBody>
          <a:bodyPr wrap="square" rtlCol="0" anchor="ctr"/>
          <a:lstStyle/>
          <a:p>
            <a:pPr marL="0" indent="0" algn="ctr">
              <a:buNone/>
            </a:pPr>
            <a:r>
              <a:rPr lang="en-US" sz="1300" b="1" dirty="0">
                <a:solidFill>
                  <a:srgbClr val="2ED573"/>
                </a:solidFill>
                <a:latin typeface="Consolas" pitchFamily="34" charset="0"/>
                <a:ea typeface="Consolas" pitchFamily="34" charset="-122"/>
                <a:cs typeface="Consolas" pitchFamily="34" charset="-120"/>
              </a:rPr>
              <a:t>AI = speed and breadth — not understanding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Quick Demo</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05840"/>
            <a:ext cx="5029200" cy="3200400"/>
          </a:xfrm>
          <a:prstGeom prst="rect">
            <a:avLst/>
          </a:prstGeom>
          <a:solidFill>
            <a:srgbClr val="0D1117"/>
          </a:solidFill>
          <a:ln/>
        </p:spPr>
      </p:sp>
      <p:sp>
        <p:nvSpPr>
          <p:cNvPr id="5" name="Shape 3"/>
          <p:cNvSpPr/>
          <p:nvPr/>
        </p:nvSpPr>
        <p:spPr>
          <a:xfrm>
            <a:off x="457200" y="1005840"/>
            <a:ext cx="5029200" cy="320040"/>
          </a:xfrm>
          <a:prstGeom prst="rect">
            <a:avLst/>
          </a:prstGeom>
          <a:solidFill>
            <a:srgbClr val="30363D"/>
          </a:solidFill>
          <a:ln/>
        </p:spPr>
      </p:sp>
      <p:sp>
        <p:nvSpPr>
          <p:cNvPr id="6" name="Text 4"/>
          <p:cNvSpPr/>
          <p:nvPr/>
        </p:nvSpPr>
        <p:spPr>
          <a:xfrm>
            <a:off x="548640" y="1024128"/>
            <a:ext cx="4754880" cy="274320"/>
          </a:xfrm>
          <a:prstGeom prst="rect">
            <a:avLst/>
          </a:prstGeom>
          <a:noFill/>
          <a:ln/>
        </p:spPr>
        <p:txBody>
          <a:bodyPr wrap="square"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 ● ●  Terminal</a:t>
            </a:r>
            <a:endParaRPr lang="en-US" sz="1000" dirty="0"/>
          </a:p>
        </p:txBody>
      </p:sp>
      <p:sp>
        <p:nvSpPr>
          <p:cNvPr id="7" name="Text 5"/>
          <p:cNvSpPr/>
          <p:nvPr/>
        </p:nvSpPr>
        <p:spPr>
          <a:xfrm>
            <a:off x="594360" y="1417320"/>
            <a:ext cx="4754880" cy="2651760"/>
          </a:xfrm>
          <a:prstGeom prst="rect">
            <a:avLst/>
          </a:prstGeom>
          <a:noFill/>
          <a:ln/>
        </p:spPr>
        <p:txBody>
          <a:bodyPr wrap="square" rtlCol="0" anchor="t"/>
          <a:lstStyle/>
          <a:p>
            <a:pPr marL="0" indent="0">
              <a:buNone/>
            </a:pPr>
            <a:r>
              <a:rPr lang="en-US" sz="1100" b="1" dirty="0">
                <a:solidFill>
                  <a:srgbClr val="2ED573"/>
                </a:solidFill>
                <a:latin typeface="Consolas" pitchFamily="34" charset="0"/>
                <a:ea typeface="Consolas" pitchFamily="34" charset="-122"/>
                <a:cs typeface="Consolas" pitchFamily="34" charset="-120"/>
              </a:rPr>
              <a:t>$ </a:t>
            </a:r>
            <a:r>
              <a:rPr lang="en-US" sz="1100" dirty="0">
                <a:solidFill>
                  <a:srgbClr val="FFFFFF"/>
                </a:solidFill>
                <a:latin typeface="Consolas" pitchFamily="34" charset="0"/>
                <a:ea typeface="Consolas" pitchFamily="34" charset="-122"/>
                <a:cs typeface="Consolas" pitchFamily="34" charset="-120"/>
              </a:rPr>
              <a:t>Prompt: find SQL injection
</a:t>
            </a:r>
            <a:r>
              <a:rPr lang="en-US" sz="1100" dirty="0">
                <a:solidFill>
                  <a:srgbClr val="00D2FF"/>
                </a:solidFill>
                <a:latin typeface="Consolas" pitchFamily="34" charset="0"/>
                <a:ea typeface="Consolas" pitchFamily="34" charset="-122"/>
                <a:cs typeface="Consolas" pitchFamily="34" charset="-120"/>
              </a:rPr>
              <a:t>&gt; ' OR 1=1--
&gt; ' UNION SELECT NULL--
&gt; '; DROP TABLE users--
&gt; admin'--
&gt; " OR ""="
</a:t>
            </a:r>
            <a:r>
              <a:rPr lang="en-US" sz="1100" dirty="0">
                <a:solidFill>
                  <a:srgbClr val="FFD700"/>
                </a:solidFill>
                <a:latin typeface="Consolas" pitchFamily="34" charset="0"/>
                <a:ea typeface="Consolas" pitchFamily="34" charset="-122"/>
                <a:cs typeface="Consolas" pitchFamily="34" charset="-120"/>
              </a:rPr>
              <a:t>→ Response: 200 OK
→ Time: 0.3s</a:t>
            </a:r>
            <a:endParaRPr lang="en-US" sz="1100" dirty="0"/>
          </a:p>
        </p:txBody>
      </p:sp>
      <p:sp>
        <p:nvSpPr>
          <p:cNvPr id="8" name="Text 6"/>
          <p:cNvSpPr/>
          <p:nvPr/>
        </p:nvSpPr>
        <p:spPr>
          <a:xfrm>
            <a:off x="6217920" y="1143000"/>
            <a:ext cx="2651760" cy="457200"/>
          </a:xfrm>
          <a:prstGeom prst="rect">
            <a:avLst/>
          </a:prstGeom>
          <a:noFill/>
          <a:ln/>
        </p:spPr>
        <p:txBody>
          <a:bodyPr wrap="square" rtlCol="0" anchor="ctr"/>
          <a:lstStyle/>
          <a:p>
            <a:pPr marL="0" indent="0">
              <a:buNone/>
            </a:pPr>
            <a:r>
              <a:rPr lang="en-US" sz="1300" dirty="0">
                <a:solidFill>
                  <a:srgbClr val="2ED573"/>
                </a:solidFill>
                <a:latin typeface="Calibri" pitchFamily="34" charset="0"/>
                <a:ea typeface="Calibri" pitchFamily="34" charset="-122"/>
                <a:cs typeface="Calibri" pitchFamily="34" charset="-120"/>
              </a:rPr>
              <a:t>Payloads generated instantly</a:t>
            </a:r>
            <a:endParaRPr lang="en-US" sz="1300" dirty="0"/>
          </a:p>
        </p:txBody>
      </p:sp>
      <p:sp>
        <p:nvSpPr>
          <p:cNvPr id="9" name="Text 7"/>
          <p:cNvSpPr/>
          <p:nvPr/>
        </p:nvSpPr>
        <p:spPr>
          <a:xfrm>
            <a:off x="6217920" y="1645920"/>
            <a:ext cx="2651760" cy="457200"/>
          </a:xfrm>
          <a:prstGeom prst="rect">
            <a:avLst/>
          </a:prstGeom>
          <a:noFill/>
          <a:ln/>
        </p:spPr>
        <p:txBody>
          <a:bodyPr wrap="square" rtlCol="0" anchor="ctr"/>
          <a:lstStyle/>
          <a:p>
            <a:pPr marL="0" indent="0">
              <a:buNone/>
            </a:pPr>
            <a:r>
              <a:rPr lang="en-US" sz="1300" dirty="0">
                <a:solidFill>
                  <a:srgbClr val="2ED573"/>
                </a:solidFill>
                <a:latin typeface="Calibri" pitchFamily="34" charset="0"/>
                <a:ea typeface="Calibri" pitchFamily="34" charset="-122"/>
                <a:cs typeface="Calibri" pitchFamily="34" charset="-120"/>
              </a:rPr>
              <a:t>Looks impressive</a:t>
            </a:r>
            <a:endParaRPr lang="en-US" sz="1300" dirty="0"/>
          </a:p>
        </p:txBody>
      </p:sp>
      <p:sp>
        <p:nvSpPr>
          <p:cNvPr id="10" name="Text 8"/>
          <p:cNvSpPr/>
          <p:nvPr/>
        </p:nvSpPr>
        <p:spPr>
          <a:xfrm>
            <a:off x="6217920" y="2148840"/>
            <a:ext cx="2651760" cy="457200"/>
          </a:xfrm>
          <a:prstGeom prst="rect">
            <a:avLst/>
          </a:prstGeom>
          <a:noFill/>
          <a:ln/>
        </p:spPr>
        <p:txBody>
          <a:bodyPr wrap="square" rtlCol="0" anchor="ctr"/>
          <a:lstStyle/>
          <a:p>
            <a:pPr marL="0" indent="0">
              <a:buNone/>
            </a:pPr>
            <a:r>
              <a:rPr lang="en-US" sz="1300" dirty="0">
                <a:solidFill>
                  <a:srgbClr val="2ED573"/>
                </a:solidFill>
                <a:latin typeface="Calibri" pitchFamily="34" charset="0"/>
                <a:ea typeface="Calibri" pitchFamily="34" charset="-122"/>
                <a:cs typeface="Calibri" pitchFamily="34" charset="-120"/>
              </a:rPr>
              <a:t>Feels like progress</a:t>
            </a:r>
            <a:endParaRPr lang="en-US" sz="1300" dirty="0"/>
          </a:p>
        </p:txBody>
      </p:sp>
      <p:sp>
        <p:nvSpPr>
          <p:cNvPr id="11" name="Text 9"/>
          <p:cNvSpPr/>
          <p:nvPr/>
        </p:nvSpPr>
        <p:spPr>
          <a:xfrm>
            <a:off x="6217920" y="2651760"/>
            <a:ext cx="2651760" cy="457200"/>
          </a:xfrm>
          <a:prstGeom prst="rect">
            <a:avLst/>
          </a:prstGeom>
          <a:noFill/>
          <a:ln/>
        </p:spPr>
        <p:txBody>
          <a:bodyPr wrap="square" rtlCol="0" anchor="ctr"/>
          <a:lstStyle/>
          <a:p>
            <a:pPr marL="0" indent="0">
              <a:buNone/>
            </a:pPr>
            <a:r>
              <a:rPr lang="en-US" sz="1300" dirty="0">
                <a:solidFill>
                  <a:srgbClr val="FF4757"/>
                </a:solidFill>
                <a:latin typeface="Calibri" pitchFamily="34" charset="0"/>
                <a:ea typeface="Calibri" pitchFamily="34" charset="-122"/>
                <a:cs typeface="Calibri" pitchFamily="34" charset="-120"/>
              </a:rPr>
              <a:t>Responses not validated</a:t>
            </a:r>
            <a:endParaRPr lang="en-US" sz="1300" dirty="0"/>
          </a:p>
        </p:txBody>
      </p:sp>
      <p:sp>
        <p:nvSpPr>
          <p:cNvPr id="12" name="Text 10"/>
          <p:cNvSpPr/>
          <p:nvPr/>
        </p:nvSpPr>
        <p:spPr>
          <a:xfrm>
            <a:off x="6217920" y="3154680"/>
            <a:ext cx="2651760" cy="457200"/>
          </a:xfrm>
          <a:prstGeom prst="rect">
            <a:avLst/>
          </a:prstGeom>
          <a:noFill/>
          <a:ln/>
        </p:spPr>
        <p:txBody>
          <a:bodyPr wrap="square" rtlCol="0" anchor="ctr"/>
          <a:lstStyle/>
          <a:p>
            <a:pPr marL="0" indent="0">
              <a:buNone/>
            </a:pPr>
            <a:r>
              <a:rPr lang="en-US" sz="1300" dirty="0">
                <a:solidFill>
                  <a:srgbClr val="FF4757"/>
                </a:solidFill>
                <a:latin typeface="Calibri" pitchFamily="34" charset="0"/>
                <a:ea typeface="Calibri" pitchFamily="34" charset="-122"/>
                <a:cs typeface="Calibri" pitchFamily="34" charset="-120"/>
              </a:rPr>
              <a:t>Context ignored</a:t>
            </a:r>
            <a:endParaRPr lang="en-US" sz="1300" dirty="0"/>
          </a:p>
        </p:txBody>
      </p:sp>
      <p:sp>
        <p:nvSpPr>
          <p:cNvPr id="13" name="Text 11"/>
          <p:cNvSpPr/>
          <p:nvPr/>
        </p:nvSpPr>
        <p:spPr>
          <a:xfrm>
            <a:off x="6217920" y="3657600"/>
            <a:ext cx="2651760" cy="457200"/>
          </a:xfrm>
          <a:prstGeom prst="rect">
            <a:avLst/>
          </a:prstGeom>
          <a:noFill/>
          <a:ln/>
        </p:spPr>
        <p:txBody>
          <a:bodyPr wrap="square" rtlCol="0" anchor="ctr"/>
          <a:lstStyle/>
          <a:p>
            <a:pPr marL="0" indent="0">
              <a:buNone/>
            </a:pPr>
            <a:r>
              <a:rPr lang="en-US" sz="1300" dirty="0">
                <a:solidFill>
                  <a:srgbClr val="FF4757"/>
                </a:solidFill>
                <a:latin typeface="Calibri" pitchFamily="34" charset="0"/>
                <a:ea typeface="Calibri" pitchFamily="34" charset="-122"/>
                <a:cs typeface="Calibri" pitchFamily="34" charset="-120"/>
              </a:rPr>
              <a:t>No manual confirmation</a:t>
            </a:r>
            <a:endParaRPr lang="en-US" sz="1300" dirty="0"/>
          </a:p>
        </p:txBody>
      </p:sp>
      <p:sp>
        <p:nvSpPr>
          <p:cNvPr id="14" name="Shape 12"/>
          <p:cNvSpPr/>
          <p:nvPr/>
        </p:nvSpPr>
        <p:spPr>
          <a:xfrm>
            <a:off x="457200" y="4389120"/>
            <a:ext cx="8229600" cy="548640"/>
          </a:xfrm>
          <a:prstGeom prst="rect">
            <a:avLst/>
          </a:prstGeom>
          <a:solidFill>
            <a:srgbClr val="1A0808"/>
          </a:solidFill>
          <a:ln/>
        </p:spPr>
      </p:sp>
      <p:sp>
        <p:nvSpPr>
          <p:cNvPr id="15" name="Text 13"/>
          <p:cNvSpPr/>
          <p:nvPr/>
        </p:nvSpPr>
        <p:spPr>
          <a:xfrm>
            <a:off x="457200" y="4389120"/>
            <a:ext cx="8229600" cy="548640"/>
          </a:xfrm>
          <a:prstGeom prst="rect">
            <a:avLst/>
          </a:prstGeom>
          <a:noFill/>
          <a:ln/>
        </p:spPr>
        <p:txBody>
          <a:bodyPr wrap="square" rtlCol="0" anchor="ctr"/>
          <a:lstStyle/>
          <a:p>
            <a:pPr marL="0" indent="0" algn="ctr">
              <a:buNone/>
            </a:pPr>
            <a:r>
              <a:rPr lang="en-US" sz="2000" b="1" i="1" dirty="0">
                <a:solidFill>
                  <a:srgbClr val="FF4757"/>
                </a:solidFill>
                <a:latin typeface="Georgia" pitchFamily="34" charset="0"/>
                <a:ea typeface="Georgia" pitchFamily="34" charset="-122"/>
                <a:cs typeface="Georgia" pitchFamily="34" charset="-120"/>
              </a:rPr>
              <a:t>But… did we validate anything?</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F4757"/>
          </a:solidFill>
          <a:ln/>
        </p:spPr>
      </p:sp>
      <p:sp>
        <p:nvSpPr>
          <p:cNvPr id="3" name="Text 1"/>
          <p:cNvSpPr/>
          <p:nvPr/>
        </p:nvSpPr>
        <p:spPr>
          <a:xfrm>
            <a:off x="0" y="36576"/>
            <a:ext cx="2286000" cy="73152"/>
          </a:xfrm>
          <a:prstGeom prst="rect">
            <a:avLst/>
          </a:prstGeom>
          <a:noFill/>
          <a:ln/>
        </p:spPr>
        <p:txBody>
          <a:bodyPr wrap="square"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AUTO-FAIL</a:t>
            </a:r>
            <a:endParaRPr lang="en-US" sz="700" dirty="0"/>
          </a:p>
        </p:txBody>
      </p:sp>
      <p:sp>
        <p:nvSpPr>
          <p:cNvPr id="4" name="Text 2"/>
          <p:cNvSpPr/>
          <p:nvPr/>
        </p:nvSpPr>
        <p:spPr>
          <a:xfrm>
            <a:off x="457200" y="22860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Where It Starts to Break</a:t>
            </a:r>
            <a:endParaRPr lang="en-US" sz="3600" dirty="0"/>
          </a:p>
        </p:txBody>
      </p:sp>
      <p:sp>
        <p:nvSpPr>
          <p:cNvPr id="5" name="Shape 3"/>
          <p:cNvSpPr/>
          <p:nvPr/>
        </p:nvSpPr>
        <p:spPr>
          <a:xfrm>
            <a:off x="457200" y="822960"/>
            <a:ext cx="8229600" cy="36576"/>
          </a:xfrm>
          <a:prstGeom prst="rect">
            <a:avLst/>
          </a:prstGeom>
          <a:solidFill>
            <a:srgbClr val="30363D"/>
          </a:solidFill>
          <a:ln/>
        </p:spPr>
      </p:sp>
      <p:sp>
        <p:nvSpPr>
          <p:cNvPr id="6" name="Shape 4"/>
          <p:cNvSpPr/>
          <p:nvPr/>
        </p:nvSpPr>
        <p:spPr>
          <a:xfrm>
            <a:off x="457200" y="960120"/>
            <a:ext cx="4023360" cy="1691640"/>
          </a:xfrm>
          <a:prstGeom prst="rect">
            <a:avLst/>
          </a:prstGeom>
          <a:solidFill>
            <a:srgbClr val="161B22"/>
          </a:solidFill>
          <a:ln/>
        </p:spPr>
      </p:sp>
      <p:sp>
        <p:nvSpPr>
          <p:cNvPr id="7" name="Shape 5"/>
          <p:cNvSpPr/>
          <p:nvPr/>
        </p:nvSpPr>
        <p:spPr>
          <a:xfrm>
            <a:off x="457200" y="960120"/>
            <a:ext cx="4023360" cy="54864"/>
          </a:xfrm>
          <a:prstGeom prst="rect">
            <a:avLst/>
          </a:prstGeom>
          <a:solidFill>
            <a:srgbClr val="FF4757"/>
          </a:solidFill>
          <a:ln/>
        </p:spPr>
      </p:sp>
      <p:sp>
        <p:nvSpPr>
          <p:cNvPr id="8" name="Text 6"/>
          <p:cNvSpPr/>
          <p:nvPr/>
        </p:nvSpPr>
        <p:spPr>
          <a:xfrm>
            <a:off x="640080" y="1097280"/>
            <a:ext cx="457200" cy="457200"/>
          </a:xfrm>
          <a:prstGeom prst="rect">
            <a:avLst/>
          </a:prstGeom>
          <a:noFill/>
          <a:ln/>
        </p:spPr>
        <p:txBody>
          <a:bodyPr wrap="square" rtlCol="0" anchor="ctr"/>
          <a:lstStyle/>
          <a:p>
            <a:pPr marL="0" indent="0">
              <a:buNone/>
            </a:pPr>
            <a:r>
              <a:rPr lang="en-US" sz="2000" dirty="0">
                <a:solidFill>
                  <a:srgbClr val="FF4757"/>
                </a:solidFill>
                <a:latin typeface="Segoe UI Emoji" pitchFamily="34" charset="0"/>
                <a:ea typeface="Segoe UI Emoji" pitchFamily="34" charset="-122"/>
                <a:cs typeface="Segoe UI Emoji" pitchFamily="34" charset="-120"/>
              </a:rPr>
              <a:t>⚠</a:t>
            </a:r>
            <a:endParaRPr lang="en-US" sz="2000" dirty="0"/>
          </a:p>
        </p:txBody>
      </p:sp>
      <p:sp>
        <p:nvSpPr>
          <p:cNvPr id="9" name="Text 7"/>
          <p:cNvSpPr/>
          <p:nvPr/>
        </p:nvSpPr>
        <p:spPr>
          <a:xfrm>
            <a:off x="1097280" y="1097280"/>
            <a:ext cx="3200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Hallucinated Vulnerabilities</a:t>
            </a:r>
            <a:endParaRPr lang="en-US" sz="1300" dirty="0"/>
          </a:p>
        </p:txBody>
      </p:sp>
      <p:sp>
        <p:nvSpPr>
          <p:cNvPr id="10" name="Text 8"/>
          <p:cNvSpPr/>
          <p:nvPr/>
        </p:nvSpPr>
        <p:spPr>
          <a:xfrm>
            <a:off x="640080" y="1645920"/>
            <a:ext cx="3657600" cy="91440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AI confidently reports findings that don't exist. No CVE, no real path, no evidence.</a:t>
            </a:r>
            <a:endParaRPr lang="en-US" sz="1200" dirty="0"/>
          </a:p>
        </p:txBody>
      </p:sp>
      <p:sp>
        <p:nvSpPr>
          <p:cNvPr id="11" name="Shape 9"/>
          <p:cNvSpPr/>
          <p:nvPr/>
        </p:nvSpPr>
        <p:spPr>
          <a:xfrm>
            <a:off x="4800600" y="960120"/>
            <a:ext cx="4023360" cy="1691640"/>
          </a:xfrm>
          <a:prstGeom prst="rect">
            <a:avLst/>
          </a:prstGeom>
          <a:solidFill>
            <a:srgbClr val="161B22"/>
          </a:solidFill>
          <a:ln/>
        </p:spPr>
      </p:sp>
      <p:sp>
        <p:nvSpPr>
          <p:cNvPr id="12" name="Shape 10"/>
          <p:cNvSpPr/>
          <p:nvPr/>
        </p:nvSpPr>
        <p:spPr>
          <a:xfrm>
            <a:off x="4800600" y="960120"/>
            <a:ext cx="4023360" cy="54864"/>
          </a:xfrm>
          <a:prstGeom prst="rect">
            <a:avLst/>
          </a:prstGeom>
          <a:solidFill>
            <a:srgbClr val="FF4757"/>
          </a:solidFill>
          <a:ln/>
        </p:spPr>
      </p:sp>
      <p:sp>
        <p:nvSpPr>
          <p:cNvPr id="13" name="Text 11"/>
          <p:cNvSpPr/>
          <p:nvPr/>
        </p:nvSpPr>
        <p:spPr>
          <a:xfrm>
            <a:off x="4983480" y="1097280"/>
            <a:ext cx="457200" cy="457200"/>
          </a:xfrm>
          <a:prstGeom prst="rect">
            <a:avLst/>
          </a:prstGeom>
          <a:noFill/>
          <a:ln/>
        </p:spPr>
        <p:txBody>
          <a:bodyPr wrap="square" rtlCol="0" anchor="ctr"/>
          <a:lstStyle/>
          <a:p>
            <a:pPr marL="0" indent="0">
              <a:buNone/>
            </a:pPr>
            <a:r>
              <a:rPr lang="en-US" sz="2000" dirty="0">
                <a:solidFill>
                  <a:srgbClr val="FF4757"/>
                </a:solidFill>
                <a:latin typeface="Segoe UI Emoji" pitchFamily="34" charset="0"/>
                <a:ea typeface="Segoe UI Emoji" pitchFamily="34" charset="-122"/>
                <a:cs typeface="Segoe UI Emoji" pitchFamily="34" charset="-120"/>
              </a:rPr>
              <a:t>⚠</a:t>
            </a:r>
            <a:endParaRPr lang="en-US" sz="2000" dirty="0"/>
          </a:p>
        </p:txBody>
      </p:sp>
      <p:sp>
        <p:nvSpPr>
          <p:cNvPr id="14" name="Text 12"/>
          <p:cNvSpPr/>
          <p:nvPr/>
        </p:nvSpPr>
        <p:spPr>
          <a:xfrm>
            <a:off x="5440680" y="1097280"/>
            <a:ext cx="3200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Incorrect / Broken Payloads</a:t>
            </a:r>
            <a:endParaRPr lang="en-US" sz="1300" dirty="0"/>
          </a:p>
        </p:txBody>
      </p:sp>
      <p:sp>
        <p:nvSpPr>
          <p:cNvPr id="15" name="Text 13"/>
          <p:cNvSpPr/>
          <p:nvPr/>
        </p:nvSpPr>
        <p:spPr>
          <a:xfrm>
            <a:off x="4983480" y="1645920"/>
            <a:ext cx="3657600" cy="91440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Payloads that look right but don't work, or worse — break the target application.</a:t>
            </a:r>
            <a:endParaRPr lang="en-US" sz="1200" dirty="0"/>
          </a:p>
        </p:txBody>
      </p:sp>
      <p:sp>
        <p:nvSpPr>
          <p:cNvPr id="16" name="Shape 14"/>
          <p:cNvSpPr/>
          <p:nvPr/>
        </p:nvSpPr>
        <p:spPr>
          <a:xfrm>
            <a:off x="457200" y="2834640"/>
            <a:ext cx="4023360" cy="1691640"/>
          </a:xfrm>
          <a:prstGeom prst="rect">
            <a:avLst/>
          </a:prstGeom>
          <a:solidFill>
            <a:srgbClr val="161B22"/>
          </a:solidFill>
          <a:ln/>
        </p:spPr>
      </p:sp>
      <p:sp>
        <p:nvSpPr>
          <p:cNvPr id="17" name="Shape 15"/>
          <p:cNvSpPr/>
          <p:nvPr/>
        </p:nvSpPr>
        <p:spPr>
          <a:xfrm>
            <a:off x="457200" y="2834640"/>
            <a:ext cx="4023360" cy="54864"/>
          </a:xfrm>
          <a:prstGeom prst="rect">
            <a:avLst/>
          </a:prstGeom>
          <a:solidFill>
            <a:srgbClr val="FF4757"/>
          </a:solidFill>
          <a:ln/>
        </p:spPr>
      </p:sp>
      <p:sp>
        <p:nvSpPr>
          <p:cNvPr id="18" name="Text 16"/>
          <p:cNvSpPr/>
          <p:nvPr/>
        </p:nvSpPr>
        <p:spPr>
          <a:xfrm>
            <a:off x="640080" y="2971800"/>
            <a:ext cx="457200" cy="457200"/>
          </a:xfrm>
          <a:prstGeom prst="rect">
            <a:avLst/>
          </a:prstGeom>
          <a:noFill/>
          <a:ln/>
        </p:spPr>
        <p:txBody>
          <a:bodyPr wrap="square" rtlCol="0" anchor="ctr"/>
          <a:lstStyle/>
          <a:p>
            <a:pPr marL="0" indent="0">
              <a:buNone/>
            </a:pPr>
            <a:r>
              <a:rPr lang="en-US" sz="2000" dirty="0">
                <a:solidFill>
                  <a:srgbClr val="FF4757"/>
                </a:solidFill>
                <a:latin typeface="Segoe UI Emoji" pitchFamily="34" charset="0"/>
                <a:ea typeface="Segoe UI Emoji" pitchFamily="34" charset="-122"/>
                <a:cs typeface="Segoe UI Emoji" pitchFamily="34" charset="-120"/>
              </a:rPr>
              <a:t>⚠</a:t>
            </a:r>
            <a:endParaRPr lang="en-US" sz="2000" dirty="0"/>
          </a:p>
        </p:txBody>
      </p:sp>
      <p:sp>
        <p:nvSpPr>
          <p:cNvPr id="19" name="Text 17"/>
          <p:cNvSpPr/>
          <p:nvPr/>
        </p:nvSpPr>
        <p:spPr>
          <a:xfrm>
            <a:off x="1097280" y="2971800"/>
            <a:ext cx="3200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Outdated Techniques</a:t>
            </a:r>
            <a:endParaRPr lang="en-US" sz="1300" dirty="0"/>
          </a:p>
        </p:txBody>
      </p:sp>
      <p:sp>
        <p:nvSpPr>
          <p:cNvPr id="20" name="Text 18"/>
          <p:cNvSpPr/>
          <p:nvPr/>
        </p:nvSpPr>
        <p:spPr>
          <a:xfrm>
            <a:off x="640080" y="3520440"/>
            <a:ext cx="3657600" cy="91440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AI training data has a cutoff. Modern defences may already block what it suggests.</a:t>
            </a:r>
            <a:endParaRPr lang="en-US" sz="1200" dirty="0"/>
          </a:p>
        </p:txBody>
      </p:sp>
      <p:sp>
        <p:nvSpPr>
          <p:cNvPr id="21" name="Shape 19"/>
          <p:cNvSpPr/>
          <p:nvPr/>
        </p:nvSpPr>
        <p:spPr>
          <a:xfrm>
            <a:off x="4800600" y="2834640"/>
            <a:ext cx="4023360" cy="1691640"/>
          </a:xfrm>
          <a:prstGeom prst="rect">
            <a:avLst/>
          </a:prstGeom>
          <a:solidFill>
            <a:srgbClr val="161B22"/>
          </a:solidFill>
          <a:ln/>
        </p:spPr>
      </p:sp>
      <p:sp>
        <p:nvSpPr>
          <p:cNvPr id="22" name="Shape 20"/>
          <p:cNvSpPr/>
          <p:nvPr/>
        </p:nvSpPr>
        <p:spPr>
          <a:xfrm>
            <a:off x="4800600" y="2834640"/>
            <a:ext cx="4023360" cy="54864"/>
          </a:xfrm>
          <a:prstGeom prst="rect">
            <a:avLst/>
          </a:prstGeom>
          <a:solidFill>
            <a:srgbClr val="FF4757"/>
          </a:solidFill>
          <a:ln/>
        </p:spPr>
      </p:sp>
      <p:sp>
        <p:nvSpPr>
          <p:cNvPr id="23" name="Text 21"/>
          <p:cNvSpPr/>
          <p:nvPr/>
        </p:nvSpPr>
        <p:spPr>
          <a:xfrm>
            <a:off x="4983480" y="2971800"/>
            <a:ext cx="457200" cy="457200"/>
          </a:xfrm>
          <a:prstGeom prst="rect">
            <a:avLst/>
          </a:prstGeom>
          <a:noFill/>
          <a:ln/>
        </p:spPr>
        <p:txBody>
          <a:bodyPr wrap="square" rtlCol="0" anchor="ctr"/>
          <a:lstStyle/>
          <a:p>
            <a:pPr marL="0" indent="0">
              <a:buNone/>
            </a:pPr>
            <a:r>
              <a:rPr lang="en-US" sz="2000" dirty="0">
                <a:solidFill>
                  <a:srgbClr val="FF4757"/>
                </a:solidFill>
                <a:latin typeface="Segoe UI Emoji" pitchFamily="34" charset="0"/>
                <a:ea typeface="Segoe UI Emoji" pitchFamily="34" charset="-122"/>
                <a:cs typeface="Segoe UI Emoji" pitchFamily="34" charset="-120"/>
              </a:rPr>
              <a:t>⚠</a:t>
            </a:r>
            <a:endParaRPr lang="en-US" sz="2000" dirty="0"/>
          </a:p>
        </p:txBody>
      </p:sp>
      <p:sp>
        <p:nvSpPr>
          <p:cNvPr id="24" name="Text 22"/>
          <p:cNvSpPr/>
          <p:nvPr/>
        </p:nvSpPr>
        <p:spPr>
          <a:xfrm>
            <a:off x="5440680" y="2971800"/>
            <a:ext cx="3200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Misread Responses</a:t>
            </a:r>
            <a:endParaRPr lang="en-US" sz="1300" dirty="0"/>
          </a:p>
        </p:txBody>
      </p:sp>
      <p:sp>
        <p:nvSpPr>
          <p:cNvPr id="25" name="Text 23"/>
          <p:cNvSpPr/>
          <p:nvPr/>
        </p:nvSpPr>
        <p:spPr>
          <a:xfrm>
            <a:off x="4983480" y="3520440"/>
            <a:ext cx="3657600" cy="91440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AI can't see the actual HTTP response or system state. It guesses. Often wrongly.</a:t>
            </a:r>
            <a:endParaRPr lang="en-US" sz="1200" dirty="0"/>
          </a:p>
        </p:txBody>
      </p:sp>
      <p:sp>
        <p:nvSpPr>
          <p:cNvPr id="26" name="Shape 24"/>
          <p:cNvSpPr/>
          <p:nvPr/>
        </p:nvSpPr>
        <p:spPr>
          <a:xfrm>
            <a:off x="457200" y="4709160"/>
            <a:ext cx="8229600" cy="320040"/>
          </a:xfrm>
          <a:prstGeom prst="rect">
            <a:avLst/>
          </a:prstGeom>
          <a:solidFill>
            <a:srgbClr val="1A0808"/>
          </a:solidFill>
          <a:ln/>
        </p:spPr>
      </p:sp>
      <p:sp>
        <p:nvSpPr>
          <p:cNvPr id="27" name="Text 25"/>
          <p:cNvSpPr/>
          <p:nvPr/>
        </p:nvSpPr>
        <p:spPr>
          <a:xfrm>
            <a:off x="457200" y="4709160"/>
            <a:ext cx="8229600" cy="320040"/>
          </a:xfrm>
          <a:prstGeom prst="rect">
            <a:avLst/>
          </a:prstGeom>
          <a:noFill/>
          <a:ln/>
        </p:spPr>
        <p:txBody>
          <a:bodyPr wrap="square" rtlCol="0" anchor="ctr"/>
          <a:lstStyle/>
          <a:p>
            <a:pPr marL="0" indent="0" algn="ctr">
              <a:buNone/>
            </a:pPr>
            <a:r>
              <a:rPr lang="en-US" sz="1300" b="1" dirty="0">
                <a:solidFill>
                  <a:srgbClr val="FF4757"/>
                </a:solidFill>
                <a:latin typeface="Consolas" pitchFamily="34" charset="0"/>
                <a:ea typeface="Consolas" pitchFamily="34" charset="-122"/>
                <a:cs typeface="Consolas" pitchFamily="34" charset="-120"/>
              </a:rPr>
              <a:t>AI sounds confident — even when it's completely wrong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Dangerous Shift</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914400" y="1051560"/>
            <a:ext cx="7315200" cy="1005840"/>
          </a:xfrm>
          <a:prstGeom prst="rect">
            <a:avLst/>
          </a:prstGeom>
          <a:solidFill>
            <a:srgbClr val="161B22"/>
          </a:solidFill>
          <a:ln/>
        </p:spPr>
      </p:sp>
      <p:sp>
        <p:nvSpPr>
          <p:cNvPr id="5" name="Shape 3"/>
          <p:cNvSpPr/>
          <p:nvPr/>
        </p:nvSpPr>
        <p:spPr>
          <a:xfrm>
            <a:off x="914400" y="1051560"/>
            <a:ext cx="109728" cy="1005840"/>
          </a:xfrm>
          <a:prstGeom prst="rect">
            <a:avLst/>
          </a:prstGeom>
          <a:solidFill>
            <a:srgbClr val="FF6B35"/>
          </a:solidFill>
          <a:ln/>
        </p:spPr>
      </p:sp>
      <p:sp>
        <p:nvSpPr>
          <p:cNvPr id="6" name="Text 4"/>
          <p:cNvSpPr/>
          <p:nvPr/>
        </p:nvSpPr>
        <p:spPr>
          <a:xfrm>
            <a:off x="1143000" y="1097280"/>
            <a:ext cx="6949440" cy="914400"/>
          </a:xfrm>
          <a:prstGeom prst="rect">
            <a:avLst/>
          </a:prstGeom>
          <a:noFill/>
          <a:ln/>
        </p:spPr>
        <p:txBody>
          <a:bodyPr wrap="square" rtlCol="0" anchor="ctr"/>
          <a:lstStyle/>
          <a:p>
            <a:pPr marL="0" indent="0">
              <a:buNone/>
            </a:pPr>
            <a:r>
              <a:rPr lang="en-US" sz="2000" b="1" i="1" dirty="0">
                <a:solidFill>
                  <a:srgbClr val="FFFFFF"/>
                </a:solidFill>
                <a:latin typeface="Georgia" pitchFamily="34" charset="0"/>
                <a:ea typeface="Georgia" pitchFamily="34" charset="-122"/>
                <a:cs typeface="Georgia" pitchFamily="34" charset="-120"/>
              </a:rPr>
              <a:t>AI lowers the barrier to doing things… but not to doing them well.</a:t>
            </a:r>
            <a:endParaRPr lang="en-US" sz="2000" dirty="0"/>
          </a:p>
        </p:txBody>
      </p:sp>
      <p:sp>
        <p:nvSpPr>
          <p:cNvPr id="7" name="Shape 5"/>
          <p:cNvSpPr/>
          <p:nvPr/>
        </p:nvSpPr>
        <p:spPr>
          <a:xfrm>
            <a:off x="457200" y="2331720"/>
            <a:ext cx="2697480" cy="2560320"/>
          </a:xfrm>
          <a:prstGeom prst="rect">
            <a:avLst/>
          </a:prstGeom>
          <a:solidFill>
            <a:srgbClr val="161B22"/>
          </a:solidFill>
          <a:ln/>
        </p:spPr>
      </p:sp>
      <p:sp>
        <p:nvSpPr>
          <p:cNvPr id="8" name="Shape 6"/>
          <p:cNvSpPr/>
          <p:nvPr/>
        </p:nvSpPr>
        <p:spPr>
          <a:xfrm>
            <a:off x="457200" y="2331720"/>
            <a:ext cx="2697480" cy="54864"/>
          </a:xfrm>
          <a:prstGeom prst="rect">
            <a:avLst/>
          </a:prstGeom>
          <a:solidFill>
            <a:srgbClr val="2ED573"/>
          </a:solidFill>
          <a:ln/>
        </p:spPr>
      </p:sp>
      <p:sp>
        <p:nvSpPr>
          <p:cNvPr id="9" name="Text 7"/>
          <p:cNvSpPr/>
          <p:nvPr/>
        </p:nvSpPr>
        <p:spPr>
          <a:xfrm>
            <a:off x="594360" y="3246120"/>
            <a:ext cx="2423160" cy="457200"/>
          </a:xfrm>
          <a:prstGeom prst="rect">
            <a:avLst/>
          </a:prstGeom>
          <a:noFill/>
          <a:ln/>
        </p:spPr>
        <p:txBody>
          <a:bodyPr wrap="square" rtlCol="0" anchor="ctr"/>
          <a:lstStyle/>
          <a:p>
            <a:pPr marL="0" indent="0" algn="ctr">
              <a:buNone/>
            </a:pPr>
            <a:r>
              <a:rPr lang="en-US" sz="1400" b="1" dirty="0">
                <a:solidFill>
                  <a:srgbClr val="2ED573"/>
                </a:solidFill>
                <a:latin typeface="Calibri" pitchFamily="34" charset="0"/>
                <a:ea typeface="Calibri" pitchFamily="34" charset="-122"/>
                <a:cs typeface="Calibri" pitchFamily="34" charset="-120"/>
              </a:rPr>
              <a:t>More Output</a:t>
            </a:r>
            <a:endParaRPr lang="en-US" sz="1400" dirty="0"/>
          </a:p>
        </p:txBody>
      </p:sp>
      <p:sp>
        <p:nvSpPr>
          <p:cNvPr id="10" name="Text 8"/>
          <p:cNvSpPr/>
          <p:nvPr/>
        </p:nvSpPr>
        <p:spPr>
          <a:xfrm>
            <a:off x="594360" y="3749040"/>
            <a:ext cx="2423160" cy="1005840"/>
          </a:xfrm>
          <a:prstGeom prst="rect">
            <a:avLst/>
          </a:prstGeom>
          <a:noFill/>
          <a:ln/>
        </p:spPr>
        <p:txBody>
          <a:bodyPr wrap="square" rtlCol="0" anchor="t"/>
          <a:lstStyle/>
          <a:p>
            <a:pPr marL="0" indent="0" algn="ctr">
              <a:buNone/>
            </a:pPr>
            <a:r>
              <a:rPr lang="en-US" sz="1200" dirty="0">
                <a:solidFill>
                  <a:srgbClr val="8B949E"/>
                </a:solidFill>
                <a:latin typeface="Calibri" pitchFamily="34" charset="0"/>
                <a:ea typeface="Calibri" pitchFamily="34" charset="-122"/>
                <a:cs typeface="Calibri" pitchFamily="34" charset="-120"/>
              </a:rPr>
              <a:t>AI generates more ideas, more payloads, more text — faster than ever before.</a:t>
            </a:r>
            <a:endParaRPr lang="en-US" sz="1200" dirty="0"/>
          </a:p>
        </p:txBody>
      </p:sp>
      <p:sp>
        <p:nvSpPr>
          <p:cNvPr id="11" name="Shape 9"/>
          <p:cNvSpPr/>
          <p:nvPr/>
        </p:nvSpPr>
        <p:spPr>
          <a:xfrm>
            <a:off x="3337560" y="2331720"/>
            <a:ext cx="2697480" cy="2560320"/>
          </a:xfrm>
          <a:prstGeom prst="rect">
            <a:avLst/>
          </a:prstGeom>
          <a:solidFill>
            <a:srgbClr val="161B22"/>
          </a:solidFill>
          <a:ln/>
        </p:spPr>
      </p:sp>
      <p:sp>
        <p:nvSpPr>
          <p:cNvPr id="12" name="Shape 10"/>
          <p:cNvSpPr/>
          <p:nvPr/>
        </p:nvSpPr>
        <p:spPr>
          <a:xfrm>
            <a:off x="3337560" y="2331720"/>
            <a:ext cx="2697480" cy="54864"/>
          </a:xfrm>
          <a:prstGeom prst="rect">
            <a:avLst/>
          </a:prstGeom>
          <a:solidFill>
            <a:srgbClr val="FFD700"/>
          </a:solidFill>
          <a:ln/>
        </p:spPr>
      </p:sp>
      <p:sp>
        <p:nvSpPr>
          <p:cNvPr id="13" name="Text 11"/>
          <p:cNvSpPr/>
          <p:nvPr/>
        </p:nvSpPr>
        <p:spPr>
          <a:xfrm>
            <a:off x="3474720" y="3246120"/>
            <a:ext cx="2423160" cy="457200"/>
          </a:xfrm>
          <a:prstGeom prst="rect">
            <a:avLst/>
          </a:prstGeom>
          <a:noFill/>
          <a:ln/>
        </p:spPr>
        <p:txBody>
          <a:bodyPr wrap="square" rtlCol="0" anchor="ctr"/>
          <a:lstStyle/>
          <a:p>
            <a:pPr marL="0" indent="0" algn="ctr">
              <a:buNone/>
            </a:pPr>
            <a:r>
              <a:rPr lang="en-US" sz="1400" b="1" dirty="0">
                <a:solidFill>
                  <a:srgbClr val="FFD700"/>
                </a:solidFill>
                <a:latin typeface="Calibri" pitchFamily="34" charset="0"/>
                <a:ea typeface="Calibri" pitchFamily="34" charset="-122"/>
                <a:cs typeface="Calibri" pitchFamily="34" charset="-120"/>
              </a:rPr>
              <a:t>Less Understanding</a:t>
            </a:r>
            <a:endParaRPr lang="en-US" sz="1400" dirty="0"/>
          </a:p>
        </p:txBody>
      </p:sp>
      <p:sp>
        <p:nvSpPr>
          <p:cNvPr id="14" name="Text 12"/>
          <p:cNvSpPr/>
          <p:nvPr/>
        </p:nvSpPr>
        <p:spPr>
          <a:xfrm>
            <a:off x="3474720" y="3749040"/>
            <a:ext cx="2423160" cy="1005840"/>
          </a:xfrm>
          <a:prstGeom prst="rect">
            <a:avLst/>
          </a:prstGeom>
          <a:noFill/>
          <a:ln/>
        </p:spPr>
        <p:txBody>
          <a:bodyPr wrap="square" rtlCol="0" anchor="t"/>
          <a:lstStyle/>
          <a:p>
            <a:pPr marL="0" indent="0" algn="ctr">
              <a:buNone/>
            </a:pPr>
            <a:r>
              <a:rPr lang="en-US" sz="1200" dirty="0">
                <a:solidFill>
                  <a:srgbClr val="8B949E"/>
                </a:solidFill>
                <a:latin typeface="Calibri" pitchFamily="34" charset="0"/>
                <a:ea typeface="Calibri" pitchFamily="34" charset="-122"/>
                <a:cs typeface="Calibri" pitchFamily="34" charset="-120"/>
              </a:rPr>
              <a:t>When AI does the thinking, your understanding of the underlying technique atrophies.</a:t>
            </a:r>
            <a:endParaRPr lang="en-US" sz="1200" dirty="0"/>
          </a:p>
        </p:txBody>
      </p:sp>
      <p:sp>
        <p:nvSpPr>
          <p:cNvPr id="15" name="Shape 13"/>
          <p:cNvSpPr/>
          <p:nvPr/>
        </p:nvSpPr>
        <p:spPr>
          <a:xfrm>
            <a:off x="6217920" y="2331720"/>
            <a:ext cx="2697480" cy="2560320"/>
          </a:xfrm>
          <a:prstGeom prst="rect">
            <a:avLst/>
          </a:prstGeom>
          <a:solidFill>
            <a:srgbClr val="161B22"/>
          </a:solidFill>
          <a:ln/>
        </p:spPr>
      </p:sp>
      <p:sp>
        <p:nvSpPr>
          <p:cNvPr id="16" name="Shape 14"/>
          <p:cNvSpPr/>
          <p:nvPr/>
        </p:nvSpPr>
        <p:spPr>
          <a:xfrm>
            <a:off x="6217920" y="2331720"/>
            <a:ext cx="2697480" cy="54864"/>
          </a:xfrm>
          <a:prstGeom prst="rect">
            <a:avLst/>
          </a:prstGeom>
          <a:solidFill>
            <a:srgbClr val="FF4757"/>
          </a:solidFill>
          <a:ln/>
        </p:spPr>
      </p:sp>
      <p:sp>
        <p:nvSpPr>
          <p:cNvPr id="17" name="Text 15"/>
          <p:cNvSpPr/>
          <p:nvPr/>
        </p:nvSpPr>
        <p:spPr>
          <a:xfrm>
            <a:off x="6355080" y="3246120"/>
            <a:ext cx="2423160" cy="457200"/>
          </a:xfrm>
          <a:prstGeom prst="rect">
            <a:avLst/>
          </a:prstGeom>
          <a:noFill/>
          <a:ln/>
        </p:spPr>
        <p:txBody>
          <a:bodyPr wrap="square" rtlCol="0" anchor="ctr"/>
          <a:lstStyle/>
          <a:p>
            <a:pPr marL="0" indent="0" algn="ctr">
              <a:buNone/>
            </a:pPr>
            <a:r>
              <a:rPr lang="en-US" sz="1400" b="1" dirty="0">
                <a:solidFill>
                  <a:srgbClr val="FF4757"/>
                </a:solidFill>
                <a:latin typeface="Calibri" pitchFamily="34" charset="0"/>
                <a:ea typeface="Calibri" pitchFamily="34" charset="-122"/>
                <a:cs typeface="Calibri" pitchFamily="34" charset="-120"/>
              </a:rPr>
              <a:t>Higher Risk</a:t>
            </a:r>
            <a:endParaRPr lang="en-US" sz="1400" dirty="0"/>
          </a:p>
        </p:txBody>
      </p:sp>
      <p:sp>
        <p:nvSpPr>
          <p:cNvPr id="18" name="Text 16"/>
          <p:cNvSpPr/>
          <p:nvPr/>
        </p:nvSpPr>
        <p:spPr>
          <a:xfrm>
            <a:off x="6355080" y="3749040"/>
            <a:ext cx="2423160" cy="1005840"/>
          </a:xfrm>
          <a:prstGeom prst="rect">
            <a:avLst/>
          </a:prstGeom>
          <a:noFill/>
          <a:ln/>
        </p:spPr>
        <p:txBody>
          <a:bodyPr wrap="square" rtlCol="0" anchor="t"/>
          <a:lstStyle/>
          <a:p>
            <a:pPr marL="0" indent="0" algn="ctr">
              <a:buNone/>
            </a:pPr>
            <a:r>
              <a:rPr lang="en-US" sz="1200" dirty="0">
                <a:solidFill>
                  <a:srgbClr val="8B949E"/>
                </a:solidFill>
                <a:latin typeface="Calibri" pitchFamily="34" charset="0"/>
                <a:ea typeface="Calibri" pitchFamily="34" charset="-122"/>
                <a:cs typeface="Calibri" pitchFamily="34" charset="-120"/>
              </a:rPr>
              <a:t>More output + less understanding = a greater chance of putting wrong findings in a report.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Auto-Pwn Mindset</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Text 2"/>
          <p:cNvSpPr/>
          <p:nvPr/>
        </p:nvSpPr>
        <p:spPr>
          <a:xfrm>
            <a:off x="457200" y="1005840"/>
            <a:ext cx="8229600" cy="365760"/>
          </a:xfrm>
          <a:prstGeom prst="rect">
            <a:avLst/>
          </a:prstGeom>
          <a:noFill/>
          <a:ln/>
        </p:spPr>
        <p:txBody>
          <a:bodyPr wrap="square" rtlCol="0" anchor="ctr"/>
          <a:lstStyle/>
          <a:p>
            <a:pPr marL="0" indent="0">
              <a:buNone/>
            </a:pPr>
            <a:r>
              <a:rPr lang="en-US" sz="1500" dirty="0">
                <a:solidFill>
                  <a:srgbClr val="8B949E"/>
                </a:solidFill>
                <a:latin typeface="Calibri" pitchFamily="34" charset="0"/>
                <a:ea typeface="Calibri" pitchFamily="34" charset="-122"/>
                <a:cs typeface="Calibri" pitchFamily="34" charset="-120"/>
              </a:rPr>
              <a:t>What it looks like in practice:</a:t>
            </a:r>
            <a:endParaRPr lang="en-US" sz="1500" dirty="0"/>
          </a:p>
        </p:txBody>
      </p:sp>
      <p:sp>
        <p:nvSpPr>
          <p:cNvPr id="5" name="Shape 3"/>
          <p:cNvSpPr/>
          <p:nvPr/>
        </p:nvSpPr>
        <p:spPr>
          <a:xfrm>
            <a:off x="457200" y="1463040"/>
            <a:ext cx="6858000" cy="530352"/>
          </a:xfrm>
          <a:prstGeom prst="rect">
            <a:avLst/>
          </a:prstGeom>
          <a:solidFill>
            <a:srgbClr val="161B22"/>
          </a:solidFill>
          <a:ln/>
        </p:spPr>
      </p:sp>
      <p:sp>
        <p:nvSpPr>
          <p:cNvPr id="6" name="Shape 4"/>
          <p:cNvSpPr/>
          <p:nvPr/>
        </p:nvSpPr>
        <p:spPr>
          <a:xfrm>
            <a:off x="457200" y="1463040"/>
            <a:ext cx="73152" cy="530352"/>
          </a:xfrm>
          <a:prstGeom prst="rect">
            <a:avLst/>
          </a:prstGeom>
          <a:solidFill>
            <a:srgbClr val="FF4757"/>
          </a:solidFill>
          <a:ln/>
        </p:spPr>
      </p:sp>
      <p:sp>
        <p:nvSpPr>
          <p:cNvPr id="7" name="Text 5"/>
          <p:cNvSpPr/>
          <p:nvPr/>
        </p:nvSpPr>
        <p:spPr>
          <a:xfrm>
            <a:off x="594360" y="1463040"/>
            <a:ext cx="365760" cy="530352"/>
          </a:xfrm>
          <a:prstGeom prst="rect">
            <a:avLst/>
          </a:prstGeom>
          <a:noFill/>
          <a:ln/>
        </p:spPr>
        <p:txBody>
          <a:bodyPr wrap="square" rtlCol="0" anchor="ctr"/>
          <a:lstStyle/>
          <a:p>
            <a:pPr marL="0" indent="0">
              <a:buNone/>
            </a:pPr>
            <a:r>
              <a:rPr lang="en-US" sz="1400" b="1" dirty="0">
                <a:solidFill>
                  <a:srgbClr val="FF4757"/>
                </a:solidFill>
                <a:latin typeface="Consolas" pitchFamily="34" charset="0"/>
                <a:ea typeface="Consolas" pitchFamily="34" charset="-122"/>
                <a:cs typeface="Consolas" pitchFamily="34" charset="-120"/>
              </a:rPr>
              <a:t>1</a:t>
            </a:r>
            <a:endParaRPr lang="en-US" sz="1400" dirty="0"/>
          </a:p>
        </p:txBody>
      </p:sp>
      <p:sp>
        <p:nvSpPr>
          <p:cNvPr id="8" name="Text 6"/>
          <p:cNvSpPr/>
          <p:nvPr/>
        </p:nvSpPr>
        <p:spPr>
          <a:xfrm>
            <a:off x="1051560" y="1463040"/>
            <a:ext cx="6126480" cy="53035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Copy/paste payloads directly without testing them first</a:t>
            </a:r>
            <a:endParaRPr lang="en-US" sz="1300" dirty="0"/>
          </a:p>
        </p:txBody>
      </p:sp>
      <p:sp>
        <p:nvSpPr>
          <p:cNvPr id="9" name="Shape 7"/>
          <p:cNvSpPr/>
          <p:nvPr/>
        </p:nvSpPr>
        <p:spPr>
          <a:xfrm>
            <a:off x="457200" y="2084832"/>
            <a:ext cx="6858000" cy="530352"/>
          </a:xfrm>
          <a:prstGeom prst="rect">
            <a:avLst/>
          </a:prstGeom>
          <a:solidFill>
            <a:srgbClr val="161B22"/>
          </a:solidFill>
          <a:ln/>
        </p:spPr>
      </p:sp>
      <p:sp>
        <p:nvSpPr>
          <p:cNvPr id="10" name="Shape 8"/>
          <p:cNvSpPr/>
          <p:nvPr/>
        </p:nvSpPr>
        <p:spPr>
          <a:xfrm>
            <a:off x="457200" y="2084832"/>
            <a:ext cx="73152" cy="530352"/>
          </a:xfrm>
          <a:prstGeom prst="rect">
            <a:avLst/>
          </a:prstGeom>
          <a:solidFill>
            <a:srgbClr val="FF4757"/>
          </a:solidFill>
          <a:ln/>
        </p:spPr>
      </p:sp>
      <p:sp>
        <p:nvSpPr>
          <p:cNvPr id="11" name="Text 9"/>
          <p:cNvSpPr/>
          <p:nvPr/>
        </p:nvSpPr>
        <p:spPr>
          <a:xfrm>
            <a:off x="594360" y="2084832"/>
            <a:ext cx="365760" cy="530352"/>
          </a:xfrm>
          <a:prstGeom prst="rect">
            <a:avLst/>
          </a:prstGeom>
          <a:noFill/>
          <a:ln/>
        </p:spPr>
        <p:txBody>
          <a:bodyPr wrap="square" rtlCol="0" anchor="ctr"/>
          <a:lstStyle/>
          <a:p>
            <a:pPr marL="0" indent="0">
              <a:buNone/>
            </a:pPr>
            <a:r>
              <a:rPr lang="en-US" sz="1400" b="1" dirty="0">
                <a:solidFill>
                  <a:srgbClr val="FF4757"/>
                </a:solidFill>
                <a:latin typeface="Consolas" pitchFamily="34" charset="0"/>
                <a:ea typeface="Consolas" pitchFamily="34" charset="-122"/>
                <a:cs typeface="Consolas" pitchFamily="34" charset="-120"/>
              </a:rPr>
              <a:t>2</a:t>
            </a:r>
            <a:endParaRPr lang="en-US" sz="1400" dirty="0"/>
          </a:p>
        </p:txBody>
      </p:sp>
      <p:sp>
        <p:nvSpPr>
          <p:cNvPr id="12" name="Text 10"/>
          <p:cNvSpPr/>
          <p:nvPr/>
        </p:nvSpPr>
        <p:spPr>
          <a:xfrm>
            <a:off x="1051560" y="2084832"/>
            <a:ext cx="6126480" cy="53035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Trust AI explanations of vulnerabilities without verification</a:t>
            </a:r>
            <a:endParaRPr lang="en-US" sz="1300" dirty="0"/>
          </a:p>
        </p:txBody>
      </p:sp>
      <p:sp>
        <p:nvSpPr>
          <p:cNvPr id="13" name="Shape 11"/>
          <p:cNvSpPr/>
          <p:nvPr/>
        </p:nvSpPr>
        <p:spPr>
          <a:xfrm>
            <a:off x="457200" y="2706624"/>
            <a:ext cx="6858000" cy="530352"/>
          </a:xfrm>
          <a:prstGeom prst="rect">
            <a:avLst/>
          </a:prstGeom>
          <a:solidFill>
            <a:srgbClr val="161B22"/>
          </a:solidFill>
          <a:ln/>
        </p:spPr>
      </p:sp>
      <p:sp>
        <p:nvSpPr>
          <p:cNvPr id="14" name="Shape 12"/>
          <p:cNvSpPr/>
          <p:nvPr/>
        </p:nvSpPr>
        <p:spPr>
          <a:xfrm>
            <a:off x="457200" y="2706624"/>
            <a:ext cx="73152" cy="530352"/>
          </a:xfrm>
          <a:prstGeom prst="rect">
            <a:avLst/>
          </a:prstGeom>
          <a:solidFill>
            <a:srgbClr val="FF4757"/>
          </a:solidFill>
          <a:ln/>
        </p:spPr>
      </p:sp>
      <p:sp>
        <p:nvSpPr>
          <p:cNvPr id="15" name="Text 13"/>
          <p:cNvSpPr/>
          <p:nvPr/>
        </p:nvSpPr>
        <p:spPr>
          <a:xfrm>
            <a:off x="594360" y="2706624"/>
            <a:ext cx="365760" cy="530352"/>
          </a:xfrm>
          <a:prstGeom prst="rect">
            <a:avLst/>
          </a:prstGeom>
          <a:noFill/>
          <a:ln/>
        </p:spPr>
        <p:txBody>
          <a:bodyPr wrap="square" rtlCol="0" anchor="ctr"/>
          <a:lstStyle/>
          <a:p>
            <a:pPr marL="0" indent="0">
              <a:buNone/>
            </a:pPr>
            <a:r>
              <a:rPr lang="en-US" sz="1400" b="1" dirty="0">
                <a:solidFill>
                  <a:srgbClr val="FF4757"/>
                </a:solidFill>
                <a:latin typeface="Consolas" pitchFamily="34" charset="0"/>
                <a:ea typeface="Consolas" pitchFamily="34" charset="-122"/>
                <a:cs typeface="Consolas" pitchFamily="34" charset="-120"/>
              </a:rPr>
              <a:t>3</a:t>
            </a:r>
            <a:endParaRPr lang="en-US" sz="1400" dirty="0"/>
          </a:p>
        </p:txBody>
      </p:sp>
      <p:sp>
        <p:nvSpPr>
          <p:cNvPr id="16" name="Text 14"/>
          <p:cNvSpPr/>
          <p:nvPr/>
        </p:nvSpPr>
        <p:spPr>
          <a:xfrm>
            <a:off x="1051560" y="2706624"/>
            <a:ext cx="6126480" cy="53035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Skip building fundamentals because 'AI can explain it'</a:t>
            </a:r>
            <a:endParaRPr lang="en-US" sz="1300" dirty="0"/>
          </a:p>
        </p:txBody>
      </p:sp>
      <p:sp>
        <p:nvSpPr>
          <p:cNvPr id="17" name="Shape 15"/>
          <p:cNvSpPr/>
          <p:nvPr/>
        </p:nvSpPr>
        <p:spPr>
          <a:xfrm>
            <a:off x="457200" y="3328416"/>
            <a:ext cx="6858000" cy="530352"/>
          </a:xfrm>
          <a:prstGeom prst="rect">
            <a:avLst/>
          </a:prstGeom>
          <a:solidFill>
            <a:srgbClr val="161B22"/>
          </a:solidFill>
          <a:ln/>
        </p:spPr>
      </p:sp>
      <p:sp>
        <p:nvSpPr>
          <p:cNvPr id="18" name="Shape 16"/>
          <p:cNvSpPr/>
          <p:nvPr/>
        </p:nvSpPr>
        <p:spPr>
          <a:xfrm>
            <a:off x="457200" y="3328416"/>
            <a:ext cx="73152" cy="530352"/>
          </a:xfrm>
          <a:prstGeom prst="rect">
            <a:avLst/>
          </a:prstGeom>
          <a:solidFill>
            <a:srgbClr val="FF4757"/>
          </a:solidFill>
          <a:ln/>
        </p:spPr>
      </p:sp>
      <p:sp>
        <p:nvSpPr>
          <p:cNvPr id="19" name="Text 17"/>
          <p:cNvSpPr/>
          <p:nvPr/>
        </p:nvSpPr>
        <p:spPr>
          <a:xfrm>
            <a:off x="594360" y="3328416"/>
            <a:ext cx="365760" cy="530352"/>
          </a:xfrm>
          <a:prstGeom prst="rect">
            <a:avLst/>
          </a:prstGeom>
          <a:noFill/>
          <a:ln/>
        </p:spPr>
        <p:txBody>
          <a:bodyPr wrap="square" rtlCol="0" anchor="ctr"/>
          <a:lstStyle/>
          <a:p>
            <a:pPr marL="0" indent="0">
              <a:buNone/>
            </a:pPr>
            <a:r>
              <a:rPr lang="en-US" sz="1400" b="1" dirty="0">
                <a:solidFill>
                  <a:srgbClr val="FF4757"/>
                </a:solidFill>
                <a:latin typeface="Consolas" pitchFamily="34" charset="0"/>
                <a:ea typeface="Consolas" pitchFamily="34" charset="-122"/>
                <a:cs typeface="Consolas" pitchFamily="34" charset="-120"/>
              </a:rPr>
              <a:t>4</a:t>
            </a:r>
            <a:endParaRPr lang="en-US" sz="1400" dirty="0"/>
          </a:p>
        </p:txBody>
      </p:sp>
      <p:sp>
        <p:nvSpPr>
          <p:cNvPr id="20" name="Text 18"/>
          <p:cNvSpPr/>
          <p:nvPr/>
        </p:nvSpPr>
        <p:spPr>
          <a:xfrm>
            <a:off x="1051560" y="3328416"/>
            <a:ext cx="6126480" cy="53035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Chase speed over accuracy — more findings = better work</a:t>
            </a:r>
            <a:endParaRPr lang="en-US" sz="1300" dirty="0"/>
          </a:p>
        </p:txBody>
      </p:sp>
      <p:sp>
        <p:nvSpPr>
          <p:cNvPr id="21" name="Shape 19"/>
          <p:cNvSpPr/>
          <p:nvPr/>
        </p:nvSpPr>
        <p:spPr>
          <a:xfrm>
            <a:off x="457200" y="3950208"/>
            <a:ext cx="6858000" cy="530352"/>
          </a:xfrm>
          <a:prstGeom prst="rect">
            <a:avLst/>
          </a:prstGeom>
          <a:solidFill>
            <a:srgbClr val="161B22"/>
          </a:solidFill>
          <a:ln/>
        </p:spPr>
      </p:sp>
      <p:sp>
        <p:nvSpPr>
          <p:cNvPr id="22" name="Shape 20"/>
          <p:cNvSpPr/>
          <p:nvPr/>
        </p:nvSpPr>
        <p:spPr>
          <a:xfrm>
            <a:off x="457200" y="3950208"/>
            <a:ext cx="73152" cy="530352"/>
          </a:xfrm>
          <a:prstGeom prst="rect">
            <a:avLst/>
          </a:prstGeom>
          <a:solidFill>
            <a:srgbClr val="FF4757"/>
          </a:solidFill>
          <a:ln/>
        </p:spPr>
      </p:sp>
      <p:sp>
        <p:nvSpPr>
          <p:cNvPr id="23" name="Text 21"/>
          <p:cNvSpPr/>
          <p:nvPr/>
        </p:nvSpPr>
        <p:spPr>
          <a:xfrm>
            <a:off x="594360" y="3950208"/>
            <a:ext cx="365760" cy="530352"/>
          </a:xfrm>
          <a:prstGeom prst="rect">
            <a:avLst/>
          </a:prstGeom>
          <a:noFill/>
          <a:ln/>
        </p:spPr>
        <p:txBody>
          <a:bodyPr wrap="square" rtlCol="0" anchor="ctr"/>
          <a:lstStyle/>
          <a:p>
            <a:pPr marL="0" indent="0">
              <a:buNone/>
            </a:pPr>
            <a:r>
              <a:rPr lang="en-US" sz="1400" b="1" dirty="0">
                <a:solidFill>
                  <a:srgbClr val="FF4757"/>
                </a:solidFill>
                <a:latin typeface="Consolas" pitchFamily="34" charset="0"/>
                <a:ea typeface="Consolas" pitchFamily="34" charset="-122"/>
                <a:cs typeface="Consolas" pitchFamily="34" charset="-120"/>
              </a:rPr>
              <a:t>5</a:t>
            </a:r>
            <a:endParaRPr lang="en-US" sz="1400" dirty="0"/>
          </a:p>
        </p:txBody>
      </p:sp>
      <p:sp>
        <p:nvSpPr>
          <p:cNvPr id="24" name="Text 22"/>
          <p:cNvSpPr/>
          <p:nvPr/>
        </p:nvSpPr>
        <p:spPr>
          <a:xfrm>
            <a:off x="1051560" y="3950208"/>
            <a:ext cx="6126480" cy="530352"/>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Can't explain how an exploit works, just that it 'should work'</a:t>
            </a:r>
            <a:endParaRPr lang="en-US" sz="1300" dirty="0"/>
          </a:p>
        </p:txBody>
      </p:sp>
      <p:sp>
        <p:nvSpPr>
          <p:cNvPr id="25" name="Shape 23"/>
          <p:cNvSpPr/>
          <p:nvPr/>
        </p:nvSpPr>
        <p:spPr>
          <a:xfrm>
            <a:off x="457200" y="4663440"/>
            <a:ext cx="8229600" cy="365760"/>
          </a:xfrm>
          <a:prstGeom prst="rect">
            <a:avLst/>
          </a:prstGeom>
          <a:solidFill>
            <a:srgbClr val="1A0808"/>
          </a:solidFill>
          <a:ln/>
        </p:spPr>
      </p:sp>
      <p:sp>
        <p:nvSpPr>
          <p:cNvPr id="26" name="Text 24"/>
          <p:cNvSpPr/>
          <p:nvPr/>
        </p:nvSpPr>
        <p:spPr>
          <a:xfrm>
            <a:off x="457200" y="4663440"/>
            <a:ext cx="8229600" cy="365760"/>
          </a:xfrm>
          <a:prstGeom prst="rect">
            <a:avLst/>
          </a:prstGeom>
          <a:noFill/>
          <a:ln/>
        </p:spPr>
        <p:txBody>
          <a:bodyPr wrap="square" rtlCol="0" anchor="ctr"/>
          <a:lstStyle/>
          <a:p>
            <a:pPr marL="0" indent="0" algn="ctr">
              <a:buNone/>
            </a:pPr>
            <a:r>
              <a:rPr lang="en-US" sz="1600" b="1" i="1" dirty="0">
                <a:solidFill>
                  <a:srgbClr val="FF4757"/>
                </a:solidFill>
                <a:latin typeface="Georgia" pitchFamily="34" charset="0"/>
                <a:ea typeface="Georgia" pitchFamily="34" charset="-122"/>
                <a:cs typeface="Georgia" pitchFamily="34" charset="-120"/>
              </a:rPr>
              <a:t>Feels efficient. Yes???Not.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F4757"/>
          </a:solidFill>
          <a:ln/>
        </p:spPr>
      </p:sp>
      <p:sp>
        <p:nvSpPr>
          <p:cNvPr id="3" name="Text 1"/>
          <p:cNvSpPr/>
          <p:nvPr/>
        </p:nvSpPr>
        <p:spPr>
          <a:xfrm>
            <a:off x="457200" y="22860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Auto-Fail Reality</a:t>
            </a:r>
            <a:endParaRPr lang="en-US" sz="3600" dirty="0"/>
          </a:p>
        </p:txBody>
      </p:sp>
      <p:sp>
        <p:nvSpPr>
          <p:cNvPr id="4" name="Shape 2"/>
          <p:cNvSpPr/>
          <p:nvPr/>
        </p:nvSpPr>
        <p:spPr>
          <a:xfrm>
            <a:off x="457200" y="822960"/>
            <a:ext cx="8229600" cy="36576"/>
          </a:xfrm>
          <a:prstGeom prst="rect">
            <a:avLst/>
          </a:prstGeom>
          <a:solidFill>
            <a:srgbClr val="30363D"/>
          </a:solidFill>
          <a:ln/>
        </p:spPr>
      </p:sp>
      <p:sp>
        <p:nvSpPr>
          <p:cNvPr id="5" name="Text 3"/>
          <p:cNvSpPr/>
          <p:nvPr/>
        </p:nvSpPr>
        <p:spPr>
          <a:xfrm>
            <a:off x="457200" y="960120"/>
            <a:ext cx="8229600" cy="365760"/>
          </a:xfrm>
          <a:prstGeom prst="rect">
            <a:avLst/>
          </a:prstGeom>
          <a:noFill/>
          <a:ln/>
        </p:spPr>
        <p:txBody>
          <a:bodyPr wrap="square" rtlCol="0" anchor="ctr"/>
          <a:lstStyle/>
          <a:p>
            <a:pPr marL="0" indent="0">
              <a:buNone/>
            </a:pPr>
            <a:r>
              <a:rPr lang="en-US" sz="1500" dirty="0">
                <a:solidFill>
                  <a:srgbClr val="8B949E"/>
                </a:solidFill>
                <a:latin typeface="Calibri" pitchFamily="34" charset="0"/>
                <a:ea typeface="Calibri" pitchFamily="34" charset="-122"/>
                <a:cs typeface="Calibri" pitchFamily="34" charset="-120"/>
              </a:rPr>
              <a:t>What actually happens on engagements:</a:t>
            </a:r>
            <a:endParaRPr lang="en-US" sz="1500" dirty="0"/>
          </a:p>
        </p:txBody>
      </p:sp>
      <p:sp>
        <p:nvSpPr>
          <p:cNvPr id="6" name="Shape 4"/>
          <p:cNvSpPr/>
          <p:nvPr/>
        </p:nvSpPr>
        <p:spPr>
          <a:xfrm>
            <a:off x="457200" y="1417320"/>
            <a:ext cx="4023360" cy="1600200"/>
          </a:xfrm>
          <a:prstGeom prst="rect">
            <a:avLst/>
          </a:prstGeom>
          <a:solidFill>
            <a:srgbClr val="161B22"/>
          </a:solidFill>
          <a:ln/>
        </p:spPr>
      </p:sp>
      <p:sp>
        <p:nvSpPr>
          <p:cNvPr id="7" name="Shape 5"/>
          <p:cNvSpPr/>
          <p:nvPr/>
        </p:nvSpPr>
        <p:spPr>
          <a:xfrm>
            <a:off x="457200" y="1417320"/>
            <a:ext cx="4023360" cy="54864"/>
          </a:xfrm>
          <a:prstGeom prst="rect">
            <a:avLst/>
          </a:prstGeom>
          <a:solidFill>
            <a:srgbClr val="FF4757"/>
          </a:solidFill>
          <a:ln/>
        </p:spPr>
      </p:sp>
      <p:sp>
        <p:nvSpPr>
          <p:cNvPr id="8" name="Text 6"/>
          <p:cNvSpPr/>
          <p:nvPr/>
        </p:nvSpPr>
        <p:spPr>
          <a:xfrm>
            <a:off x="640080" y="1554480"/>
            <a:ext cx="3657600" cy="457200"/>
          </a:xfrm>
          <a:prstGeom prst="rect">
            <a:avLst/>
          </a:prstGeom>
          <a:noFill/>
          <a:ln/>
        </p:spPr>
        <p:txBody>
          <a:bodyPr wrap="square" rtlCol="0" anchor="ctr"/>
          <a:lstStyle/>
          <a:p>
            <a:pPr marL="0" indent="0">
              <a:buNone/>
            </a:pPr>
            <a:r>
              <a:rPr lang="en-US" sz="1400" b="1" dirty="0">
                <a:solidFill>
                  <a:srgbClr val="FF4757"/>
                </a:solidFill>
                <a:latin typeface="Calibri" pitchFamily="34" charset="0"/>
                <a:ea typeface="Calibri" pitchFamily="34" charset="-122"/>
                <a:cs typeface="Calibri" pitchFamily="34" charset="-120"/>
              </a:rPr>
              <a:t>False Positives in Reports</a:t>
            </a:r>
            <a:endParaRPr lang="en-US" sz="1400" dirty="0"/>
          </a:p>
        </p:txBody>
      </p:sp>
      <p:sp>
        <p:nvSpPr>
          <p:cNvPr id="9" name="Text 7"/>
          <p:cNvSpPr/>
          <p:nvPr/>
        </p:nvSpPr>
        <p:spPr>
          <a:xfrm>
            <a:off x="640080" y="2057400"/>
            <a:ext cx="365760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AI-suggested findings that don't exist. Client spends time investigating nothing.</a:t>
            </a:r>
            <a:endParaRPr lang="en-US" sz="1200" dirty="0"/>
          </a:p>
        </p:txBody>
      </p:sp>
      <p:sp>
        <p:nvSpPr>
          <p:cNvPr id="10" name="Shape 8"/>
          <p:cNvSpPr/>
          <p:nvPr/>
        </p:nvSpPr>
        <p:spPr>
          <a:xfrm>
            <a:off x="4800600" y="1417320"/>
            <a:ext cx="4023360" cy="1600200"/>
          </a:xfrm>
          <a:prstGeom prst="rect">
            <a:avLst/>
          </a:prstGeom>
          <a:solidFill>
            <a:srgbClr val="161B22"/>
          </a:solidFill>
          <a:ln/>
        </p:spPr>
      </p:sp>
      <p:sp>
        <p:nvSpPr>
          <p:cNvPr id="11" name="Shape 9"/>
          <p:cNvSpPr/>
          <p:nvPr/>
        </p:nvSpPr>
        <p:spPr>
          <a:xfrm>
            <a:off x="4800600" y="1417320"/>
            <a:ext cx="4023360" cy="54864"/>
          </a:xfrm>
          <a:prstGeom prst="rect">
            <a:avLst/>
          </a:prstGeom>
          <a:solidFill>
            <a:srgbClr val="FF4757"/>
          </a:solidFill>
          <a:ln/>
        </p:spPr>
      </p:sp>
      <p:sp>
        <p:nvSpPr>
          <p:cNvPr id="12" name="Text 10"/>
          <p:cNvSpPr/>
          <p:nvPr/>
        </p:nvSpPr>
        <p:spPr>
          <a:xfrm>
            <a:off x="4983480" y="1554480"/>
            <a:ext cx="3657600" cy="457200"/>
          </a:xfrm>
          <a:prstGeom prst="rect">
            <a:avLst/>
          </a:prstGeom>
          <a:noFill/>
          <a:ln/>
        </p:spPr>
        <p:txBody>
          <a:bodyPr wrap="square" rtlCol="0" anchor="ctr"/>
          <a:lstStyle/>
          <a:p>
            <a:pPr marL="0" indent="0">
              <a:buNone/>
            </a:pPr>
            <a:r>
              <a:rPr lang="en-US" sz="1400" b="1" dirty="0">
                <a:solidFill>
                  <a:srgbClr val="FF4757"/>
                </a:solidFill>
                <a:latin typeface="Calibri" pitchFamily="34" charset="0"/>
                <a:ea typeface="Calibri" pitchFamily="34" charset="-122"/>
                <a:cs typeface="Calibri" pitchFamily="34" charset="-120"/>
              </a:rPr>
              <a:t>Missed Real Vulnerabilities</a:t>
            </a:r>
            <a:endParaRPr lang="en-US" sz="1400" dirty="0"/>
          </a:p>
        </p:txBody>
      </p:sp>
      <p:sp>
        <p:nvSpPr>
          <p:cNvPr id="13" name="Text 11"/>
          <p:cNvSpPr/>
          <p:nvPr/>
        </p:nvSpPr>
        <p:spPr>
          <a:xfrm>
            <a:off x="4983480" y="2057400"/>
            <a:ext cx="365760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AI focuses on pattern matching. Unusual or chained vulnerabilities get skipped entirely.</a:t>
            </a:r>
            <a:endParaRPr lang="en-US" sz="1200" dirty="0"/>
          </a:p>
        </p:txBody>
      </p:sp>
      <p:sp>
        <p:nvSpPr>
          <p:cNvPr id="14" name="Shape 12"/>
          <p:cNvSpPr/>
          <p:nvPr/>
        </p:nvSpPr>
        <p:spPr>
          <a:xfrm>
            <a:off x="457200" y="3246120"/>
            <a:ext cx="4023360" cy="1600200"/>
          </a:xfrm>
          <a:prstGeom prst="rect">
            <a:avLst/>
          </a:prstGeom>
          <a:solidFill>
            <a:srgbClr val="161B22"/>
          </a:solidFill>
          <a:ln/>
        </p:spPr>
      </p:sp>
      <p:sp>
        <p:nvSpPr>
          <p:cNvPr id="15" name="Shape 13"/>
          <p:cNvSpPr/>
          <p:nvPr/>
        </p:nvSpPr>
        <p:spPr>
          <a:xfrm>
            <a:off x="457200" y="3246120"/>
            <a:ext cx="4023360" cy="54864"/>
          </a:xfrm>
          <a:prstGeom prst="rect">
            <a:avLst/>
          </a:prstGeom>
          <a:solidFill>
            <a:srgbClr val="FF4757"/>
          </a:solidFill>
          <a:ln/>
        </p:spPr>
      </p:sp>
      <p:sp>
        <p:nvSpPr>
          <p:cNvPr id="16" name="Text 14"/>
          <p:cNvSpPr/>
          <p:nvPr/>
        </p:nvSpPr>
        <p:spPr>
          <a:xfrm>
            <a:off x="640080" y="3383280"/>
            <a:ext cx="3657600" cy="457200"/>
          </a:xfrm>
          <a:prstGeom prst="rect">
            <a:avLst/>
          </a:prstGeom>
          <a:noFill/>
          <a:ln/>
        </p:spPr>
        <p:txBody>
          <a:bodyPr wrap="square" rtlCol="0" anchor="ctr"/>
          <a:lstStyle/>
          <a:p>
            <a:pPr marL="0" indent="0">
              <a:buNone/>
            </a:pPr>
            <a:r>
              <a:rPr lang="en-US" sz="1400" b="1" dirty="0">
                <a:solidFill>
                  <a:srgbClr val="FF4757"/>
                </a:solidFill>
                <a:latin typeface="Calibri" pitchFamily="34" charset="0"/>
                <a:ea typeface="Calibri" pitchFamily="34" charset="-122"/>
                <a:cs typeface="Calibri" pitchFamily="34" charset="-120"/>
              </a:rPr>
              <a:t>Broken Exploit Chains</a:t>
            </a:r>
            <a:endParaRPr lang="en-US" sz="1400" dirty="0"/>
          </a:p>
        </p:txBody>
      </p:sp>
      <p:sp>
        <p:nvSpPr>
          <p:cNvPr id="17" name="Text 15"/>
          <p:cNvSpPr/>
          <p:nvPr/>
        </p:nvSpPr>
        <p:spPr>
          <a:xfrm>
            <a:off x="640080" y="3886200"/>
            <a:ext cx="365760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Individual steps look right in isolation. The chain doesn't work because context was lost.</a:t>
            </a:r>
            <a:endParaRPr lang="en-US" sz="1200" dirty="0"/>
          </a:p>
        </p:txBody>
      </p:sp>
      <p:sp>
        <p:nvSpPr>
          <p:cNvPr id="18" name="Shape 16"/>
          <p:cNvSpPr/>
          <p:nvPr/>
        </p:nvSpPr>
        <p:spPr>
          <a:xfrm>
            <a:off x="4800600" y="3246120"/>
            <a:ext cx="4023360" cy="1600200"/>
          </a:xfrm>
          <a:prstGeom prst="rect">
            <a:avLst/>
          </a:prstGeom>
          <a:solidFill>
            <a:srgbClr val="161B22"/>
          </a:solidFill>
          <a:ln/>
        </p:spPr>
      </p:sp>
      <p:sp>
        <p:nvSpPr>
          <p:cNvPr id="19" name="Shape 17"/>
          <p:cNvSpPr/>
          <p:nvPr/>
        </p:nvSpPr>
        <p:spPr>
          <a:xfrm>
            <a:off x="4800600" y="3246120"/>
            <a:ext cx="4023360" cy="54864"/>
          </a:xfrm>
          <a:prstGeom prst="rect">
            <a:avLst/>
          </a:prstGeom>
          <a:solidFill>
            <a:srgbClr val="FF4757"/>
          </a:solidFill>
          <a:ln/>
        </p:spPr>
      </p:sp>
      <p:sp>
        <p:nvSpPr>
          <p:cNvPr id="20" name="Text 18"/>
          <p:cNvSpPr/>
          <p:nvPr/>
        </p:nvSpPr>
        <p:spPr>
          <a:xfrm>
            <a:off x="4983480" y="3383280"/>
            <a:ext cx="3657600" cy="457200"/>
          </a:xfrm>
          <a:prstGeom prst="rect">
            <a:avLst/>
          </a:prstGeom>
          <a:noFill/>
          <a:ln/>
        </p:spPr>
        <p:txBody>
          <a:bodyPr wrap="square" rtlCol="0" anchor="ctr"/>
          <a:lstStyle/>
          <a:p>
            <a:pPr marL="0" indent="0">
              <a:buNone/>
            </a:pPr>
            <a:r>
              <a:rPr lang="en-US" sz="1400" b="1" dirty="0">
                <a:solidFill>
                  <a:srgbClr val="FF4757"/>
                </a:solidFill>
                <a:latin typeface="Calibri" pitchFamily="34" charset="0"/>
                <a:ea typeface="Calibri" pitchFamily="34" charset="-122"/>
                <a:cs typeface="Calibri" pitchFamily="34" charset="-120"/>
              </a:rPr>
              <a:t>Loss of Client Trust</a:t>
            </a:r>
            <a:endParaRPr lang="en-US" sz="1400" dirty="0"/>
          </a:p>
        </p:txBody>
      </p:sp>
      <p:sp>
        <p:nvSpPr>
          <p:cNvPr id="21" name="Text 19"/>
          <p:cNvSpPr/>
          <p:nvPr/>
        </p:nvSpPr>
        <p:spPr>
          <a:xfrm>
            <a:off x="4983480" y="3886200"/>
            <a:ext cx="365760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One wrong finding casts doubt on everything else. It's hard to recover from.</a:t>
            </a:r>
            <a:endParaRPr lang="en-US" sz="1200" dirty="0"/>
          </a:p>
        </p:txBody>
      </p:sp>
      <p:sp>
        <p:nvSpPr>
          <p:cNvPr id="22" name="Shape 20"/>
          <p:cNvSpPr/>
          <p:nvPr/>
        </p:nvSpPr>
        <p:spPr>
          <a:xfrm>
            <a:off x="457200" y="4754880"/>
            <a:ext cx="8229600" cy="274320"/>
          </a:xfrm>
          <a:prstGeom prst="rect">
            <a:avLst/>
          </a:prstGeom>
          <a:solidFill>
            <a:srgbClr val="1A0808"/>
          </a:solidFill>
          <a:ln/>
        </p:spPr>
      </p:sp>
      <p:sp>
        <p:nvSpPr>
          <p:cNvPr id="23" name="Text 21"/>
          <p:cNvSpPr/>
          <p:nvPr/>
        </p:nvSpPr>
        <p:spPr>
          <a:xfrm>
            <a:off x="457200" y="4754880"/>
            <a:ext cx="8229600" cy="274320"/>
          </a:xfrm>
          <a:prstGeom prst="rect">
            <a:avLst/>
          </a:prstGeom>
          <a:noFill/>
          <a:ln/>
        </p:spPr>
        <p:txBody>
          <a:bodyPr wrap="square" rtlCol="0" anchor="ctr"/>
          <a:lstStyle/>
          <a:p>
            <a:pPr marL="0" indent="0" algn="ctr">
              <a:buNone/>
            </a:pPr>
            <a:r>
              <a:rPr lang="en-US" sz="1400" b="1" dirty="0">
                <a:solidFill>
                  <a:srgbClr val="FF4757"/>
                </a:solidFill>
                <a:latin typeface="Calibri" pitchFamily="34" charset="0"/>
                <a:ea typeface="Calibri" pitchFamily="34" charset="-122"/>
                <a:cs typeface="Calibri" pitchFamily="34" charset="-120"/>
              </a:rPr>
              <a:t>This is where careers take a hit.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Credibility Problem</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594360" y="1051560"/>
            <a:ext cx="2468880" cy="1828800"/>
          </a:xfrm>
          <a:prstGeom prst="rect">
            <a:avLst/>
          </a:prstGeom>
          <a:solidFill>
            <a:srgbClr val="161B22"/>
          </a:solidFill>
          <a:ln/>
        </p:spPr>
      </p:sp>
      <p:sp>
        <p:nvSpPr>
          <p:cNvPr id="5" name="Shape 3"/>
          <p:cNvSpPr/>
          <p:nvPr/>
        </p:nvSpPr>
        <p:spPr>
          <a:xfrm>
            <a:off x="594360" y="1051560"/>
            <a:ext cx="2468880" cy="54864"/>
          </a:xfrm>
          <a:prstGeom prst="rect">
            <a:avLst/>
          </a:prstGeom>
          <a:solidFill>
            <a:srgbClr val="FFD700"/>
          </a:solidFill>
          <a:ln/>
        </p:spPr>
      </p:sp>
      <p:sp>
        <p:nvSpPr>
          <p:cNvPr id="6" name="Text 4"/>
          <p:cNvSpPr/>
          <p:nvPr/>
        </p:nvSpPr>
        <p:spPr>
          <a:xfrm>
            <a:off x="594360" y="1234440"/>
            <a:ext cx="2468880" cy="502920"/>
          </a:xfrm>
          <a:prstGeom prst="rect">
            <a:avLst/>
          </a:prstGeom>
          <a:noFill/>
          <a:ln/>
        </p:spPr>
        <p:txBody>
          <a:bodyPr wrap="square" rtlCol="0" anchor="ctr"/>
          <a:lstStyle/>
          <a:p>
            <a:pPr marL="0" indent="0" algn="ctr">
              <a:buNone/>
            </a:pPr>
            <a:r>
              <a:rPr lang="en-US" sz="1400" b="1" dirty="0">
                <a:solidFill>
                  <a:srgbClr val="FFD700"/>
                </a:solidFill>
                <a:latin typeface="Calibri" pitchFamily="34" charset="0"/>
                <a:ea typeface="Calibri" pitchFamily="34" charset="-122"/>
                <a:cs typeface="Calibri" pitchFamily="34" charset="-120"/>
              </a:rPr>
              <a:t>1 wrong finding</a:t>
            </a:r>
            <a:endParaRPr lang="en-US" sz="1400" dirty="0"/>
          </a:p>
        </p:txBody>
      </p:sp>
      <p:sp>
        <p:nvSpPr>
          <p:cNvPr id="7" name="Text 5"/>
          <p:cNvSpPr/>
          <p:nvPr/>
        </p:nvSpPr>
        <p:spPr>
          <a:xfrm>
            <a:off x="594360" y="1783080"/>
            <a:ext cx="2468880" cy="91440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Doubt</a:t>
            </a:r>
            <a:endParaRPr lang="en-US" sz="2200" dirty="0"/>
          </a:p>
        </p:txBody>
      </p:sp>
      <p:sp>
        <p:nvSpPr>
          <p:cNvPr id="8" name="Text 6"/>
          <p:cNvSpPr/>
          <p:nvPr/>
        </p:nvSpPr>
        <p:spPr>
          <a:xfrm>
            <a:off x="3063240" y="1645920"/>
            <a:ext cx="274320" cy="457200"/>
          </a:xfrm>
          <a:prstGeom prst="rect">
            <a:avLst/>
          </a:prstGeom>
          <a:noFill/>
          <a:ln/>
        </p:spPr>
        <p:txBody>
          <a:bodyPr wrap="square" rtlCol="0" anchor="ctr"/>
          <a:lstStyle/>
          <a:p>
            <a:pPr marL="0" indent="0" algn="ctr">
              <a:buNone/>
            </a:pPr>
            <a:r>
              <a:rPr lang="en-US" sz="2000" dirty="0">
                <a:solidFill>
                  <a:srgbClr val="8B949E"/>
                </a:solidFill>
              </a:rPr>
              <a:t>→</a:t>
            </a:r>
            <a:endParaRPr lang="en-US" sz="2000" dirty="0"/>
          </a:p>
        </p:txBody>
      </p:sp>
      <p:sp>
        <p:nvSpPr>
          <p:cNvPr id="9" name="Shape 7"/>
          <p:cNvSpPr/>
          <p:nvPr/>
        </p:nvSpPr>
        <p:spPr>
          <a:xfrm>
            <a:off x="3337560" y="1051560"/>
            <a:ext cx="2468880" cy="1828800"/>
          </a:xfrm>
          <a:prstGeom prst="rect">
            <a:avLst/>
          </a:prstGeom>
          <a:solidFill>
            <a:srgbClr val="161B22"/>
          </a:solidFill>
          <a:ln/>
        </p:spPr>
      </p:sp>
      <p:sp>
        <p:nvSpPr>
          <p:cNvPr id="10" name="Shape 8"/>
          <p:cNvSpPr/>
          <p:nvPr/>
        </p:nvSpPr>
        <p:spPr>
          <a:xfrm>
            <a:off x="3337560" y="1051560"/>
            <a:ext cx="2468880" cy="54864"/>
          </a:xfrm>
          <a:prstGeom prst="rect">
            <a:avLst/>
          </a:prstGeom>
          <a:solidFill>
            <a:srgbClr val="FF6B35"/>
          </a:solidFill>
          <a:ln/>
        </p:spPr>
      </p:sp>
      <p:sp>
        <p:nvSpPr>
          <p:cNvPr id="11" name="Text 9"/>
          <p:cNvSpPr/>
          <p:nvPr/>
        </p:nvSpPr>
        <p:spPr>
          <a:xfrm>
            <a:off x="3337560" y="1234440"/>
            <a:ext cx="2468880" cy="502920"/>
          </a:xfrm>
          <a:prstGeom prst="rect">
            <a:avLst/>
          </a:prstGeom>
          <a:noFill/>
          <a:ln/>
        </p:spPr>
        <p:txBody>
          <a:bodyPr wrap="square" rtlCol="0" anchor="ctr"/>
          <a:lstStyle/>
          <a:p>
            <a:pPr marL="0" indent="0" algn="ctr">
              <a:buNone/>
            </a:pPr>
            <a:r>
              <a:rPr lang="en-US" sz="1400" b="1" dirty="0">
                <a:solidFill>
                  <a:srgbClr val="FF6B35"/>
                </a:solidFill>
                <a:latin typeface="Calibri" pitchFamily="34" charset="0"/>
                <a:ea typeface="Calibri" pitchFamily="34" charset="-122"/>
                <a:cs typeface="Calibri" pitchFamily="34" charset="-120"/>
              </a:rPr>
              <a:t>Several wrong</a:t>
            </a:r>
            <a:endParaRPr lang="en-US" sz="1400" dirty="0"/>
          </a:p>
        </p:txBody>
      </p:sp>
      <p:sp>
        <p:nvSpPr>
          <p:cNvPr id="12" name="Text 10"/>
          <p:cNvSpPr/>
          <p:nvPr/>
        </p:nvSpPr>
        <p:spPr>
          <a:xfrm>
            <a:off x="3337560" y="1783080"/>
            <a:ext cx="2468880" cy="91440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Distrust</a:t>
            </a:r>
            <a:endParaRPr lang="en-US" sz="2200" dirty="0"/>
          </a:p>
        </p:txBody>
      </p:sp>
      <p:sp>
        <p:nvSpPr>
          <p:cNvPr id="13" name="Text 11"/>
          <p:cNvSpPr/>
          <p:nvPr/>
        </p:nvSpPr>
        <p:spPr>
          <a:xfrm>
            <a:off x="5806440" y="1645920"/>
            <a:ext cx="274320" cy="457200"/>
          </a:xfrm>
          <a:prstGeom prst="rect">
            <a:avLst/>
          </a:prstGeom>
          <a:noFill/>
          <a:ln/>
        </p:spPr>
        <p:txBody>
          <a:bodyPr wrap="square" rtlCol="0" anchor="ctr"/>
          <a:lstStyle/>
          <a:p>
            <a:pPr marL="0" indent="0" algn="ctr">
              <a:buNone/>
            </a:pPr>
            <a:r>
              <a:rPr lang="en-US" sz="2000" dirty="0">
                <a:solidFill>
                  <a:srgbClr val="8B949E"/>
                </a:solidFill>
              </a:rPr>
              <a:t>→</a:t>
            </a:r>
            <a:endParaRPr lang="en-US" sz="2000" dirty="0"/>
          </a:p>
        </p:txBody>
      </p:sp>
      <p:sp>
        <p:nvSpPr>
          <p:cNvPr id="14" name="Shape 12"/>
          <p:cNvSpPr/>
          <p:nvPr/>
        </p:nvSpPr>
        <p:spPr>
          <a:xfrm>
            <a:off x="6080760" y="1051560"/>
            <a:ext cx="2468880" cy="1828800"/>
          </a:xfrm>
          <a:prstGeom prst="rect">
            <a:avLst/>
          </a:prstGeom>
          <a:solidFill>
            <a:srgbClr val="161B22"/>
          </a:solidFill>
          <a:ln/>
        </p:spPr>
      </p:sp>
      <p:sp>
        <p:nvSpPr>
          <p:cNvPr id="15" name="Shape 13"/>
          <p:cNvSpPr/>
          <p:nvPr/>
        </p:nvSpPr>
        <p:spPr>
          <a:xfrm>
            <a:off x="6080760" y="1051560"/>
            <a:ext cx="2468880" cy="54864"/>
          </a:xfrm>
          <a:prstGeom prst="rect">
            <a:avLst/>
          </a:prstGeom>
          <a:solidFill>
            <a:srgbClr val="FF4757"/>
          </a:solidFill>
          <a:ln/>
        </p:spPr>
      </p:sp>
      <p:sp>
        <p:nvSpPr>
          <p:cNvPr id="16" name="Text 14"/>
          <p:cNvSpPr/>
          <p:nvPr/>
        </p:nvSpPr>
        <p:spPr>
          <a:xfrm>
            <a:off x="6080760" y="1234440"/>
            <a:ext cx="2468880" cy="502920"/>
          </a:xfrm>
          <a:prstGeom prst="rect">
            <a:avLst/>
          </a:prstGeom>
          <a:noFill/>
          <a:ln/>
        </p:spPr>
        <p:txBody>
          <a:bodyPr wrap="square" rtlCol="0" anchor="ctr"/>
          <a:lstStyle/>
          <a:p>
            <a:pPr marL="0" indent="0" algn="ctr">
              <a:buNone/>
            </a:pPr>
            <a:r>
              <a:rPr lang="en-US" sz="1400" b="1" dirty="0">
                <a:solidFill>
                  <a:srgbClr val="FF4757"/>
                </a:solidFill>
                <a:latin typeface="Calibri" pitchFamily="34" charset="0"/>
                <a:ea typeface="Calibri" pitchFamily="34" charset="-122"/>
                <a:cs typeface="Calibri" pitchFamily="34" charset="-120"/>
              </a:rPr>
              <a:t>Blind AI usage</a:t>
            </a:r>
            <a:endParaRPr lang="en-US" sz="1400" dirty="0"/>
          </a:p>
        </p:txBody>
      </p:sp>
      <p:sp>
        <p:nvSpPr>
          <p:cNvPr id="17" name="Text 15"/>
          <p:cNvSpPr/>
          <p:nvPr/>
        </p:nvSpPr>
        <p:spPr>
          <a:xfrm>
            <a:off x="6080760" y="1783080"/>
            <a:ext cx="2468880" cy="91440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Reputation damage</a:t>
            </a:r>
            <a:endParaRPr lang="en-US" sz="2200" dirty="0"/>
          </a:p>
        </p:txBody>
      </p:sp>
      <p:sp>
        <p:nvSpPr>
          <p:cNvPr id="18" name="Shape 16"/>
          <p:cNvSpPr/>
          <p:nvPr/>
        </p:nvSpPr>
        <p:spPr>
          <a:xfrm>
            <a:off x="914400" y="3154680"/>
            <a:ext cx="7315200" cy="1691640"/>
          </a:xfrm>
          <a:prstGeom prst="rect">
            <a:avLst/>
          </a:prstGeom>
          <a:solidFill>
            <a:srgbClr val="1C2430"/>
          </a:solidFill>
          <a:ln/>
        </p:spPr>
      </p:sp>
      <p:sp>
        <p:nvSpPr>
          <p:cNvPr id="19" name="Shape 17"/>
          <p:cNvSpPr/>
          <p:nvPr/>
        </p:nvSpPr>
        <p:spPr>
          <a:xfrm>
            <a:off x="914400" y="3154680"/>
            <a:ext cx="109728" cy="1691640"/>
          </a:xfrm>
          <a:prstGeom prst="rect">
            <a:avLst/>
          </a:prstGeom>
          <a:solidFill>
            <a:srgbClr val="FF4757"/>
          </a:solidFill>
          <a:ln/>
        </p:spPr>
      </p:sp>
      <p:sp>
        <p:nvSpPr>
          <p:cNvPr id="20" name="Text 18"/>
          <p:cNvSpPr/>
          <p:nvPr/>
        </p:nvSpPr>
        <p:spPr>
          <a:xfrm>
            <a:off x="1143000" y="3246120"/>
            <a:ext cx="6949440" cy="1508760"/>
          </a:xfrm>
          <a:prstGeom prst="rect">
            <a:avLst/>
          </a:prstGeom>
          <a:noFill/>
          <a:ln/>
        </p:spPr>
        <p:txBody>
          <a:bodyPr wrap="square" rtlCol="0" anchor="ctr"/>
          <a:lstStyle/>
          <a:p>
            <a:pPr marL="0" indent="0">
              <a:buNone/>
            </a:pPr>
            <a:r>
              <a:rPr lang="en-US" sz="2000" i="1" dirty="0">
                <a:solidFill>
                  <a:srgbClr val="FFFFFF"/>
                </a:solidFill>
                <a:latin typeface="Georgia" pitchFamily="34" charset="0"/>
                <a:ea typeface="Georgia" pitchFamily="34" charset="-122"/>
                <a:cs typeface="Georgia" pitchFamily="34" charset="-120"/>
              </a:rPr>
              <a:t>You don't lose credibility because AI is wrong.
</a:t>
            </a:r>
            <a:r>
              <a:rPr lang="en-US" sz="2000" b="1" i="1" dirty="0">
                <a:solidFill>
                  <a:srgbClr val="FF4757"/>
                </a:solidFill>
                <a:latin typeface="Georgia" pitchFamily="34" charset="0"/>
                <a:ea typeface="Georgia" pitchFamily="34" charset="-122"/>
                <a:cs typeface="Georgia" pitchFamily="34" charset="-120"/>
              </a:rPr>
              <a:t>You lose it because you didn't catch it.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AI in Reporting (Critical)</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51560"/>
            <a:ext cx="3931920" cy="457200"/>
          </a:xfrm>
          <a:prstGeom prst="rect">
            <a:avLst/>
          </a:prstGeom>
          <a:solidFill>
            <a:srgbClr val="0A2A0A"/>
          </a:solidFill>
          <a:ln/>
        </p:spPr>
      </p:sp>
      <p:sp>
        <p:nvSpPr>
          <p:cNvPr id="5" name="Shape 3"/>
          <p:cNvSpPr/>
          <p:nvPr/>
        </p:nvSpPr>
        <p:spPr>
          <a:xfrm>
            <a:off x="457200" y="1051560"/>
            <a:ext cx="3931920" cy="54864"/>
          </a:xfrm>
          <a:prstGeom prst="rect">
            <a:avLst/>
          </a:prstGeom>
          <a:solidFill>
            <a:srgbClr val="2ED573"/>
          </a:solidFill>
          <a:ln/>
        </p:spPr>
      </p:sp>
      <p:sp>
        <p:nvSpPr>
          <p:cNvPr id="6" name="Text 4"/>
          <p:cNvSpPr/>
          <p:nvPr/>
        </p:nvSpPr>
        <p:spPr>
          <a:xfrm>
            <a:off x="457200" y="1051560"/>
            <a:ext cx="3931920" cy="457200"/>
          </a:xfrm>
          <a:prstGeom prst="rect">
            <a:avLst/>
          </a:prstGeom>
          <a:noFill/>
          <a:ln/>
        </p:spPr>
        <p:txBody>
          <a:bodyPr wrap="square" rtlCol="0" anchor="ctr"/>
          <a:lstStyle/>
          <a:p>
            <a:pPr marL="0" indent="0" algn="ctr">
              <a:buNone/>
            </a:pPr>
            <a:r>
              <a:rPr lang="en-US" sz="1400" b="1" dirty="0">
                <a:solidFill>
                  <a:srgbClr val="2ED573"/>
                </a:solidFill>
                <a:latin typeface="Calibri" pitchFamily="34" charset="0"/>
                <a:ea typeface="Calibri" pitchFamily="34" charset="-122"/>
                <a:cs typeface="Calibri" pitchFamily="34" charset="-120"/>
              </a:rPr>
              <a:t>AI CAN</a:t>
            </a:r>
            <a:endParaRPr lang="en-US" sz="1400" dirty="0"/>
          </a:p>
        </p:txBody>
      </p:sp>
      <p:sp>
        <p:nvSpPr>
          <p:cNvPr id="7" name="Shape 5"/>
          <p:cNvSpPr/>
          <p:nvPr/>
        </p:nvSpPr>
        <p:spPr>
          <a:xfrm>
            <a:off x="457200" y="1600200"/>
            <a:ext cx="3931920" cy="566928"/>
          </a:xfrm>
          <a:prstGeom prst="rect">
            <a:avLst/>
          </a:prstGeom>
          <a:solidFill>
            <a:srgbClr val="161B22"/>
          </a:solidFill>
          <a:ln/>
        </p:spPr>
      </p:sp>
      <p:sp>
        <p:nvSpPr>
          <p:cNvPr id="8" name="Text 6"/>
          <p:cNvSpPr/>
          <p:nvPr/>
        </p:nvSpPr>
        <p:spPr>
          <a:xfrm>
            <a:off x="1005840" y="1600200"/>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Write clean finding descriptions</a:t>
            </a:r>
            <a:endParaRPr lang="en-US" sz="1300" dirty="0"/>
          </a:p>
        </p:txBody>
      </p:sp>
      <p:sp>
        <p:nvSpPr>
          <p:cNvPr id="9" name="Shape 7"/>
          <p:cNvSpPr/>
          <p:nvPr/>
        </p:nvSpPr>
        <p:spPr>
          <a:xfrm>
            <a:off x="457200" y="2258568"/>
            <a:ext cx="3931920" cy="566928"/>
          </a:xfrm>
          <a:prstGeom prst="rect">
            <a:avLst/>
          </a:prstGeom>
          <a:solidFill>
            <a:srgbClr val="161B22"/>
          </a:solidFill>
          <a:ln/>
        </p:spPr>
      </p:sp>
      <p:sp>
        <p:nvSpPr>
          <p:cNvPr id="10" name="Text 8"/>
          <p:cNvSpPr/>
          <p:nvPr/>
        </p:nvSpPr>
        <p:spPr>
          <a:xfrm>
            <a:off x="1005840" y="2258568"/>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Reword technical content accessibly</a:t>
            </a:r>
            <a:endParaRPr lang="en-US" sz="1300" dirty="0"/>
          </a:p>
        </p:txBody>
      </p:sp>
      <p:sp>
        <p:nvSpPr>
          <p:cNvPr id="11" name="Shape 9"/>
          <p:cNvSpPr/>
          <p:nvPr/>
        </p:nvSpPr>
        <p:spPr>
          <a:xfrm>
            <a:off x="457200" y="2916936"/>
            <a:ext cx="3931920" cy="566928"/>
          </a:xfrm>
          <a:prstGeom prst="rect">
            <a:avLst/>
          </a:prstGeom>
          <a:solidFill>
            <a:srgbClr val="161B22"/>
          </a:solidFill>
          <a:ln/>
        </p:spPr>
      </p:sp>
      <p:sp>
        <p:nvSpPr>
          <p:cNvPr id="12" name="Text 10"/>
          <p:cNvSpPr/>
          <p:nvPr/>
        </p:nvSpPr>
        <p:spPr>
          <a:xfrm>
            <a:off x="1005840" y="2916936"/>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Structure findings consistently</a:t>
            </a:r>
            <a:endParaRPr lang="en-US" sz="1300" dirty="0"/>
          </a:p>
        </p:txBody>
      </p:sp>
      <p:sp>
        <p:nvSpPr>
          <p:cNvPr id="13" name="Shape 11"/>
          <p:cNvSpPr/>
          <p:nvPr/>
        </p:nvSpPr>
        <p:spPr>
          <a:xfrm>
            <a:off x="457200" y="3575304"/>
            <a:ext cx="3931920" cy="566928"/>
          </a:xfrm>
          <a:prstGeom prst="rect">
            <a:avLst/>
          </a:prstGeom>
          <a:solidFill>
            <a:srgbClr val="161B22"/>
          </a:solidFill>
          <a:ln/>
        </p:spPr>
      </p:sp>
      <p:sp>
        <p:nvSpPr>
          <p:cNvPr id="14" name="Text 12"/>
          <p:cNvSpPr/>
          <p:nvPr/>
        </p:nvSpPr>
        <p:spPr>
          <a:xfrm>
            <a:off x="1005840" y="3575304"/>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Speed up the drafting process</a:t>
            </a:r>
            <a:endParaRPr lang="en-US" sz="1300" dirty="0"/>
          </a:p>
        </p:txBody>
      </p:sp>
      <p:sp>
        <p:nvSpPr>
          <p:cNvPr id="15" name="Shape 13"/>
          <p:cNvSpPr/>
          <p:nvPr/>
        </p:nvSpPr>
        <p:spPr>
          <a:xfrm>
            <a:off x="4754880" y="1051560"/>
            <a:ext cx="3931920" cy="457200"/>
          </a:xfrm>
          <a:prstGeom prst="rect">
            <a:avLst/>
          </a:prstGeom>
          <a:solidFill>
            <a:srgbClr val="2A0A0A"/>
          </a:solidFill>
          <a:ln/>
        </p:spPr>
      </p:sp>
      <p:sp>
        <p:nvSpPr>
          <p:cNvPr id="16" name="Shape 14"/>
          <p:cNvSpPr/>
          <p:nvPr/>
        </p:nvSpPr>
        <p:spPr>
          <a:xfrm>
            <a:off x="4754880" y="1051560"/>
            <a:ext cx="3931920" cy="54864"/>
          </a:xfrm>
          <a:prstGeom prst="rect">
            <a:avLst/>
          </a:prstGeom>
          <a:solidFill>
            <a:srgbClr val="FF4757"/>
          </a:solidFill>
          <a:ln/>
        </p:spPr>
      </p:sp>
      <p:sp>
        <p:nvSpPr>
          <p:cNvPr id="17" name="Text 15"/>
          <p:cNvSpPr/>
          <p:nvPr/>
        </p:nvSpPr>
        <p:spPr>
          <a:xfrm>
            <a:off x="4754880" y="1051560"/>
            <a:ext cx="3931920" cy="457200"/>
          </a:xfrm>
          <a:prstGeom prst="rect">
            <a:avLst/>
          </a:prstGeom>
          <a:noFill/>
          <a:ln/>
        </p:spPr>
        <p:txBody>
          <a:bodyPr wrap="square" rtlCol="0" anchor="ctr"/>
          <a:lstStyle/>
          <a:p>
            <a:pPr marL="0" indent="0" algn="ctr">
              <a:buNone/>
            </a:pPr>
            <a:r>
              <a:rPr lang="en-US" sz="1400" b="1" dirty="0">
                <a:solidFill>
                  <a:srgbClr val="FF4757"/>
                </a:solidFill>
                <a:latin typeface="Calibri" pitchFamily="34" charset="0"/>
                <a:ea typeface="Calibri" pitchFamily="34" charset="-122"/>
                <a:cs typeface="Calibri" pitchFamily="34" charset="-120"/>
              </a:rPr>
              <a:t>BUT WILL</a:t>
            </a:r>
            <a:endParaRPr lang="en-US" sz="1400" dirty="0"/>
          </a:p>
        </p:txBody>
      </p:sp>
      <p:sp>
        <p:nvSpPr>
          <p:cNvPr id="18" name="Shape 16"/>
          <p:cNvSpPr/>
          <p:nvPr/>
        </p:nvSpPr>
        <p:spPr>
          <a:xfrm>
            <a:off x="4754880" y="1600200"/>
            <a:ext cx="3931920" cy="566928"/>
          </a:xfrm>
          <a:prstGeom prst="rect">
            <a:avLst/>
          </a:prstGeom>
          <a:solidFill>
            <a:srgbClr val="161B22"/>
          </a:solidFill>
          <a:ln/>
        </p:spPr>
      </p:sp>
      <p:sp>
        <p:nvSpPr>
          <p:cNvPr id="19" name="Text 17"/>
          <p:cNvSpPr/>
          <p:nvPr/>
        </p:nvSpPr>
        <p:spPr>
          <a:xfrm>
            <a:off x="5303520" y="1600200"/>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Remove important context from findings</a:t>
            </a:r>
            <a:endParaRPr lang="en-US" sz="1300" dirty="0"/>
          </a:p>
        </p:txBody>
      </p:sp>
      <p:sp>
        <p:nvSpPr>
          <p:cNvPr id="20" name="Shape 18"/>
          <p:cNvSpPr/>
          <p:nvPr/>
        </p:nvSpPr>
        <p:spPr>
          <a:xfrm>
            <a:off x="4754880" y="2258568"/>
            <a:ext cx="3931920" cy="566928"/>
          </a:xfrm>
          <a:prstGeom prst="rect">
            <a:avLst/>
          </a:prstGeom>
          <a:solidFill>
            <a:srgbClr val="161B22"/>
          </a:solidFill>
          <a:ln/>
        </p:spPr>
      </p:sp>
      <p:sp>
        <p:nvSpPr>
          <p:cNvPr id="21" name="Text 19"/>
          <p:cNvSpPr/>
          <p:nvPr/>
        </p:nvSpPr>
        <p:spPr>
          <a:xfrm>
            <a:off x="5303520" y="2258568"/>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Generalise risk (everything becomes Medium)</a:t>
            </a:r>
            <a:endParaRPr lang="en-US" sz="1300" dirty="0"/>
          </a:p>
        </p:txBody>
      </p:sp>
      <p:sp>
        <p:nvSpPr>
          <p:cNvPr id="22" name="Shape 20"/>
          <p:cNvSpPr/>
          <p:nvPr/>
        </p:nvSpPr>
        <p:spPr>
          <a:xfrm>
            <a:off x="4754880" y="2916936"/>
            <a:ext cx="3931920" cy="566928"/>
          </a:xfrm>
          <a:prstGeom prst="rect">
            <a:avLst/>
          </a:prstGeom>
          <a:solidFill>
            <a:srgbClr val="161B22"/>
          </a:solidFill>
          <a:ln/>
        </p:spPr>
      </p:sp>
      <p:sp>
        <p:nvSpPr>
          <p:cNvPr id="23" name="Text 21"/>
          <p:cNvSpPr/>
          <p:nvPr/>
        </p:nvSpPr>
        <p:spPr>
          <a:xfrm>
            <a:off x="5303520" y="2916936"/>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Miss actual business impact entirely</a:t>
            </a:r>
            <a:endParaRPr lang="en-US" sz="1300" dirty="0"/>
          </a:p>
        </p:txBody>
      </p:sp>
      <p:sp>
        <p:nvSpPr>
          <p:cNvPr id="24" name="Shape 22"/>
          <p:cNvSpPr/>
          <p:nvPr/>
        </p:nvSpPr>
        <p:spPr>
          <a:xfrm>
            <a:off x="4754880" y="3575304"/>
            <a:ext cx="3931920" cy="566928"/>
          </a:xfrm>
          <a:prstGeom prst="rect">
            <a:avLst/>
          </a:prstGeom>
          <a:solidFill>
            <a:srgbClr val="161B22"/>
          </a:solidFill>
          <a:ln/>
        </p:spPr>
      </p:sp>
      <p:sp>
        <p:nvSpPr>
          <p:cNvPr id="25" name="Text 23"/>
          <p:cNvSpPr/>
          <p:nvPr/>
        </p:nvSpPr>
        <p:spPr>
          <a:xfrm>
            <a:off x="5303520" y="3575304"/>
            <a:ext cx="324612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Sound authoritative while being wrong</a:t>
            </a:r>
            <a:endParaRPr lang="en-US" sz="1300" dirty="0"/>
          </a:p>
        </p:txBody>
      </p:sp>
      <p:sp>
        <p:nvSpPr>
          <p:cNvPr id="26" name="Shape 24"/>
          <p:cNvSpPr/>
          <p:nvPr/>
        </p:nvSpPr>
        <p:spPr>
          <a:xfrm>
            <a:off x="457200" y="4617720"/>
            <a:ext cx="8229600" cy="411480"/>
          </a:xfrm>
          <a:prstGeom prst="rect">
            <a:avLst/>
          </a:prstGeom>
          <a:solidFill>
            <a:srgbClr val="1A0808"/>
          </a:solidFill>
          <a:ln/>
        </p:spPr>
      </p:sp>
      <p:sp>
        <p:nvSpPr>
          <p:cNvPr id="27" name="Text 25"/>
          <p:cNvSpPr/>
          <p:nvPr/>
        </p:nvSpPr>
        <p:spPr>
          <a:xfrm>
            <a:off x="457200" y="4617720"/>
            <a:ext cx="8229600" cy="411480"/>
          </a:xfrm>
          <a:prstGeom prst="rect">
            <a:avLst/>
          </a:prstGeom>
          <a:noFill/>
          <a:ln/>
        </p:spPr>
        <p:txBody>
          <a:bodyPr wrap="square" rtlCol="0" anchor="ctr"/>
          <a:lstStyle/>
          <a:p>
            <a:pPr marL="0" indent="0" algn="ctr">
              <a:buNone/>
            </a:pPr>
            <a:r>
              <a:rPr lang="en-US" sz="1400" b="1" dirty="0">
                <a:solidFill>
                  <a:srgbClr val="FF6B35"/>
                </a:solidFill>
                <a:latin typeface="Calibri" pitchFamily="34" charset="0"/>
                <a:ea typeface="Calibri" pitchFamily="34" charset="-122"/>
                <a:cs typeface="Calibri" pitchFamily="34" charset="-120"/>
              </a:rPr>
              <a:t>Reports are your professional reputation. Don't outsource that.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Example: AI-Generated Finding</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05840"/>
            <a:ext cx="8229600" cy="3200400"/>
          </a:xfrm>
          <a:prstGeom prst="rect">
            <a:avLst/>
          </a:prstGeom>
          <a:solidFill>
            <a:srgbClr val="161B22"/>
          </a:solidFill>
          <a:ln/>
        </p:spPr>
      </p:sp>
      <p:sp>
        <p:nvSpPr>
          <p:cNvPr id="5" name="Shape 3"/>
          <p:cNvSpPr/>
          <p:nvPr/>
        </p:nvSpPr>
        <p:spPr>
          <a:xfrm>
            <a:off x="457200" y="1005840"/>
            <a:ext cx="8229600" cy="54864"/>
          </a:xfrm>
          <a:prstGeom prst="rect">
            <a:avLst/>
          </a:prstGeom>
          <a:solidFill>
            <a:srgbClr val="FFD700"/>
          </a:solidFill>
          <a:ln/>
        </p:spPr>
      </p:sp>
      <p:sp>
        <p:nvSpPr>
          <p:cNvPr id="6" name="Text 4"/>
          <p:cNvSpPr/>
          <p:nvPr/>
        </p:nvSpPr>
        <p:spPr>
          <a:xfrm>
            <a:off x="640080" y="1143000"/>
            <a:ext cx="7772400" cy="411480"/>
          </a:xfrm>
          <a:prstGeom prst="rect">
            <a:avLst/>
          </a:prstGeom>
          <a:noFill/>
          <a:ln/>
        </p:spPr>
        <p:txBody>
          <a:bodyPr wrap="square" rtlCol="0" anchor="ctr"/>
          <a:lstStyle/>
          <a:p>
            <a:pPr marL="0" indent="0">
              <a:buNone/>
            </a:pPr>
            <a:r>
              <a:rPr lang="en-US" sz="1500" b="1" dirty="0">
                <a:solidFill>
                  <a:srgbClr val="FFD700"/>
                </a:solidFill>
                <a:latin typeface="Calibri" pitchFamily="34" charset="0"/>
                <a:ea typeface="Calibri" pitchFamily="34" charset="-122"/>
                <a:cs typeface="Calibri" pitchFamily="34" charset="-120"/>
              </a:rPr>
              <a:t>Finding: SQL Injection Vulnerability</a:t>
            </a:r>
            <a:endParaRPr lang="en-US" sz="1500" dirty="0"/>
          </a:p>
        </p:txBody>
      </p:sp>
      <p:sp>
        <p:nvSpPr>
          <p:cNvPr id="7" name="Shape 5"/>
          <p:cNvSpPr/>
          <p:nvPr/>
        </p:nvSpPr>
        <p:spPr>
          <a:xfrm>
            <a:off x="640080" y="1508760"/>
            <a:ext cx="1097280" cy="274320"/>
          </a:xfrm>
          <a:prstGeom prst="rect">
            <a:avLst/>
          </a:prstGeom>
          <a:solidFill>
            <a:srgbClr val="2A2200"/>
          </a:solidFill>
          <a:ln/>
        </p:spPr>
      </p:sp>
      <p:sp>
        <p:nvSpPr>
          <p:cNvPr id="8" name="Text 6"/>
          <p:cNvSpPr/>
          <p:nvPr/>
        </p:nvSpPr>
        <p:spPr>
          <a:xfrm>
            <a:off x="640080" y="1508760"/>
            <a:ext cx="1097280" cy="274320"/>
          </a:xfrm>
          <a:prstGeom prst="rect">
            <a:avLst/>
          </a:prstGeom>
          <a:noFill/>
          <a:ln/>
        </p:spPr>
        <p:txBody>
          <a:bodyPr wrap="square" rtlCol="0" anchor="ctr"/>
          <a:lstStyle/>
          <a:p>
            <a:pPr marL="0" indent="0" algn="ctr">
              <a:buNone/>
            </a:pPr>
            <a:r>
              <a:rPr lang="en-US" sz="1000" b="1" dirty="0">
                <a:solidFill>
                  <a:srgbClr val="FFD700"/>
                </a:solidFill>
                <a:latin typeface="Consolas" pitchFamily="34" charset="0"/>
                <a:ea typeface="Consolas" pitchFamily="34" charset="-122"/>
                <a:cs typeface="Consolas" pitchFamily="34" charset="-120"/>
              </a:rPr>
              <a:t>MEDIUM</a:t>
            </a:r>
            <a:endParaRPr lang="en-US" sz="1000" dirty="0"/>
          </a:p>
        </p:txBody>
      </p:sp>
      <p:sp>
        <p:nvSpPr>
          <p:cNvPr id="9" name="Text 7"/>
          <p:cNvSpPr/>
          <p:nvPr/>
        </p:nvSpPr>
        <p:spPr>
          <a:xfrm>
            <a:off x="640080" y="1920240"/>
            <a:ext cx="7772400" cy="1188720"/>
          </a:xfrm>
          <a:prstGeom prst="rect">
            <a:avLst/>
          </a:prstGeom>
          <a:noFill/>
          <a:ln/>
        </p:spPr>
        <p:txBody>
          <a:bodyPr wrap="square" rtlCol="0" anchor="ctr"/>
          <a:lstStyle/>
          <a:p>
            <a:pPr marL="0" indent="0">
              <a:buNone/>
            </a:pPr>
            <a:r>
              <a:rPr lang="en-US" sz="1300" dirty="0">
                <a:solidFill>
                  <a:srgbClr val="8B949E"/>
                </a:solidFill>
                <a:latin typeface="Calibri" pitchFamily="34" charset="0"/>
                <a:ea typeface="Calibri" pitchFamily="34" charset="-122"/>
                <a:cs typeface="Calibri" pitchFamily="34" charset="-120"/>
              </a:rPr>
              <a:t>A SQL injection vulnerability was identified in the login functionality of the application. An attacker could potentially exploit this vulnerability to access, modify, or delete data within the database. It is recommended that parameterised queries or prepared statements are implemented to remediate this issue.</a:t>
            </a:r>
            <a:endParaRPr lang="en-US" sz="1300" dirty="0"/>
          </a:p>
        </p:txBody>
      </p:sp>
      <p:sp>
        <p:nvSpPr>
          <p:cNvPr id="10" name="Shape 8"/>
          <p:cNvSpPr/>
          <p:nvPr/>
        </p:nvSpPr>
        <p:spPr>
          <a:xfrm>
            <a:off x="640080" y="3017520"/>
            <a:ext cx="2011680" cy="320040"/>
          </a:xfrm>
          <a:prstGeom prst="rect">
            <a:avLst/>
          </a:prstGeom>
          <a:solidFill>
            <a:srgbClr val="1A0808"/>
          </a:solidFill>
          <a:ln/>
        </p:spPr>
      </p:sp>
      <p:sp>
        <p:nvSpPr>
          <p:cNvPr id="11" name="Text 9"/>
          <p:cNvSpPr/>
          <p:nvPr/>
        </p:nvSpPr>
        <p:spPr>
          <a:xfrm>
            <a:off x="640080" y="3017520"/>
            <a:ext cx="2011680" cy="320040"/>
          </a:xfrm>
          <a:prstGeom prst="rect">
            <a:avLst/>
          </a:prstGeom>
          <a:noFill/>
          <a:ln/>
        </p:spPr>
        <p:txBody>
          <a:bodyPr wrap="square" rtlCol="0" anchor="ctr"/>
          <a:lstStyle/>
          <a:p>
            <a:pPr marL="0" indent="0" algn="ctr">
              <a:buNone/>
            </a:pPr>
            <a:r>
              <a:rPr lang="en-US" sz="1000" dirty="0">
                <a:solidFill>
                  <a:srgbClr val="FF4757"/>
                </a:solidFill>
                <a:latin typeface="Calibri" pitchFamily="34" charset="0"/>
                <a:ea typeface="Calibri" pitchFamily="34" charset="-122"/>
                <a:cs typeface="Calibri" pitchFamily="34" charset="-120"/>
              </a:rPr>
              <a:t>⚑ No exploitation evidence</a:t>
            </a:r>
            <a:endParaRPr lang="en-US" sz="1000" dirty="0"/>
          </a:p>
        </p:txBody>
      </p:sp>
      <p:sp>
        <p:nvSpPr>
          <p:cNvPr id="12" name="Shape 10"/>
          <p:cNvSpPr/>
          <p:nvPr/>
        </p:nvSpPr>
        <p:spPr>
          <a:xfrm>
            <a:off x="2926080" y="3017520"/>
            <a:ext cx="2011680" cy="320040"/>
          </a:xfrm>
          <a:prstGeom prst="rect">
            <a:avLst/>
          </a:prstGeom>
          <a:solidFill>
            <a:srgbClr val="1A0808"/>
          </a:solidFill>
          <a:ln/>
        </p:spPr>
      </p:sp>
      <p:sp>
        <p:nvSpPr>
          <p:cNvPr id="13" name="Text 11"/>
          <p:cNvSpPr/>
          <p:nvPr/>
        </p:nvSpPr>
        <p:spPr>
          <a:xfrm>
            <a:off x="2926080" y="3017520"/>
            <a:ext cx="2011680" cy="320040"/>
          </a:xfrm>
          <a:prstGeom prst="rect">
            <a:avLst/>
          </a:prstGeom>
          <a:noFill/>
          <a:ln/>
        </p:spPr>
        <p:txBody>
          <a:bodyPr wrap="square" rtlCol="0" anchor="ctr"/>
          <a:lstStyle/>
          <a:p>
            <a:pPr marL="0" indent="0" algn="ctr">
              <a:buNone/>
            </a:pPr>
            <a:r>
              <a:rPr lang="en-US" sz="1000" dirty="0">
                <a:solidFill>
                  <a:srgbClr val="FF4757"/>
                </a:solidFill>
                <a:latin typeface="Calibri" pitchFamily="34" charset="0"/>
                <a:ea typeface="Calibri" pitchFamily="34" charset="-122"/>
                <a:cs typeface="Calibri" pitchFamily="34" charset="-120"/>
              </a:rPr>
              <a:t>⚑ No business context</a:t>
            </a:r>
            <a:endParaRPr lang="en-US" sz="1000" dirty="0"/>
          </a:p>
        </p:txBody>
      </p:sp>
      <p:sp>
        <p:nvSpPr>
          <p:cNvPr id="14" name="Shape 12"/>
          <p:cNvSpPr/>
          <p:nvPr/>
        </p:nvSpPr>
        <p:spPr>
          <a:xfrm>
            <a:off x="5394960" y="3017520"/>
            <a:ext cx="2011680" cy="320040"/>
          </a:xfrm>
          <a:prstGeom prst="rect">
            <a:avLst/>
          </a:prstGeom>
          <a:solidFill>
            <a:srgbClr val="1A0808"/>
          </a:solidFill>
          <a:ln/>
        </p:spPr>
      </p:sp>
      <p:sp>
        <p:nvSpPr>
          <p:cNvPr id="15" name="Text 13"/>
          <p:cNvSpPr/>
          <p:nvPr/>
        </p:nvSpPr>
        <p:spPr>
          <a:xfrm>
            <a:off x="5394960" y="3017520"/>
            <a:ext cx="2011680" cy="320040"/>
          </a:xfrm>
          <a:prstGeom prst="rect">
            <a:avLst/>
          </a:prstGeom>
          <a:noFill/>
          <a:ln/>
        </p:spPr>
        <p:txBody>
          <a:bodyPr wrap="square" rtlCol="0" anchor="ctr"/>
          <a:lstStyle/>
          <a:p>
            <a:pPr marL="0" indent="0" algn="ctr">
              <a:buNone/>
            </a:pPr>
            <a:r>
              <a:rPr lang="en-US" sz="1000" dirty="0">
                <a:solidFill>
                  <a:srgbClr val="FFD700"/>
                </a:solidFill>
                <a:latin typeface="Calibri" pitchFamily="34" charset="0"/>
                <a:ea typeface="Calibri" pitchFamily="34" charset="-122"/>
                <a:cs typeface="Calibri" pitchFamily="34" charset="-120"/>
              </a:rPr>
              <a:t>⚑ Generic recommendation</a:t>
            </a:r>
            <a:endParaRPr lang="en-US" sz="1000" dirty="0"/>
          </a:p>
        </p:txBody>
      </p:sp>
      <p:sp>
        <p:nvSpPr>
          <p:cNvPr id="16" name="Shape 14"/>
          <p:cNvSpPr/>
          <p:nvPr/>
        </p:nvSpPr>
        <p:spPr>
          <a:xfrm>
            <a:off x="457200" y="4343400"/>
            <a:ext cx="8229600" cy="640080"/>
          </a:xfrm>
          <a:prstGeom prst="rect">
            <a:avLst/>
          </a:prstGeom>
          <a:solidFill>
            <a:srgbClr val="1A0808"/>
          </a:solidFill>
          <a:ln/>
        </p:spPr>
      </p:sp>
      <p:sp>
        <p:nvSpPr>
          <p:cNvPr id="17" name="Shape 15"/>
          <p:cNvSpPr/>
          <p:nvPr/>
        </p:nvSpPr>
        <p:spPr>
          <a:xfrm>
            <a:off x="457200" y="4343400"/>
            <a:ext cx="73152" cy="640080"/>
          </a:xfrm>
          <a:prstGeom prst="rect">
            <a:avLst/>
          </a:prstGeom>
          <a:solidFill>
            <a:srgbClr val="FF4757"/>
          </a:solidFill>
          <a:ln/>
        </p:spPr>
      </p:sp>
      <p:sp>
        <p:nvSpPr>
          <p:cNvPr id="18" name="Text 16"/>
          <p:cNvSpPr/>
          <p:nvPr/>
        </p:nvSpPr>
        <p:spPr>
          <a:xfrm>
            <a:off x="640080" y="4343400"/>
            <a:ext cx="7955280" cy="640080"/>
          </a:xfrm>
          <a:prstGeom prst="rect">
            <a:avLst/>
          </a:prstGeom>
          <a:noFill/>
          <a:ln/>
        </p:spPr>
        <p:txBody>
          <a:bodyPr wrap="square" rtlCol="0" anchor="ctr"/>
          <a:lstStyle/>
          <a:p>
            <a:pPr marL="0" indent="0">
              <a:buNone/>
            </a:pPr>
            <a:r>
              <a:rPr lang="en-US" sz="1300" dirty="0">
                <a:solidFill>
                  <a:srgbClr val="8B949E"/>
                </a:solidFill>
                <a:latin typeface="Calibri" pitchFamily="34" charset="0"/>
                <a:ea typeface="Calibri" pitchFamily="34" charset="-122"/>
                <a:cs typeface="Calibri" pitchFamily="34" charset="-120"/>
              </a:rPr>
              <a:t>Technically correct. Lacks urgency. No real-world context.</a:t>
            </a:r>
            <a:endParaRPr lang="en-US" sz="1300" dirty="0"/>
          </a:p>
          <a:p>
            <a:pPr marL="0" indent="0">
              <a:buNone/>
            </a:pPr>
            <a:r>
              <a:rPr lang="en-US" sz="1300" dirty="0">
                <a:solidFill>
                  <a:srgbClr val="8B949E"/>
                </a:solidFill>
                <a:latin typeface="Calibri" pitchFamily="34" charset="0"/>
                <a:ea typeface="Calibri" pitchFamily="34" charset="-122"/>
                <a:cs typeface="Calibri" pitchFamily="34" charset="-120"/>
              </a:rPr>
              <a:t>Would a CISO prioritise this? Probably not.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ED573"/>
          </a:solidFill>
          <a:ln/>
        </p:spPr>
      </p:sp>
      <p:sp>
        <p:nvSpPr>
          <p:cNvPr id="3" name="Text 1"/>
          <p:cNvSpPr/>
          <p:nvPr/>
        </p:nvSpPr>
        <p:spPr>
          <a:xfrm>
            <a:off x="457200" y="22860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What Good Looks Like</a:t>
            </a:r>
            <a:endParaRPr lang="en-US" sz="3600" dirty="0"/>
          </a:p>
        </p:txBody>
      </p:sp>
      <p:sp>
        <p:nvSpPr>
          <p:cNvPr id="4" name="Shape 2"/>
          <p:cNvSpPr/>
          <p:nvPr/>
        </p:nvSpPr>
        <p:spPr>
          <a:xfrm>
            <a:off x="457200" y="822960"/>
            <a:ext cx="8229600" cy="36576"/>
          </a:xfrm>
          <a:prstGeom prst="rect">
            <a:avLst/>
          </a:prstGeom>
          <a:solidFill>
            <a:srgbClr val="30363D"/>
          </a:solidFill>
          <a:ln/>
        </p:spPr>
      </p:sp>
      <p:sp>
        <p:nvSpPr>
          <p:cNvPr id="5" name="Text 3"/>
          <p:cNvSpPr/>
          <p:nvPr/>
        </p:nvSpPr>
        <p:spPr>
          <a:xfrm>
            <a:off x="457200" y="914400"/>
            <a:ext cx="8229600" cy="365760"/>
          </a:xfrm>
          <a:prstGeom prst="rect">
            <a:avLst/>
          </a:prstGeom>
          <a:noFill/>
          <a:ln/>
        </p:spPr>
        <p:txBody>
          <a:bodyPr wrap="square" rtlCol="0" anchor="ctr"/>
          <a:lstStyle/>
          <a:p>
            <a:pPr marL="0" indent="0">
              <a:buNone/>
            </a:pPr>
            <a:r>
              <a:rPr lang="en-US" sz="1500" dirty="0">
                <a:solidFill>
                  <a:srgbClr val="8B949E"/>
                </a:solidFill>
                <a:latin typeface="Calibri" pitchFamily="34" charset="0"/>
                <a:ea typeface="Calibri" pitchFamily="34" charset="-122"/>
                <a:cs typeface="Calibri" pitchFamily="34" charset="-120"/>
              </a:rPr>
              <a:t>The human layer that AI can't provide:</a:t>
            </a:r>
            <a:endParaRPr lang="en-US" sz="1500" dirty="0"/>
          </a:p>
        </p:txBody>
      </p:sp>
      <p:sp>
        <p:nvSpPr>
          <p:cNvPr id="6" name="Shape 4"/>
          <p:cNvSpPr/>
          <p:nvPr/>
        </p:nvSpPr>
        <p:spPr>
          <a:xfrm>
            <a:off x="457200" y="1371600"/>
            <a:ext cx="8229600" cy="2560320"/>
          </a:xfrm>
          <a:prstGeom prst="rect">
            <a:avLst/>
          </a:prstGeom>
          <a:solidFill>
            <a:srgbClr val="091A09"/>
          </a:solidFill>
          <a:ln/>
        </p:spPr>
      </p:sp>
      <p:sp>
        <p:nvSpPr>
          <p:cNvPr id="7" name="Shape 5"/>
          <p:cNvSpPr/>
          <p:nvPr/>
        </p:nvSpPr>
        <p:spPr>
          <a:xfrm>
            <a:off x="457200" y="1371600"/>
            <a:ext cx="8229600" cy="54864"/>
          </a:xfrm>
          <a:prstGeom prst="rect">
            <a:avLst/>
          </a:prstGeom>
          <a:solidFill>
            <a:srgbClr val="2ED573"/>
          </a:solidFill>
          <a:ln/>
        </p:spPr>
      </p:sp>
      <p:sp>
        <p:nvSpPr>
          <p:cNvPr id="8" name="Text 6"/>
          <p:cNvSpPr/>
          <p:nvPr/>
        </p:nvSpPr>
        <p:spPr>
          <a:xfrm>
            <a:off x="640080" y="1508760"/>
            <a:ext cx="7772400" cy="365760"/>
          </a:xfrm>
          <a:prstGeom prst="rect">
            <a:avLst/>
          </a:prstGeom>
          <a:noFill/>
          <a:ln/>
        </p:spPr>
        <p:txBody>
          <a:bodyPr wrap="square" rtlCol="0" anchor="ctr"/>
          <a:lstStyle/>
          <a:p>
            <a:pPr marL="0" indent="0">
              <a:buNone/>
            </a:pPr>
            <a:r>
              <a:rPr lang="en-US" sz="1400" b="1" dirty="0">
                <a:solidFill>
                  <a:srgbClr val="2ED573"/>
                </a:solidFill>
                <a:latin typeface="Calibri" pitchFamily="34" charset="0"/>
                <a:ea typeface="Calibri" pitchFamily="34" charset="-122"/>
                <a:cs typeface="Calibri" pitchFamily="34" charset="-120"/>
              </a:rPr>
              <a:t>Finding: SQL Injection — Customer Database (Critical)</a:t>
            </a:r>
            <a:endParaRPr lang="en-US" sz="1400" dirty="0"/>
          </a:p>
        </p:txBody>
      </p:sp>
      <p:sp>
        <p:nvSpPr>
          <p:cNvPr id="9" name="Shape 7"/>
          <p:cNvSpPr/>
          <p:nvPr/>
        </p:nvSpPr>
        <p:spPr>
          <a:xfrm>
            <a:off x="640080" y="1828800"/>
            <a:ext cx="1188720" cy="274320"/>
          </a:xfrm>
          <a:prstGeom prst="rect">
            <a:avLst/>
          </a:prstGeom>
          <a:solidFill>
            <a:srgbClr val="1A0808"/>
          </a:solidFill>
          <a:ln/>
        </p:spPr>
      </p:sp>
      <p:sp>
        <p:nvSpPr>
          <p:cNvPr id="10" name="Text 8"/>
          <p:cNvSpPr/>
          <p:nvPr/>
        </p:nvSpPr>
        <p:spPr>
          <a:xfrm>
            <a:off x="640080" y="1828800"/>
            <a:ext cx="1188720" cy="274320"/>
          </a:xfrm>
          <a:prstGeom prst="rect">
            <a:avLst/>
          </a:prstGeom>
          <a:noFill/>
          <a:ln/>
        </p:spPr>
        <p:txBody>
          <a:bodyPr wrap="square" rtlCol="0" anchor="ctr"/>
          <a:lstStyle/>
          <a:p>
            <a:pPr marL="0" indent="0" algn="ctr">
              <a:buNone/>
            </a:pPr>
            <a:r>
              <a:rPr lang="en-US" sz="1000" b="1" dirty="0">
                <a:solidFill>
                  <a:srgbClr val="FF4757"/>
                </a:solidFill>
                <a:latin typeface="Consolas" pitchFamily="34" charset="0"/>
                <a:ea typeface="Consolas" pitchFamily="34" charset="-122"/>
                <a:cs typeface="Consolas" pitchFamily="34" charset="-120"/>
              </a:rPr>
              <a:t>CRITICAL</a:t>
            </a:r>
            <a:endParaRPr lang="en-US" sz="1000" dirty="0"/>
          </a:p>
        </p:txBody>
      </p:sp>
      <p:sp>
        <p:nvSpPr>
          <p:cNvPr id="11" name="Text 9"/>
          <p:cNvSpPr/>
          <p:nvPr/>
        </p:nvSpPr>
        <p:spPr>
          <a:xfrm>
            <a:off x="640080" y="2194560"/>
            <a:ext cx="7772400" cy="1600200"/>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Confirmed SQL injection in /api/login. During testing, we extracted 3 rows from the users table including admin credentials. Full database access is feasible without authentication. Given this application processes payments for 50,000 customers, a breach would trigger PCI DSS reporting obligations and potential regulatory action. Immediate patching is recommended before next release cycle.</a:t>
            </a:r>
            <a:endParaRPr lang="en-US" sz="1250" dirty="0"/>
          </a:p>
        </p:txBody>
      </p:sp>
      <p:sp>
        <p:nvSpPr>
          <p:cNvPr id="12" name="Text 10"/>
          <p:cNvSpPr/>
          <p:nvPr/>
        </p:nvSpPr>
        <p:spPr>
          <a:xfrm>
            <a:off x="960120" y="4041648"/>
            <a:ext cx="7772400" cy="256032"/>
          </a:xfrm>
          <a:prstGeom prst="rect">
            <a:avLst/>
          </a:prstGeom>
          <a:noFill/>
          <a:ln/>
        </p:spPr>
        <p:txBody>
          <a:bodyPr wrap="square" rtlCol="0" anchor="ctr"/>
          <a:lstStyle/>
          <a:p>
            <a:pPr marL="0" indent="0">
              <a:buNone/>
            </a:pPr>
            <a:r>
              <a:rPr lang="en-US" sz="1300" dirty="0">
                <a:solidFill>
                  <a:srgbClr val="2ED573"/>
                </a:solidFill>
                <a:latin typeface="Calibri" pitchFamily="34" charset="0"/>
                <a:ea typeface="Calibri" pitchFamily="34" charset="-122"/>
                <a:cs typeface="Calibri" pitchFamily="34" charset="-120"/>
              </a:rPr>
              <a:t>Contextualised to the client environment</a:t>
            </a:r>
            <a:endParaRPr lang="en-US" sz="1300" dirty="0"/>
          </a:p>
        </p:txBody>
      </p:sp>
      <p:sp>
        <p:nvSpPr>
          <p:cNvPr id="13" name="Text 11"/>
          <p:cNvSpPr/>
          <p:nvPr/>
        </p:nvSpPr>
        <p:spPr>
          <a:xfrm>
            <a:off x="960120" y="4297680"/>
            <a:ext cx="7772400" cy="256032"/>
          </a:xfrm>
          <a:prstGeom prst="rect">
            <a:avLst/>
          </a:prstGeom>
          <a:noFill/>
          <a:ln/>
        </p:spPr>
        <p:txBody>
          <a:bodyPr wrap="square" rtlCol="0" anchor="ctr"/>
          <a:lstStyle/>
          <a:p>
            <a:pPr marL="0" indent="0">
              <a:buNone/>
            </a:pPr>
            <a:r>
              <a:rPr lang="en-US" sz="1300" dirty="0">
                <a:solidFill>
                  <a:srgbClr val="2ED573"/>
                </a:solidFill>
                <a:latin typeface="Calibri" pitchFamily="34" charset="0"/>
                <a:ea typeface="Calibri" pitchFamily="34" charset="-122"/>
                <a:cs typeface="Calibri" pitchFamily="34" charset="-120"/>
              </a:rPr>
              <a:t>Clear impact with real-world evidence</a:t>
            </a:r>
            <a:endParaRPr lang="en-US" sz="1300" dirty="0"/>
          </a:p>
        </p:txBody>
      </p:sp>
      <p:sp>
        <p:nvSpPr>
          <p:cNvPr id="14" name="Text 12"/>
          <p:cNvSpPr/>
          <p:nvPr/>
        </p:nvSpPr>
        <p:spPr>
          <a:xfrm>
            <a:off x="960120" y="4553712"/>
            <a:ext cx="7772400" cy="256032"/>
          </a:xfrm>
          <a:prstGeom prst="rect">
            <a:avLst/>
          </a:prstGeom>
          <a:noFill/>
          <a:ln/>
        </p:spPr>
        <p:txBody>
          <a:bodyPr wrap="square" rtlCol="0" anchor="ctr"/>
          <a:lstStyle/>
          <a:p>
            <a:pPr marL="0" indent="0">
              <a:buNone/>
            </a:pPr>
            <a:r>
              <a:rPr lang="en-US" sz="1300" dirty="0">
                <a:solidFill>
                  <a:srgbClr val="2ED573"/>
                </a:solidFill>
                <a:latin typeface="Calibri" pitchFamily="34" charset="0"/>
                <a:ea typeface="Calibri" pitchFamily="34" charset="-122"/>
                <a:cs typeface="Calibri" pitchFamily="34" charset="-120"/>
              </a:rPr>
              <a:t>Tied to regulatory/business risk</a:t>
            </a:r>
            <a:endParaRPr lang="en-US" sz="1300" dirty="0"/>
          </a:p>
        </p:txBody>
      </p:sp>
      <p:sp>
        <p:nvSpPr>
          <p:cNvPr id="15" name="Text 13"/>
          <p:cNvSpPr/>
          <p:nvPr/>
        </p:nvSpPr>
        <p:spPr>
          <a:xfrm>
            <a:off x="960120" y="4809744"/>
            <a:ext cx="7772400" cy="256032"/>
          </a:xfrm>
          <a:prstGeom prst="rect">
            <a:avLst/>
          </a:prstGeom>
          <a:noFill/>
          <a:ln/>
        </p:spPr>
        <p:txBody>
          <a:bodyPr wrap="square" rtlCol="0" anchor="ctr"/>
          <a:lstStyle/>
          <a:p>
            <a:pPr marL="0" indent="0">
              <a:buNone/>
            </a:pPr>
            <a:r>
              <a:rPr lang="en-US" sz="1300" dirty="0">
                <a:solidFill>
                  <a:srgbClr val="2ED573"/>
                </a:solidFill>
                <a:latin typeface="Calibri" pitchFamily="34" charset="0"/>
                <a:ea typeface="Calibri" pitchFamily="34" charset="-122"/>
                <a:cs typeface="Calibri" pitchFamily="34" charset="-120"/>
              </a:rPr>
              <a:t>Actionable remediation timeline</a:t>
            </a:r>
            <a:endParaRPr lang="en-US" sz="1300" dirty="0"/>
          </a:p>
        </p:txBody>
      </p:sp>
      <p:sp>
        <p:nvSpPr>
          <p:cNvPr id="16" name="Shape 14"/>
          <p:cNvSpPr/>
          <p:nvPr/>
        </p:nvSpPr>
        <p:spPr>
          <a:xfrm>
            <a:off x="6858000" y="4023360"/>
            <a:ext cx="1828800" cy="868680"/>
          </a:xfrm>
          <a:prstGeom prst="rect">
            <a:avLst/>
          </a:prstGeom>
          <a:solidFill>
            <a:srgbClr val="161B22"/>
          </a:solidFill>
          <a:ln/>
        </p:spPr>
      </p:sp>
      <p:sp>
        <p:nvSpPr>
          <p:cNvPr id="17" name="Text 15"/>
          <p:cNvSpPr/>
          <p:nvPr/>
        </p:nvSpPr>
        <p:spPr>
          <a:xfrm>
            <a:off x="6858000" y="4023360"/>
            <a:ext cx="1828800" cy="868680"/>
          </a:xfrm>
          <a:prstGeom prst="rect">
            <a:avLst/>
          </a:prstGeom>
          <a:noFill/>
          <a:ln/>
        </p:spPr>
        <p:txBody>
          <a:bodyPr wrap="square" rtlCol="0" anchor="ctr"/>
          <a:lstStyle/>
          <a:p>
            <a:pPr marL="0" indent="0" algn="ctr">
              <a:buNone/>
            </a:pPr>
            <a:r>
              <a:rPr lang="en-US" sz="1100" b="1" dirty="0">
                <a:solidFill>
                  <a:srgbClr val="00D2FF"/>
                </a:solidFill>
                <a:latin typeface="Calibri" pitchFamily="34" charset="0"/>
                <a:ea typeface="Calibri" pitchFamily="34" charset="-122"/>
                <a:cs typeface="Calibri" pitchFamily="34" charset="-120"/>
              </a:rPr>
              <a:t>AI drafts.</a:t>
            </a:r>
            <a:endParaRPr lang="en-US" sz="1100" dirty="0"/>
          </a:p>
          <a:p>
            <a:pPr marL="0" indent="0" algn="ctr">
              <a:buNone/>
            </a:pPr>
            <a:r>
              <a:rPr lang="en-US" sz="1100" b="1" dirty="0">
                <a:solidFill>
                  <a:srgbClr val="00D2FF"/>
                </a:solidFill>
                <a:latin typeface="Calibri" pitchFamily="34" charset="0"/>
                <a:ea typeface="Calibri" pitchFamily="34" charset="-122"/>
                <a:cs typeface="Calibri" pitchFamily="34" charset="-120"/>
              </a:rPr>
              <a:t>You decide what matters.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Where AI Fails in Engagements</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97280"/>
            <a:ext cx="4023360" cy="1645920"/>
          </a:xfrm>
          <a:prstGeom prst="rect">
            <a:avLst/>
          </a:prstGeom>
          <a:solidFill>
            <a:srgbClr val="161B22"/>
          </a:solidFill>
          <a:ln/>
        </p:spPr>
      </p:sp>
      <p:sp>
        <p:nvSpPr>
          <p:cNvPr id="5" name="Shape 3"/>
          <p:cNvSpPr/>
          <p:nvPr/>
        </p:nvSpPr>
        <p:spPr>
          <a:xfrm>
            <a:off x="457200" y="1097280"/>
            <a:ext cx="73152" cy="1645920"/>
          </a:xfrm>
          <a:prstGeom prst="rect">
            <a:avLst/>
          </a:prstGeom>
          <a:solidFill>
            <a:srgbClr val="FF4757"/>
          </a:solidFill>
          <a:ln/>
        </p:spPr>
      </p:sp>
      <p:sp>
        <p:nvSpPr>
          <p:cNvPr id="6" name="Text 4"/>
          <p:cNvSpPr/>
          <p:nvPr/>
        </p:nvSpPr>
        <p:spPr>
          <a:xfrm>
            <a:off x="685800" y="1234440"/>
            <a:ext cx="3657600" cy="411480"/>
          </a:xfrm>
          <a:prstGeom prst="rect">
            <a:avLst/>
          </a:prstGeom>
          <a:noFill/>
          <a:ln/>
        </p:spPr>
        <p:txBody>
          <a:bodyPr wrap="square" rtlCol="0" anchor="ctr"/>
          <a:lstStyle/>
          <a:p>
            <a:pPr marL="0" indent="0">
              <a:buNone/>
            </a:pPr>
            <a:r>
              <a:rPr lang="en-US" sz="1400" b="1" dirty="0">
                <a:solidFill>
                  <a:srgbClr val="FF4757"/>
                </a:solidFill>
                <a:latin typeface="Calibri" pitchFamily="34" charset="0"/>
                <a:ea typeface="Calibri" pitchFamily="34" charset="-122"/>
                <a:cs typeface="Calibri" pitchFamily="34" charset="-120"/>
              </a:rPr>
              <a:t>Scope Nuance</a:t>
            </a:r>
            <a:endParaRPr lang="en-US" sz="1400" dirty="0"/>
          </a:p>
        </p:txBody>
      </p:sp>
      <p:sp>
        <p:nvSpPr>
          <p:cNvPr id="7" name="Text 5"/>
          <p:cNvSpPr/>
          <p:nvPr/>
        </p:nvSpPr>
        <p:spPr>
          <a:xfrm>
            <a:off x="685800" y="1691640"/>
            <a:ext cx="3657600" cy="914400"/>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AI doesn't know what's in or out of scope. It won't second-guess a target. You need to.</a:t>
            </a:r>
            <a:endParaRPr lang="en-US" sz="1250" dirty="0"/>
          </a:p>
        </p:txBody>
      </p:sp>
      <p:sp>
        <p:nvSpPr>
          <p:cNvPr id="8" name="Shape 6"/>
          <p:cNvSpPr/>
          <p:nvPr/>
        </p:nvSpPr>
        <p:spPr>
          <a:xfrm>
            <a:off x="4800600" y="1097280"/>
            <a:ext cx="4023360" cy="1645920"/>
          </a:xfrm>
          <a:prstGeom prst="rect">
            <a:avLst/>
          </a:prstGeom>
          <a:solidFill>
            <a:srgbClr val="161B22"/>
          </a:solidFill>
          <a:ln/>
        </p:spPr>
      </p:sp>
      <p:sp>
        <p:nvSpPr>
          <p:cNvPr id="9" name="Shape 7"/>
          <p:cNvSpPr/>
          <p:nvPr/>
        </p:nvSpPr>
        <p:spPr>
          <a:xfrm>
            <a:off x="4800600" y="1097280"/>
            <a:ext cx="73152" cy="1645920"/>
          </a:xfrm>
          <a:prstGeom prst="rect">
            <a:avLst/>
          </a:prstGeom>
          <a:solidFill>
            <a:srgbClr val="FF6B35"/>
          </a:solidFill>
          <a:ln/>
        </p:spPr>
      </p:sp>
      <p:sp>
        <p:nvSpPr>
          <p:cNvPr id="10" name="Text 8"/>
          <p:cNvSpPr/>
          <p:nvPr/>
        </p:nvSpPr>
        <p:spPr>
          <a:xfrm>
            <a:off x="5029200" y="1234440"/>
            <a:ext cx="3657600" cy="411480"/>
          </a:xfrm>
          <a:prstGeom prst="rect">
            <a:avLst/>
          </a:prstGeom>
          <a:noFill/>
          <a:ln/>
        </p:spPr>
        <p:txBody>
          <a:bodyPr wrap="square"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Weird Environments</a:t>
            </a:r>
            <a:endParaRPr lang="en-US" sz="1400" dirty="0"/>
          </a:p>
        </p:txBody>
      </p:sp>
      <p:sp>
        <p:nvSpPr>
          <p:cNvPr id="11" name="Text 9"/>
          <p:cNvSpPr/>
          <p:nvPr/>
        </p:nvSpPr>
        <p:spPr>
          <a:xfrm>
            <a:off x="5029200" y="1691640"/>
            <a:ext cx="3657600" cy="914400"/>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Legacy systems, custom configs, unusual stacks — AI's training data doesn't cover edge cases.</a:t>
            </a:r>
            <a:endParaRPr lang="en-US" sz="1250" dirty="0"/>
          </a:p>
        </p:txBody>
      </p:sp>
      <p:sp>
        <p:nvSpPr>
          <p:cNvPr id="12" name="Shape 10"/>
          <p:cNvSpPr/>
          <p:nvPr/>
        </p:nvSpPr>
        <p:spPr>
          <a:xfrm>
            <a:off x="457200" y="2971800"/>
            <a:ext cx="4023360" cy="1645920"/>
          </a:xfrm>
          <a:prstGeom prst="rect">
            <a:avLst/>
          </a:prstGeom>
          <a:solidFill>
            <a:srgbClr val="161B22"/>
          </a:solidFill>
          <a:ln/>
        </p:spPr>
      </p:sp>
      <p:sp>
        <p:nvSpPr>
          <p:cNvPr id="13" name="Shape 11"/>
          <p:cNvSpPr/>
          <p:nvPr/>
        </p:nvSpPr>
        <p:spPr>
          <a:xfrm>
            <a:off x="457200" y="2971800"/>
            <a:ext cx="73152" cy="1645920"/>
          </a:xfrm>
          <a:prstGeom prst="rect">
            <a:avLst/>
          </a:prstGeom>
          <a:solidFill>
            <a:srgbClr val="FFD700"/>
          </a:solidFill>
          <a:ln/>
        </p:spPr>
      </p:sp>
      <p:sp>
        <p:nvSpPr>
          <p:cNvPr id="14" name="Text 12"/>
          <p:cNvSpPr/>
          <p:nvPr/>
        </p:nvSpPr>
        <p:spPr>
          <a:xfrm>
            <a:off x="685800" y="3108960"/>
            <a:ext cx="3657600" cy="411480"/>
          </a:xfrm>
          <a:prstGeom prst="rect">
            <a:avLst/>
          </a:prstGeom>
          <a:noFill/>
          <a:ln/>
        </p:spPr>
        <p:txBody>
          <a:bodyPr wrap="square" rtlCol="0" anchor="ctr"/>
          <a:lstStyle/>
          <a:p>
            <a:pPr marL="0" indent="0">
              <a:buNone/>
            </a:pPr>
            <a:r>
              <a:rPr lang="en-US" sz="1400" b="1" dirty="0">
                <a:solidFill>
                  <a:srgbClr val="FFD700"/>
                </a:solidFill>
                <a:latin typeface="Calibri" pitchFamily="34" charset="0"/>
                <a:ea typeface="Calibri" pitchFamily="34" charset="-122"/>
                <a:cs typeface="Calibri" pitchFamily="34" charset="-120"/>
              </a:rPr>
              <a:t>Chained Attacks</a:t>
            </a:r>
            <a:endParaRPr lang="en-US" sz="1400" dirty="0"/>
          </a:p>
        </p:txBody>
      </p:sp>
      <p:sp>
        <p:nvSpPr>
          <p:cNvPr id="15" name="Text 13"/>
          <p:cNvSpPr/>
          <p:nvPr/>
        </p:nvSpPr>
        <p:spPr>
          <a:xfrm>
            <a:off x="685800" y="3566160"/>
            <a:ext cx="3657600" cy="914400"/>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Multi-step attack paths that combine minor flaws require human reasoning to piece together.</a:t>
            </a:r>
            <a:endParaRPr lang="en-US" sz="1250" dirty="0"/>
          </a:p>
        </p:txBody>
      </p:sp>
      <p:sp>
        <p:nvSpPr>
          <p:cNvPr id="16" name="Shape 14"/>
          <p:cNvSpPr/>
          <p:nvPr/>
        </p:nvSpPr>
        <p:spPr>
          <a:xfrm>
            <a:off x="4800600" y="2971800"/>
            <a:ext cx="4023360" cy="1645920"/>
          </a:xfrm>
          <a:prstGeom prst="rect">
            <a:avLst/>
          </a:prstGeom>
          <a:solidFill>
            <a:srgbClr val="161B22"/>
          </a:solidFill>
          <a:ln/>
        </p:spPr>
      </p:sp>
      <p:sp>
        <p:nvSpPr>
          <p:cNvPr id="17" name="Shape 15"/>
          <p:cNvSpPr/>
          <p:nvPr/>
        </p:nvSpPr>
        <p:spPr>
          <a:xfrm>
            <a:off x="4800600" y="2971800"/>
            <a:ext cx="73152" cy="1645920"/>
          </a:xfrm>
          <a:prstGeom prst="rect">
            <a:avLst/>
          </a:prstGeom>
          <a:solidFill>
            <a:srgbClr val="00D2FF"/>
          </a:solidFill>
          <a:ln/>
        </p:spPr>
      </p:sp>
      <p:sp>
        <p:nvSpPr>
          <p:cNvPr id="18" name="Text 16"/>
          <p:cNvSpPr/>
          <p:nvPr/>
        </p:nvSpPr>
        <p:spPr>
          <a:xfrm>
            <a:off x="5029200" y="3108960"/>
            <a:ext cx="3657600" cy="411480"/>
          </a:xfrm>
          <a:prstGeom prst="rect">
            <a:avLst/>
          </a:prstGeom>
          <a:noFill/>
          <a:ln/>
        </p:spPr>
        <p:txBody>
          <a:bodyPr wrap="square" rtlCol="0" anchor="ctr"/>
          <a:lstStyle/>
          <a:p>
            <a:pPr marL="0" indent="0">
              <a:buNone/>
            </a:pPr>
            <a:r>
              <a:rPr lang="en-US" sz="1400" b="1" dirty="0">
                <a:solidFill>
                  <a:srgbClr val="00D2FF"/>
                </a:solidFill>
                <a:latin typeface="Calibri" pitchFamily="34" charset="0"/>
                <a:ea typeface="Calibri" pitchFamily="34" charset="-122"/>
                <a:cs typeface="Calibri" pitchFamily="34" charset="-120"/>
              </a:rPr>
              <a:t>Client Conversations</a:t>
            </a:r>
            <a:endParaRPr lang="en-US" sz="1400" dirty="0"/>
          </a:p>
        </p:txBody>
      </p:sp>
      <p:sp>
        <p:nvSpPr>
          <p:cNvPr id="19" name="Text 17"/>
          <p:cNvSpPr/>
          <p:nvPr/>
        </p:nvSpPr>
        <p:spPr>
          <a:xfrm>
            <a:off x="5029200" y="3566160"/>
            <a:ext cx="3657600" cy="914400"/>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Explaining risk, handling pushback, understanding business context — purely a human skill.</a:t>
            </a:r>
            <a:endParaRPr lang="en-US" sz="1250" dirty="0"/>
          </a:p>
        </p:txBody>
      </p:sp>
      <p:sp>
        <p:nvSpPr>
          <p:cNvPr id="20" name="Shape 18"/>
          <p:cNvSpPr/>
          <p:nvPr/>
        </p:nvSpPr>
        <p:spPr>
          <a:xfrm>
            <a:off x="457200" y="4709160"/>
            <a:ext cx="8229600" cy="320040"/>
          </a:xfrm>
          <a:prstGeom prst="rect">
            <a:avLst/>
          </a:prstGeom>
          <a:solidFill>
            <a:srgbClr val="1A0808"/>
          </a:solidFill>
          <a:ln/>
        </p:spPr>
      </p:sp>
      <p:sp>
        <p:nvSpPr>
          <p:cNvPr id="21" name="Text 19"/>
          <p:cNvSpPr/>
          <p:nvPr/>
        </p:nvSpPr>
        <p:spPr>
          <a:xfrm>
            <a:off x="457200" y="4709160"/>
            <a:ext cx="8229600" cy="320040"/>
          </a:xfrm>
          <a:prstGeom prst="rect">
            <a:avLst/>
          </a:prstGeom>
          <a:noFill/>
          <a:ln/>
        </p:spPr>
        <p:txBody>
          <a:bodyPr wrap="square" rtlCol="0" anchor="ctr"/>
          <a:lstStyle/>
          <a:p>
            <a:pPr marL="0" indent="0" algn="ctr">
              <a:buNone/>
            </a:pPr>
            <a:r>
              <a:rPr lang="en-US" sz="1400" b="1" dirty="0">
                <a:solidFill>
                  <a:srgbClr val="FF4757"/>
                </a:solidFill>
                <a:latin typeface="Consolas" pitchFamily="34" charset="0"/>
                <a:ea typeface="Consolas" pitchFamily="34" charset="-122"/>
                <a:cs typeface="Consolas" pitchFamily="34" charset="-120"/>
              </a:rPr>
              <a:t>Pentesting is not just pattern matching.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Key Insight</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914400" y="1280160"/>
            <a:ext cx="7315200" cy="1188720"/>
          </a:xfrm>
          <a:prstGeom prst="rect">
            <a:avLst/>
          </a:prstGeom>
          <a:solidFill>
            <a:srgbClr val="161B22"/>
          </a:solidFill>
          <a:ln/>
        </p:spPr>
      </p:sp>
      <p:sp>
        <p:nvSpPr>
          <p:cNvPr id="5" name="Shape 3"/>
          <p:cNvSpPr/>
          <p:nvPr/>
        </p:nvSpPr>
        <p:spPr>
          <a:xfrm>
            <a:off x="914400" y="1280160"/>
            <a:ext cx="109728" cy="1188720"/>
          </a:xfrm>
          <a:prstGeom prst="rect">
            <a:avLst/>
          </a:prstGeom>
          <a:solidFill>
            <a:srgbClr val="00D2FF"/>
          </a:solidFill>
          <a:ln/>
        </p:spPr>
      </p:sp>
      <p:sp>
        <p:nvSpPr>
          <p:cNvPr id="6" name="Text 4"/>
          <p:cNvSpPr/>
          <p:nvPr/>
        </p:nvSpPr>
        <p:spPr>
          <a:xfrm>
            <a:off x="1188720" y="1417320"/>
            <a:ext cx="6858000" cy="411480"/>
          </a:xfrm>
          <a:prstGeom prst="rect">
            <a:avLst/>
          </a:prstGeom>
          <a:noFill/>
          <a:ln/>
        </p:spPr>
        <p:txBody>
          <a:bodyPr wrap="square" rtlCol="0" anchor="ctr"/>
          <a:lstStyle/>
          <a:p>
            <a:pPr marL="0" indent="0">
              <a:buNone/>
            </a:pPr>
            <a:r>
              <a:rPr lang="en-US" sz="2200" i="1" dirty="0">
                <a:solidFill>
                  <a:srgbClr val="00D2FF"/>
                </a:solidFill>
                <a:latin typeface="Georgia" pitchFamily="34" charset="0"/>
                <a:ea typeface="Georgia" pitchFamily="34" charset="-122"/>
                <a:cs typeface="Georgia" pitchFamily="34" charset="-120"/>
              </a:rPr>
              <a:t>AI can help you find things.</a:t>
            </a:r>
            <a:endParaRPr lang="en-US" sz="2200" dirty="0"/>
          </a:p>
        </p:txBody>
      </p:sp>
      <p:sp>
        <p:nvSpPr>
          <p:cNvPr id="7" name="Text 5"/>
          <p:cNvSpPr/>
          <p:nvPr/>
        </p:nvSpPr>
        <p:spPr>
          <a:xfrm>
            <a:off x="1188720" y="1828800"/>
            <a:ext cx="6858000" cy="411480"/>
          </a:xfrm>
          <a:prstGeom prst="rect">
            <a:avLst/>
          </a:prstGeom>
          <a:noFill/>
          <a:ln/>
        </p:spPr>
        <p:txBody>
          <a:bodyPr wrap="square" rtlCol="0" anchor="ctr"/>
          <a:lstStyle/>
          <a:p>
            <a:pPr marL="0" indent="0">
              <a:buNone/>
            </a:pPr>
            <a:r>
              <a:rPr lang="en-US" sz="2200" b="1" i="1" dirty="0">
                <a:solidFill>
                  <a:srgbClr val="FFFFFF"/>
                </a:solidFill>
                <a:latin typeface="Georgia" pitchFamily="34" charset="0"/>
                <a:ea typeface="Georgia" pitchFamily="34" charset="-122"/>
                <a:cs typeface="Georgia" pitchFamily="34" charset="-120"/>
              </a:rPr>
              <a:t>It cannot help you think critically about them.</a:t>
            </a:r>
            <a:endParaRPr lang="en-US" sz="2200" dirty="0"/>
          </a:p>
        </p:txBody>
      </p:sp>
      <p:sp>
        <p:nvSpPr>
          <p:cNvPr id="8" name="Shape 6"/>
          <p:cNvSpPr/>
          <p:nvPr/>
        </p:nvSpPr>
        <p:spPr>
          <a:xfrm>
            <a:off x="457200" y="2743200"/>
            <a:ext cx="3931920" cy="384048"/>
          </a:xfrm>
          <a:prstGeom prst="rect">
            <a:avLst/>
          </a:prstGeom>
          <a:solidFill>
            <a:srgbClr val="0A1A2A"/>
          </a:solidFill>
          <a:ln/>
        </p:spPr>
      </p:sp>
      <p:sp>
        <p:nvSpPr>
          <p:cNvPr id="9" name="Text 7"/>
          <p:cNvSpPr/>
          <p:nvPr/>
        </p:nvSpPr>
        <p:spPr>
          <a:xfrm>
            <a:off x="457200" y="2743200"/>
            <a:ext cx="3931920" cy="384048"/>
          </a:xfrm>
          <a:prstGeom prst="rect">
            <a:avLst/>
          </a:prstGeom>
          <a:noFill/>
          <a:ln/>
        </p:spPr>
        <p:txBody>
          <a:bodyPr wrap="square" rtlCol="0" anchor="ctr"/>
          <a:lstStyle/>
          <a:p>
            <a:pPr marL="0" indent="0" algn="ctr">
              <a:buNone/>
            </a:pPr>
            <a:r>
              <a:rPr lang="en-US" sz="1300" b="1" dirty="0">
                <a:solidFill>
                  <a:srgbClr val="00D2FF"/>
                </a:solidFill>
                <a:latin typeface="Calibri" pitchFamily="34" charset="0"/>
                <a:ea typeface="Calibri" pitchFamily="34" charset="-122"/>
                <a:cs typeface="Calibri" pitchFamily="34" charset="-120"/>
              </a:rPr>
              <a:t>AI helps with:</a:t>
            </a:r>
            <a:endParaRPr lang="en-US" sz="1300" dirty="0"/>
          </a:p>
        </p:txBody>
      </p:sp>
      <p:sp>
        <p:nvSpPr>
          <p:cNvPr id="10" name="Shape 8"/>
          <p:cNvSpPr/>
          <p:nvPr/>
        </p:nvSpPr>
        <p:spPr>
          <a:xfrm>
            <a:off x="4754880" y="2743200"/>
            <a:ext cx="3931920" cy="384048"/>
          </a:xfrm>
          <a:prstGeom prst="rect">
            <a:avLst/>
          </a:prstGeom>
          <a:solidFill>
            <a:srgbClr val="2A0A0A"/>
          </a:solidFill>
          <a:ln/>
        </p:spPr>
      </p:sp>
      <p:sp>
        <p:nvSpPr>
          <p:cNvPr id="11" name="Text 9"/>
          <p:cNvSpPr/>
          <p:nvPr/>
        </p:nvSpPr>
        <p:spPr>
          <a:xfrm>
            <a:off x="4754880" y="2743200"/>
            <a:ext cx="3931920" cy="384048"/>
          </a:xfrm>
          <a:prstGeom prst="rect">
            <a:avLst/>
          </a:prstGeom>
          <a:noFill/>
          <a:ln/>
        </p:spPr>
        <p:txBody>
          <a:bodyPr wrap="square" rtlCol="0" anchor="ctr"/>
          <a:lstStyle/>
          <a:p>
            <a:pPr marL="0" indent="0" algn="ctr">
              <a:buNone/>
            </a:pPr>
            <a:r>
              <a:rPr lang="en-US" sz="1300" b="1" dirty="0">
                <a:solidFill>
                  <a:srgbClr val="FF4757"/>
                </a:solidFill>
                <a:latin typeface="Calibri" pitchFamily="34" charset="0"/>
                <a:ea typeface="Calibri" pitchFamily="34" charset="-122"/>
                <a:cs typeface="Calibri" pitchFamily="34" charset="-120"/>
              </a:rPr>
              <a:t>Humans provide:</a:t>
            </a:r>
            <a:endParaRPr lang="en-US" sz="1300" dirty="0"/>
          </a:p>
        </p:txBody>
      </p:sp>
      <p:sp>
        <p:nvSpPr>
          <p:cNvPr id="12" name="Shape 10"/>
          <p:cNvSpPr/>
          <p:nvPr/>
        </p:nvSpPr>
        <p:spPr>
          <a:xfrm>
            <a:off x="457200" y="3218688"/>
            <a:ext cx="3931920" cy="365760"/>
          </a:xfrm>
          <a:prstGeom prst="rect">
            <a:avLst/>
          </a:prstGeom>
          <a:solidFill>
            <a:srgbClr val="161B22"/>
          </a:solidFill>
          <a:ln/>
        </p:spPr>
      </p:sp>
      <p:sp>
        <p:nvSpPr>
          <p:cNvPr id="13" name="Text 11"/>
          <p:cNvSpPr/>
          <p:nvPr/>
        </p:nvSpPr>
        <p:spPr>
          <a:xfrm>
            <a:off x="914400" y="321868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Pattern-matched findings</a:t>
            </a:r>
            <a:endParaRPr lang="en-US" sz="1200" dirty="0"/>
          </a:p>
        </p:txBody>
      </p:sp>
      <p:sp>
        <p:nvSpPr>
          <p:cNvPr id="14" name="Shape 12"/>
          <p:cNvSpPr/>
          <p:nvPr/>
        </p:nvSpPr>
        <p:spPr>
          <a:xfrm>
            <a:off x="457200" y="3630168"/>
            <a:ext cx="3931920" cy="365760"/>
          </a:xfrm>
          <a:prstGeom prst="rect">
            <a:avLst/>
          </a:prstGeom>
          <a:solidFill>
            <a:srgbClr val="161B22"/>
          </a:solidFill>
          <a:ln/>
        </p:spPr>
      </p:sp>
      <p:sp>
        <p:nvSpPr>
          <p:cNvPr id="15" name="Text 13"/>
          <p:cNvSpPr/>
          <p:nvPr/>
        </p:nvSpPr>
        <p:spPr>
          <a:xfrm>
            <a:off x="914400" y="363016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Generated payload lists</a:t>
            </a:r>
            <a:endParaRPr lang="en-US" sz="1200" dirty="0"/>
          </a:p>
        </p:txBody>
      </p:sp>
      <p:sp>
        <p:nvSpPr>
          <p:cNvPr id="16" name="Shape 14"/>
          <p:cNvSpPr/>
          <p:nvPr/>
        </p:nvSpPr>
        <p:spPr>
          <a:xfrm>
            <a:off x="457200" y="4041648"/>
            <a:ext cx="3931920" cy="365760"/>
          </a:xfrm>
          <a:prstGeom prst="rect">
            <a:avLst/>
          </a:prstGeom>
          <a:solidFill>
            <a:srgbClr val="161B22"/>
          </a:solidFill>
          <a:ln/>
        </p:spPr>
      </p:sp>
      <p:sp>
        <p:nvSpPr>
          <p:cNvPr id="17" name="Text 15"/>
          <p:cNvSpPr/>
          <p:nvPr/>
        </p:nvSpPr>
        <p:spPr>
          <a:xfrm>
            <a:off x="914400" y="404164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Draft report content</a:t>
            </a:r>
            <a:endParaRPr lang="en-US" sz="1200" dirty="0"/>
          </a:p>
        </p:txBody>
      </p:sp>
      <p:sp>
        <p:nvSpPr>
          <p:cNvPr id="18" name="Shape 16"/>
          <p:cNvSpPr/>
          <p:nvPr/>
        </p:nvSpPr>
        <p:spPr>
          <a:xfrm>
            <a:off x="457200" y="4453128"/>
            <a:ext cx="3931920" cy="365760"/>
          </a:xfrm>
          <a:prstGeom prst="rect">
            <a:avLst/>
          </a:prstGeom>
          <a:solidFill>
            <a:srgbClr val="161B22"/>
          </a:solidFill>
          <a:ln/>
        </p:spPr>
      </p:sp>
      <p:sp>
        <p:nvSpPr>
          <p:cNvPr id="19" name="Text 17"/>
          <p:cNvSpPr/>
          <p:nvPr/>
        </p:nvSpPr>
        <p:spPr>
          <a:xfrm>
            <a:off x="914400" y="445312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Enumeration summaries</a:t>
            </a:r>
            <a:endParaRPr lang="en-US" sz="1200" dirty="0"/>
          </a:p>
        </p:txBody>
      </p:sp>
      <p:sp>
        <p:nvSpPr>
          <p:cNvPr id="20" name="Shape 18"/>
          <p:cNvSpPr/>
          <p:nvPr/>
        </p:nvSpPr>
        <p:spPr>
          <a:xfrm>
            <a:off x="4754880" y="3218688"/>
            <a:ext cx="3931920" cy="365760"/>
          </a:xfrm>
          <a:prstGeom prst="rect">
            <a:avLst/>
          </a:prstGeom>
          <a:solidFill>
            <a:srgbClr val="161B22"/>
          </a:solidFill>
          <a:ln/>
        </p:spPr>
      </p:sp>
      <p:sp>
        <p:nvSpPr>
          <p:cNvPr id="21" name="Text 19"/>
          <p:cNvSpPr/>
          <p:nvPr/>
        </p:nvSpPr>
        <p:spPr>
          <a:xfrm>
            <a:off x="5212080" y="321868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Exploitation validity</a:t>
            </a:r>
            <a:endParaRPr lang="en-US" sz="1200" dirty="0"/>
          </a:p>
        </p:txBody>
      </p:sp>
      <p:sp>
        <p:nvSpPr>
          <p:cNvPr id="22" name="Shape 20"/>
          <p:cNvSpPr/>
          <p:nvPr/>
        </p:nvSpPr>
        <p:spPr>
          <a:xfrm>
            <a:off x="4754880" y="3630168"/>
            <a:ext cx="3931920" cy="365760"/>
          </a:xfrm>
          <a:prstGeom prst="rect">
            <a:avLst/>
          </a:prstGeom>
          <a:solidFill>
            <a:srgbClr val="161B22"/>
          </a:solidFill>
          <a:ln/>
        </p:spPr>
      </p:sp>
      <p:sp>
        <p:nvSpPr>
          <p:cNvPr id="23" name="Text 21"/>
          <p:cNvSpPr/>
          <p:nvPr/>
        </p:nvSpPr>
        <p:spPr>
          <a:xfrm>
            <a:off x="5212080" y="363016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Risk prioritisation</a:t>
            </a:r>
            <a:endParaRPr lang="en-US" sz="1200" dirty="0"/>
          </a:p>
        </p:txBody>
      </p:sp>
      <p:sp>
        <p:nvSpPr>
          <p:cNvPr id="24" name="Shape 22"/>
          <p:cNvSpPr/>
          <p:nvPr/>
        </p:nvSpPr>
        <p:spPr>
          <a:xfrm>
            <a:off x="4754880" y="4041648"/>
            <a:ext cx="3931920" cy="365760"/>
          </a:xfrm>
          <a:prstGeom prst="rect">
            <a:avLst/>
          </a:prstGeom>
          <a:solidFill>
            <a:srgbClr val="161B22"/>
          </a:solidFill>
          <a:ln/>
        </p:spPr>
      </p:sp>
      <p:sp>
        <p:nvSpPr>
          <p:cNvPr id="25" name="Text 23"/>
          <p:cNvSpPr/>
          <p:nvPr/>
        </p:nvSpPr>
        <p:spPr>
          <a:xfrm>
            <a:off x="5212080" y="404164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Business impact assessment</a:t>
            </a:r>
            <a:endParaRPr lang="en-US" sz="1200" dirty="0"/>
          </a:p>
        </p:txBody>
      </p:sp>
      <p:sp>
        <p:nvSpPr>
          <p:cNvPr id="26" name="Shape 24"/>
          <p:cNvSpPr/>
          <p:nvPr/>
        </p:nvSpPr>
        <p:spPr>
          <a:xfrm>
            <a:off x="4754880" y="4453128"/>
            <a:ext cx="3931920" cy="365760"/>
          </a:xfrm>
          <a:prstGeom prst="rect">
            <a:avLst/>
          </a:prstGeom>
          <a:solidFill>
            <a:srgbClr val="161B22"/>
          </a:solidFill>
          <a:ln/>
        </p:spPr>
      </p:sp>
      <p:sp>
        <p:nvSpPr>
          <p:cNvPr id="27" name="Text 25"/>
          <p:cNvSpPr/>
          <p:nvPr/>
        </p:nvSpPr>
        <p:spPr>
          <a:xfrm>
            <a:off x="5212080" y="4453128"/>
            <a:ext cx="333756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Attack chain reasoning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How to Use AI Properly</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05840"/>
            <a:ext cx="8229600" cy="457200"/>
          </a:xfrm>
          <a:prstGeom prst="rect">
            <a:avLst/>
          </a:prstGeom>
          <a:solidFill>
            <a:srgbClr val="1C2430"/>
          </a:solidFill>
          <a:ln/>
        </p:spPr>
      </p:sp>
      <p:sp>
        <p:nvSpPr>
          <p:cNvPr id="5" name="Text 3"/>
          <p:cNvSpPr/>
          <p:nvPr/>
        </p:nvSpPr>
        <p:spPr>
          <a:xfrm>
            <a:off x="548640" y="1005840"/>
            <a:ext cx="8046720" cy="457200"/>
          </a:xfrm>
          <a:prstGeom prst="rect">
            <a:avLst/>
          </a:prstGeom>
          <a:noFill/>
          <a:ln/>
        </p:spPr>
        <p:txBody>
          <a:bodyPr wrap="square" rtlCol="0" anchor="ctr"/>
          <a:lstStyle/>
          <a:p>
            <a:pPr marL="0" indent="0">
              <a:buNone/>
            </a:pPr>
            <a:r>
              <a:rPr lang="en-US" sz="1500" i="1" dirty="0">
                <a:solidFill>
                  <a:srgbClr val="00D2FF"/>
                </a:solidFill>
                <a:latin typeface="Georgia" pitchFamily="34" charset="0"/>
                <a:ea typeface="Georgia" pitchFamily="34" charset="-122"/>
                <a:cs typeface="Georgia" pitchFamily="34" charset="-120"/>
              </a:rPr>
              <a:t>Treat AI like a capable but junior tester — useful input, not final authority.</a:t>
            </a:r>
            <a:endParaRPr lang="en-US" sz="1500" dirty="0"/>
          </a:p>
        </p:txBody>
      </p:sp>
      <p:sp>
        <p:nvSpPr>
          <p:cNvPr id="6" name="Shape 4"/>
          <p:cNvSpPr/>
          <p:nvPr/>
        </p:nvSpPr>
        <p:spPr>
          <a:xfrm>
            <a:off x="457200" y="1600200"/>
            <a:ext cx="3931920" cy="384048"/>
          </a:xfrm>
          <a:prstGeom prst="rect">
            <a:avLst/>
          </a:prstGeom>
          <a:solidFill>
            <a:srgbClr val="0A2A0A"/>
          </a:solidFill>
          <a:ln/>
        </p:spPr>
      </p:sp>
      <p:sp>
        <p:nvSpPr>
          <p:cNvPr id="7" name="Text 5"/>
          <p:cNvSpPr/>
          <p:nvPr/>
        </p:nvSpPr>
        <p:spPr>
          <a:xfrm>
            <a:off x="457200" y="1600200"/>
            <a:ext cx="3931920" cy="384048"/>
          </a:xfrm>
          <a:prstGeom prst="rect">
            <a:avLst/>
          </a:prstGeom>
          <a:noFill/>
          <a:ln/>
        </p:spPr>
        <p:txBody>
          <a:bodyPr wrap="square" rtlCol="0" anchor="ctr"/>
          <a:lstStyle/>
          <a:p>
            <a:pPr marL="0" indent="0" algn="ctr">
              <a:buNone/>
            </a:pPr>
            <a:r>
              <a:rPr lang="en-US" sz="1400" b="1" dirty="0">
                <a:solidFill>
                  <a:srgbClr val="2ED573"/>
                </a:solidFill>
                <a:latin typeface="Calibri" pitchFamily="34" charset="0"/>
                <a:ea typeface="Calibri" pitchFamily="34" charset="-122"/>
                <a:cs typeface="Calibri" pitchFamily="34" charset="-120"/>
              </a:rPr>
              <a:t>✅  USE AI TO</a:t>
            </a:r>
            <a:endParaRPr lang="en-US" sz="1400" dirty="0"/>
          </a:p>
        </p:txBody>
      </p:sp>
      <p:sp>
        <p:nvSpPr>
          <p:cNvPr id="8" name="Shape 6"/>
          <p:cNvSpPr/>
          <p:nvPr/>
        </p:nvSpPr>
        <p:spPr>
          <a:xfrm>
            <a:off x="4754880" y="1600200"/>
            <a:ext cx="3931920" cy="384048"/>
          </a:xfrm>
          <a:prstGeom prst="rect">
            <a:avLst/>
          </a:prstGeom>
          <a:solidFill>
            <a:srgbClr val="2A0A0A"/>
          </a:solidFill>
          <a:ln/>
        </p:spPr>
      </p:sp>
      <p:sp>
        <p:nvSpPr>
          <p:cNvPr id="9" name="Text 7"/>
          <p:cNvSpPr/>
          <p:nvPr/>
        </p:nvSpPr>
        <p:spPr>
          <a:xfrm>
            <a:off x="4754880" y="1600200"/>
            <a:ext cx="3931920" cy="384048"/>
          </a:xfrm>
          <a:prstGeom prst="rect">
            <a:avLst/>
          </a:prstGeom>
          <a:noFill/>
          <a:ln/>
        </p:spPr>
        <p:txBody>
          <a:bodyPr wrap="square" rtlCol="0" anchor="ctr"/>
          <a:lstStyle/>
          <a:p>
            <a:pPr marL="0" indent="0" algn="ctr">
              <a:buNone/>
            </a:pPr>
            <a:r>
              <a:rPr lang="en-US" sz="1400" b="1" dirty="0">
                <a:solidFill>
                  <a:srgbClr val="FF4757"/>
                </a:solidFill>
                <a:latin typeface="Calibri" pitchFamily="34" charset="0"/>
                <a:ea typeface="Calibri" pitchFamily="34" charset="-122"/>
                <a:cs typeface="Calibri" pitchFamily="34" charset="-120"/>
              </a:rPr>
              <a:t>❌  DON'T USE IT TO</a:t>
            </a:r>
            <a:endParaRPr lang="en-US" sz="1400" dirty="0"/>
          </a:p>
        </p:txBody>
      </p:sp>
      <p:sp>
        <p:nvSpPr>
          <p:cNvPr id="10" name="Shape 8"/>
          <p:cNvSpPr/>
          <p:nvPr/>
        </p:nvSpPr>
        <p:spPr>
          <a:xfrm>
            <a:off x="457200" y="2075688"/>
            <a:ext cx="3931920" cy="548640"/>
          </a:xfrm>
          <a:prstGeom prst="rect">
            <a:avLst/>
          </a:prstGeom>
          <a:solidFill>
            <a:srgbClr val="161B22"/>
          </a:solidFill>
          <a:ln/>
        </p:spPr>
      </p:sp>
      <p:sp>
        <p:nvSpPr>
          <p:cNvPr id="11" name="Text 9"/>
          <p:cNvSpPr/>
          <p:nvPr/>
        </p:nvSpPr>
        <p:spPr>
          <a:xfrm>
            <a:off x="1005840" y="207568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Brainstorm payload variations and attack approaches</a:t>
            </a:r>
            <a:endParaRPr lang="en-US" sz="1250" dirty="0"/>
          </a:p>
        </p:txBody>
      </p:sp>
      <p:sp>
        <p:nvSpPr>
          <p:cNvPr id="12" name="Shape 10"/>
          <p:cNvSpPr/>
          <p:nvPr/>
        </p:nvSpPr>
        <p:spPr>
          <a:xfrm>
            <a:off x="457200" y="2715768"/>
            <a:ext cx="3931920" cy="548640"/>
          </a:xfrm>
          <a:prstGeom prst="rect">
            <a:avLst/>
          </a:prstGeom>
          <a:solidFill>
            <a:srgbClr val="161B22"/>
          </a:solidFill>
          <a:ln/>
        </p:spPr>
      </p:sp>
      <p:sp>
        <p:nvSpPr>
          <p:cNvPr id="13" name="Text 11"/>
          <p:cNvSpPr/>
          <p:nvPr/>
        </p:nvSpPr>
        <p:spPr>
          <a:xfrm>
            <a:off x="1005840" y="271576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Draft initial scripts and automate repetitive tasks</a:t>
            </a:r>
            <a:endParaRPr lang="en-US" sz="1250" dirty="0"/>
          </a:p>
        </p:txBody>
      </p:sp>
      <p:sp>
        <p:nvSpPr>
          <p:cNvPr id="14" name="Shape 12"/>
          <p:cNvSpPr/>
          <p:nvPr/>
        </p:nvSpPr>
        <p:spPr>
          <a:xfrm>
            <a:off x="457200" y="3355848"/>
            <a:ext cx="3931920" cy="548640"/>
          </a:xfrm>
          <a:prstGeom prst="rect">
            <a:avLst/>
          </a:prstGeom>
          <a:solidFill>
            <a:srgbClr val="161B22"/>
          </a:solidFill>
          <a:ln/>
        </p:spPr>
      </p:sp>
      <p:sp>
        <p:nvSpPr>
          <p:cNvPr id="15" name="Text 13"/>
          <p:cNvSpPr/>
          <p:nvPr/>
        </p:nvSpPr>
        <p:spPr>
          <a:xfrm>
            <a:off x="1005840" y="335584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Rephrase findings for clarity or client audience</a:t>
            </a:r>
            <a:endParaRPr lang="en-US" sz="1250" dirty="0"/>
          </a:p>
        </p:txBody>
      </p:sp>
      <p:sp>
        <p:nvSpPr>
          <p:cNvPr id="16" name="Shape 14"/>
          <p:cNvSpPr/>
          <p:nvPr/>
        </p:nvSpPr>
        <p:spPr>
          <a:xfrm>
            <a:off x="457200" y="3995928"/>
            <a:ext cx="3931920" cy="548640"/>
          </a:xfrm>
          <a:prstGeom prst="rect">
            <a:avLst/>
          </a:prstGeom>
          <a:solidFill>
            <a:srgbClr val="161B22"/>
          </a:solidFill>
          <a:ln/>
        </p:spPr>
      </p:sp>
      <p:sp>
        <p:nvSpPr>
          <p:cNvPr id="17" name="Text 15"/>
          <p:cNvSpPr/>
          <p:nvPr/>
        </p:nvSpPr>
        <p:spPr>
          <a:xfrm>
            <a:off x="1005840" y="399592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Summarise long scan output quickly</a:t>
            </a:r>
            <a:endParaRPr lang="en-US" sz="1250" dirty="0"/>
          </a:p>
        </p:txBody>
      </p:sp>
      <p:sp>
        <p:nvSpPr>
          <p:cNvPr id="18" name="Shape 16"/>
          <p:cNvSpPr/>
          <p:nvPr/>
        </p:nvSpPr>
        <p:spPr>
          <a:xfrm>
            <a:off x="4754880" y="2075688"/>
            <a:ext cx="3931920" cy="548640"/>
          </a:xfrm>
          <a:prstGeom prst="rect">
            <a:avLst/>
          </a:prstGeom>
          <a:solidFill>
            <a:srgbClr val="161B22"/>
          </a:solidFill>
          <a:ln/>
        </p:spPr>
      </p:sp>
      <p:sp>
        <p:nvSpPr>
          <p:cNvPr id="19" name="Text 17"/>
          <p:cNvSpPr/>
          <p:nvPr/>
        </p:nvSpPr>
        <p:spPr>
          <a:xfrm>
            <a:off x="5303520" y="207568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Make final decisions on exploitability</a:t>
            </a:r>
            <a:endParaRPr lang="en-US" sz="1250" dirty="0"/>
          </a:p>
        </p:txBody>
      </p:sp>
      <p:sp>
        <p:nvSpPr>
          <p:cNvPr id="20" name="Shape 18"/>
          <p:cNvSpPr/>
          <p:nvPr/>
        </p:nvSpPr>
        <p:spPr>
          <a:xfrm>
            <a:off x="4754880" y="2715768"/>
            <a:ext cx="3931920" cy="548640"/>
          </a:xfrm>
          <a:prstGeom prst="rect">
            <a:avLst/>
          </a:prstGeom>
          <a:solidFill>
            <a:srgbClr val="161B22"/>
          </a:solidFill>
          <a:ln/>
        </p:spPr>
      </p:sp>
      <p:sp>
        <p:nvSpPr>
          <p:cNvPr id="21" name="Text 19"/>
          <p:cNvSpPr/>
          <p:nvPr/>
        </p:nvSpPr>
        <p:spPr>
          <a:xfrm>
            <a:off x="5303520" y="271576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Validate vulnerabilities on your behalf</a:t>
            </a:r>
            <a:endParaRPr lang="en-US" sz="1250" dirty="0"/>
          </a:p>
        </p:txBody>
      </p:sp>
      <p:sp>
        <p:nvSpPr>
          <p:cNvPr id="22" name="Shape 20"/>
          <p:cNvSpPr/>
          <p:nvPr/>
        </p:nvSpPr>
        <p:spPr>
          <a:xfrm>
            <a:off x="4754880" y="3355848"/>
            <a:ext cx="3931920" cy="548640"/>
          </a:xfrm>
          <a:prstGeom prst="rect">
            <a:avLst/>
          </a:prstGeom>
          <a:solidFill>
            <a:srgbClr val="161B22"/>
          </a:solidFill>
          <a:ln/>
        </p:spPr>
      </p:sp>
      <p:sp>
        <p:nvSpPr>
          <p:cNvPr id="23" name="Text 21"/>
          <p:cNvSpPr/>
          <p:nvPr/>
        </p:nvSpPr>
        <p:spPr>
          <a:xfrm>
            <a:off x="5303520" y="335584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Replace your understanding of a technique</a:t>
            </a:r>
            <a:endParaRPr lang="en-US" sz="1250" dirty="0"/>
          </a:p>
        </p:txBody>
      </p:sp>
      <p:sp>
        <p:nvSpPr>
          <p:cNvPr id="24" name="Shape 22"/>
          <p:cNvSpPr/>
          <p:nvPr/>
        </p:nvSpPr>
        <p:spPr>
          <a:xfrm>
            <a:off x="4754880" y="3995928"/>
            <a:ext cx="3931920" cy="548640"/>
          </a:xfrm>
          <a:prstGeom prst="rect">
            <a:avLst/>
          </a:prstGeom>
          <a:solidFill>
            <a:srgbClr val="161B22"/>
          </a:solidFill>
          <a:ln/>
        </p:spPr>
      </p:sp>
      <p:sp>
        <p:nvSpPr>
          <p:cNvPr id="25" name="Text 23"/>
          <p:cNvSpPr/>
          <p:nvPr/>
        </p:nvSpPr>
        <p:spPr>
          <a:xfrm>
            <a:off x="5303520" y="3995928"/>
            <a:ext cx="324612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Write your report without human review</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Practical Workflow</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868680" y="2834640"/>
            <a:ext cx="6858000" cy="0"/>
          </a:xfrm>
          <a:prstGeom prst="line">
            <a:avLst/>
          </a:prstGeom>
          <a:noFill/>
          <a:ln w="25400">
            <a:solidFill>
              <a:srgbClr val="30363D"/>
            </a:solidFill>
            <a:prstDash val="dash"/>
          </a:ln>
        </p:spPr>
      </p:sp>
      <p:sp>
        <p:nvSpPr>
          <p:cNvPr id="5" name="Shape 3"/>
          <p:cNvSpPr/>
          <p:nvPr/>
        </p:nvSpPr>
        <p:spPr>
          <a:xfrm>
            <a:off x="457200" y="1005840"/>
            <a:ext cx="1719072" cy="3429000"/>
          </a:xfrm>
          <a:prstGeom prst="rect">
            <a:avLst/>
          </a:prstGeom>
          <a:solidFill>
            <a:srgbClr val="161B22"/>
          </a:solidFill>
          <a:ln/>
        </p:spPr>
      </p:sp>
      <p:sp>
        <p:nvSpPr>
          <p:cNvPr id="6" name="Shape 4"/>
          <p:cNvSpPr/>
          <p:nvPr/>
        </p:nvSpPr>
        <p:spPr>
          <a:xfrm>
            <a:off x="457200" y="1005840"/>
            <a:ext cx="1719072" cy="54864"/>
          </a:xfrm>
          <a:prstGeom prst="rect">
            <a:avLst/>
          </a:prstGeom>
          <a:solidFill>
            <a:srgbClr val="00D2FF"/>
          </a:solidFill>
          <a:ln/>
        </p:spPr>
      </p:sp>
      <p:sp>
        <p:nvSpPr>
          <p:cNvPr id="7" name="Shape 5"/>
          <p:cNvSpPr/>
          <p:nvPr/>
        </p:nvSpPr>
        <p:spPr>
          <a:xfrm>
            <a:off x="1042416" y="2606040"/>
            <a:ext cx="548640" cy="548640"/>
          </a:xfrm>
          <a:prstGeom prst="ellipse">
            <a:avLst/>
          </a:prstGeom>
          <a:solidFill>
            <a:srgbClr val="00D2FF"/>
          </a:solidFill>
          <a:ln/>
        </p:spPr>
      </p:sp>
      <p:sp>
        <p:nvSpPr>
          <p:cNvPr id="8" name="Text 6"/>
          <p:cNvSpPr/>
          <p:nvPr/>
        </p:nvSpPr>
        <p:spPr>
          <a:xfrm>
            <a:off x="1042416" y="2606040"/>
            <a:ext cx="548640" cy="548640"/>
          </a:xfrm>
          <a:prstGeom prst="rect">
            <a:avLst/>
          </a:prstGeom>
          <a:noFill/>
          <a:ln/>
        </p:spPr>
        <p:txBody>
          <a:bodyPr wrap="square" rtlCol="0" anchor="ctr"/>
          <a:lstStyle/>
          <a:p>
            <a:pPr marL="0" indent="0" algn="ctr">
              <a:buNone/>
            </a:pPr>
            <a:r>
              <a:rPr lang="en-US" sz="1200" b="1" dirty="0">
                <a:solidFill>
                  <a:srgbClr val="0D1117"/>
                </a:solidFill>
                <a:latin typeface="Consolas" pitchFamily="34" charset="0"/>
                <a:ea typeface="Consolas" pitchFamily="34" charset="-122"/>
                <a:cs typeface="Consolas" pitchFamily="34" charset="-120"/>
              </a:rPr>
              <a:t>01</a:t>
            </a:r>
            <a:endParaRPr lang="en-US" sz="1200" dirty="0"/>
          </a:p>
        </p:txBody>
      </p:sp>
      <p:sp>
        <p:nvSpPr>
          <p:cNvPr id="9" name="Text 7"/>
          <p:cNvSpPr/>
          <p:nvPr/>
        </p:nvSpPr>
        <p:spPr>
          <a:xfrm>
            <a:off x="548640" y="1143000"/>
            <a:ext cx="1536192" cy="1280160"/>
          </a:xfrm>
          <a:prstGeom prst="rect">
            <a:avLst/>
          </a:prstGeom>
          <a:noFill/>
          <a:ln/>
        </p:spPr>
        <p:txBody>
          <a:bodyPr wrap="square" rtlCol="0" anchor="ctr"/>
          <a:lstStyle/>
          <a:p>
            <a:pPr marL="0" indent="0" algn="ctr">
              <a:buNone/>
            </a:pPr>
            <a:r>
              <a:rPr lang="en-US" sz="1300" b="1" dirty="0">
                <a:solidFill>
                  <a:srgbClr val="00D2FF"/>
                </a:solidFill>
                <a:latin typeface="Calibri" pitchFamily="34" charset="0"/>
                <a:ea typeface="Calibri" pitchFamily="34" charset="-122"/>
                <a:cs typeface="Calibri" pitchFamily="34" charset="-120"/>
              </a:rPr>
              <a:t>Own your enumeration</a:t>
            </a:r>
            <a:endParaRPr lang="en-US" sz="1300" dirty="0"/>
          </a:p>
        </p:txBody>
      </p:sp>
      <p:sp>
        <p:nvSpPr>
          <p:cNvPr id="10" name="Text 8"/>
          <p:cNvSpPr/>
          <p:nvPr/>
        </p:nvSpPr>
        <p:spPr>
          <a:xfrm>
            <a:off x="548640" y="3291840"/>
            <a:ext cx="1536192" cy="1005840"/>
          </a:xfrm>
          <a:prstGeom prst="rect">
            <a:avLst/>
          </a:prstGeom>
          <a:noFill/>
          <a:ln/>
        </p:spPr>
        <p:txBody>
          <a:bodyPr wrap="square" rtlCol="0" anchor="t"/>
          <a:lstStyle/>
          <a:p>
            <a:pPr marL="0" indent="0" algn="ctr">
              <a:buNone/>
            </a:pPr>
            <a:r>
              <a:rPr lang="en-US" sz="1100" dirty="0">
                <a:solidFill>
                  <a:srgbClr val="8B949E"/>
                </a:solidFill>
                <a:latin typeface="Calibri" pitchFamily="34" charset="0"/>
                <a:ea typeface="Calibri" pitchFamily="34" charset="-122"/>
                <a:cs typeface="Calibri" pitchFamily="34" charset="-120"/>
              </a:rPr>
              <a:t>Do your own discovery first. Know the target before involving AI.</a:t>
            </a:r>
            <a:endParaRPr lang="en-US" sz="1100" dirty="0"/>
          </a:p>
        </p:txBody>
      </p:sp>
      <p:sp>
        <p:nvSpPr>
          <p:cNvPr id="11" name="Shape 9"/>
          <p:cNvSpPr/>
          <p:nvPr/>
        </p:nvSpPr>
        <p:spPr>
          <a:xfrm>
            <a:off x="2267712" y="1005840"/>
            <a:ext cx="1719072" cy="3429000"/>
          </a:xfrm>
          <a:prstGeom prst="rect">
            <a:avLst/>
          </a:prstGeom>
          <a:solidFill>
            <a:srgbClr val="161B22"/>
          </a:solidFill>
          <a:ln/>
        </p:spPr>
      </p:sp>
      <p:sp>
        <p:nvSpPr>
          <p:cNvPr id="12" name="Shape 10"/>
          <p:cNvSpPr/>
          <p:nvPr/>
        </p:nvSpPr>
        <p:spPr>
          <a:xfrm>
            <a:off x="2267712" y="1005840"/>
            <a:ext cx="1719072" cy="54864"/>
          </a:xfrm>
          <a:prstGeom prst="rect">
            <a:avLst/>
          </a:prstGeom>
          <a:solidFill>
            <a:srgbClr val="2ED573"/>
          </a:solidFill>
          <a:ln/>
        </p:spPr>
      </p:sp>
      <p:sp>
        <p:nvSpPr>
          <p:cNvPr id="13" name="Shape 11"/>
          <p:cNvSpPr/>
          <p:nvPr/>
        </p:nvSpPr>
        <p:spPr>
          <a:xfrm>
            <a:off x="2852928" y="2606040"/>
            <a:ext cx="548640" cy="548640"/>
          </a:xfrm>
          <a:prstGeom prst="ellipse">
            <a:avLst/>
          </a:prstGeom>
          <a:solidFill>
            <a:srgbClr val="2ED573"/>
          </a:solidFill>
          <a:ln/>
        </p:spPr>
      </p:sp>
      <p:sp>
        <p:nvSpPr>
          <p:cNvPr id="14" name="Text 12"/>
          <p:cNvSpPr/>
          <p:nvPr/>
        </p:nvSpPr>
        <p:spPr>
          <a:xfrm>
            <a:off x="2852928" y="2606040"/>
            <a:ext cx="548640" cy="548640"/>
          </a:xfrm>
          <a:prstGeom prst="rect">
            <a:avLst/>
          </a:prstGeom>
          <a:noFill/>
          <a:ln/>
        </p:spPr>
        <p:txBody>
          <a:bodyPr wrap="square" rtlCol="0" anchor="ctr"/>
          <a:lstStyle/>
          <a:p>
            <a:pPr marL="0" indent="0" algn="ctr">
              <a:buNone/>
            </a:pPr>
            <a:r>
              <a:rPr lang="en-US" sz="1200" b="1" dirty="0">
                <a:solidFill>
                  <a:srgbClr val="0D1117"/>
                </a:solidFill>
                <a:latin typeface="Consolas" pitchFamily="34" charset="0"/>
                <a:ea typeface="Consolas" pitchFamily="34" charset="-122"/>
                <a:cs typeface="Consolas" pitchFamily="34" charset="-120"/>
              </a:rPr>
              <a:t>02</a:t>
            </a:r>
            <a:endParaRPr lang="en-US" sz="1200" dirty="0"/>
          </a:p>
        </p:txBody>
      </p:sp>
      <p:sp>
        <p:nvSpPr>
          <p:cNvPr id="15" name="Text 13"/>
          <p:cNvSpPr/>
          <p:nvPr/>
        </p:nvSpPr>
        <p:spPr>
          <a:xfrm>
            <a:off x="2359152" y="1143000"/>
            <a:ext cx="1536192" cy="1280160"/>
          </a:xfrm>
          <a:prstGeom prst="rect">
            <a:avLst/>
          </a:prstGeom>
          <a:noFill/>
          <a:ln/>
        </p:spPr>
        <p:txBody>
          <a:bodyPr wrap="square" rtlCol="0" anchor="ctr"/>
          <a:lstStyle/>
          <a:p>
            <a:pPr marL="0" indent="0" algn="ctr">
              <a:buNone/>
            </a:pPr>
            <a:r>
              <a:rPr lang="en-US" sz="1300" b="1" dirty="0">
                <a:solidFill>
                  <a:srgbClr val="2ED573"/>
                </a:solidFill>
                <a:latin typeface="Calibri" pitchFamily="34" charset="0"/>
                <a:ea typeface="Calibri" pitchFamily="34" charset="-122"/>
                <a:cs typeface="Calibri" pitchFamily="34" charset="-120"/>
              </a:rPr>
              <a:t>Use AI to expand ideas</a:t>
            </a:r>
            <a:endParaRPr lang="en-US" sz="1300" dirty="0"/>
          </a:p>
        </p:txBody>
      </p:sp>
      <p:sp>
        <p:nvSpPr>
          <p:cNvPr id="16" name="Text 14"/>
          <p:cNvSpPr/>
          <p:nvPr/>
        </p:nvSpPr>
        <p:spPr>
          <a:xfrm>
            <a:off x="2359152" y="3291840"/>
            <a:ext cx="1536192" cy="1005840"/>
          </a:xfrm>
          <a:prstGeom prst="rect">
            <a:avLst/>
          </a:prstGeom>
          <a:noFill/>
          <a:ln/>
        </p:spPr>
        <p:txBody>
          <a:bodyPr wrap="square" rtlCol="0" anchor="t"/>
          <a:lstStyle/>
          <a:p>
            <a:pPr marL="0" indent="0" algn="ctr">
              <a:buNone/>
            </a:pPr>
            <a:r>
              <a:rPr lang="en-US" sz="1100" dirty="0">
                <a:solidFill>
                  <a:srgbClr val="8B949E"/>
                </a:solidFill>
                <a:latin typeface="Calibri" pitchFamily="34" charset="0"/>
                <a:ea typeface="Calibri" pitchFamily="34" charset="-122"/>
                <a:cs typeface="Calibri" pitchFamily="34" charset="-120"/>
              </a:rPr>
              <a:t>Bring AI in to broaden your thinking — not replace it.</a:t>
            </a:r>
            <a:endParaRPr lang="en-US" sz="1100" dirty="0"/>
          </a:p>
        </p:txBody>
      </p:sp>
      <p:sp>
        <p:nvSpPr>
          <p:cNvPr id="17" name="Shape 15"/>
          <p:cNvSpPr/>
          <p:nvPr/>
        </p:nvSpPr>
        <p:spPr>
          <a:xfrm>
            <a:off x="4078224" y="1005840"/>
            <a:ext cx="1719072" cy="3429000"/>
          </a:xfrm>
          <a:prstGeom prst="rect">
            <a:avLst/>
          </a:prstGeom>
          <a:solidFill>
            <a:srgbClr val="161B22"/>
          </a:solidFill>
          <a:ln/>
        </p:spPr>
      </p:sp>
      <p:sp>
        <p:nvSpPr>
          <p:cNvPr id="18" name="Shape 16"/>
          <p:cNvSpPr/>
          <p:nvPr/>
        </p:nvSpPr>
        <p:spPr>
          <a:xfrm>
            <a:off x="4078224" y="1005840"/>
            <a:ext cx="1719072" cy="54864"/>
          </a:xfrm>
          <a:prstGeom prst="rect">
            <a:avLst/>
          </a:prstGeom>
          <a:solidFill>
            <a:srgbClr val="FFD700"/>
          </a:solidFill>
          <a:ln/>
        </p:spPr>
      </p:sp>
      <p:sp>
        <p:nvSpPr>
          <p:cNvPr id="19" name="Shape 17"/>
          <p:cNvSpPr/>
          <p:nvPr/>
        </p:nvSpPr>
        <p:spPr>
          <a:xfrm>
            <a:off x="4663440" y="2606040"/>
            <a:ext cx="548640" cy="548640"/>
          </a:xfrm>
          <a:prstGeom prst="ellipse">
            <a:avLst/>
          </a:prstGeom>
          <a:solidFill>
            <a:srgbClr val="FFD700"/>
          </a:solidFill>
          <a:ln/>
        </p:spPr>
      </p:sp>
      <p:sp>
        <p:nvSpPr>
          <p:cNvPr id="20" name="Text 18"/>
          <p:cNvSpPr/>
          <p:nvPr/>
        </p:nvSpPr>
        <p:spPr>
          <a:xfrm>
            <a:off x="4663440" y="2606040"/>
            <a:ext cx="548640" cy="548640"/>
          </a:xfrm>
          <a:prstGeom prst="rect">
            <a:avLst/>
          </a:prstGeom>
          <a:noFill/>
          <a:ln/>
        </p:spPr>
        <p:txBody>
          <a:bodyPr wrap="square" rtlCol="0" anchor="ctr"/>
          <a:lstStyle/>
          <a:p>
            <a:pPr marL="0" indent="0" algn="ctr">
              <a:buNone/>
            </a:pPr>
            <a:r>
              <a:rPr lang="en-US" sz="1200" b="1" dirty="0">
                <a:solidFill>
                  <a:srgbClr val="0D1117"/>
                </a:solidFill>
                <a:latin typeface="Consolas" pitchFamily="34" charset="0"/>
                <a:ea typeface="Consolas" pitchFamily="34" charset="-122"/>
                <a:cs typeface="Consolas" pitchFamily="34" charset="-120"/>
              </a:rPr>
              <a:t>03</a:t>
            </a:r>
            <a:endParaRPr lang="en-US" sz="1200" dirty="0"/>
          </a:p>
        </p:txBody>
      </p:sp>
      <p:sp>
        <p:nvSpPr>
          <p:cNvPr id="21" name="Text 19"/>
          <p:cNvSpPr/>
          <p:nvPr/>
        </p:nvSpPr>
        <p:spPr>
          <a:xfrm>
            <a:off x="4169664" y="1143000"/>
            <a:ext cx="1536192" cy="1280160"/>
          </a:xfrm>
          <a:prstGeom prst="rect">
            <a:avLst/>
          </a:prstGeom>
          <a:noFill/>
          <a:ln/>
        </p:spPr>
        <p:txBody>
          <a:bodyPr wrap="square" rtlCol="0" anchor="ctr"/>
          <a:lstStyle/>
          <a:p>
            <a:pPr marL="0" indent="0" algn="ctr">
              <a:buNone/>
            </a:pPr>
            <a:r>
              <a:rPr lang="en-US" sz="1300" b="1" dirty="0">
                <a:solidFill>
                  <a:srgbClr val="FFD700"/>
                </a:solidFill>
                <a:latin typeface="Calibri" pitchFamily="34" charset="0"/>
                <a:ea typeface="Calibri" pitchFamily="34" charset="-122"/>
                <a:cs typeface="Calibri" pitchFamily="34" charset="-120"/>
              </a:rPr>
              <a:t>Validate manually</a:t>
            </a:r>
            <a:endParaRPr lang="en-US" sz="1300" dirty="0"/>
          </a:p>
        </p:txBody>
      </p:sp>
      <p:sp>
        <p:nvSpPr>
          <p:cNvPr id="22" name="Text 20"/>
          <p:cNvSpPr/>
          <p:nvPr/>
        </p:nvSpPr>
        <p:spPr>
          <a:xfrm>
            <a:off x="4169664" y="3291840"/>
            <a:ext cx="1536192" cy="1005840"/>
          </a:xfrm>
          <a:prstGeom prst="rect">
            <a:avLst/>
          </a:prstGeom>
          <a:noFill/>
          <a:ln/>
        </p:spPr>
        <p:txBody>
          <a:bodyPr wrap="square" rtlCol="0" anchor="t"/>
          <a:lstStyle/>
          <a:p>
            <a:pPr marL="0" indent="0" algn="ctr">
              <a:buNone/>
            </a:pPr>
            <a:r>
              <a:rPr lang="en-US" sz="1100" dirty="0">
                <a:solidFill>
                  <a:srgbClr val="8B949E"/>
                </a:solidFill>
                <a:latin typeface="Calibri" pitchFamily="34" charset="0"/>
                <a:ea typeface="Calibri" pitchFamily="34" charset="-122"/>
                <a:cs typeface="Calibri" pitchFamily="34" charset="-120"/>
              </a:rPr>
              <a:t>Every AI suggestion gets tested by you. No exceptions.</a:t>
            </a:r>
            <a:endParaRPr lang="en-US" sz="1100" dirty="0"/>
          </a:p>
        </p:txBody>
      </p:sp>
      <p:sp>
        <p:nvSpPr>
          <p:cNvPr id="23" name="Shape 21"/>
          <p:cNvSpPr/>
          <p:nvPr/>
        </p:nvSpPr>
        <p:spPr>
          <a:xfrm>
            <a:off x="5888736" y="1005840"/>
            <a:ext cx="1719072" cy="3429000"/>
          </a:xfrm>
          <a:prstGeom prst="rect">
            <a:avLst/>
          </a:prstGeom>
          <a:solidFill>
            <a:srgbClr val="161B22"/>
          </a:solidFill>
          <a:ln/>
        </p:spPr>
      </p:sp>
      <p:sp>
        <p:nvSpPr>
          <p:cNvPr id="24" name="Shape 22"/>
          <p:cNvSpPr/>
          <p:nvPr/>
        </p:nvSpPr>
        <p:spPr>
          <a:xfrm>
            <a:off x="5888736" y="1005840"/>
            <a:ext cx="1719072" cy="54864"/>
          </a:xfrm>
          <a:prstGeom prst="rect">
            <a:avLst/>
          </a:prstGeom>
          <a:solidFill>
            <a:srgbClr val="FF6B35"/>
          </a:solidFill>
          <a:ln/>
        </p:spPr>
      </p:sp>
      <p:sp>
        <p:nvSpPr>
          <p:cNvPr id="25" name="Shape 23"/>
          <p:cNvSpPr/>
          <p:nvPr/>
        </p:nvSpPr>
        <p:spPr>
          <a:xfrm>
            <a:off x="6473952" y="2606040"/>
            <a:ext cx="548640" cy="548640"/>
          </a:xfrm>
          <a:prstGeom prst="ellipse">
            <a:avLst/>
          </a:prstGeom>
          <a:solidFill>
            <a:srgbClr val="FF6B35"/>
          </a:solidFill>
          <a:ln/>
        </p:spPr>
      </p:sp>
      <p:sp>
        <p:nvSpPr>
          <p:cNvPr id="26" name="Text 24"/>
          <p:cNvSpPr/>
          <p:nvPr/>
        </p:nvSpPr>
        <p:spPr>
          <a:xfrm>
            <a:off x="6473952" y="2606040"/>
            <a:ext cx="548640" cy="548640"/>
          </a:xfrm>
          <a:prstGeom prst="rect">
            <a:avLst/>
          </a:prstGeom>
          <a:noFill/>
          <a:ln/>
        </p:spPr>
        <p:txBody>
          <a:bodyPr wrap="square" rtlCol="0" anchor="ctr"/>
          <a:lstStyle/>
          <a:p>
            <a:pPr marL="0" indent="0" algn="ctr">
              <a:buNone/>
            </a:pPr>
            <a:r>
              <a:rPr lang="en-US" sz="1200" b="1" dirty="0">
                <a:solidFill>
                  <a:srgbClr val="0D1117"/>
                </a:solidFill>
                <a:latin typeface="Consolas" pitchFamily="34" charset="0"/>
                <a:ea typeface="Consolas" pitchFamily="34" charset="-122"/>
                <a:cs typeface="Consolas" pitchFamily="34" charset="-120"/>
              </a:rPr>
              <a:t>04</a:t>
            </a:r>
            <a:endParaRPr lang="en-US" sz="1200" dirty="0"/>
          </a:p>
        </p:txBody>
      </p:sp>
      <p:sp>
        <p:nvSpPr>
          <p:cNvPr id="27" name="Text 25"/>
          <p:cNvSpPr/>
          <p:nvPr/>
        </p:nvSpPr>
        <p:spPr>
          <a:xfrm>
            <a:off x="5980176" y="1143000"/>
            <a:ext cx="1536192" cy="1280160"/>
          </a:xfrm>
          <a:prstGeom prst="rect">
            <a:avLst/>
          </a:prstGeom>
          <a:noFill/>
          <a:ln/>
        </p:spPr>
        <p:txBody>
          <a:bodyPr wrap="square" rtlCol="0" anchor="ctr"/>
          <a:lstStyle/>
          <a:p>
            <a:pPr marL="0" indent="0" algn="ctr">
              <a:buNone/>
            </a:pPr>
            <a:r>
              <a:rPr lang="en-US" sz="1300" b="1" dirty="0">
                <a:solidFill>
                  <a:srgbClr val="FF6B35"/>
                </a:solidFill>
                <a:latin typeface="Calibri" pitchFamily="34" charset="0"/>
                <a:ea typeface="Calibri" pitchFamily="34" charset="-122"/>
                <a:cs typeface="Calibri" pitchFamily="34" charset="-120"/>
              </a:rPr>
              <a:t>Test edge cases</a:t>
            </a:r>
            <a:endParaRPr lang="en-US" sz="1300" dirty="0"/>
          </a:p>
        </p:txBody>
      </p:sp>
      <p:sp>
        <p:nvSpPr>
          <p:cNvPr id="28" name="Text 26"/>
          <p:cNvSpPr/>
          <p:nvPr/>
        </p:nvSpPr>
        <p:spPr>
          <a:xfrm>
            <a:off x="5980176" y="3291840"/>
            <a:ext cx="1536192" cy="1005840"/>
          </a:xfrm>
          <a:prstGeom prst="rect">
            <a:avLst/>
          </a:prstGeom>
          <a:noFill/>
          <a:ln/>
        </p:spPr>
        <p:txBody>
          <a:bodyPr wrap="square" rtlCol="0" anchor="t"/>
          <a:lstStyle/>
          <a:p>
            <a:pPr marL="0" indent="0" algn="ctr">
              <a:buNone/>
            </a:pPr>
            <a:r>
              <a:rPr lang="en-US" sz="1100" dirty="0">
                <a:solidFill>
                  <a:srgbClr val="8B949E"/>
                </a:solidFill>
                <a:latin typeface="Calibri" pitchFamily="34" charset="0"/>
                <a:ea typeface="Calibri" pitchFamily="34" charset="-122"/>
                <a:cs typeface="Calibri" pitchFamily="34" charset="-120"/>
              </a:rPr>
              <a:t>Re-run with variations. Check what AI missed or simplified.</a:t>
            </a:r>
            <a:endParaRPr lang="en-US" sz="1100" dirty="0"/>
          </a:p>
        </p:txBody>
      </p:sp>
      <p:sp>
        <p:nvSpPr>
          <p:cNvPr id="29" name="Shape 27"/>
          <p:cNvSpPr/>
          <p:nvPr/>
        </p:nvSpPr>
        <p:spPr>
          <a:xfrm>
            <a:off x="457200" y="4526280"/>
            <a:ext cx="7653528" cy="457200"/>
          </a:xfrm>
          <a:prstGeom prst="rect">
            <a:avLst/>
          </a:prstGeom>
          <a:solidFill>
            <a:srgbClr val="0A1A2A"/>
          </a:solidFill>
          <a:ln/>
        </p:spPr>
      </p:sp>
      <p:sp>
        <p:nvSpPr>
          <p:cNvPr id="30" name="Text 28"/>
          <p:cNvSpPr/>
          <p:nvPr/>
        </p:nvSpPr>
        <p:spPr>
          <a:xfrm>
            <a:off x="1051560" y="4526280"/>
            <a:ext cx="7040880" cy="457200"/>
          </a:xfrm>
          <a:prstGeom prst="rect">
            <a:avLst/>
          </a:prstGeom>
          <a:noFill/>
          <a:ln/>
        </p:spPr>
        <p:txBody>
          <a:bodyPr wrap="square" rtlCol="0" anchor="ctr"/>
          <a:lstStyle/>
          <a:p>
            <a:pPr marL="0" indent="0">
              <a:buNone/>
            </a:pPr>
            <a:r>
              <a:rPr lang="en-US" sz="1400" b="1" dirty="0">
                <a:solidFill>
                  <a:srgbClr val="00D2FF"/>
                </a:solidFill>
                <a:latin typeface="Calibri" pitchFamily="34" charset="0"/>
                <a:ea typeface="Calibri" pitchFamily="34" charset="-122"/>
                <a:cs typeface="Calibri" pitchFamily="34" charset="-120"/>
              </a:rPr>
              <a:t>05  →  Then document  —  with your analysis, not AI's</a:t>
            </a:r>
            <a:endParaRPr lang="en-US" sz="1400" dirty="0"/>
          </a:p>
        </p:txBody>
      </p:sp>
      <p:sp>
        <p:nvSpPr>
          <p:cNvPr id="31" name="Shape 29"/>
          <p:cNvSpPr/>
          <p:nvPr/>
        </p:nvSpPr>
        <p:spPr>
          <a:xfrm>
            <a:off x="457200" y="4846320"/>
            <a:ext cx="8229600" cy="201168"/>
          </a:xfrm>
          <a:prstGeom prst="rect">
            <a:avLst/>
          </a:prstGeom>
          <a:solidFill>
            <a:srgbClr val="1A0808"/>
          </a:solidFill>
          <a:ln/>
        </p:spPr>
      </p:sp>
      <p:sp>
        <p:nvSpPr>
          <p:cNvPr id="32" name="Text 30"/>
          <p:cNvSpPr/>
          <p:nvPr/>
        </p:nvSpPr>
        <p:spPr>
          <a:xfrm>
            <a:off x="457200" y="4846320"/>
            <a:ext cx="8229600" cy="201168"/>
          </a:xfrm>
          <a:prstGeom prst="rect">
            <a:avLst/>
          </a:prstGeom>
          <a:noFill/>
          <a:ln/>
        </p:spPr>
        <p:txBody>
          <a:bodyPr wrap="square" rtlCol="0" anchor="ctr"/>
          <a:lstStyle/>
          <a:p>
            <a:pPr marL="0" indent="0" algn="ctr">
              <a:buNone/>
            </a:pPr>
            <a:r>
              <a:rPr lang="en-US" sz="1200" b="1" dirty="0">
                <a:solidFill>
                  <a:srgbClr val="FF4757"/>
                </a:solidFill>
                <a:latin typeface="Consolas" pitchFamily="34" charset="0"/>
                <a:ea typeface="Consolas" pitchFamily="34" charset="-122"/>
                <a:cs typeface="Consolas" pitchFamily="34" charset="-120"/>
              </a:rPr>
              <a:t>AI fits in the middle — not the start or the end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Red Flags: Over-Relying on AI</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51560"/>
            <a:ext cx="8229600" cy="594360"/>
          </a:xfrm>
          <a:prstGeom prst="rect">
            <a:avLst/>
          </a:prstGeom>
          <a:solidFill>
            <a:srgbClr val="161B22"/>
          </a:solidFill>
          <a:ln/>
        </p:spPr>
      </p:sp>
      <p:sp>
        <p:nvSpPr>
          <p:cNvPr id="5" name="Shape 3"/>
          <p:cNvSpPr/>
          <p:nvPr/>
        </p:nvSpPr>
        <p:spPr>
          <a:xfrm>
            <a:off x="457200" y="1051560"/>
            <a:ext cx="73152" cy="594360"/>
          </a:xfrm>
          <a:prstGeom prst="rect">
            <a:avLst/>
          </a:prstGeom>
          <a:solidFill>
            <a:srgbClr val="FF4757"/>
          </a:solidFill>
          <a:ln/>
        </p:spPr>
      </p:sp>
      <p:sp>
        <p:nvSpPr>
          <p:cNvPr id="6" name="Text 4"/>
          <p:cNvSpPr/>
          <p:nvPr/>
        </p:nvSpPr>
        <p:spPr>
          <a:xfrm>
            <a:off x="594360" y="1051560"/>
            <a:ext cx="411480" cy="594360"/>
          </a:xfrm>
          <a:prstGeom prst="rect">
            <a:avLst/>
          </a:prstGeom>
          <a:noFill/>
          <a:ln/>
        </p:spPr>
        <p:txBody>
          <a:bodyPr wrap="square" rtlCol="0" anchor="ctr"/>
          <a:lstStyle/>
          <a:p>
            <a:pPr marL="0" indent="0">
              <a:buNone/>
            </a:pPr>
            <a:r>
              <a:rPr lang="en-US" sz="1600" dirty="0">
                <a:solidFill>
                  <a:srgbClr val="FF4757"/>
                </a:solidFill>
                <a:latin typeface="Segoe UI Emoji" pitchFamily="34" charset="0"/>
                <a:ea typeface="Segoe UI Emoji" pitchFamily="34" charset="-122"/>
                <a:cs typeface="Segoe UI Emoji" pitchFamily="34" charset="-120"/>
              </a:rPr>
              <a:t>⚑</a:t>
            </a:r>
            <a:endParaRPr lang="en-US" sz="1600" dirty="0"/>
          </a:p>
        </p:txBody>
      </p:sp>
      <p:sp>
        <p:nvSpPr>
          <p:cNvPr id="7" name="Text 5"/>
          <p:cNvSpPr/>
          <p:nvPr/>
        </p:nvSpPr>
        <p:spPr>
          <a:xfrm>
            <a:off x="1097280" y="1051560"/>
            <a:ext cx="740664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Saying "this looks right" instead of actually testing it</a:t>
            </a:r>
            <a:endParaRPr lang="en-US" sz="1400" dirty="0"/>
          </a:p>
        </p:txBody>
      </p:sp>
      <p:sp>
        <p:nvSpPr>
          <p:cNvPr id="8" name="Shape 6"/>
          <p:cNvSpPr/>
          <p:nvPr/>
        </p:nvSpPr>
        <p:spPr>
          <a:xfrm>
            <a:off x="457200" y="1737360"/>
            <a:ext cx="8229600" cy="594360"/>
          </a:xfrm>
          <a:prstGeom prst="rect">
            <a:avLst/>
          </a:prstGeom>
          <a:solidFill>
            <a:srgbClr val="161B22"/>
          </a:solidFill>
          <a:ln/>
        </p:spPr>
      </p:sp>
      <p:sp>
        <p:nvSpPr>
          <p:cNvPr id="9" name="Shape 7"/>
          <p:cNvSpPr/>
          <p:nvPr/>
        </p:nvSpPr>
        <p:spPr>
          <a:xfrm>
            <a:off x="457200" y="1737360"/>
            <a:ext cx="73152" cy="594360"/>
          </a:xfrm>
          <a:prstGeom prst="rect">
            <a:avLst/>
          </a:prstGeom>
          <a:solidFill>
            <a:srgbClr val="FF4757"/>
          </a:solidFill>
          <a:ln/>
        </p:spPr>
      </p:sp>
      <p:sp>
        <p:nvSpPr>
          <p:cNvPr id="10" name="Text 8"/>
          <p:cNvSpPr/>
          <p:nvPr/>
        </p:nvSpPr>
        <p:spPr>
          <a:xfrm>
            <a:off x="594360" y="1737360"/>
            <a:ext cx="411480" cy="594360"/>
          </a:xfrm>
          <a:prstGeom prst="rect">
            <a:avLst/>
          </a:prstGeom>
          <a:noFill/>
          <a:ln/>
        </p:spPr>
        <p:txBody>
          <a:bodyPr wrap="square" rtlCol="0" anchor="ctr"/>
          <a:lstStyle/>
          <a:p>
            <a:pPr marL="0" indent="0">
              <a:buNone/>
            </a:pPr>
            <a:r>
              <a:rPr lang="en-US" sz="1600" dirty="0">
                <a:solidFill>
                  <a:srgbClr val="FF4757"/>
                </a:solidFill>
                <a:latin typeface="Segoe UI Emoji" pitchFamily="34" charset="0"/>
                <a:ea typeface="Segoe UI Emoji" pitchFamily="34" charset="-122"/>
                <a:cs typeface="Segoe UI Emoji" pitchFamily="34" charset="-120"/>
              </a:rPr>
              <a:t>⚑</a:t>
            </a:r>
            <a:endParaRPr lang="en-US" sz="1600" dirty="0"/>
          </a:p>
        </p:txBody>
      </p:sp>
      <p:sp>
        <p:nvSpPr>
          <p:cNvPr id="11" name="Text 9"/>
          <p:cNvSpPr/>
          <p:nvPr/>
        </p:nvSpPr>
        <p:spPr>
          <a:xfrm>
            <a:off x="1097280" y="1737360"/>
            <a:ext cx="740664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Copy/pasting AI output directly into a client report</a:t>
            </a:r>
            <a:endParaRPr lang="en-US" sz="1400" dirty="0"/>
          </a:p>
        </p:txBody>
      </p:sp>
      <p:sp>
        <p:nvSpPr>
          <p:cNvPr id="12" name="Shape 10"/>
          <p:cNvSpPr/>
          <p:nvPr/>
        </p:nvSpPr>
        <p:spPr>
          <a:xfrm>
            <a:off x="457200" y="2423160"/>
            <a:ext cx="8229600" cy="594360"/>
          </a:xfrm>
          <a:prstGeom prst="rect">
            <a:avLst/>
          </a:prstGeom>
          <a:solidFill>
            <a:srgbClr val="161B22"/>
          </a:solidFill>
          <a:ln/>
        </p:spPr>
      </p:sp>
      <p:sp>
        <p:nvSpPr>
          <p:cNvPr id="13" name="Shape 11"/>
          <p:cNvSpPr/>
          <p:nvPr/>
        </p:nvSpPr>
        <p:spPr>
          <a:xfrm>
            <a:off x="457200" y="2423160"/>
            <a:ext cx="73152" cy="594360"/>
          </a:xfrm>
          <a:prstGeom prst="rect">
            <a:avLst/>
          </a:prstGeom>
          <a:solidFill>
            <a:srgbClr val="FF4757"/>
          </a:solidFill>
          <a:ln/>
        </p:spPr>
      </p:sp>
      <p:sp>
        <p:nvSpPr>
          <p:cNvPr id="14" name="Text 12"/>
          <p:cNvSpPr/>
          <p:nvPr/>
        </p:nvSpPr>
        <p:spPr>
          <a:xfrm>
            <a:off x="594360" y="2423160"/>
            <a:ext cx="411480" cy="594360"/>
          </a:xfrm>
          <a:prstGeom prst="rect">
            <a:avLst/>
          </a:prstGeom>
          <a:noFill/>
          <a:ln/>
        </p:spPr>
        <p:txBody>
          <a:bodyPr wrap="square" rtlCol="0" anchor="ctr"/>
          <a:lstStyle/>
          <a:p>
            <a:pPr marL="0" indent="0">
              <a:buNone/>
            </a:pPr>
            <a:r>
              <a:rPr lang="en-US" sz="1600" dirty="0">
                <a:solidFill>
                  <a:srgbClr val="FF4757"/>
                </a:solidFill>
                <a:latin typeface="Segoe UI Emoji" pitchFamily="34" charset="0"/>
                <a:ea typeface="Segoe UI Emoji" pitchFamily="34" charset="-122"/>
                <a:cs typeface="Segoe UI Emoji" pitchFamily="34" charset="-120"/>
              </a:rPr>
              <a:t>⚑</a:t>
            </a:r>
            <a:endParaRPr lang="en-US" sz="1600" dirty="0"/>
          </a:p>
        </p:txBody>
      </p:sp>
      <p:sp>
        <p:nvSpPr>
          <p:cNvPr id="15" name="Text 13"/>
          <p:cNvSpPr/>
          <p:nvPr/>
        </p:nvSpPr>
        <p:spPr>
          <a:xfrm>
            <a:off x="1097280" y="2423160"/>
            <a:ext cx="740664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Unable to explain how a finding works when asked</a:t>
            </a:r>
            <a:endParaRPr lang="en-US" sz="1400" dirty="0"/>
          </a:p>
        </p:txBody>
      </p:sp>
      <p:sp>
        <p:nvSpPr>
          <p:cNvPr id="16" name="Shape 14"/>
          <p:cNvSpPr/>
          <p:nvPr/>
        </p:nvSpPr>
        <p:spPr>
          <a:xfrm>
            <a:off x="457200" y="3108960"/>
            <a:ext cx="8229600" cy="594360"/>
          </a:xfrm>
          <a:prstGeom prst="rect">
            <a:avLst/>
          </a:prstGeom>
          <a:solidFill>
            <a:srgbClr val="161B22"/>
          </a:solidFill>
          <a:ln/>
        </p:spPr>
      </p:sp>
      <p:sp>
        <p:nvSpPr>
          <p:cNvPr id="17" name="Shape 15"/>
          <p:cNvSpPr/>
          <p:nvPr/>
        </p:nvSpPr>
        <p:spPr>
          <a:xfrm>
            <a:off x="457200" y="3108960"/>
            <a:ext cx="73152" cy="594360"/>
          </a:xfrm>
          <a:prstGeom prst="rect">
            <a:avLst/>
          </a:prstGeom>
          <a:solidFill>
            <a:srgbClr val="FF4757"/>
          </a:solidFill>
          <a:ln/>
        </p:spPr>
      </p:sp>
      <p:sp>
        <p:nvSpPr>
          <p:cNvPr id="18" name="Text 16"/>
          <p:cNvSpPr/>
          <p:nvPr/>
        </p:nvSpPr>
        <p:spPr>
          <a:xfrm>
            <a:off x="594360" y="3108960"/>
            <a:ext cx="411480" cy="594360"/>
          </a:xfrm>
          <a:prstGeom prst="rect">
            <a:avLst/>
          </a:prstGeom>
          <a:noFill/>
          <a:ln/>
        </p:spPr>
        <p:txBody>
          <a:bodyPr wrap="square" rtlCol="0" anchor="ctr"/>
          <a:lstStyle/>
          <a:p>
            <a:pPr marL="0" indent="0">
              <a:buNone/>
            </a:pPr>
            <a:r>
              <a:rPr lang="en-US" sz="1600" dirty="0">
                <a:solidFill>
                  <a:srgbClr val="FF4757"/>
                </a:solidFill>
                <a:latin typeface="Segoe UI Emoji" pitchFamily="34" charset="0"/>
                <a:ea typeface="Segoe UI Emoji" pitchFamily="34" charset="-122"/>
                <a:cs typeface="Segoe UI Emoji" pitchFamily="34" charset="-120"/>
              </a:rPr>
              <a:t>⚑</a:t>
            </a:r>
            <a:endParaRPr lang="en-US" sz="1600" dirty="0"/>
          </a:p>
        </p:txBody>
      </p:sp>
      <p:sp>
        <p:nvSpPr>
          <p:cNvPr id="19" name="Text 17"/>
          <p:cNvSpPr/>
          <p:nvPr/>
        </p:nvSpPr>
        <p:spPr>
          <a:xfrm>
            <a:off x="1097280" y="3108960"/>
            <a:ext cx="740664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Skipping manual verification because AI said it was confirmed</a:t>
            </a:r>
            <a:endParaRPr lang="en-US" sz="1400" dirty="0"/>
          </a:p>
        </p:txBody>
      </p:sp>
      <p:sp>
        <p:nvSpPr>
          <p:cNvPr id="20" name="Shape 18"/>
          <p:cNvSpPr/>
          <p:nvPr/>
        </p:nvSpPr>
        <p:spPr>
          <a:xfrm>
            <a:off x="457200" y="3794760"/>
            <a:ext cx="8229600" cy="594360"/>
          </a:xfrm>
          <a:prstGeom prst="rect">
            <a:avLst/>
          </a:prstGeom>
          <a:solidFill>
            <a:srgbClr val="161B22"/>
          </a:solidFill>
          <a:ln/>
        </p:spPr>
      </p:sp>
      <p:sp>
        <p:nvSpPr>
          <p:cNvPr id="21" name="Shape 19"/>
          <p:cNvSpPr/>
          <p:nvPr/>
        </p:nvSpPr>
        <p:spPr>
          <a:xfrm>
            <a:off x="457200" y="3794760"/>
            <a:ext cx="73152" cy="594360"/>
          </a:xfrm>
          <a:prstGeom prst="rect">
            <a:avLst/>
          </a:prstGeom>
          <a:solidFill>
            <a:srgbClr val="FF4757"/>
          </a:solidFill>
          <a:ln/>
        </p:spPr>
      </p:sp>
      <p:sp>
        <p:nvSpPr>
          <p:cNvPr id="22" name="Text 20"/>
          <p:cNvSpPr/>
          <p:nvPr/>
        </p:nvSpPr>
        <p:spPr>
          <a:xfrm>
            <a:off x="594360" y="3794760"/>
            <a:ext cx="411480" cy="594360"/>
          </a:xfrm>
          <a:prstGeom prst="rect">
            <a:avLst/>
          </a:prstGeom>
          <a:noFill/>
          <a:ln/>
        </p:spPr>
        <p:txBody>
          <a:bodyPr wrap="square" rtlCol="0" anchor="ctr"/>
          <a:lstStyle/>
          <a:p>
            <a:pPr marL="0" indent="0">
              <a:buNone/>
            </a:pPr>
            <a:r>
              <a:rPr lang="en-US" sz="1600" dirty="0">
                <a:solidFill>
                  <a:srgbClr val="FF4757"/>
                </a:solidFill>
                <a:latin typeface="Segoe UI Emoji" pitchFamily="34" charset="0"/>
                <a:ea typeface="Segoe UI Emoji" pitchFamily="34" charset="-122"/>
                <a:cs typeface="Segoe UI Emoji" pitchFamily="34" charset="-120"/>
              </a:rPr>
              <a:t>⚑</a:t>
            </a:r>
            <a:endParaRPr lang="en-US" sz="1600" dirty="0"/>
          </a:p>
        </p:txBody>
      </p:sp>
      <p:sp>
        <p:nvSpPr>
          <p:cNvPr id="23" name="Text 21"/>
          <p:cNvSpPr/>
          <p:nvPr/>
        </p:nvSpPr>
        <p:spPr>
          <a:xfrm>
            <a:off x="1097280" y="3794760"/>
            <a:ext cx="740664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Your understanding of techniques isn't growing — just your output</a:t>
            </a:r>
            <a:endParaRPr lang="en-US" sz="1400" dirty="0"/>
          </a:p>
        </p:txBody>
      </p:sp>
      <p:sp>
        <p:nvSpPr>
          <p:cNvPr id="24" name="Shape 22"/>
          <p:cNvSpPr/>
          <p:nvPr/>
        </p:nvSpPr>
        <p:spPr>
          <a:xfrm>
            <a:off x="457200" y="4572000"/>
            <a:ext cx="8229600" cy="457200"/>
          </a:xfrm>
          <a:prstGeom prst="rect">
            <a:avLst/>
          </a:prstGeom>
          <a:solidFill>
            <a:srgbClr val="1A0808"/>
          </a:solidFill>
          <a:ln/>
        </p:spPr>
      </p:sp>
      <p:sp>
        <p:nvSpPr>
          <p:cNvPr id="25" name="Shape 23"/>
          <p:cNvSpPr/>
          <p:nvPr/>
        </p:nvSpPr>
        <p:spPr>
          <a:xfrm>
            <a:off x="457200" y="4572000"/>
            <a:ext cx="73152" cy="457200"/>
          </a:xfrm>
          <a:prstGeom prst="rect">
            <a:avLst/>
          </a:prstGeom>
          <a:solidFill>
            <a:srgbClr val="FF4757"/>
          </a:solidFill>
          <a:ln/>
        </p:spPr>
      </p:sp>
      <p:sp>
        <p:nvSpPr>
          <p:cNvPr id="26" name="Text 24"/>
          <p:cNvSpPr/>
          <p:nvPr/>
        </p:nvSpPr>
        <p:spPr>
          <a:xfrm>
            <a:off x="640080" y="4572000"/>
            <a:ext cx="7955280" cy="457200"/>
          </a:xfrm>
          <a:prstGeom prst="rect">
            <a:avLst/>
          </a:prstGeom>
          <a:noFill/>
          <a:ln/>
        </p:spPr>
        <p:txBody>
          <a:bodyPr wrap="square" rtlCol="0" anchor="ctr"/>
          <a:lstStyle/>
          <a:p>
            <a:pPr marL="0" indent="0">
              <a:buNone/>
            </a:pPr>
            <a:r>
              <a:rPr lang="en-US" sz="1800" b="1" i="1" dirty="0">
                <a:solidFill>
                  <a:srgbClr val="FF4757"/>
                </a:solidFill>
                <a:latin typeface="Georgia" pitchFamily="34" charset="0"/>
                <a:ea typeface="Georgia" pitchFamily="34" charset="-122"/>
                <a:cs typeface="Georgia" pitchFamily="34" charset="-120"/>
              </a:rPr>
              <a:t>If you can't explain it, you don't own it.</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D2FF"/>
          </a:solidFill>
          <a:ln/>
        </p:spPr>
      </p:sp>
      <p:sp>
        <p:nvSpPr>
          <p:cNvPr id="3" name="Text 1"/>
          <p:cNvSpPr/>
          <p:nvPr/>
        </p:nvSpPr>
        <p:spPr>
          <a:xfrm>
            <a:off x="457200" y="22860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What Makes You Valuable Now</a:t>
            </a:r>
            <a:endParaRPr lang="en-US" sz="3600" dirty="0"/>
          </a:p>
        </p:txBody>
      </p:sp>
      <p:sp>
        <p:nvSpPr>
          <p:cNvPr id="4" name="Shape 2"/>
          <p:cNvSpPr/>
          <p:nvPr/>
        </p:nvSpPr>
        <p:spPr>
          <a:xfrm>
            <a:off x="457200" y="822960"/>
            <a:ext cx="8229600" cy="36576"/>
          </a:xfrm>
          <a:prstGeom prst="rect">
            <a:avLst/>
          </a:prstGeom>
          <a:solidFill>
            <a:srgbClr val="30363D"/>
          </a:solidFill>
          <a:ln/>
        </p:spPr>
      </p:sp>
      <p:sp>
        <p:nvSpPr>
          <p:cNvPr id="5" name="Shape 3"/>
          <p:cNvSpPr/>
          <p:nvPr/>
        </p:nvSpPr>
        <p:spPr>
          <a:xfrm>
            <a:off x="320040" y="1005840"/>
            <a:ext cx="4023360" cy="1691640"/>
          </a:xfrm>
          <a:prstGeom prst="rect">
            <a:avLst/>
          </a:prstGeom>
          <a:solidFill>
            <a:srgbClr val="161B22"/>
          </a:solidFill>
          <a:ln/>
        </p:spPr>
      </p:sp>
      <p:sp>
        <p:nvSpPr>
          <p:cNvPr id="6" name="Shape 4"/>
          <p:cNvSpPr/>
          <p:nvPr/>
        </p:nvSpPr>
        <p:spPr>
          <a:xfrm>
            <a:off x="320040" y="1005840"/>
            <a:ext cx="73152" cy="1691640"/>
          </a:xfrm>
          <a:prstGeom prst="rect">
            <a:avLst/>
          </a:prstGeom>
          <a:solidFill>
            <a:srgbClr val="00D2FF"/>
          </a:solidFill>
          <a:ln/>
        </p:spPr>
      </p:sp>
      <p:sp>
        <p:nvSpPr>
          <p:cNvPr id="7" name="Text 5"/>
          <p:cNvSpPr/>
          <p:nvPr/>
        </p:nvSpPr>
        <p:spPr>
          <a:xfrm>
            <a:off x="1097280" y="1143000"/>
            <a:ext cx="3108960" cy="457200"/>
          </a:xfrm>
          <a:prstGeom prst="rect">
            <a:avLst/>
          </a:prstGeom>
          <a:noFill/>
          <a:ln/>
        </p:spPr>
        <p:txBody>
          <a:bodyPr wrap="square" rtlCol="0" anchor="ctr"/>
          <a:lstStyle/>
          <a:p>
            <a:pPr marL="0" indent="0">
              <a:buNone/>
            </a:pPr>
            <a:r>
              <a:rPr lang="en-US" sz="1400" b="1" dirty="0">
                <a:solidFill>
                  <a:srgbClr val="00D2FF"/>
                </a:solidFill>
                <a:latin typeface="Calibri" pitchFamily="34" charset="0"/>
                <a:ea typeface="Calibri" pitchFamily="34" charset="-122"/>
                <a:cs typeface="Calibri" pitchFamily="34" charset="-120"/>
              </a:rPr>
              <a:t>Critical Thinking</a:t>
            </a:r>
            <a:endParaRPr lang="en-US" sz="1400" dirty="0"/>
          </a:p>
        </p:txBody>
      </p:sp>
      <p:sp>
        <p:nvSpPr>
          <p:cNvPr id="8" name="Text 6"/>
          <p:cNvSpPr/>
          <p:nvPr/>
        </p:nvSpPr>
        <p:spPr>
          <a:xfrm>
            <a:off x="502920" y="1737360"/>
            <a:ext cx="370332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The ability to reason about a finding, not just report it. To ask 'so what?' and answer it.</a:t>
            </a:r>
            <a:endParaRPr lang="en-US" sz="1200" dirty="0"/>
          </a:p>
        </p:txBody>
      </p:sp>
      <p:sp>
        <p:nvSpPr>
          <p:cNvPr id="9" name="Shape 7"/>
          <p:cNvSpPr/>
          <p:nvPr/>
        </p:nvSpPr>
        <p:spPr>
          <a:xfrm>
            <a:off x="4663440" y="1005840"/>
            <a:ext cx="4023360" cy="1691640"/>
          </a:xfrm>
          <a:prstGeom prst="rect">
            <a:avLst/>
          </a:prstGeom>
          <a:solidFill>
            <a:srgbClr val="161B22"/>
          </a:solidFill>
          <a:ln/>
        </p:spPr>
      </p:sp>
      <p:sp>
        <p:nvSpPr>
          <p:cNvPr id="10" name="Shape 8"/>
          <p:cNvSpPr/>
          <p:nvPr/>
        </p:nvSpPr>
        <p:spPr>
          <a:xfrm>
            <a:off x="4663440" y="1005840"/>
            <a:ext cx="73152" cy="1691640"/>
          </a:xfrm>
          <a:prstGeom prst="rect">
            <a:avLst/>
          </a:prstGeom>
          <a:solidFill>
            <a:srgbClr val="2ED573"/>
          </a:solidFill>
          <a:ln/>
        </p:spPr>
      </p:sp>
      <p:sp>
        <p:nvSpPr>
          <p:cNvPr id="11" name="Text 9"/>
          <p:cNvSpPr/>
          <p:nvPr/>
        </p:nvSpPr>
        <p:spPr>
          <a:xfrm>
            <a:off x="5440680" y="1143000"/>
            <a:ext cx="3108960" cy="457200"/>
          </a:xfrm>
          <a:prstGeom prst="rect">
            <a:avLst/>
          </a:prstGeom>
          <a:noFill/>
          <a:ln/>
        </p:spPr>
        <p:txBody>
          <a:bodyPr wrap="square" rtlCol="0" anchor="ctr"/>
          <a:lstStyle/>
          <a:p>
            <a:pPr marL="0" indent="0">
              <a:buNone/>
            </a:pPr>
            <a:r>
              <a:rPr lang="en-US" sz="1400" b="1" dirty="0">
                <a:solidFill>
                  <a:srgbClr val="2ED573"/>
                </a:solidFill>
                <a:latin typeface="Calibri" pitchFamily="34" charset="0"/>
                <a:ea typeface="Calibri" pitchFamily="34" charset="-122"/>
                <a:cs typeface="Calibri" pitchFamily="34" charset="-120"/>
              </a:rPr>
              <a:t>Curiosity</a:t>
            </a:r>
            <a:endParaRPr lang="en-US" sz="1400" dirty="0"/>
          </a:p>
        </p:txBody>
      </p:sp>
      <p:sp>
        <p:nvSpPr>
          <p:cNvPr id="12" name="Text 10"/>
          <p:cNvSpPr/>
          <p:nvPr/>
        </p:nvSpPr>
        <p:spPr>
          <a:xfrm>
            <a:off x="4846320" y="1737360"/>
            <a:ext cx="370332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Digging beyond the obvious. Exploring edge cases. Not stopping when AI says there's nothing.</a:t>
            </a:r>
            <a:endParaRPr lang="en-US" sz="1200" dirty="0"/>
          </a:p>
        </p:txBody>
      </p:sp>
      <p:sp>
        <p:nvSpPr>
          <p:cNvPr id="13" name="Shape 11"/>
          <p:cNvSpPr/>
          <p:nvPr/>
        </p:nvSpPr>
        <p:spPr>
          <a:xfrm>
            <a:off x="320040" y="2926080"/>
            <a:ext cx="4023360" cy="1691640"/>
          </a:xfrm>
          <a:prstGeom prst="rect">
            <a:avLst/>
          </a:prstGeom>
          <a:solidFill>
            <a:srgbClr val="161B22"/>
          </a:solidFill>
          <a:ln/>
        </p:spPr>
      </p:sp>
      <p:sp>
        <p:nvSpPr>
          <p:cNvPr id="14" name="Shape 12"/>
          <p:cNvSpPr/>
          <p:nvPr/>
        </p:nvSpPr>
        <p:spPr>
          <a:xfrm>
            <a:off x="320040" y="2926080"/>
            <a:ext cx="73152" cy="1691640"/>
          </a:xfrm>
          <a:prstGeom prst="rect">
            <a:avLst/>
          </a:prstGeom>
          <a:solidFill>
            <a:srgbClr val="FFD700"/>
          </a:solidFill>
          <a:ln/>
        </p:spPr>
      </p:sp>
      <p:sp>
        <p:nvSpPr>
          <p:cNvPr id="15" name="Text 13"/>
          <p:cNvSpPr/>
          <p:nvPr/>
        </p:nvSpPr>
        <p:spPr>
          <a:xfrm>
            <a:off x="1097280" y="3063240"/>
            <a:ext cx="3108960" cy="457200"/>
          </a:xfrm>
          <a:prstGeom prst="rect">
            <a:avLst/>
          </a:prstGeom>
          <a:noFill/>
          <a:ln/>
        </p:spPr>
        <p:txBody>
          <a:bodyPr wrap="square" rtlCol="0" anchor="ctr"/>
          <a:lstStyle/>
          <a:p>
            <a:pPr marL="0" indent="0">
              <a:buNone/>
            </a:pPr>
            <a:r>
              <a:rPr lang="en-US" sz="1400" b="1" dirty="0">
                <a:solidFill>
                  <a:srgbClr val="FFD700"/>
                </a:solidFill>
                <a:latin typeface="Calibri" pitchFamily="34" charset="0"/>
                <a:ea typeface="Calibri" pitchFamily="34" charset="-122"/>
                <a:cs typeface="Calibri" pitchFamily="34" charset="-120"/>
              </a:rPr>
              <a:t>Validation Discipline</a:t>
            </a:r>
            <a:endParaRPr lang="en-US" sz="1400" dirty="0"/>
          </a:p>
        </p:txBody>
      </p:sp>
      <p:sp>
        <p:nvSpPr>
          <p:cNvPr id="16" name="Text 14"/>
          <p:cNvSpPr/>
          <p:nvPr/>
        </p:nvSpPr>
        <p:spPr>
          <a:xfrm>
            <a:off x="502920" y="3657600"/>
            <a:ext cx="370332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The habit of verifying every finding manually. Every time. Without exception.</a:t>
            </a:r>
            <a:endParaRPr lang="en-US" sz="1200" dirty="0"/>
          </a:p>
        </p:txBody>
      </p:sp>
      <p:sp>
        <p:nvSpPr>
          <p:cNvPr id="17" name="Shape 15"/>
          <p:cNvSpPr/>
          <p:nvPr/>
        </p:nvSpPr>
        <p:spPr>
          <a:xfrm>
            <a:off x="4663440" y="2926080"/>
            <a:ext cx="4023360" cy="1691640"/>
          </a:xfrm>
          <a:prstGeom prst="rect">
            <a:avLst/>
          </a:prstGeom>
          <a:solidFill>
            <a:srgbClr val="161B22"/>
          </a:solidFill>
          <a:ln/>
        </p:spPr>
      </p:sp>
      <p:sp>
        <p:nvSpPr>
          <p:cNvPr id="18" name="Shape 16"/>
          <p:cNvSpPr/>
          <p:nvPr/>
        </p:nvSpPr>
        <p:spPr>
          <a:xfrm>
            <a:off x="4663440" y="2926080"/>
            <a:ext cx="73152" cy="1691640"/>
          </a:xfrm>
          <a:prstGeom prst="rect">
            <a:avLst/>
          </a:prstGeom>
          <a:solidFill>
            <a:srgbClr val="FF6B35"/>
          </a:solidFill>
          <a:ln/>
        </p:spPr>
      </p:sp>
      <p:sp>
        <p:nvSpPr>
          <p:cNvPr id="19" name="Text 17"/>
          <p:cNvSpPr/>
          <p:nvPr/>
        </p:nvSpPr>
        <p:spPr>
          <a:xfrm>
            <a:off x="5440680" y="3063240"/>
            <a:ext cx="3108960" cy="457200"/>
          </a:xfrm>
          <a:prstGeom prst="rect">
            <a:avLst/>
          </a:prstGeom>
          <a:noFill/>
          <a:ln/>
        </p:spPr>
        <p:txBody>
          <a:bodyPr wrap="square"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Clear Communication</a:t>
            </a:r>
            <a:endParaRPr lang="en-US" sz="1400" dirty="0"/>
          </a:p>
        </p:txBody>
      </p:sp>
      <p:sp>
        <p:nvSpPr>
          <p:cNvPr id="20" name="Text 18"/>
          <p:cNvSpPr/>
          <p:nvPr/>
        </p:nvSpPr>
        <p:spPr>
          <a:xfrm>
            <a:off x="4846320" y="3657600"/>
            <a:ext cx="3703320" cy="868680"/>
          </a:xfrm>
          <a:prstGeom prst="rect">
            <a:avLst/>
          </a:prstGeom>
          <a:noFill/>
          <a:ln/>
        </p:spPr>
        <p:txBody>
          <a:bodyPr wrap="square" rtlCol="0" anchor="ctr"/>
          <a:lstStyle/>
          <a:p>
            <a:pPr marL="0" indent="0">
              <a:buNone/>
            </a:pPr>
            <a:r>
              <a:rPr lang="en-US" sz="1200" dirty="0">
                <a:solidFill>
                  <a:srgbClr val="8B949E"/>
                </a:solidFill>
                <a:latin typeface="Calibri" pitchFamily="34" charset="0"/>
                <a:ea typeface="Calibri" pitchFamily="34" charset="-122"/>
                <a:cs typeface="Calibri" pitchFamily="34" charset="-120"/>
              </a:rPr>
              <a:t>Translating technical findings into business risk. This is a human skill AI fundamentally lacks.</a:t>
            </a:r>
            <a:endParaRPr lang="en-US" sz="1200" dirty="0"/>
          </a:p>
        </p:txBody>
      </p:sp>
      <p:sp>
        <p:nvSpPr>
          <p:cNvPr id="21" name="Shape 19"/>
          <p:cNvSpPr/>
          <p:nvPr/>
        </p:nvSpPr>
        <p:spPr>
          <a:xfrm>
            <a:off x="457200" y="4709160"/>
            <a:ext cx="8229600" cy="320040"/>
          </a:xfrm>
          <a:prstGeom prst="rect">
            <a:avLst/>
          </a:prstGeom>
          <a:solidFill>
            <a:srgbClr val="0A1A2A"/>
          </a:solidFill>
          <a:ln/>
        </p:spPr>
      </p:sp>
      <p:sp>
        <p:nvSpPr>
          <p:cNvPr id="22" name="Text 20"/>
          <p:cNvSpPr/>
          <p:nvPr/>
        </p:nvSpPr>
        <p:spPr>
          <a:xfrm>
            <a:off x="457200" y="4709160"/>
            <a:ext cx="8229600" cy="320040"/>
          </a:xfrm>
          <a:prstGeom prst="rect">
            <a:avLst/>
          </a:prstGeom>
          <a:noFill/>
          <a:ln/>
        </p:spPr>
        <p:txBody>
          <a:bodyPr wrap="square" rtlCol="0" anchor="ctr"/>
          <a:lstStyle/>
          <a:p>
            <a:pPr marL="0" indent="0" algn="ctr">
              <a:buNone/>
            </a:pPr>
            <a:r>
              <a:rPr lang="en-US" sz="1300" b="1" dirty="0">
                <a:solidFill>
                  <a:srgbClr val="00D2FF"/>
                </a:solidFill>
                <a:latin typeface="Calibri" pitchFamily="34" charset="0"/>
                <a:ea typeface="Calibri" pitchFamily="34" charset="-122"/>
                <a:cs typeface="Calibri" pitchFamily="34" charset="-120"/>
              </a:rPr>
              <a:t>These are harder to automate. Build them deliberately.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Future of Pentesting</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Text 2"/>
          <p:cNvSpPr/>
          <p:nvPr/>
        </p:nvSpPr>
        <p:spPr>
          <a:xfrm>
            <a:off x="457200" y="1005840"/>
            <a:ext cx="3657600" cy="347472"/>
          </a:xfrm>
          <a:prstGeom prst="rect">
            <a:avLst/>
          </a:prstGeom>
          <a:noFill/>
          <a:ln/>
        </p:spPr>
        <p:txBody>
          <a:bodyPr wrap="square" rtlCol="0" anchor="ctr"/>
          <a:lstStyle/>
          <a:p>
            <a:pPr marL="0" indent="0">
              <a:buNone/>
            </a:pPr>
            <a:r>
              <a:rPr lang="en-US" sz="1300" b="1" dirty="0">
                <a:solidFill>
                  <a:srgbClr val="8B949E"/>
                </a:solidFill>
                <a:latin typeface="Calibri" pitchFamily="34" charset="0"/>
                <a:ea typeface="Calibri" pitchFamily="34" charset="-122"/>
                <a:cs typeface="Calibri" pitchFamily="34" charset="-120"/>
              </a:rPr>
              <a:t>What is certain:</a:t>
            </a:r>
            <a:endParaRPr lang="en-US" sz="1300" dirty="0"/>
          </a:p>
        </p:txBody>
      </p:sp>
      <p:sp>
        <p:nvSpPr>
          <p:cNvPr id="5" name="Shape 3"/>
          <p:cNvSpPr/>
          <p:nvPr/>
        </p:nvSpPr>
        <p:spPr>
          <a:xfrm>
            <a:off x="457200" y="1417320"/>
            <a:ext cx="3931920" cy="475488"/>
          </a:xfrm>
          <a:prstGeom prst="rect">
            <a:avLst/>
          </a:prstGeom>
          <a:solidFill>
            <a:srgbClr val="161B22"/>
          </a:solidFill>
          <a:ln/>
        </p:spPr>
      </p:sp>
      <p:sp>
        <p:nvSpPr>
          <p:cNvPr id="6" name="Text 4"/>
          <p:cNvSpPr/>
          <p:nvPr/>
        </p:nvSpPr>
        <p:spPr>
          <a:xfrm>
            <a:off x="960120" y="1417320"/>
            <a:ext cx="3291840" cy="47548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AI tools will stay and improve</a:t>
            </a:r>
            <a:endParaRPr lang="en-US" sz="1300" dirty="0"/>
          </a:p>
        </p:txBody>
      </p:sp>
      <p:sp>
        <p:nvSpPr>
          <p:cNvPr id="7" name="Shape 5"/>
          <p:cNvSpPr/>
          <p:nvPr/>
        </p:nvSpPr>
        <p:spPr>
          <a:xfrm>
            <a:off x="457200" y="1984248"/>
            <a:ext cx="3931920" cy="475488"/>
          </a:xfrm>
          <a:prstGeom prst="rect">
            <a:avLst/>
          </a:prstGeom>
          <a:solidFill>
            <a:srgbClr val="161B22"/>
          </a:solidFill>
          <a:ln/>
        </p:spPr>
      </p:sp>
      <p:sp>
        <p:nvSpPr>
          <p:cNvPr id="8" name="Text 6"/>
          <p:cNvSpPr/>
          <p:nvPr/>
        </p:nvSpPr>
        <p:spPr>
          <a:xfrm>
            <a:off x="960120" y="1984248"/>
            <a:ext cx="3291840" cy="47548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Automation will increase across all phases</a:t>
            </a:r>
            <a:endParaRPr lang="en-US" sz="1300" dirty="0"/>
          </a:p>
        </p:txBody>
      </p:sp>
      <p:sp>
        <p:nvSpPr>
          <p:cNvPr id="9" name="Shape 7"/>
          <p:cNvSpPr/>
          <p:nvPr/>
        </p:nvSpPr>
        <p:spPr>
          <a:xfrm>
            <a:off x="457200" y="2551176"/>
            <a:ext cx="3931920" cy="475488"/>
          </a:xfrm>
          <a:prstGeom prst="rect">
            <a:avLst/>
          </a:prstGeom>
          <a:solidFill>
            <a:srgbClr val="161B22"/>
          </a:solidFill>
          <a:ln/>
        </p:spPr>
      </p:sp>
      <p:sp>
        <p:nvSpPr>
          <p:cNvPr id="10" name="Text 8"/>
          <p:cNvSpPr/>
          <p:nvPr/>
        </p:nvSpPr>
        <p:spPr>
          <a:xfrm>
            <a:off x="960120" y="2551176"/>
            <a:ext cx="3291840" cy="47548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tool landscape will change rapidly</a:t>
            </a:r>
            <a:endParaRPr lang="en-US" sz="1300" dirty="0"/>
          </a:p>
        </p:txBody>
      </p:sp>
      <p:sp>
        <p:nvSpPr>
          <p:cNvPr id="11" name="Shape 9"/>
          <p:cNvSpPr/>
          <p:nvPr/>
        </p:nvSpPr>
        <p:spPr>
          <a:xfrm>
            <a:off x="4572000" y="1005840"/>
            <a:ext cx="4114800" cy="2377440"/>
          </a:xfrm>
          <a:prstGeom prst="rect">
            <a:avLst/>
          </a:prstGeom>
          <a:solidFill>
            <a:srgbClr val="1C2430"/>
          </a:solidFill>
          <a:ln/>
        </p:spPr>
      </p:sp>
      <p:sp>
        <p:nvSpPr>
          <p:cNvPr id="12" name="Shape 10"/>
          <p:cNvSpPr/>
          <p:nvPr/>
        </p:nvSpPr>
        <p:spPr>
          <a:xfrm>
            <a:off x="4572000" y="1005840"/>
            <a:ext cx="109728" cy="2377440"/>
          </a:xfrm>
          <a:prstGeom prst="rect">
            <a:avLst/>
          </a:prstGeom>
          <a:solidFill>
            <a:srgbClr val="00D2FF"/>
          </a:solidFill>
          <a:ln/>
        </p:spPr>
      </p:sp>
      <p:sp>
        <p:nvSpPr>
          <p:cNvPr id="13" name="Text 11"/>
          <p:cNvSpPr/>
          <p:nvPr/>
        </p:nvSpPr>
        <p:spPr>
          <a:xfrm>
            <a:off x="4754880" y="1188720"/>
            <a:ext cx="3840480" cy="2011680"/>
          </a:xfrm>
          <a:prstGeom prst="rect">
            <a:avLst/>
          </a:prstGeom>
          <a:noFill/>
          <a:ln/>
        </p:spPr>
        <p:txBody>
          <a:bodyPr wrap="square" rtlCol="0" anchor="ctr"/>
          <a:lstStyle/>
          <a:p>
            <a:pPr marL="0" indent="0">
              <a:buNone/>
            </a:pPr>
            <a:r>
              <a:rPr lang="en-US" sz="2100" b="1" i="1" dirty="0">
                <a:solidFill>
                  <a:srgbClr val="FFFFFF"/>
                </a:solidFill>
                <a:latin typeface="Georgia" pitchFamily="34" charset="0"/>
                <a:ea typeface="Georgia" pitchFamily="34" charset="-122"/>
                <a:cs typeface="Georgia" pitchFamily="34" charset="-120"/>
              </a:rPr>
              <a:t>The best testers won't be the fastest.</a:t>
            </a:r>
            <a:endParaRPr lang="en-US" sz="2100" dirty="0"/>
          </a:p>
          <a:p>
            <a:pPr marL="0" indent="0">
              <a:buNone/>
            </a:pPr>
            <a:r>
              <a:rPr lang="en-US" sz="2100" b="1" i="1" dirty="0">
                <a:solidFill>
                  <a:srgbClr val="FFFFFF"/>
                </a:solidFill>
                <a:latin typeface="Georgia" pitchFamily="34" charset="0"/>
                <a:ea typeface="Georgia" pitchFamily="34" charset="-122"/>
                <a:cs typeface="Georgia" pitchFamily="34" charset="-120"/>
              </a:rPr>
              <a:t>They'll be the most reliable.</a:t>
            </a:r>
            <a:endParaRPr lang="en-US" sz="2100" dirty="0"/>
          </a:p>
        </p:txBody>
      </p:sp>
      <p:sp>
        <p:nvSpPr>
          <p:cNvPr id="14" name="Shape 12"/>
          <p:cNvSpPr/>
          <p:nvPr/>
        </p:nvSpPr>
        <p:spPr>
          <a:xfrm>
            <a:off x="457200" y="3566160"/>
            <a:ext cx="8229600" cy="1371600"/>
          </a:xfrm>
          <a:prstGeom prst="rect">
            <a:avLst/>
          </a:prstGeom>
          <a:solidFill>
            <a:srgbClr val="161B22"/>
          </a:solidFill>
          <a:ln/>
        </p:spPr>
      </p:sp>
      <p:sp>
        <p:nvSpPr>
          <p:cNvPr id="15" name="Shape 13"/>
          <p:cNvSpPr/>
          <p:nvPr/>
        </p:nvSpPr>
        <p:spPr>
          <a:xfrm>
            <a:off x="457200" y="3566160"/>
            <a:ext cx="8229600" cy="54864"/>
          </a:xfrm>
          <a:prstGeom prst="rect">
            <a:avLst/>
          </a:prstGeom>
          <a:solidFill>
            <a:srgbClr val="00D2FF"/>
          </a:solidFill>
          <a:ln/>
        </p:spPr>
      </p:sp>
      <p:sp>
        <p:nvSpPr>
          <p:cNvPr id="16" name="Text 14"/>
          <p:cNvSpPr/>
          <p:nvPr/>
        </p:nvSpPr>
        <p:spPr>
          <a:xfrm>
            <a:off x="640080" y="3703320"/>
            <a:ext cx="2743200" cy="347472"/>
          </a:xfrm>
          <a:prstGeom prst="rect">
            <a:avLst/>
          </a:prstGeom>
          <a:noFill/>
          <a:ln/>
        </p:spPr>
        <p:txBody>
          <a:bodyPr wrap="square" rtlCol="0" anchor="ctr"/>
          <a:lstStyle/>
          <a:p>
            <a:pPr marL="0" indent="0">
              <a:buNone/>
            </a:pPr>
            <a:r>
              <a:rPr lang="en-US" sz="1400" b="1" dirty="0">
                <a:solidFill>
                  <a:srgbClr val="00D2FF"/>
                </a:solidFill>
                <a:latin typeface="Calibri" pitchFamily="34" charset="0"/>
                <a:ea typeface="Calibri" pitchFamily="34" charset="-122"/>
                <a:cs typeface="Calibri" pitchFamily="34" charset="-120"/>
              </a:rPr>
              <a:t>How to stay ahead:</a:t>
            </a:r>
            <a:endParaRPr lang="en-US" sz="1400" dirty="0"/>
          </a:p>
        </p:txBody>
      </p:sp>
      <p:sp>
        <p:nvSpPr>
          <p:cNvPr id="17" name="Text 15"/>
          <p:cNvSpPr/>
          <p:nvPr/>
        </p:nvSpPr>
        <p:spPr>
          <a:xfrm>
            <a:off x="914400" y="4096512"/>
            <a:ext cx="7589520" cy="246888"/>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Keep building manual skills alongside AI skills</a:t>
            </a:r>
            <a:endParaRPr lang="en-US" sz="1250" dirty="0"/>
          </a:p>
        </p:txBody>
      </p:sp>
      <p:sp>
        <p:nvSpPr>
          <p:cNvPr id="18" name="Text 16"/>
          <p:cNvSpPr/>
          <p:nvPr/>
        </p:nvSpPr>
        <p:spPr>
          <a:xfrm>
            <a:off x="914400" y="4343400"/>
            <a:ext cx="7589520" cy="246888"/>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Understand what the tools do, not just their output</a:t>
            </a:r>
            <a:endParaRPr lang="en-US" sz="1250" dirty="0"/>
          </a:p>
        </p:txBody>
      </p:sp>
      <p:sp>
        <p:nvSpPr>
          <p:cNvPr id="19" name="Text 17"/>
          <p:cNvSpPr/>
          <p:nvPr/>
        </p:nvSpPr>
        <p:spPr>
          <a:xfrm>
            <a:off x="914400" y="4590288"/>
            <a:ext cx="7589520" cy="246888"/>
          </a:xfrm>
          <a:prstGeom prst="rect">
            <a:avLst/>
          </a:prstGeom>
          <a:noFill/>
          <a:ln/>
        </p:spPr>
        <p:txBody>
          <a:bodyPr wrap="square" rtlCol="0" anchor="ctr"/>
          <a:lstStyle/>
          <a:p>
            <a:pPr marL="0" indent="0">
              <a:buNone/>
            </a:pPr>
            <a:r>
              <a:rPr lang="en-US" sz="1250" dirty="0">
                <a:solidFill>
                  <a:srgbClr val="8B949E"/>
                </a:solidFill>
                <a:latin typeface="Calibri" pitchFamily="34" charset="0"/>
                <a:ea typeface="Calibri" pitchFamily="34" charset="-122"/>
                <a:cs typeface="Calibri" pitchFamily="34" charset="-120"/>
              </a:rPr>
              <a:t>Stay curious — the fundamentals still matter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The Final Message</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685800" y="1051560"/>
            <a:ext cx="7772400" cy="3520440"/>
          </a:xfrm>
          <a:prstGeom prst="rect">
            <a:avLst/>
          </a:prstGeom>
          <a:solidFill>
            <a:srgbClr val="161B22"/>
          </a:solidFill>
          <a:ln/>
        </p:spPr>
      </p:sp>
      <p:sp>
        <p:nvSpPr>
          <p:cNvPr id="5" name="Shape 3"/>
          <p:cNvSpPr/>
          <p:nvPr/>
        </p:nvSpPr>
        <p:spPr>
          <a:xfrm>
            <a:off x="685800" y="1051560"/>
            <a:ext cx="7772400" cy="64008"/>
          </a:xfrm>
          <a:prstGeom prst="rect">
            <a:avLst/>
          </a:prstGeom>
          <a:solidFill>
            <a:srgbClr val="00D2FF"/>
          </a:solidFill>
          <a:ln/>
        </p:spPr>
      </p:sp>
      <p:sp>
        <p:nvSpPr>
          <p:cNvPr id="6" name="Text 4"/>
          <p:cNvSpPr/>
          <p:nvPr/>
        </p:nvSpPr>
        <p:spPr>
          <a:xfrm>
            <a:off x="868680" y="1143000"/>
            <a:ext cx="7406640" cy="3337560"/>
          </a:xfrm>
          <a:prstGeom prst="rect">
            <a:avLst/>
          </a:prstGeom>
          <a:noFill/>
          <a:ln/>
        </p:spPr>
        <p:txBody>
          <a:bodyPr wrap="square" rtlCol="0" anchor="ctr"/>
          <a:lstStyle/>
          <a:p>
            <a:pPr marL="0" indent="0" algn="ctr">
              <a:buNone/>
            </a:pPr>
            <a:r>
              <a:rPr lang="en-US" sz="2000" i="1" dirty="0">
                <a:solidFill>
                  <a:srgbClr val="8B949E"/>
                </a:solidFill>
                <a:latin typeface="Georgia" pitchFamily="34" charset="0"/>
                <a:ea typeface="Georgia" pitchFamily="34" charset="-122"/>
                <a:cs typeface="Georgia" pitchFamily="34" charset="-120"/>
              </a:rPr>
              <a:t>AI can help you move faster.
It can even make you look smarter.
</a:t>
            </a:r>
            <a:r>
              <a:rPr lang="en-US" sz="2200" b="1" i="1" dirty="0">
                <a:solidFill>
                  <a:srgbClr val="FFFFFF"/>
                </a:solidFill>
                <a:latin typeface="Georgia" pitchFamily="34" charset="0"/>
                <a:ea typeface="Georgia" pitchFamily="34" charset="-122"/>
                <a:cs typeface="Georgia" pitchFamily="34" charset="-120"/>
              </a:rPr>
              <a:t>But it cannot replace your judgment.
</a:t>
            </a:r>
            <a:r>
              <a:rPr lang="en-US" sz="2000" i="1" dirty="0">
                <a:solidFill>
                  <a:srgbClr val="2ED573"/>
                </a:solidFill>
                <a:latin typeface="Georgia" pitchFamily="34" charset="0"/>
                <a:ea typeface="Georgia" pitchFamily="34" charset="-122"/>
                <a:cs typeface="Georgia" pitchFamily="34" charset="-120"/>
              </a:rPr>
              <a:t>Auto-Pwn is easy.
</a:t>
            </a:r>
            <a:r>
              <a:rPr lang="en-US" sz="2400" b="1" i="1" dirty="0">
                <a:solidFill>
                  <a:srgbClr val="FF4757"/>
                </a:solidFill>
                <a:latin typeface="Georgia" pitchFamily="34" charset="0"/>
                <a:ea typeface="Georgia" pitchFamily="34" charset="-122"/>
                <a:cs typeface="Georgia" pitchFamily="34" charset="-120"/>
              </a:rPr>
              <a:t>Avoiding Auto-Fail is the real skill.</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Arial Black" pitchFamily="34" charset="0"/>
                <a:ea typeface="Arial Black" pitchFamily="34" charset="-122"/>
                <a:cs typeface="Arial Black" pitchFamily="34" charset="-120"/>
              </a:rPr>
              <a:t>Practical Takeaways</a:t>
            </a:r>
            <a:endParaRPr lang="en-US" sz="3600" dirty="0"/>
          </a:p>
        </p:txBody>
      </p:sp>
      <p:sp>
        <p:nvSpPr>
          <p:cNvPr id="3" name="Shape 1"/>
          <p:cNvSpPr/>
          <p:nvPr/>
        </p:nvSpPr>
        <p:spPr>
          <a:xfrm>
            <a:off x="457200" y="868680"/>
            <a:ext cx="8229600" cy="36576"/>
          </a:xfrm>
          <a:prstGeom prst="rect">
            <a:avLst/>
          </a:prstGeom>
          <a:solidFill>
            <a:srgbClr val="30363D"/>
          </a:solidFill>
          <a:ln/>
        </p:spPr>
      </p:sp>
      <p:sp>
        <p:nvSpPr>
          <p:cNvPr id="4" name="Shape 2"/>
          <p:cNvSpPr/>
          <p:nvPr/>
        </p:nvSpPr>
        <p:spPr>
          <a:xfrm>
            <a:off x="457200" y="1051560"/>
            <a:ext cx="8229600" cy="658368"/>
          </a:xfrm>
          <a:prstGeom prst="rect">
            <a:avLst/>
          </a:prstGeom>
          <a:solidFill>
            <a:srgbClr val="161B22"/>
          </a:solidFill>
          <a:ln/>
        </p:spPr>
      </p:sp>
      <p:sp>
        <p:nvSpPr>
          <p:cNvPr id="5" name="Shape 3"/>
          <p:cNvSpPr/>
          <p:nvPr/>
        </p:nvSpPr>
        <p:spPr>
          <a:xfrm>
            <a:off x="457200" y="1051560"/>
            <a:ext cx="73152" cy="658368"/>
          </a:xfrm>
          <a:prstGeom prst="rect">
            <a:avLst/>
          </a:prstGeom>
          <a:solidFill>
            <a:srgbClr val="00D2FF"/>
          </a:solidFill>
          <a:ln/>
        </p:spPr>
      </p:sp>
      <p:sp>
        <p:nvSpPr>
          <p:cNvPr id="6" name="Shape 4"/>
          <p:cNvSpPr/>
          <p:nvPr/>
        </p:nvSpPr>
        <p:spPr>
          <a:xfrm>
            <a:off x="594360" y="1143000"/>
            <a:ext cx="411480" cy="411480"/>
          </a:xfrm>
          <a:prstGeom prst="ellipse">
            <a:avLst/>
          </a:prstGeom>
          <a:solidFill>
            <a:srgbClr val="00D2FF"/>
          </a:solidFill>
          <a:ln/>
        </p:spPr>
      </p:sp>
      <p:sp>
        <p:nvSpPr>
          <p:cNvPr id="7" name="Text 5"/>
          <p:cNvSpPr/>
          <p:nvPr/>
        </p:nvSpPr>
        <p:spPr>
          <a:xfrm>
            <a:off x="594360" y="1143000"/>
            <a:ext cx="411480" cy="411480"/>
          </a:xfrm>
          <a:prstGeom prst="rect">
            <a:avLst/>
          </a:prstGeom>
          <a:noFill/>
          <a:ln/>
        </p:spPr>
        <p:txBody>
          <a:bodyPr wrap="square" rtlCol="0" anchor="ctr"/>
          <a:lstStyle/>
          <a:p>
            <a:pPr marL="0" indent="0" algn="ctr">
              <a:buNone/>
            </a:pPr>
            <a:r>
              <a:rPr lang="en-US" sz="1400" b="1" dirty="0">
                <a:solidFill>
                  <a:srgbClr val="0D1117"/>
                </a:solidFill>
                <a:latin typeface="Arial Black" pitchFamily="34" charset="0"/>
                <a:ea typeface="Arial Black" pitchFamily="34" charset="-122"/>
                <a:cs typeface="Arial Black" pitchFamily="34" charset="-120"/>
              </a:rPr>
              <a:t>1</a:t>
            </a:r>
            <a:endParaRPr lang="en-US" sz="1400" dirty="0"/>
          </a:p>
        </p:txBody>
      </p:sp>
      <p:sp>
        <p:nvSpPr>
          <p:cNvPr id="8" name="Text 6"/>
          <p:cNvSpPr/>
          <p:nvPr/>
        </p:nvSpPr>
        <p:spPr>
          <a:xfrm>
            <a:off x="1143000" y="1051560"/>
            <a:ext cx="7406640" cy="658368"/>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Always validate AI output — treat it as a starting point, not a conclusion</a:t>
            </a:r>
            <a:endParaRPr lang="en-US" sz="1400" dirty="0"/>
          </a:p>
        </p:txBody>
      </p:sp>
      <p:sp>
        <p:nvSpPr>
          <p:cNvPr id="9" name="Shape 7"/>
          <p:cNvSpPr/>
          <p:nvPr/>
        </p:nvSpPr>
        <p:spPr>
          <a:xfrm>
            <a:off x="457200" y="1801368"/>
            <a:ext cx="8229600" cy="658368"/>
          </a:xfrm>
          <a:prstGeom prst="rect">
            <a:avLst/>
          </a:prstGeom>
          <a:solidFill>
            <a:srgbClr val="161B22"/>
          </a:solidFill>
          <a:ln/>
        </p:spPr>
      </p:sp>
      <p:sp>
        <p:nvSpPr>
          <p:cNvPr id="10" name="Shape 8"/>
          <p:cNvSpPr/>
          <p:nvPr/>
        </p:nvSpPr>
        <p:spPr>
          <a:xfrm>
            <a:off x="457200" y="1801368"/>
            <a:ext cx="73152" cy="658368"/>
          </a:xfrm>
          <a:prstGeom prst="rect">
            <a:avLst/>
          </a:prstGeom>
          <a:solidFill>
            <a:srgbClr val="2ED573"/>
          </a:solidFill>
          <a:ln/>
        </p:spPr>
      </p:sp>
      <p:sp>
        <p:nvSpPr>
          <p:cNvPr id="11" name="Shape 9"/>
          <p:cNvSpPr/>
          <p:nvPr/>
        </p:nvSpPr>
        <p:spPr>
          <a:xfrm>
            <a:off x="594360" y="1892808"/>
            <a:ext cx="411480" cy="411480"/>
          </a:xfrm>
          <a:prstGeom prst="ellipse">
            <a:avLst/>
          </a:prstGeom>
          <a:solidFill>
            <a:srgbClr val="2ED573"/>
          </a:solidFill>
          <a:ln/>
        </p:spPr>
      </p:sp>
      <p:sp>
        <p:nvSpPr>
          <p:cNvPr id="12" name="Text 10"/>
          <p:cNvSpPr/>
          <p:nvPr/>
        </p:nvSpPr>
        <p:spPr>
          <a:xfrm>
            <a:off x="594360" y="1892808"/>
            <a:ext cx="411480" cy="411480"/>
          </a:xfrm>
          <a:prstGeom prst="rect">
            <a:avLst/>
          </a:prstGeom>
          <a:noFill/>
          <a:ln/>
        </p:spPr>
        <p:txBody>
          <a:bodyPr wrap="square" rtlCol="0" anchor="ctr"/>
          <a:lstStyle/>
          <a:p>
            <a:pPr marL="0" indent="0" algn="ctr">
              <a:buNone/>
            </a:pPr>
            <a:r>
              <a:rPr lang="en-US" sz="1400" b="1" dirty="0">
                <a:solidFill>
                  <a:srgbClr val="0D1117"/>
                </a:solidFill>
                <a:latin typeface="Arial Black" pitchFamily="34" charset="0"/>
                <a:ea typeface="Arial Black" pitchFamily="34" charset="-122"/>
                <a:cs typeface="Arial Black" pitchFamily="34" charset="-120"/>
              </a:rPr>
              <a:t>2</a:t>
            </a:r>
            <a:endParaRPr lang="en-US" sz="1400" dirty="0"/>
          </a:p>
        </p:txBody>
      </p:sp>
      <p:sp>
        <p:nvSpPr>
          <p:cNvPr id="13" name="Text 11"/>
          <p:cNvSpPr/>
          <p:nvPr/>
        </p:nvSpPr>
        <p:spPr>
          <a:xfrm>
            <a:off x="1143000" y="1801368"/>
            <a:ext cx="7406640" cy="658368"/>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Never outsource your thinking — you own every finding on that report</a:t>
            </a:r>
            <a:endParaRPr lang="en-US" sz="1400" dirty="0"/>
          </a:p>
        </p:txBody>
      </p:sp>
      <p:sp>
        <p:nvSpPr>
          <p:cNvPr id="14" name="Shape 12"/>
          <p:cNvSpPr/>
          <p:nvPr/>
        </p:nvSpPr>
        <p:spPr>
          <a:xfrm>
            <a:off x="457200" y="2551176"/>
            <a:ext cx="8229600" cy="658368"/>
          </a:xfrm>
          <a:prstGeom prst="rect">
            <a:avLst/>
          </a:prstGeom>
          <a:solidFill>
            <a:srgbClr val="161B22"/>
          </a:solidFill>
          <a:ln/>
        </p:spPr>
      </p:sp>
      <p:sp>
        <p:nvSpPr>
          <p:cNvPr id="15" name="Shape 13"/>
          <p:cNvSpPr/>
          <p:nvPr/>
        </p:nvSpPr>
        <p:spPr>
          <a:xfrm>
            <a:off x="457200" y="2551176"/>
            <a:ext cx="73152" cy="658368"/>
          </a:xfrm>
          <a:prstGeom prst="rect">
            <a:avLst/>
          </a:prstGeom>
          <a:solidFill>
            <a:srgbClr val="FFD700"/>
          </a:solidFill>
          <a:ln/>
        </p:spPr>
      </p:sp>
      <p:sp>
        <p:nvSpPr>
          <p:cNvPr id="16" name="Shape 14"/>
          <p:cNvSpPr/>
          <p:nvPr/>
        </p:nvSpPr>
        <p:spPr>
          <a:xfrm>
            <a:off x="594360" y="2642616"/>
            <a:ext cx="411480" cy="411480"/>
          </a:xfrm>
          <a:prstGeom prst="ellipse">
            <a:avLst/>
          </a:prstGeom>
          <a:solidFill>
            <a:srgbClr val="FFD700"/>
          </a:solidFill>
          <a:ln/>
        </p:spPr>
      </p:sp>
      <p:sp>
        <p:nvSpPr>
          <p:cNvPr id="17" name="Text 15"/>
          <p:cNvSpPr/>
          <p:nvPr/>
        </p:nvSpPr>
        <p:spPr>
          <a:xfrm>
            <a:off x="594360" y="2642616"/>
            <a:ext cx="411480" cy="411480"/>
          </a:xfrm>
          <a:prstGeom prst="rect">
            <a:avLst/>
          </a:prstGeom>
          <a:noFill/>
          <a:ln/>
        </p:spPr>
        <p:txBody>
          <a:bodyPr wrap="square" rtlCol="0" anchor="ctr"/>
          <a:lstStyle/>
          <a:p>
            <a:pPr marL="0" indent="0" algn="ctr">
              <a:buNone/>
            </a:pPr>
            <a:r>
              <a:rPr lang="en-US" sz="1400" b="1" dirty="0">
                <a:solidFill>
                  <a:srgbClr val="0D1117"/>
                </a:solidFill>
                <a:latin typeface="Arial Black" pitchFamily="34" charset="0"/>
                <a:ea typeface="Arial Black" pitchFamily="34" charset="-122"/>
                <a:cs typeface="Arial Black" pitchFamily="34" charset="-120"/>
              </a:rPr>
              <a:t>3</a:t>
            </a:r>
            <a:endParaRPr lang="en-US" sz="1400" dirty="0"/>
          </a:p>
        </p:txBody>
      </p:sp>
      <p:sp>
        <p:nvSpPr>
          <p:cNvPr id="18" name="Text 16"/>
          <p:cNvSpPr/>
          <p:nvPr/>
        </p:nvSpPr>
        <p:spPr>
          <a:xfrm>
            <a:off x="1143000" y="2551176"/>
            <a:ext cx="7406640" cy="658368"/>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Use AI to assist, not to decide — keep the judgment with the human</a:t>
            </a:r>
            <a:endParaRPr lang="en-US" sz="1400" dirty="0"/>
          </a:p>
        </p:txBody>
      </p:sp>
      <p:sp>
        <p:nvSpPr>
          <p:cNvPr id="19" name="Shape 17"/>
          <p:cNvSpPr/>
          <p:nvPr/>
        </p:nvSpPr>
        <p:spPr>
          <a:xfrm>
            <a:off x="457200" y="3300984"/>
            <a:ext cx="8229600" cy="658368"/>
          </a:xfrm>
          <a:prstGeom prst="rect">
            <a:avLst/>
          </a:prstGeom>
          <a:solidFill>
            <a:srgbClr val="161B22"/>
          </a:solidFill>
          <a:ln/>
        </p:spPr>
      </p:sp>
      <p:sp>
        <p:nvSpPr>
          <p:cNvPr id="20" name="Shape 18"/>
          <p:cNvSpPr/>
          <p:nvPr/>
        </p:nvSpPr>
        <p:spPr>
          <a:xfrm>
            <a:off x="457200" y="3300984"/>
            <a:ext cx="73152" cy="658368"/>
          </a:xfrm>
          <a:prstGeom prst="rect">
            <a:avLst/>
          </a:prstGeom>
          <a:solidFill>
            <a:srgbClr val="FF6B35"/>
          </a:solidFill>
          <a:ln/>
        </p:spPr>
      </p:sp>
      <p:sp>
        <p:nvSpPr>
          <p:cNvPr id="21" name="Shape 19"/>
          <p:cNvSpPr/>
          <p:nvPr/>
        </p:nvSpPr>
        <p:spPr>
          <a:xfrm>
            <a:off x="594360" y="3392424"/>
            <a:ext cx="411480" cy="411480"/>
          </a:xfrm>
          <a:prstGeom prst="ellipse">
            <a:avLst/>
          </a:prstGeom>
          <a:solidFill>
            <a:srgbClr val="FF6B35"/>
          </a:solidFill>
          <a:ln/>
        </p:spPr>
      </p:sp>
      <p:sp>
        <p:nvSpPr>
          <p:cNvPr id="22" name="Text 20"/>
          <p:cNvSpPr/>
          <p:nvPr/>
        </p:nvSpPr>
        <p:spPr>
          <a:xfrm>
            <a:off x="594360" y="3392424"/>
            <a:ext cx="411480" cy="411480"/>
          </a:xfrm>
          <a:prstGeom prst="rect">
            <a:avLst/>
          </a:prstGeom>
          <a:noFill/>
          <a:ln/>
        </p:spPr>
        <p:txBody>
          <a:bodyPr wrap="square" rtlCol="0" anchor="ctr"/>
          <a:lstStyle/>
          <a:p>
            <a:pPr marL="0" indent="0" algn="ctr">
              <a:buNone/>
            </a:pPr>
            <a:r>
              <a:rPr lang="en-US" sz="1400" b="1" dirty="0">
                <a:solidFill>
                  <a:srgbClr val="0D1117"/>
                </a:solidFill>
                <a:latin typeface="Arial Black" pitchFamily="34" charset="0"/>
                <a:ea typeface="Arial Black" pitchFamily="34" charset="-122"/>
                <a:cs typeface="Arial Black" pitchFamily="34" charset="-120"/>
              </a:rPr>
              <a:t>4</a:t>
            </a:r>
            <a:endParaRPr lang="en-US" sz="1400" dirty="0"/>
          </a:p>
        </p:txBody>
      </p:sp>
      <p:sp>
        <p:nvSpPr>
          <p:cNvPr id="23" name="Text 21"/>
          <p:cNvSpPr/>
          <p:nvPr/>
        </p:nvSpPr>
        <p:spPr>
          <a:xfrm>
            <a:off x="1143000" y="3300984"/>
            <a:ext cx="7406640" cy="658368"/>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Focus on accuracy over speed — a clean 10 findings beats a noisy 50</a:t>
            </a:r>
            <a:endParaRPr lang="en-US" sz="1400" dirty="0"/>
          </a:p>
        </p:txBody>
      </p:sp>
      <p:sp>
        <p:nvSpPr>
          <p:cNvPr id="24" name="Shape 22"/>
          <p:cNvSpPr/>
          <p:nvPr/>
        </p:nvSpPr>
        <p:spPr>
          <a:xfrm>
            <a:off x="457200" y="4050792"/>
            <a:ext cx="8229600" cy="658368"/>
          </a:xfrm>
          <a:prstGeom prst="rect">
            <a:avLst/>
          </a:prstGeom>
          <a:solidFill>
            <a:srgbClr val="161B22"/>
          </a:solidFill>
          <a:ln/>
        </p:spPr>
      </p:sp>
      <p:sp>
        <p:nvSpPr>
          <p:cNvPr id="25" name="Shape 23"/>
          <p:cNvSpPr/>
          <p:nvPr/>
        </p:nvSpPr>
        <p:spPr>
          <a:xfrm>
            <a:off x="457200" y="4050792"/>
            <a:ext cx="73152" cy="658368"/>
          </a:xfrm>
          <a:prstGeom prst="rect">
            <a:avLst/>
          </a:prstGeom>
          <a:solidFill>
            <a:srgbClr val="FF4757"/>
          </a:solidFill>
          <a:ln/>
        </p:spPr>
      </p:sp>
      <p:sp>
        <p:nvSpPr>
          <p:cNvPr id="26" name="Shape 24"/>
          <p:cNvSpPr/>
          <p:nvPr/>
        </p:nvSpPr>
        <p:spPr>
          <a:xfrm>
            <a:off x="594360" y="4142232"/>
            <a:ext cx="411480" cy="411480"/>
          </a:xfrm>
          <a:prstGeom prst="ellipse">
            <a:avLst/>
          </a:prstGeom>
          <a:solidFill>
            <a:srgbClr val="FF4757"/>
          </a:solidFill>
          <a:ln/>
        </p:spPr>
      </p:sp>
      <p:sp>
        <p:nvSpPr>
          <p:cNvPr id="27" name="Text 25"/>
          <p:cNvSpPr/>
          <p:nvPr/>
        </p:nvSpPr>
        <p:spPr>
          <a:xfrm>
            <a:off x="594360" y="4142232"/>
            <a:ext cx="411480" cy="411480"/>
          </a:xfrm>
          <a:prstGeom prst="rect">
            <a:avLst/>
          </a:prstGeom>
          <a:noFill/>
          <a:ln/>
        </p:spPr>
        <p:txBody>
          <a:bodyPr wrap="square" rtlCol="0" anchor="ctr"/>
          <a:lstStyle/>
          <a:p>
            <a:pPr marL="0" indent="0" algn="ctr">
              <a:buNone/>
            </a:pPr>
            <a:r>
              <a:rPr lang="en-US" sz="1400" b="1" dirty="0">
                <a:solidFill>
                  <a:srgbClr val="0D1117"/>
                </a:solidFill>
                <a:latin typeface="Arial Black" pitchFamily="34" charset="0"/>
                <a:ea typeface="Arial Black" pitchFamily="34" charset="-122"/>
                <a:cs typeface="Arial Black" pitchFamily="34" charset="-120"/>
              </a:rPr>
              <a:t>5</a:t>
            </a:r>
            <a:endParaRPr lang="en-US" sz="1400" dirty="0"/>
          </a:p>
        </p:txBody>
      </p:sp>
      <p:sp>
        <p:nvSpPr>
          <p:cNvPr id="28" name="Text 26"/>
          <p:cNvSpPr/>
          <p:nvPr/>
        </p:nvSpPr>
        <p:spPr>
          <a:xfrm>
            <a:off x="1143000" y="4050792"/>
            <a:ext cx="7406640" cy="658368"/>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Protect your credibility — it takes years to build and minutes to lose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D2FF"/>
          </a:solidFill>
          <a:ln/>
        </p:spPr>
      </p:sp>
      <p:sp>
        <p:nvSpPr>
          <p:cNvPr id="3" name="Text 1"/>
          <p:cNvSpPr/>
          <p:nvPr/>
        </p:nvSpPr>
        <p:spPr>
          <a:xfrm>
            <a:off x="365760" y="914400"/>
            <a:ext cx="8412480" cy="1188720"/>
          </a:xfrm>
          <a:prstGeom prst="rect">
            <a:avLst/>
          </a:prstGeom>
          <a:noFill/>
          <a:ln/>
        </p:spPr>
        <p:txBody>
          <a:bodyPr wrap="square" lIns="0" tIns="0" rIns="0" bIns="0" rtlCol="0" anchor="ctr"/>
          <a:lstStyle/>
          <a:p>
            <a:pPr marL="0" indent="0">
              <a:buNone/>
            </a:pPr>
            <a:r>
              <a:rPr lang="en-US" sz="6000" b="1" dirty="0">
                <a:solidFill>
                  <a:srgbClr val="00D2FF"/>
                </a:solidFill>
                <a:latin typeface="Arial Black" pitchFamily="34" charset="0"/>
                <a:ea typeface="Arial Black" pitchFamily="34" charset="-122"/>
                <a:cs typeface="Arial Black" pitchFamily="34" charset="-120"/>
              </a:rPr>
              <a:t>Use AI.</a:t>
            </a:r>
            <a:endParaRPr lang="en-US" sz="6000" dirty="0"/>
          </a:p>
        </p:txBody>
      </p:sp>
      <p:sp>
        <p:nvSpPr>
          <p:cNvPr id="4" name="Text 2"/>
          <p:cNvSpPr/>
          <p:nvPr/>
        </p:nvSpPr>
        <p:spPr>
          <a:xfrm>
            <a:off x="365760" y="2011680"/>
            <a:ext cx="8412480" cy="914400"/>
          </a:xfrm>
          <a:prstGeom prst="rect">
            <a:avLst/>
          </a:prstGeom>
          <a:noFill/>
          <a:ln/>
        </p:spPr>
        <p:txBody>
          <a:bodyPr wrap="square" lIns="0" tIns="0" rIns="0" bIns="0" rtlCol="0" anchor="ctr"/>
          <a:lstStyle/>
          <a:p>
            <a:pPr marL="0" indent="0">
              <a:buNone/>
            </a:pPr>
            <a:r>
              <a:rPr lang="en-US" sz="4200" b="1" dirty="0">
                <a:solidFill>
                  <a:srgbClr val="FFFFFF"/>
                </a:solidFill>
                <a:latin typeface="Arial Black" pitchFamily="34" charset="0"/>
                <a:ea typeface="Arial Black" pitchFamily="34" charset="-122"/>
                <a:cs typeface="Arial Black" pitchFamily="34" charset="-120"/>
              </a:rPr>
              <a:t>Don't depend on it.</a:t>
            </a:r>
            <a:endParaRPr lang="en-US" sz="4200" dirty="0"/>
          </a:p>
        </p:txBody>
      </p:sp>
      <p:sp>
        <p:nvSpPr>
          <p:cNvPr id="5" name="Shape 3"/>
          <p:cNvSpPr/>
          <p:nvPr/>
        </p:nvSpPr>
        <p:spPr>
          <a:xfrm>
            <a:off x="365760" y="3063240"/>
            <a:ext cx="5029200" cy="36576"/>
          </a:xfrm>
          <a:prstGeom prst="rect">
            <a:avLst/>
          </a:prstGeom>
          <a:solidFill>
            <a:srgbClr val="30363D"/>
          </a:solidFill>
          <a:ln/>
        </p:spPr>
      </p:sp>
      <p:sp>
        <p:nvSpPr>
          <p:cNvPr id="6" name="Text 4"/>
          <p:cNvSpPr/>
          <p:nvPr/>
        </p:nvSpPr>
        <p:spPr>
          <a:xfrm>
            <a:off x="365760" y="3246120"/>
            <a:ext cx="5486400" cy="347472"/>
          </a:xfrm>
          <a:prstGeom prst="rect">
            <a:avLst/>
          </a:prstGeom>
          <a:noFill/>
          <a:ln/>
        </p:spPr>
        <p:txBody>
          <a:bodyPr wrap="square" lIns="0" tIns="0" rIns="0" bIns="0" rtlCol="0" anchor="ctr"/>
          <a:lstStyle/>
          <a:p>
            <a:pPr marL="0" indent="0">
              <a:buNone/>
            </a:pPr>
            <a:r>
              <a:rPr lang="en-US" sz="1500" dirty="0">
                <a:solidFill>
                  <a:srgbClr val="8B949E"/>
                </a:solidFill>
                <a:latin typeface="Calibri" pitchFamily="34" charset="0"/>
                <a:ea typeface="Calibri" pitchFamily="34" charset="-122"/>
                <a:cs typeface="Calibri" pitchFamily="34" charset="-120"/>
              </a:rPr>
              <a:t>Dumisani Masimini  |  Pentest People</a:t>
            </a:r>
            <a:endParaRPr lang="en-US" sz="1500" dirty="0"/>
          </a:p>
        </p:txBody>
      </p:sp>
      <p:sp>
        <p:nvSpPr>
          <p:cNvPr id="7" name="Text 5"/>
          <p:cNvSpPr/>
          <p:nvPr/>
        </p:nvSpPr>
        <p:spPr>
          <a:xfrm>
            <a:off x="365760" y="3611880"/>
            <a:ext cx="5486400" cy="320040"/>
          </a:xfrm>
          <a:prstGeom prst="rect">
            <a:avLst/>
          </a:prstGeom>
          <a:noFill/>
          <a:ln/>
        </p:spPr>
        <p:txBody>
          <a:bodyPr wrap="square" lIns="0" tIns="0" rIns="0" bIns="0" rtlCol="0" anchor="ctr"/>
          <a:lstStyle/>
          <a:p>
            <a:pPr marL="0" indent="0">
              <a:buNone/>
            </a:pPr>
            <a:r>
              <a:rPr lang="en-US" sz="1300" dirty="0">
                <a:solidFill>
                  <a:srgbClr val="30363D"/>
                </a:solidFill>
                <a:latin typeface="Consolas" pitchFamily="34" charset="0"/>
                <a:ea typeface="Consolas" pitchFamily="34" charset="-122"/>
                <a:cs typeface="Consolas" pitchFamily="34" charset="-120"/>
              </a:rPr>
              <a:t>BSides Exeter</a:t>
            </a:r>
            <a:endParaRPr lang="en-US" sz="1300" dirty="0"/>
          </a:p>
        </p:txBody>
      </p:sp>
      <p:sp>
        <p:nvSpPr>
          <p:cNvPr id="8" name="Shape 6"/>
          <p:cNvSpPr/>
          <p:nvPr/>
        </p:nvSpPr>
        <p:spPr>
          <a:xfrm>
            <a:off x="5943600" y="3108960"/>
            <a:ext cx="2743200" cy="1645920"/>
          </a:xfrm>
          <a:prstGeom prst="rect">
            <a:avLst/>
          </a:prstGeom>
          <a:solidFill>
            <a:srgbClr val="161B22"/>
          </a:solidFill>
          <a:ln/>
        </p:spPr>
      </p:sp>
      <p:sp>
        <p:nvSpPr>
          <p:cNvPr id="9" name="Text 7"/>
          <p:cNvSpPr/>
          <p:nvPr/>
        </p:nvSpPr>
        <p:spPr>
          <a:xfrm>
            <a:off x="5943600" y="3108960"/>
            <a:ext cx="2743200" cy="1645920"/>
          </a:xfrm>
          <a:prstGeom prst="rect">
            <a:avLst/>
          </a:prstGeom>
          <a:noFill/>
          <a:ln/>
        </p:spPr>
        <p:txBody>
          <a:bodyPr wrap="square" rtlCol="0" anchor="ctr"/>
          <a:lstStyle/>
          <a:p>
            <a:pPr marL="0" indent="0" algn="ctr">
              <a:buNone/>
            </a:pPr>
            <a:r>
              <a:rPr lang="en-US" sz="2000" b="1" dirty="0">
                <a:solidFill>
                  <a:srgbClr val="00D2FF"/>
                </a:solidFill>
                <a:latin typeface="Calibri" pitchFamily="34" charset="0"/>
                <a:ea typeface="Calibri" pitchFamily="34" charset="-122"/>
                <a:cs typeface="Calibri" pitchFamily="34" charset="-120"/>
              </a:rPr>
              <a:t>Questions &amp;</a:t>
            </a:r>
            <a:endParaRPr lang="en-US" sz="2000" dirty="0"/>
          </a:p>
          <a:p>
            <a:pPr marL="0" indent="0" algn="ctr">
              <a:buNone/>
            </a:pPr>
            <a:r>
              <a:rPr lang="en-US" sz="2000" b="1" dirty="0">
                <a:solidFill>
                  <a:srgbClr val="00D2FF"/>
                </a:solidFill>
                <a:latin typeface="Calibri" pitchFamily="34" charset="0"/>
                <a:ea typeface="Calibri" pitchFamily="34" charset="-122"/>
                <a:cs typeface="Calibri" pitchFamily="34" charset="-120"/>
              </a:rPr>
              <a:t>Discussion</a:t>
            </a:r>
            <a:endParaRPr lang="en-US" sz="2000" dirty="0"/>
          </a:p>
        </p:txBody>
      </p:sp>
      <p:pic>
        <p:nvPicPr>
          <p:cNvPr id="10" name="Picture 9">
            <a:extLst>
              <a:ext uri="{FF2B5EF4-FFF2-40B4-BE49-F238E27FC236}">
                <a16:creationId xmlns:a16="http://schemas.microsoft.com/office/drawing/2014/main" id="{A7680F21-DACD-4C07-A1DC-14933D5606B8}"/>
              </a:ext>
            </a:extLst>
          </p:cNvPr>
          <p:cNvPicPr>
            <a:picLocks noChangeAspect="1"/>
          </p:cNvPicPr>
          <p:nvPr/>
        </p:nvPicPr>
        <p:blipFill rotWithShape="1">
          <a:blip r:embed="rId3"/>
          <a:srcRect l="21185" r="19546" b="4337"/>
          <a:stretch/>
        </p:blipFill>
        <p:spPr>
          <a:xfrm>
            <a:off x="6220161" y="36694"/>
            <a:ext cx="2190077" cy="29441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6619</Words>
  <Application>Microsoft Office PowerPoint</Application>
  <PresentationFormat>On-screen Show (16:9)</PresentationFormat>
  <Paragraphs>742</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Arial Black</vt:lpstr>
      <vt:lpstr>Calibri</vt:lpstr>
      <vt:lpstr>Consolas</vt:lpstr>
      <vt:lpstr>Georgia</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Auto-Pwn or Auto-Fail: AI in Penetration Testing</dc:title>
  <dc:subject>PptxGenJS Presentation</dc:subject>
  <dc:creator>Dumisani Masimini</dc:creator>
  <cp:lastModifiedBy>Dee Mas</cp:lastModifiedBy>
  <cp:revision>11</cp:revision>
  <dcterms:created xsi:type="dcterms:W3CDTF">2026-04-19T22:20:27Z</dcterms:created>
  <dcterms:modified xsi:type="dcterms:W3CDTF">2026-04-24T21:35:33Z</dcterms:modified>
</cp:coreProperties>
</file>