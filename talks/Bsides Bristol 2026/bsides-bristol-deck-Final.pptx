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I'm Dumi. Thank you for being here.
I've been thinking about internal penetration testing for quite a while now - and I want to start with a question rather than an introduction.
[Keep this warm and brief. The real cold open is the next slide - don't give away the thesis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Congratulations. Pause. You've just compromised Active Directory. Pause. You've got Domain Admin. Pause. So... [click to next slide, let the silence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answer yet. Let it sit for three or four seconds. This is a genuine question you want the audience turning over in their heads, not a rhetorical throwaway. Then: 'Let's make that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on each option - genuinely pause and count.
Some people choose Domain Admin, some Global Admin, someone will say crown jewels.
Then: 'Good. Because that's where this talk starts.'
[Keep the energy playful here - this is the last light moment before things get more serious.]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game we've been playing for twenty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we're very, very good at this game. You've all drawn something like this. Low-priv user, local admin through a GPP password or cached creds, unconstrained delegation, DCSync, Domain Admin. Five hops, textbook methodology. This is deliberately the most comfortable slide in this talk - everyone in this room could draw this from memory. Hold onto that comfort - because it's exactly what I'm about to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show of hands - who's had an internal engagement in the last twelve months end in Domain Admin? Yep. Thought so. We've got better and better at attacking AD. Kerberoasting. Delegation abuse. AD CS attacks. DCSync. BloodHound to map it all. The techniques evolved, the tooling evolved - but the finish line didn't. Domain Admin. And I'm not criticising this methodology - it's brilliant, it's mature, it's repeatable, we know how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 very quickly, why am I asking you all this? I'm Dumi. In IT since 2008, penetration testing since 2019, trained through the SensePost Academy. I've spent years learning how to get Domain Admin - and increasingly, I've found myself asking what happens after that. That question is this whole talk. One housekeeping note - you may know me as Pentest People from previous talks; Pentest People and Bulletproof have since merged to form WorkNest Secure, who I represent today. And yes, this is a bit of a full-circle moment - Bristol was my first BSides talk, back in 2025. Keep this whole slide under 30-40 seconds - it's a bridge, not a biography. Then straight into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bomb. Deliver it flat and slow, no build-up flourish - the starkness of the black slide does the work. Let four or five seconds of total silence follow it. This is the moment the talk pivots from history to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We got Domain Admin.
Everyone in this room would probably call that a successful internal pentest.
But the thing the company actually cared about wasn't in Active Directory.
[Read the quote slowly.]
That's a composite of something I've seen repeatedly - not a direct quote from one client. Say so plainly if asked.
And there's a genuinely uncomfortable question hidden inside it: if we compromise the domain, but never touch the system holding the thing the business actually cares about - did we really compromise the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real aha of the talk - the audience should feel the ground shift slightly here. Keep it short, let it breathe. Then: 'Not what we thought. Here's what actually moved underneath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controversial.
M365 and Entra ID are the default identity backbone almost everywhere now. Every org runs dozens of SaaS apps, each with its own admin plane. Multi-cloud is the norm, not the exception. And every endpoint is managed by an MDM or UEM platform that decides what's allowed to connect at all.
The enterprise perimeter isn't a domain boundary anymore - it's a mesh of these four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flat statement of fact, not a question. Pause after it. Then say: 'So if privilege isn't the unit anymore... what is?' Pause again. Don't answer it yet - that's what the next fifteen minutes are for. This line is the thesis; the answer gets earned, not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find out.
Five places trust actually lives in a modern enterprise: identity providers, SaaS platforms, device management, cloud admin planes, and OAuth and federation.
I'm not going to tell you the answer up front - each one is a clue.
Four of these five have named, public breach evidence. The fifth - device management - is different, and I'll be honest about that when we get there.
Watch what each example gives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pillar: identity providers. This is the one I'd argue matters most right now, because it's where MFA, conditional access, and federation all converge. If you own the IdP, you often inherit trust everywhere that federation reaches - Azure, SaaS apps, VPNs,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chain isn't hypothetical. In September 2023, Scattered Spider phoned the IT help desk at MGM Resorts, social-engineered a password reset, and got into MGM's Okta super-admin console. From there they pivoted into MGM's Azure Global Admin role - and the casino floor was offline for ten days. Caesars was hit with the same technique the same month and paid a fifteen-million-dollar ransom. No domain controller was involved in the initial compromise - a phone call to a help desk was enough. So what should a pentester actually do differently? Don't just ask what happens if I compromise a domain account. Ask what happens if I compromise an identity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mockup, not a real tenant - built to make the MGM chain concrete rather than abstract. Point at the red pill: 'Require MFA - All Users' set to Off. That one toggle is the entire difference between a hardened identity provider and a ten-minute phone call to a help desk. Keep this slide brief - fifteen, twenty seconds,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pillar: device management. MDM and UEM platforms decide which endpoints get trusted, what policy they receive, sometimes even what certificates get issued to them. Here's an honest caveat before we go further - this is the pillar with the least public breach case-study material of the five, and I want to be straight with you about that rather than oversell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chain is more research-driven than breach-driven today - grounded in published research on MDM and UEM misconfiguration rather than a single headline breach. I'd rather tell you that honestly than dress up research as an incident. So what should a pentester actually do differently? Don't just test whether a device can authenticate. Test why the organisation believes that device should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illustrative-mockup caveat applies, and it's worth saying out loud here specifically since this is the pillar with the weakest public evidence: 'to be clear, this is a plausible configuration, not a documented breach.' Point at jailbreak detection being off and BYOD wide open - that combination is what turns a device-trust model into a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pillar: SaaS platforms. Callback to the quote at the start of the talk - the crown jewels weren't in AD, they were in a SaaS platform. This is where that pattern shows up hardest, and it's had one of the biggest breach years 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2024, the Snowflake customer breach hit roughly 165 organisations - AT&amp;T, Ticketmaster, Santander among them - using nothing more than credentials stolen years earlier by infostealer malware, against accounts that had no MFA enforced. Snowflake itself wasn't breached. It was entirely a SaaS credential problem. So what should a pentester actually do differently? Don't stop at the corporate domain. Ask where the actual business data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service account row: full ACCOUNTADMIN-equivalent rights, no MFA. This is deliberately not a 'hack' - it's a permissioning decision that sat unreviewed. That's the same shape as the 2024 Snowflake customer breaches: stolen credentials, no MFA, no exploit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pillar: OAuth and federation. This tends to be the least familiar pillar for most audiences, so let me ground it - when you consent to an app, you're granting it a scoped token that can outlive the login session and sometimes outlive MFA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one's uncomfortable because it happened to Microsoft, not a random SME. Between November 2023 and January 2024, the Russian state actor Midnight Blizzard compromised a legacy, non-production test tenant that had no MFA. They found an over-permissioned test OAuth app, used it to pivot into Microsoft's actual corporate tenant, created new admin accounts, and granted their own malicious OAuth apps the full_access_as_app Exchange role - meaning full read access to any mailbox in the tenant, including senior leadership. They were in for over a month before detection. So what should a pentester actually do differently? Don't just test passwords and MFA. Test what applications have been granted the authority to act on behalf of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closest mockup to the actual Microsoft incident - point at 'full_access_as_app' and 'last used 214 days ago' together. The permission alone isn't unusual; it's the combination of high privilege and zero ongoing scrutiny that makes forgotten OAuth apps such a good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and final pillar: cloud admin planes. Honest framing here - this is probably the most mature and least novel of the five in terms of security research. IAM misconfiguration in AWS, Azure and GCP has been a top cloud breach root cause for years. The novelty in this talk isn't that cloud IAM misconfig exists - it's that it now sits in the same trust graph as your domain, and most internal engagements still don't touch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privilege escalation paths in AWS and Azure are extremely well documented - projects like Pacu and ScoutSuite exist specifically because this attack surface is so mature. What's genuinely new isn't the technique, it's the scope: this is now one stop in a five-pillar chain rather than a standalone cloud pentest finding. So what should a pentester actually do differently? Don't treat cloud as a separate assessment. Ask what identities from the internal environment can become cloud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highlighted lines: Action star, Resource star. This is a deployment role, not an admin role - but a wildcard action against a wildcard resource makes that distinction meaningless. This exact pattern is what tools like Pacu are built to find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watch what happens when I actually follow trust instead of chasing privilege.
[This is a composite - built from the pattern of all five real incidents shown, not one real client engagement - but every hop has happened, publicly, in the last three years.]
I compromise an identity. ...What does this identity trust? A device trusts this identity - now I'm a trusted device.
...What does that device give me? SaaS trusts that identity and device - I reach a SaaS admin console.
...What does SaaS trust me with? An OAuth grant, into a partner tenant.
...What does that application trust? Cloud trusts the identity - I assume an IAM role.
...And what does the cloud let me do? Everything.
No domain controller was ever touched. No BloodHound edge was ever walked.
[Click forward - don't say the punchline yet, the next slide says it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sit for three or four seconds before saying anything. This is the emotional peak of the talk - the silence is doing the work, not you. Then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asking it. Don't answer yet - let it hang for a beat, then click forward to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simply: 'Reach.' Let it land. Then: 'Privilege tells you what I am. Reach tells you what I can affect.' Pause. 'And that's the difference between getting Domain Admin... and actually understanding compromise.' This is the word the rest of the talk has been building towards - not trust itself, but what trust gets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one is the bigger compromise?
[Pause - let people actually think, don't rush to answer.]
Pentest A is easier to score - it's clean, it's got a name everyone recognises. Pentest B is potentially far more damaging.
So why does our methodology struggle to describe it? Because we have a metric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underneath everything else in this talk.
The old metric is privilege gained - did you get Domain Admin, yes or no, ten out of ten. The new metric has to be trust traversed - how many systems did you reach, what data did you access, what's the actual business impact, what's the blast radius.
Stop reporting the badge. Start reporting the blast radius.
[Say this slowly - this is the line I want people photographing.]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know what reach actually means - here's the network it happens across.
Active Directory hasn't disappeared. It's still important. But it's one node. Identity is another. SaaS is another. Cloud is another. Devices are another. OAuth connects organisations together.
The modern internal network is the relationships between these systems.
And it runs both ways - a lot of these nodes connect back into AD through hybrid identity, sync accounts and pass-through authentication. This graph isn't just AD radiating outward, it's bidirectional.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challenge the argument for a second.
Is this actually happening? Yes - four of the five pillars have named, public breach evidence, which I've just shown you.
Is this really different from AD? Yes - the trust relationships extend well beyond the domain boundary, that's the whole point.
Is device management proven? Not yet at the same level - it's an emerging, research-driven surface, and I'd rather say that plainly than oversell it.
Are those screenshots real? No. They're illustrative mockups built to make the pattern concrete, not a real client's tenant - I've said so on every one of them.
I'm deliberately separating what we know from what I think is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really clear about something before we go further - I don't want anyone thinking I've just spent thirty minutes declaring Active Directory dead.
No. Absolutely not. AD is still incredibly important.
If anything, the point is that it's now part of a bigger graph. Sometimes the attacker starts in AD. Sometimes they start outside it. Sometimes they move back and forth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actually do differently on Monday morning? Four things.
One - map the full trust graph before you scope, not just the domain.
Two - enumerate each pillar properly: conditional access policy, app consent grants, IAM policies, MDM enrollment rules.
Three - chain across boundaries, actively look for privilege that crosses from one system into another.
Four - redefine what game over means. You already know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takeaway depending on your seat.
Pentesters - push your scoping conversations wider.
Red teamers - you're probably already doing some of this, keep chaining across boundaries.
Blue teamers - your detection engineering needs to extend past the domain into IdP, SaaS and device management logs.
Security leaders - the strategic question is where your organisation's trust actually concentrates today.
Because if your testing programme still looks exactly like it did ten years ago, your testing programme may now be the legacy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That's all I want you to leave with.
One - the internal network has already changed.
Two - Domain Admin is a milestone. It isn't always the objective.
Three - privilege is no longer the unit of compromise. Reach is. Trust is how you get there. Real compromise today is a chain across a trust graph, not a single privilege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next time you get asked to scope an internal penetration test, I want you to ask one question.
Where does the organisation actually trust?
Because that... is your internal network. Thank you.
[Backup question if Q&amp;A runs dry: What's stopped your organisation from testing beyond AD so far - scoping, tooling, or buy-in?]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part of the spoken talk - only pull it up if a specific Q&amp;A question needs the detail. If someone asks 'what's your evidence for X pillar,' jump here and read the relevant row's real-world anchor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part of the spoken talk - it's here for anyone who wants to scan through to the primary sources after the fact, or for me to point to if someone asks where a specific case study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spoken talk. Pull this up only if someone in the room looks lost on a term, or a Q&amp;A question needs a definition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spoken talk - the deck deliberately doesn't preview the story up front. Only reference this if someone in Q&amp;A asks how the talk was structured.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image" Target="../media/image-8-2.png"/><Relationship Id="rId5" Type="http://schemas.openxmlformats.org/officeDocument/2006/relationships/image" Target="../media/image-8-2.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1.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F"/>
        </a:solidFill>
      </p:bgPr>
    </p:bg>
    <p:spTree>
      <p:nvGrpSpPr>
        <p:cNvPr id="1" name=""/>
        <p:cNvGrpSpPr/>
        <p:nvPr/>
      </p:nvGrpSpPr>
      <p:grpSpPr>
        <a:xfrm>
          <a:off x="0" y="0"/>
          <a:ext cx="0" cy="0"/>
          <a:chOff x="0" y="0"/>
          <a:chExt cx="0" cy="0"/>
        </a:xfrm>
      </p:grpSpPr>
      <p:sp>
        <p:nvSpPr>
          <p:cNvPr id="2" name="Shape 0"/>
          <p:cNvSpPr/>
          <p:nvPr/>
        </p:nvSpPr>
        <p:spPr>
          <a:xfrm>
            <a:off x="822960" y="1005840"/>
            <a:ext cx="822960" cy="1371600"/>
          </a:xfrm>
          <a:prstGeom prst="line">
            <a:avLst/>
          </a:prstGeom>
          <a:noFill/>
          <a:ln w="15240">
            <a:solidFill>
              <a:srgbClr val="16204A"/>
            </a:solidFill>
            <a:prstDash val="solid"/>
          </a:ln>
        </p:spPr>
      </p:sp>
      <p:sp>
        <p:nvSpPr>
          <p:cNvPr id="3" name="Shape 1"/>
          <p:cNvSpPr/>
          <p:nvPr/>
        </p:nvSpPr>
        <p:spPr>
          <a:xfrm>
            <a:off x="1097280" y="2377440"/>
            <a:ext cx="548640" cy="2011680"/>
          </a:xfrm>
          <a:prstGeom prst="line">
            <a:avLst/>
          </a:prstGeom>
          <a:noFill/>
          <a:ln w="15240">
            <a:solidFill>
              <a:srgbClr val="16204A"/>
            </a:solidFill>
            <a:prstDash val="solid"/>
          </a:ln>
        </p:spPr>
      </p:sp>
      <p:sp>
        <p:nvSpPr>
          <p:cNvPr id="4" name="Shape 2"/>
          <p:cNvSpPr/>
          <p:nvPr/>
        </p:nvSpPr>
        <p:spPr>
          <a:xfrm>
            <a:off x="1097280" y="4389120"/>
            <a:ext cx="1280160" cy="1005840"/>
          </a:xfrm>
          <a:prstGeom prst="line">
            <a:avLst/>
          </a:prstGeom>
          <a:noFill/>
          <a:ln w="15240">
            <a:solidFill>
              <a:srgbClr val="16204A"/>
            </a:solidFill>
            <a:prstDash val="solid"/>
          </a:ln>
        </p:spPr>
      </p:sp>
      <p:sp>
        <p:nvSpPr>
          <p:cNvPr id="5" name="Shape 3"/>
          <p:cNvSpPr/>
          <p:nvPr/>
        </p:nvSpPr>
        <p:spPr>
          <a:xfrm>
            <a:off x="548640" y="1005840"/>
            <a:ext cx="274320" cy="2103120"/>
          </a:xfrm>
          <a:prstGeom prst="line">
            <a:avLst/>
          </a:prstGeom>
          <a:noFill/>
          <a:ln w="15240">
            <a:solidFill>
              <a:srgbClr val="16204A"/>
            </a:solidFill>
            <a:prstDash val="solid"/>
          </a:ln>
        </p:spPr>
      </p:sp>
      <p:sp>
        <p:nvSpPr>
          <p:cNvPr id="6" name="Shape 4"/>
          <p:cNvSpPr/>
          <p:nvPr/>
        </p:nvSpPr>
        <p:spPr>
          <a:xfrm>
            <a:off x="548640" y="2377440"/>
            <a:ext cx="1097280" cy="731520"/>
          </a:xfrm>
          <a:prstGeom prst="line">
            <a:avLst/>
          </a:prstGeom>
          <a:noFill/>
          <a:ln w="15240">
            <a:solidFill>
              <a:srgbClr val="16204A"/>
            </a:solidFill>
            <a:prstDash val="solid"/>
          </a:ln>
        </p:spPr>
      </p:sp>
      <p:sp>
        <p:nvSpPr>
          <p:cNvPr id="7" name="Shape 5"/>
          <p:cNvSpPr/>
          <p:nvPr/>
        </p:nvSpPr>
        <p:spPr>
          <a:xfrm>
            <a:off x="822960" y="914400"/>
            <a:ext cx="2468880" cy="91440"/>
          </a:xfrm>
          <a:prstGeom prst="line">
            <a:avLst/>
          </a:prstGeom>
          <a:noFill/>
          <a:ln w="15240">
            <a:solidFill>
              <a:srgbClr val="16204A"/>
            </a:solidFill>
            <a:prstDash val="solid"/>
          </a:ln>
        </p:spPr>
      </p:sp>
      <p:sp>
        <p:nvSpPr>
          <p:cNvPr id="8" name="Shape 6"/>
          <p:cNvSpPr/>
          <p:nvPr/>
        </p:nvSpPr>
        <p:spPr>
          <a:xfrm>
            <a:off x="10607040" y="1188720"/>
            <a:ext cx="640080" cy="1463040"/>
          </a:xfrm>
          <a:prstGeom prst="line">
            <a:avLst/>
          </a:prstGeom>
          <a:noFill/>
          <a:ln w="15240">
            <a:solidFill>
              <a:srgbClr val="16204A"/>
            </a:solidFill>
            <a:prstDash val="solid"/>
          </a:ln>
        </p:spPr>
      </p:sp>
      <p:sp>
        <p:nvSpPr>
          <p:cNvPr id="9" name="Shape 7"/>
          <p:cNvSpPr/>
          <p:nvPr/>
        </p:nvSpPr>
        <p:spPr>
          <a:xfrm>
            <a:off x="10607040" y="2651760"/>
            <a:ext cx="914400" cy="1554480"/>
          </a:xfrm>
          <a:prstGeom prst="line">
            <a:avLst/>
          </a:prstGeom>
          <a:noFill/>
          <a:ln w="15240">
            <a:solidFill>
              <a:srgbClr val="16204A"/>
            </a:solidFill>
            <a:prstDash val="solid"/>
          </a:ln>
        </p:spPr>
      </p:sp>
      <p:sp>
        <p:nvSpPr>
          <p:cNvPr id="10" name="Shape 8"/>
          <p:cNvSpPr/>
          <p:nvPr/>
        </p:nvSpPr>
        <p:spPr>
          <a:xfrm>
            <a:off x="10332720" y="4206240"/>
            <a:ext cx="1188720" cy="1097280"/>
          </a:xfrm>
          <a:prstGeom prst="line">
            <a:avLst/>
          </a:prstGeom>
          <a:noFill/>
          <a:ln w="15240">
            <a:solidFill>
              <a:srgbClr val="16204A"/>
            </a:solidFill>
            <a:prstDash val="solid"/>
          </a:ln>
        </p:spPr>
      </p:sp>
      <p:sp>
        <p:nvSpPr>
          <p:cNvPr id="11" name="Shape 9"/>
          <p:cNvSpPr/>
          <p:nvPr/>
        </p:nvSpPr>
        <p:spPr>
          <a:xfrm>
            <a:off x="10332720" y="5303520"/>
            <a:ext cx="640080" cy="822960"/>
          </a:xfrm>
          <a:prstGeom prst="line">
            <a:avLst/>
          </a:prstGeom>
          <a:noFill/>
          <a:ln w="15240">
            <a:solidFill>
              <a:srgbClr val="16204A"/>
            </a:solidFill>
            <a:prstDash val="solid"/>
          </a:ln>
        </p:spPr>
      </p:sp>
      <p:sp>
        <p:nvSpPr>
          <p:cNvPr id="12" name="Shape 10"/>
          <p:cNvSpPr/>
          <p:nvPr/>
        </p:nvSpPr>
        <p:spPr>
          <a:xfrm flipV="1">
            <a:off x="9509760" y="914400"/>
            <a:ext cx="1737360" cy="274320"/>
          </a:xfrm>
          <a:prstGeom prst="line">
            <a:avLst/>
          </a:prstGeom>
          <a:noFill/>
          <a:ln w="15240">
            <a:solidFill>
              <a:srgbClr val="16204A"/>
            </a:solidFill>
            <a:prstDash val="solid"/>
          </a:ln>
        </p:spPr>
      </p:sp>
      <p:sp>
        <p:nvSpPr>
          <p:cNvPr id="13" name="Shape 11"/>
          <p:cNvSpPr/>
          <p:nvPr/>
        </p:nvSpPr>
        <p:spPr>
          <a:xfrm flipV="1">
            <a:off x="9509760" y="914400"/>
            <a:ext cx="1463040" cy="5212080"/>
          </a:xfrm>
          <a:prstGeom prst="line">
            <a:avLst/>
          </a:prstGeom>
          <a:noFill/>
          <a:ln w="15240">
            <a:solidFill>
              <a:srgbClr val="16204A"/>
            </a:solidFill>
            <a:prstDash val="solid"/>
          </a:ln>
        </p:spPr>
      </p:sp>
      <p:sp>
        <p:nvSpPr>
          <p:cNvPr id="14" name="Shape 12"/>
          <p:cNvSpPr/>
          <p:nvPr/>
        </p:nvSpPr>
        <p:spPr>
          <a:xfrm>
            <a:off x="768096" y="950976"/>
            <a:ext cx="109728" cy="109728"/>
          </a:xfrm>
          <a:prstGeom prst="ellipse">
            <a:avLst/>
          </a:prstGeom>
          <a:solidFill>
            <a:srgbClr val="00E5FF"/>
          </a:solidFill>
          <a:ln/>
        </p:spPr>
      </p:sp>
      <p:sp>
        <p:nvSpPr>
          <p:cNvPr id="15" name="Shape 13"/>
          <p:cNvSpPr/>
          <p:nvPr/>
        </p:nvSpPr>
        <p:spPr>
          <a:xfrm>
            <a:off x="1591056" y="2322576"/>
            <a:ext cx="109728" cy="109728"/>
          </a:xfrm>
          <a:prstGeom prst="ellipse">
            <a:avLst/>
          </a:prstGeom>
          <a:solidFill>
            <a:srgbClr val="7C5CFC"/>
          </a:solidFill>
          <a:ln/>
        </p:spPr>
      </p:sp>
      <p:sp>
        <p:nvSpPr>
          <p:cNvPr id="16" name="Shape 14"/>
          <p:cNvSpPr/>
          <p:nvPr/>
        </p:nvSpPr>
        <p:spPr>
          <a:xfrm>
            <a:off x="1042416" y="4334256"/>
            <a:ext cx="109728" cy="109728"/>
          </a:xfrm>
          <a:prstGeom prst="ellipse">
            <a:avLst/>
          </a:prstGeom>
          <a:solidFill>
            <a:srgbClr val="7C5CFC"/>
          </a:solidFill>
          <a:ln/>
        </p:spPr>
      </p:sp>
      <p:sp>
        <p:nvSpPr>
          <p:cNvPr id="17" name="Shape 15"/>
          <p:cNvSpPr/>
          <p:nvPr/>
        </p:nvSpPr>
        <p:spPr>
          <a:xfrm>
            <a:off x="2322576" y="5340096"/>
            <a:ext cx="109728" cy="109728"/>
          </a:xfrm>
          <a:prstGeom prst="ellipse">
            <a:avLst/>
          </a:prstGeom>
          <a:solidFill>
            <a:srgbClr val="00E5FF"/>
          </a:solidFill>
          <a:ln/>
        </p:spPr>
      </p:sp>
      <p:sp>
        <p:nvSpPr>
          <p:cNvPr id="18" name="Shape 16"/>
          <p:cNvSpPr/>
          <p:nvPr/>
        </p:nvSpPr>
        <p:spPr>
          <a:xfrm>
            <a:off x="493776" y="3054096"/>
            <a:ext cx="109728" cy="109728"/>
          </a:xfrm>
          <a:prstGeom prst="ellipse">
            <a:avLst/>
          </a:prstGeom>
          <a:solidFill>
            <a:srgbClr val="7C5CFC"/>
          </a:solidFill>
          <a:ln/>
        </p:spPr>
      </p:sp>
      <p:sp>
        <p:nvSpPr>
          <p:cNvPr id="19" name="Shape 17"/>
          <p:cNvSpPr/>
          <p:nvPr/>
        </p:nvSpPr>
        <p:spPr>
          <a:xfrm>
            <a:off x="3236976" y="859536"/>
            <a:ext cx="109728" cy="109728"/>
          </a:xfrm>
          <a:prstGeom prst="ellipse">
            <a:avLst/>
          </a:prstGeom>
          <a:solidFill>
            <a:srgbClr val="7C5CFC"/>
          </a:solidFill>
          <a:ln/>
        </p:spPr>
      </p:sp>
      <p:sp>
        <p:nvSpPr>
          <p:cNvPr id="20" name="Shape 18"/>
          <p:cNvSpPr/>
          <p:nvPr/>
        </p:nvSpPr>
        <p:spPr>
          <a:xfrm>
            <a:off x="11192256" y="1133856"/>
            <a:ext cx="109728" cy="109728"/>
          </a:xfrm>
          <a:prstGeom prst="ellipse">
            <a:avLst/>
          </a:prstGeom>
          <a:solidFill>
            <a:srgbClr val="00E5FF"/>
          </a:solidFill>
          <a:ln/>
        </p:spPr>
      </p:sp>
      <p:sp>
        <p:nvSpPr>
          <p:cNvPr id="21" name="Shape 19"/>
          <p:cNvSpPr/>
          <p:nvPr/>
        </p:nvSpPr>
        <p:spPr>
          <a:xfrm>
            <a:off x="10552176" y="2596896"/>
            <a:ext cx="109728" cy="109728"/>
          </a:xfrm>
          <a:prstGeom prst="ellipse">
            <a:avLst/>
          </a:prstGeom>
          <a:solidFill>
            <a:srgbClr val="7C5CFC"/>
          </a:solidFill>
          <a:ln/>
        </p:spPr>
      </p:sp>
      <p:sp>
        <p:nvSpPr>
          <p:cNvPr id="22" name="Shape 20"/>
          <p:cNvSpPr/>
          <p:nvPr/>
        </p:nvSpPr>
        <p:spPr>
          <a:xfrm>
            <a:off x="11466576" y="4151376"/>
            <a:ext cx="109728" cy="109728"/>
          </a:xfrm>
          <a:prstGeom prst="ellipse">
            <a:avLst/>
          </a:prstGeom>
          <a:solidFill>
            <a:srgbClr val="7C5CFC"/>
          </a:solidFill>
          <a:ln/>
        </p:spPr>
      </p:sp>
      <p:sp>
        <p:nvSpPr>
          <p:cNvPr id="23" name="Shape 21"/>
          <p:cNvSpPr/>
          <p:nvPr/>
        </p:nvSpPr>
        <p:spPr>
          <a:xfrm>
            <a:off x="10277856" y="5248656"/>
            <a:ext cx="109728" cy="109728"/>
          </a:xfrm>
          <a:prstGeom prst="ellipse">
            <a:avLst/>
          </a:prstGeom>
          <a:solidFill>
            <a:srgbClr val="00E5FF"/>
          </a:solidFill>
          <a:ln/>
        </p:spPr>
      </p:sp>
      <p:sp>
        <p:nvSpPr>
          <p:cNvPr id="24" name="Shape 22"/>
          <p:cNvSpPr/>
          <p:nvPr/>
        </p:nvSpPr>
        <p:spPr>
          <a:xfrm>
            <a:off x="10917936" y="6071616"/>
            <a:ext cx="109728" cy="109728"/>
          </a:xfrm>
          <a:prstGeom prst="ellipse">
            <a:avLst/>
          </a:prstGeom>
          <a:solidFill>
            <a:srgbClr val="7C5CFC"/>
          </a:solidFill>
          <a:ln/>
        </p:spPr>
      </p:sp>
      <p:sp>
        <p:nvSpPr>
          <p:cNvPr id="25" name="Shape 23"/>
          <p:cNvSpPr/>
          <p:nvPr/>
        </p:nvSpPr>
        <p:spPr>
          <a:xfrm>
            <a:off x="9454896" y="859536"/>
            <a:ext cx="109728" cy="109728"/>
          </a:xfrm>
          <a:prstGeom prst="ellipse">
            <a:avLst/>
          </a:prstGeom>
          <a:solidFill>
            <a:srgbClr val="7C5CFC"/>
          </a:solidFill>
          <a:ln/>
        </p:spPr>
      </p:sp>
      <p:sp>
        <p:nvSpPr>
          <p:cNvPr id="26" name="Text 24"/>
          <p:cNvSpPr/>
          <p:nvPr/>
        </p:nvSpPr>
        <p:spPr>
          <a:xfrm>
            <a:off x="822960" y="1371600"/>
            <a:ext cx="5486400" cy="365760"/>
          </a:xfrm>
          <a:prstGeom prst="rect">
            <a:avLst/>
          </a:prstGeom>
          <a:noFill/>
          <a:ln/>
        </p:spPr>
        <p:txBody>
          <a:bodyPr wrap="square" rtlCol="0" anchor="ctr"/>
          <a:lstStyle/>
          <a:p>
            <a:pPr indent="0" marL="0">
              <a:buNone/>
            </a:pPr>
            <a:r>
              <a:rPr lang="en-US" sz="1400" b="1" spc="300" kern="0" dirty="0">
                <a:solidFill>
                  <a:srgbClr val="00E5FF"/>
                </a:solidFill>
                <a:latin typeface="Calibri" pitchFamily="34" charset="0"/>
                <a:ea typeface="Calibri" pitchFamily="34" charset="-122"/>
                <a:cs typeface="Calibri" pitchFamily="34" charset="-120"/>
              </a:rPr>
              <a:t>BSIDES BRISTOL 2026</a:t>
            </a:r>
            <a:endParaRPr lang="en-US" sz="1400" dirty="0"/>
          </a:p>
        </p:txBody>
      </p:sp>
      <p:sp>
        <p:nvSpPr>
          <p:cNvPr id="27" name="Text 25"/>
          <p:cNvSpPr/>
          <p:nvPr/>
        </p:nvSpPr>
        <p:spPr>
          <a:xfrm>
            <a:off x="777240" y="1783080"/>
            <a:ext cx="10515600" cy="137160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Next Internal Network</a:t>
            </a:r>
            <a:endParaRPr lang="en-US" sz="4800" dirty="0"/>
          </a:p>
        </p:txBody>
      </p:sp>
      <p:sp>
        <p:nvSpPr>
          <p:cNvPr id="28" name="Text 26"/>
          <p:cNvSpPr/>
          <p:nvPr/>
        </p:nvSpPr>
        <p:spPr>
          <a:xfrm>
            <a:off x="822960" y="2880360"/>
            <a:ext cx="10058400" cy="822960"/>
          </a:xfrm>
          <a:prstGeom prst="rect">
            <a:avLst/>
          </a:prstGeom>
          <a:noFill/>
          <a:ln/>
        </p:spPr>
        <p:txBody>
          <a:bodyPr wrap="square" rtlCol="0" anchor="ctr"/>
          <a:lstStyle/>
          <a:p>
            <a:pPr indent="0" marL="0">
              <a:buNone/>
            </a:pPr>
            <a:r>
              <a:rPr lang="en-US" sz="2400" i="1" dirty="0">
                <a:solidFill>
                  <a:srgbClr val="7C5CFC"/>
                </a:solidFill>
                <a:latin typeface="Cambria" pitchFamily="34" charset="0"/>
                <a:ea typeface="Cambria" pitchFamily="34" charset="-122"/>
                <a:cs typeface="Cambria" pitchFamily="34" charset="-120"/>
              </a:rPr>
              <a:t>Why Domain Admin Is No Longer the Finish Line</a:t>
            </a:r>
            <a:endParaRPr lang="en-US" sz="2400" dirty="0"/>
          </a:p>
        </p:txBody>
      </p:sp>
      <p:sp>
        <p:nvSpPr>
          <p:cNvPr id="29" name="Shape 27"/>
          <p:cNvSpPr/>
          <p:nvPr/>
        </p:nvSpPr>
        <p:spPr>
          <a:xfrm>
            <a:off x="822960" y="3794760"/>
            <a:ext cx="2011680" cy="0"/>
          </a:xfrm>
          <a:prstGeom prst="line">
            <a:avLst/>
          </a:prstGeom>
          <a:noFill/>
          <a:ln w="25400">
            <a:solidFill>
              <a:srgbClr val="00E5FF"/>
            </a:solidFill>
            <a:prstDash val="solid"/>
          </a:ln>
        </p:spPr>
      </p:sp>
      <p:sp>
        <p:nvSpPr>
          <p:cNvPr id="30" name="Text 28"/>
          <p:cNvSpPr/>
          <p:nvPr/>
        </p:nvSpPr>
        <p:spPr>
          <a:xfrm>
            <a:off x="822960" y="3977640"/>
            <a:ext cx="8686800" cy="548640"/>
          </a:xfrm>
          <a:prstGeom prst="rect">
            <a:avLst/>
          </a:prstGeom>
          <a:noFill/>
          <a:ln/>
        </p:spPr>
        <p:txBody>
          <a:bodyPr wrap="square" rtlCol="0" anchor="ctr"/>
          <a:lstStyle/>
          <a:p>
            <a:pPr indent="0" marL="0">
              <a:buNone/>
            </a:pPr>
            <a:r>
              <a:rPr lang="en-US" sz="1500" dirty="0">
                <a:solidFill>
                  <a:srgbClr val="8E9BC0"/>
                </a:solidFill>
                <a:latin typeface="Calibri" pitchFamily="34" charset="0"/>
                <a:ea typeface="Calibri" pitchFamily="34" charset="-122"/>
                <a:cs typeface="Calibri" pitchFamily="34" charset="-120"/>
              </a:rPr>
              <a:t>Rethinking what successful compromise looks like in the modern enterprise</a:t>
            </a:r>
            <a:endParaRPr lang="en-US" sz="1500" dirty="0"/>
          </a:p>
        </p:txBody>
      </p:sp>
      <p:sp>
        <p:nvSpPr>
          <p:cNvPr id="31" name="Text 29"/>
          <p:cNvSpPr/>
          <p:nvPr/>
        </p:nvSpPr>
        <p:spPr>
          <a:xfrm>
            <a:off x="822960" y="6035040"/>
            <a:ext cx="91440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Dumisani Masimini (Dumi)  |  Offensive Security Consultant, WorkNest Secure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286000"/>
            <a:ext cx="10515600" cy="219456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YOU GOT</a:t>
            </a:r>
            <a:endParaRPr lang="en-US" sz="5400" dirty="0"/>
          </a:p>
          <a:p>
            <a:pPr algn="ctr" indent="0" marL="0">
              <a:buNone/>
            </a:pPr>
            <a:r>
              <a:rPr lang="en-US" sz="5400" b="1" dirty="0">
                <a:solidFill>
                  <a:srgbClr val="FFFFFF"/>
                </a:solidFill>
                <a:latin typeface="Cambria" pitchFamily="34" charset="0"/>
                <a:ea typeface="Cambria" pitchFamily="34" charset="-122"/>
                <a:cs typeface="Cambria" pitchFamily="34" charset="-120"/>
              </a:rPr>
              <a:t>DOMAIN ADMIN.</a:t>
            </a:r>
            <a:endParaRPr lang="en-US" sz="5400" dirty="0"/>
          </a:p>
        </p:txBody>
      </p:sp>
      <p:sp>
        <p:nvSpPr>
          <p:cNvPr id="3" name="Text 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286000"/>
            <a:ext cx="10515600" cy="2011680"/>
          </a:xfrm>
          <a:prstGeom prst="rect">
            <a:avLst/>
          </a:prstGeom>
          <a:noFill/>
          <a:ln/>
        </p:spPr>
        <p:txBody>
          <a:bodyPr wrap="square" rtlCol="0" anchor="ctr"/>
          <a:lstStyle/>
          <a:p>
            <a:pPr algn="ctr" indent="0" marL="0">
              <a:buNone/>
            </a:pPr>
            <a:r>
              <a:rPr lang="en-US" sz="4400" b="1" dirty="0">
                <a:solidFill>
                  <a:srgbClr val="00E5FF"/>
                </a:solidFill>
                <a:latin typeface="Cambria" pitchFamily="34" charset="0"/>
                <a:ea typeface="Cambria" pitchFamily="34" charset="-122"/>
                <a:cs typeface="Cambria" pitchFamily="34" charset="-120"/>
              </a:rPr>
              <a:t>HOW MUCH OF THE</a:t>
            </a:r>
            <a:endParaRPr lang="en-US" sz="4400" dirty="0"/>
          </a:p>
          <a:p>
            <a:pPr algn="ctr" indent="0" marL="0">
              <a:buNone/>
            </a:pPr>
            <a:r>
              <a:rPr lang="en-US" sz="4400" b="1" dirty="0">
                <a:solidFill>
                  <a:srgbClr val="00E5FF"/>
                </a:solidFill>
                <a:latin typeface="Cambria" pitchFamily="34" charset="0"/>
                <a:ea typeface="Cambria" pitchFamily="34" charset="-122"/>
                <a:cs typeface="Cambria" pitchFamily="34" charset="-120"/>
              </a:rPr>
              <a:t>COMPANY DO YOU OWN?</a:t>
            </a:r>
            <a:endParaRPr lang="en-US" sz="4400" dirty="0"/>
          </a:p>
        </p:txBody>
      </p:sp>
      <p:sp>
        <p:nvSpPr>
          <p:cNvPr id="3" name="Text 1"/>
          <p:cNvSpPr/>
          <p:nvPr/>
        </p:nvSpPr>
        <p:spPr>
          <a:xfrm>
            <a:off x="1280160" y="4434840"/>
            <a:ext cx="9601200" cy="548640"/>
          </a:xfrm>
          <a:prstGeom prst="rect">
            <a:avLst/>
          </a:prstGeom>
          <a:noFill/>
          <a:ln/>
        </p:spPr>
        <p:txBody>
          <a:bodyPr wrap="square" rtlCol="0" anchor="ctr"/>
          <a:lstStyle/>
          <a:p>
            <a:pPr algn="ctr" indent="0" marL="0">
              <a:buNone/>
            </a:pPr>
            <a:r>
              <a:rPr lang="en-US" sz="1500" i="1" dirty="0">
                <a:solidFill>
                  <a:srgbClr val="8E9BC0"/>
                </a:solidFill>
                <a:latin typeface="Calibri" pitchFamily="34" charset="0"/>
                <a:ea typeface="Calibri" pitchFamily="34" charset="-122"/>
                <a:cs typeface="Calibri" pitchFamily="34" charset="-120"/>
              </a:rPr>
              <a:t>Let's find out what "owning it" actually means.</a:t>
            </a:r>
            <a:endParaRPr lang="en-US" sz="1500" dirty="0"/>
          </a:p>
        </p:txBody>
      </p:sp>
      <p:sp>
        <p:nvSpPr>
          <p:cNvPr id="4" name="Text 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8"/>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LET'S MAKE THAT CONCRETE</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do you want?</a:t>
            </a:r>
            <a:endParaRPr lang="en-US" sz="3600" dirty="0"/>
          </a:p>
        </p:txBody>
      </p:sp>
      <p:sp>
        <p:nvSpPr>
          <p:cNvPr id="4" name="Text 2"/>
          <p:cNvSpPr/>
          <p:nvPr/>
        </p:nvSpPr>
        <p:spPr>
          <a:xfrm>
            <a:off x="640080" y="1508760"/>
            <a:ext cx="10881360" cy="548640"/>
          </a:xfrm>
          <a:prstGeom prst="rect">
            <a:avLst/>
          </a:prstGeom>
          <a:noFill/>
          <a:ln/>
        </p:spPr>
        <p:txBody>
          <a:bodyPr wrap="square" rtlCol="0" anchor="ctr"/>
          <a:lstStyle/>
          <a:p>
            <a:pPr indent="0" marL="0">
              <a:buNone/>
            </a:pPr>
            <a:r>
              <a:rPr lang="en-US" sz="1500" i="1" dirty="0">
                <a:solidFill>
                  <a:srgbClr val="8E9BC0"/>
                </a:solidFill>
                <a:latin typeface="Calibri" pitchFamily="34" charset="0"/>
                <a:ea typeface="Calibri" pitchFamily="34" charset="-122"/>
                <a:cs typeface="Calibri" pitchFamily="34" charset="-120"/>
              </a:rPr>
              <a:t>If "owning the company" is the goal, pick your target. Which of these three would you actually choose for your next internal penetration test?</a:t>
            </a:r>
            <a:endParaRPr lang="en-US" sz="1500" dirty="0"/>
          </a:p>
        </p:txBody>
      </p:sp>
      <p:sp>
        <p:nvSpPr>
          <p:cNvPr id="5" name="Shape 3"/>
          <p:cNvSpPr/>
          <p:nvPr/>
        </p:nvSpPr>
        <p:spPr>
          <a:xfrm>
            <a:off x="640080" y="2468880"/>
            <a:ext cx="3429000" cy="2743200"/>
          </a:xfrm>
          <a:prstGeom prst="roundRect">
            <a:avLst>
              <a:gd name="adj" fmla="val 4000"/>
            </a:avLst>
          </a:prstGeom>
          <a:solidFill>
            <a:srgbClr val="121A33"/>
          </a:solidFill>
          <a:ln w="12700">
            <a:solidFill>
              <a:srgbClr val="16204A"/>
            </a:solidFill>
            <a:prstDash val="solid"/>
          </a:ln>
        </p:spPr>
      </p:sp>
      <p:sp>
        <p:nvSpPr>
          <p:cNvPr id="6" name="Shape 4"/>
          <p:cNvSpPr/>
          <p:nvPr/>
        </p:nvSpPr>
        <p:spPr>
          <a:xfrm>
            <a:off x="1943100" y="2834640"/>
            <a:ext cx="822960" cy="822960"/>
          </a:xfrm>
          <a:prstGeom prst="ellipse">
            <a:avLst/>
          </a:prstGeom>
          <a:solidFill>
            <a:srgbClr val="0A0F1F"/>
          </a:solidFill>
          <a:ln/>
        </p:spPr>
      </p:sp>
      <p:pic>
        <p:nvPicPr>
          <p:cNvPr id="7" name="Image 0" descr="icons_crown_00E5FF.png">    </p:cNvPr>
          <p:cNvPicPr>
            <a:picLocks noChangeAspect="1"/>
          </p:cNvPicPr>
          <p:nvPr/>
        </p:nvPicPr>
        <p:blipFill>
          <a:blip r:embed="rId1"/>
          <a:stretch>
            <a:fillRect/>
          </a:stretch>
        </p:blipFill>
        <p:spPr>
          <a:xfrm>
            <a:off x="2140610" y="3032150"/>
            <a:ext cx="427939" cy="427939"/>
          </a:xfrm>
          <a:prstGeom prst="rect">
            <a:avLst/>
          </a:prstGeom>
        </p:spPr>
      </p:pic>
      <p:sp>
        <p:nvSpPr>
          <p:cNvPr id="8" name="Text 5"/>
          <p:cNvSpPr/>
          <p:nvPr/>
        </p:nvSpPr>
        <p:spPr>
          <a:xfrm>
            <a:off x="777240" y="3840480"/>
            <a:ext cx="3154680" cy="548640"/>
          </a:xfrm>
          <a:prstGeom prst="rect">
            <a:avLst/>
          </a:prstGeom>
          <a:noFill/>
          <a:ln/>
        </p:spPr>
        <p:txBody>
          <a:bodyPr wrap="square"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Domain Admin</a:t>
            </a:r>
            <a:endParaRPr lang="en-US" sz="1700" dirty="0"/>
          </a:p>
        </p:txBody>
      </p:sp>
      <p:sp>
        <p:nvSpPr>
          <p:cNvPr id="9" name="Text 6"/>
          <p:cNvSpPr/>
          <p:nvPr/>
        </p:nvSpPr>
        <p:spPr>
          <a:xfrm>
            <a:off x="777240" y="4434840"/>
            <a:ext cx="3154680" cy="64008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The classic finish line</a:t>
            </a:r>
            <a:endParaRPr lang="en-US" sz="1150" dirty="0"/>
          </a:p>
        </p:txBody>
      </p:sp>
      <p:sp>
        <p:nvSpPr>
          <p:cNvPr id="10" name="Shape 7"/>
          <p:cNvSpPr/>
          <p:nvPr/>
        </p:nvSpPr>
        <p:spPr>
          <a:xfrm>
            <a:off x="4389120" y="2468880"/>
            <a:ext cx="3429000" cy="2743200"/>
          </a:xfrm>
          <a:prstGeom prst="roundRect">
            <a:avLst>
              <a:gd name="adj" fmla="val 4000"/>
            </a:avLst>
          </a:prstGeom>
          <a:solidFill>
            <a:srgbClr val="121A33"/>
          </a:solidFill>
          <a:ln w="12700">
            <a:solidFill>
              <a:srgbClr val="16204A"/>
            </a:solidFill>
            <a:prstDash val="solid"/>
          </a:ln>
        </p:spPr>
      </p:sp>
      <p:sp>
        <p:nvSpPr>
          <p:cNvPr id="11" name="Shape 8"/>
          <p:cNvSpPr/>
          <p:nvPr/>
        </p:nvSpPr>
        <p:spPr>
          <a:xfrm>
            <a:off x="5692140" y="2834640"/>
            <a:ext cx="822960" cy="822960"/>
          </a:xfrm>
          <a:prstGeom prst="ellipse">
            <a:avLst/>
          </a:prstGeom>
          <a:solidFill>
            <a:srgbClr val="0A0F1F"/>
          </a:solidFill>
          <a:ln/>
        </p:spPr>
      </p:sp>
      <p:pic>
        <p:nvPicPr>
          <p:cNvPr id="12" name="Image 1" descr="icons_cloud_00E5FF.png">    </p:cNvPr>
          <p:cNvPicPr>
            <a:picLocks noChangeAspect="1"/>
          </p:cNvPicPr>
          <p:nvPr/>
        </p:nvPicPr>
        <p:blipFill>
          <a:blip r:embed="rId2"/>
          <a:stretch>
            <a:fillRect/>
          </a:stretch>
        </p:blipFill>
        <p:spPr>
          <a:xfrm>
            <a:off x="5889650" y="3032150"/>
            <a:ext cx="427939" cy="427939"/>
          </a:xfrm>
          <a:prstGeom prst="rect">
            <a:avLst/>
          </a:prstGeom>
        </p:spPr>
      </p:pic>
      <p:sp>
        <p:nvSpPr>
          <p:cNvPr id="13" name="Text 9"/>
          <p:cNvSpPr/>
          <p:nvPr/>
        </p:nvSpPr>
        <p:spPr>
          <a:xfrm>
            <a:off x="4526280" y="3840480"/>
            <a:ext cx="3154680" cy="548640"/>
          </a:xfrm>
          <a:prstGeom prst="rect">
            <a:avLst/>
          </a:prstGeom>
          <a:noFill/>
          <a:ln/>
        </p:spPr>
        <p:txBody>
          <a:bodyPr wrap="square"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Global Admin</a:t>
            </a:r>
            <a:endParaRPr lang="en-US" sz="1700" dirty="0"/>
          </a:p>
        </p:txBody>
      </p:sp>
      <p:sp>
        <p:nvSpPr>
          <p:cNvPr id="14" name="Text 10"/>
          <p:cNvSpPr/>
          <p:nvPr/>
        </p:nvSpPr>
        <p:spPr>
          <a:xfrm>
            <a:off x="4526280" y="4434840"/>
            <a:ext cx="3154680" cy="64008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The cloud-era equivalent</a:t>
            </a:r>
            <a:endParaRPr lang="en-US" sz="1150" dirty="0"/>
          </a:p>
        </p:txBody>
      </p:sp>
      <p:sp>
        <p:nvSpPr>
          <p:cNvPr id="15" name="Shape 11"/>
          <p:cNvSpPr/>
          <p:nvPr/>
        </p:nvSpPr>
        <p:spPr>
          <a:xfrm>
            <a:off x="8138160" y="2468880"/>
            <a:ext cx="3429000" cy="2743200"/>
          </a:xfrm>
          <a:prstGeom prst="roundRect">
            <a:avLst>
              <a:gd name="adj" fmla="val 4000"/>
            </a:avLst>
          </a:prstGeom>
          <a:solidFill>
            <a:srgbClr val="121A33"/>
          </a:solidFill>
          <a:ln w="12700">
            <a:solidFill>
              <a:srgbClr val="16204A"/>
            </a:solidFill>
            <a:prstDash val="solid"/>
          </a:ln>
        </p:spPr>
      </p:sp>
      <p:sp>
        <p:nvSpPr>
          <p:cNvPr id="16" name="Shape 12"/>
          <p:cNvSpPr/>
          <p:nvPr/>
        </p:nvSpPr>
        <p:spPr>
          <a:xfrm>
            <a:off x="9441180" y="2834640"/>
            <a:ext cx="822960" cy="822960"/>
          </a:xfrm>
          <a:prstGeom prst="ellipse">
            <a:avLst/>
          </a:prstGeom>
          <a:solidFill>
            <a:srgbClr val="0A0F1F"/>
          </a:solidFill>
          <a:ln/>
        </p:spPr>
      </p:sp>
      <p:pic>
        <p:nvPicPr>
          <p:cNvPr id="17" name="Image 2" descr="icons_building_00E5FF.png">    </p:cNvPr>
          <p:cNvPicPr>
            <a:picLocks noChangeAspect="1"/>
          </p:cNvPicPr>
          <p:nvPr/>
        </p:nvPicPr>
        <p:blipFill>
          <a:blip r:embed="rId3"/>
          <a:stretch>
            <a:fillRect/>
          </a:stretch>
        </p:blipFill>
        <p:spPr>
          <a:xfrm>
            <a:off x="9638690" y="3032150"/>
            <a:ext cx="427939" cy="427939"/>
          </a:xfrm>
          <a:prstGeom prst="rect">
            <a:avLst/>
          </a:prstGeom>
        </p:spPr>
      </p:pic>
      <p:sp>
        <p:nvSpPr>
          <p:cNvPr id="18" name="Text 13"/>
          <p:cNvSpPr/>
          <p:nvPr/>
        </p:nvSpPr>
        <p:spPr>
          <a:xfrm>
            <a:off x="8275320" y="3840480"/>
            <a:ext cx="3154680" cy="548640"/>
          </a:xfrm>
          <a:prstGeom prst="rect">
            <a:avLst/>
          </a:prstGeom>
          <a:noFill/>
          <a:ln/>
        </p:spPr>
        <p:txBody>
          <a:bodyPr wrap="square"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The Crown Jewels</a:t>
            </a:r>
            <a:endParaRPr lang="en-US" sz="1700" dirty="0"/>
          </a:p>
        </p:txBody>
      </p:sp>
      <p:sp>
        <p:nvSpPr>
          <p:cNvPr id="19" name="Text 14"/>
          <p:cNvSpPr/>
          <p:nvPr/>
        </p:nvSpPr>
        <p:spPr>
          <a:xfrm>
            <a:off x="8275320" y="4434840"/>
            <a:ext cx="3154680" cy="64008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Whatever the business actually cares about</a:t>
            </a:r>
            <a:endParaRPr lang="en-US" sz="1150" dirty="0"/>
          </a:p>
        </p:txBody>
      </p:sp>
      <p:sp>
        <p:nvSpPr>
          <p:cNvPr id="20" name="Text 1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FOR TWENTY YEARS</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pentester's finish line</a:t>
            </a:r>
            <a:endParaRPr lang="en-US" sz="3200" dirty="0"/>
          </a:p>
        </p:txBody>
      </p:sp>
      <p:sp>
        <p:nvSpPr>
          <p:cNvPr id="4" name="Shape 2"/>
          <p:cNvSpPr/>
          <p:nvPr/>
        </p:nvSpPr>
        <p:spPr>
          <a:xfrm>
            <a:off x="3261208" y="1965960"/>
            <a:ext cx="5669280" cy="658368"/>
          </a:xfrm>
          <a:prstGeom prst="roundRect">
            <a:avLst>
              <a:gd name="adj" fmla="val 13889"/>
            </a:avLst>
          </a:prstGeom>
          <a:solidFill>
            <a:srgbClr val="121A33"/>
          </a:solidFill>
          <a:ln w="12700">
            <a:solidFill>
              <a:srgbClr val="16204A"/>
            </a:solidFill>
            <a:prstDash val="solid"/>
          </a:ln>
        </p:spPr>
      </p:sp>
      <p:sp>
        <p:nvSpPr>
          <p:cNvPr id="5" name="Text 3"/>
          <p:cNvSpPr/>
          <p:nvPr/>
        </p:nvSpPr>
        <p:spPr>
          <a:xfrm>
            <a:off x="3261208" y="1965960"/>
            <a:ext cx="566928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LOW PRIVILEGE</a:t>
            </a:r>
            <a:endParaRPr lang="en-US" sz="1600" dirty="0"/>
          </a:p>
        </p:txBody>
      </p:sp>
      <p:sp>
        <p:nvSpPr>
          <p:cNvPr id="6" name="Shape 4"/>
          <p:cNvSpPr/>
          <p:nvPr/>
        </p:nvSpPr>
        <p:spPr>
          <a:xfrm>
            <a:off x="5976976" y="2651760"/>
            <a:ext cx="237744" cy="265176"/>
          </a:xfrm>
          <a:prstGeom prst="downArrow">
            <a:avLst/>
          </a:prstGeom>
          <a:solidFill>
            <a:srgbClr val="7C5CFC"/>
          </a:solidFill>
          <a:ln/>
        </p:spPr>
      </p:sp>
      <p:sp>
        <p:nvSpPr>
          <p:cNvPr id="7" name="Shape 5"/>
          <p:cNvSpPr/>
          <p:nvPr/>
        </p:nvSpPr>
        <p:spPr>
          <a:xfrm>
            <a:off x="3261208" y="2944368"/>
            <a:ext cx="5669280" cy="658368"/>
          </a:xfrm>
          <a:prstGeom prst="roundRect">
            <a:avLst>
              <a:gd name="adj" fmla="val 13889"/>
            </a:avLst>
          </a:prstGeom>
          <a:solidFill>
            <a:srgbClr val="121A33"/>
          </a:solidFill>
          <a:ln w="12700">
            <a:solidFill>
              <a:srgbClr val="16204A"/>
            </a:solidFill>
            <a:prstDash val="solid"/>
          </a:ln>
        </p:spPr>
      </p:sp>
      <p:sp>
        <p:nvSpPr>
          <p:cNvPr id="8" name="Text 6"/>
          <p:cNvSpPr/>
          <p:nvPr/>
        </p:nvSpPr>
        <p:spPr>
          <a:xfrm>
            <a:off x="3261208" y="2944368"/>
            <a:ext cx="566928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LOCAL ADMIN</a:t>
            </a:r>
            <a:endParaRPr lang="en-US" sz="1600" dirty="0"/>
          </a:p>
        </p:txBody>
      </p:sp>
      <p:sp>
        <p:nvSpPr>
          <p:cNvPr id="9" name="Shape 7"/>
          <p:cNvSpPr/>
          <p:nvPr/>
        </p:nvSpPr>
        <p:spPr>
          <a:xfrm>
            <a:off x="5976976" y="3630168"/>
            <a:ext cx="237744" cy="265176"/>
          </a:xfrm>
          <a:prstGeom prst="downArrow">
            <a:avLst/>
          </a:prstGeom>
          <a:solidFill>
            <a:srgbClr val="7C5CFC"/>
          </a:solidFill>
          <a:ln/>
        </p:spPr>
      </p:sp>
      <p:sp>
        <p:nvSpPr>
          <p:cNvPr id="10" name="Shape 8"/>
          <p:cNvSpPr/>
          <p:nvPr/>
        </p:nvSpPr>
        <p:spPr>
          <a:xfrm>
            <a:off x="3261208" y="3922776"/>
            <a:ext cx="5669280" cy="658368"/>
          </a:xfrm>
          <a:prstGeom prst="roundRect">
            <a:avLst>
              <a:gd name="adj" fmla="val 13889"/>
            </a:avLst>
          </a:prstGeom>
          <a:solidFill>
            <a:srgbClr val="121A33"/>
          </a:solidFill>
          <a:ln w="12700">
            <a:solidFill>
              <a:srgbClr val="16204A"/>
            </a:solidFill>
            <a:prstDash val="solid"/>
          </a:ln>
        </p:spPr>
      </p:sp>
      <p:sp>
        <p:nvSpPr>
          <p:cNvPr id="11" name="Text 9"/>
          <p:cNvSpPr/>
          <p:nvPr/>
        </p:nvSpPr>
        <p:spPr>
          <a:xfrm>
            <a:off x="3261208" y="3922776"/>
            <a:ext cx="566928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DOMAIN ADMIN</a:t>
            </a:r>
            <a:endParaRPr lang="en-US" sz="1600" dirty="0"/>
          </a:p>
        </p:txBody>
      </p:sp>
      <p:sp>
        <p:nvSpPr>
          <p:cNvPr id="12" name="Shape 10"/>
          <p:cNvSpPr/>
          <p:nvPr/>
        </p:nvSpPr>
        <p:spPr>
          <a:xfrm>
            <a:off x="5976976" y="4608576"/>
            <a:ext cx="237744" cy="265176"/>
          </a:xfrm>
          <a:prstGeom prst="downArrow">
            <a:avLst/>
          </a:prstGeom>
          <a:solidFill>
            <a:srgbClr val="7C5CFC"/>
          </a:solidFill>
          <a:ln/>
        </p:spPr>
      </p:sp>
      <p:sp>
        <p:nvSpPr>
          <p:cNvPr id="13" name="Shape 11"/>
          <p:cNvSpPr/>
          <p:nvPr/>
        </p:nvSpPr>
        <p:spPr>
          <a:xfrm>
            <a:off x="3261208" y="4901184"/>
            <a:ext cx="5669280" cy="658368"/>
          </a:xfrm>
          <a:prstGeom prst="roundRect">
            <a:avLst>
              <a:gd name="adj" fmla="val 13889"/>
            </a:avLst>
          </a:prstGeom>
          <a:solidFill>
            <a:srgbClr val="FF5C7A"/>
          </a:solidFill>
          <a:ln w="19050">
            <a:solidFill>
              <a:srgbClr val="FF5C7A"/>
            </a:solidFill>
            <a:prstDash val="solid"/>
          </a:ln>
        </p:spPr>
      </p:sp>
      <p:sp>
        <p:nvSpPr>
          <p:cNvPr id="14" name="Text 12"/>
          <p:cNvSpPr/>
          <p:nvPr/>
        </p:nvSpPr>
        <p:spPr>
          <a:xfrm>
            <a:off x="3261208" y="4901184"/>
            <a:ext cx="566928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GAME OVER</a:t>
            </a:r>
            <a:endParaRPr lang="en-US" sz="1600" dirty="0"/>
          </a:p>
        </p:txBody>
      </p:sp>
      <p:sp>
        <p:nvSpPr>
          <p:cNvPr id="15" name="Text 1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SOUND FAMILIAR?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path we've all drawn in BloodHound</a:t>
            </a:r>
            <a:endParaRPr lang="en-US" sz="3200" dirty="0"/>
          </a:p>
        </p:txBody>
      </p:sp>
      <p:sp>
        <p:nvSpPr>
          <p:cNvPr id="4" name="Shape 2"/>
          <p:cNvSpPr/>
          <p:nvPr/>
        </p:nvSpPr>
        <p:spPr>
          <a:xfrm flipV="1">
            <a:off x="1691640" y="3520440"/>
            <a:ext cx="2377440" cy="1188720"/>
          </a:xfrm>
          <a:prstGeom prst="line">
            <a:avLst/>
          </a:prstGeom>
          <a:noFill/>
          <a:ln w="25400">
            <a:solidFill>
              <a:srgbClr val="7C5CFC"/>
            </a:solidFill>
            <a:prstDash val="solid"/>
          </a:ln>
        </p:spPr>
      </p:sp>
      <p:sp>
        <p:nvSpPr>
          <p:cNvPr id="5" name="Shape 3"/>
          <p:cNvSpPr/>
          <p:nvPr/>
        </p:nvSpPr>
        <p:spPr>
          <a:xfrm>
            <a:off x="4069080" y="3520440"/>
            <a:ext cx="2377440" cy="1188720"/>
          </a:xfrm>
          <a:prstGeom prst="line">
            <a:avLst/>
          </a:prstGeom>
          <a:noFill/>
          <a:ln w="25400">
            <a:solidFill>
              <a:srgbClr val="7C5CFC"/>
            </a:solidFill>
            <a:prstDash val="solid"/>
          </a:ln>
        </p:spPr>
      </p:sp>
      <p:sp>
        <p:nvSpPr>
          <p:cNvPr id="6" name="Shape 4"/>
          <p:cNvSpPr/>
          <p:nvPr/>
        </p:nvSpPr>
        <p:spPr>
          <a:xfrm flipV="1">
            <a:off x="6446520" y="3520440"/>
            <a:ext cx="2377440" cy="1188720"/>
          </a:xfrm>
          <a:prstGeom prst="line">
            <a:avLst/>
          </a:prstGeom>
          <a:noFill/>
          <a:ln w="25400">
            <a:solidFill>
              <a:srgbClr val="7C5CFC"/>
            </a:solidFill>
            <a:prstDash val="solid"/>
          </a:ln>
        </p:spPr>
      </p:sp>
      <p:sp>
        <p:nvSpPr>
          <p:cNvPr id="7" name="Shape 5"/>
          <p:cNvSpPr/>
          <p:nvPr/>
        </p:nvSpPr>
        <p:spPr>
          <a:xfrm>
            <a:off x="8823960" y="3520440"/>
            <a:ext cx="2194560" cy="1188720"/>
          </a:xfrm>
          <a:prstGeom prst="line">
            <a:avLst/>
          </a:prstGeom>
          <a:noFill/>
          <a:ln w="25400">
            <a:solidFill>
              <a:srgbClr val="7C5CFC"/>
            </a:solidFill>
            <a:prstDash val="solid"/>
          </a:ln>
        </p:spPr>
      </p:sp>
      <p:sp>
        <p:nvSpPr>
          <p:cNvPr id="8" name="Shape 6"/>
          <p:cNvSpPr/>
          <p:nvPr/>
        </p:nvSpPr>
        <p:spPr>
          <a:xfrm>
            <a:off x="1188720" y="4206240"/>
            <a:ext cx="1005840" cy="1005840"/>
          </a:xfrm>
          <a:prstGeom prst="ellipse">
            <a:avLst/>
          </a:prstGeom>
          <a:solidFill>
            <a:srgbClr val="121A33"/>
          </a:solidFill>
          <a:ln w="15240">
            <a:solidFill>
              <a:srgbClr val="00E5FF"/>
            </a:solidFill>
            <a:prstDash val="solid"/>
          </a:ln>
        </p:spPr>
      </p:sp>
      <p:pic>
        <p:nvPicPr>
          <p:cNvPr id="9" name="Image 0" descr="icons_usershield_00E5FF.png">    </p:cNvPr>
          <p:cNvPicPr>
            <a:picLocks noChangeAspect="1"/>
          </p:cNvPicPr>
          <p:nvPr/>
        </p:nvPicPr>
        <p:blipFill>
          <a:blip r:embed="rId1"/>
          <a:stretch>
            <a:fillRect/>
          </a:stretch>
        </p:blipFill>
        <p:spPr>
          <a:xfrm>
            <a:off x="1435608" y="4453128"/>
            <a:ext cx="512064" cy="512064"/>
          </a:xfrm>
          <a:prstGeom prst="rect">
            <a:avLst/>
          </a:prstGeom>
        </p:spPr>
      </p:pic>
      <p:sp>
        <p:nvSpPr>
          <p:cNvPr id="10" name="Text 7"/>
          <p:cNvSpPr/>
          <p:nvPr/>
        </p:nvSpPr>
        <p:spPr>
          <a:xfrm>
            <a:off x="777240" y="525780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Low-priv</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11" name="Shape 8"/>
          <p:cNvSpPr/>
          <p:nvPr/>
        </p:nvSpPr>
        <p:spPr>
          <a:xfrm>
            <a:off x="3566160" y="3017520"/>
            <a:ext cx="1005840" cy="1005840"/>
          </a:xfrm>
          <a:prstGeom prst="ellipse">
            <a:avLst/>
          </a:prstGeom>
          <a:solidFill>
            <a:srgbClr val="121A33"/>
          </a:solidFill>
          <a:ln w="15240">
            <a:solidFill>
              <a:srgbClr val="00E5FF"/>
            </a:solidFill>
            <a:prstDash val="solid"/>
          </a:ln>
        </p:spPr>
      </p:sp>
      <p:pic>
        <p:nvPicPr>
          <p:cNvPr id="12" name="Image 1" descr="icons_laptop_00E5FF.png">    </p:cNvPr>
          <p:cNvPicPr>
            <a:picLocks noChangeAspect="1"/>
          </p:cNvPicPr>
          <p:nvPr/>
        </p:nvPicPr>
        <p:blipFill>
          <a:blip r:embed="rId2"/>
          <a:stretch>
            <a:fillRect/>
          </a:stretch>
        </p:blipFill>
        <p:spPr>
          <a:xfrm>
            <a:off x="3813048" y="3264408"/>
            <a:ext cx="512064" cy="512064"/>
          </a:xfrm>
          <a:prstGeom prst="rect">
            <a:avLst/>
          </a:prstGeom>
        </p:spPr>
      </p:pic>
      <p:sp>
        <p:nvSpPr>
          <p:cNvPr id="13" name="Text 9"/>
          <p:cNvSpPr/>
          <p:nvPr/>
        </p:nvSpPr>
        <p:spPr>
          <a:xfrm>
            <a:off x="3154680" y="406908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Local admin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via GPP/creds</a:t>
            </a:r>
            <a:endParaRPr lang="en-US" sz="1100" dirty="0"/>
          </a:p>
        </p:txBody>
      </p:sp>
      <p:sp>
        <p:nvSpPr>
          <p:cNvPr id="14" name="Shape 10"/>
          <p:cNvSpPr/>
          <p:nvPr/>
        </p:nvSpPr>
        <p:spPr>
          <a:xfrm>
            <a:off x="5943600" y="4206240"/>
            <a:ext cx="1005840" cy="1005840"/>
          </a:xfrm>
          <a:prstGeom prst="ellipse">
            <a:avLst/>
          </a:prstGeom>
          <a:solidFill>
            <a:srgbClr val="121A33"/>
          </a:solidFill>
          <a:ln w="15240">
            <a:solidFill>
              <a:srgbClr val="00E5FF"/>
            </a:solidFill>
            <a:prstDash val="solid"/>
          </a:ln>
        </p:spPr>
      </p:sp>
      <p:pic>
        <p:nvPicPr>
          <p:cNvPr id="15" name="Image 2" descr="icons_exchange_00E5FF.png">    </p:cNvPr>
          <p:cNvPicPr>
            <a:picLocks noChangeAspect="1"/>
          </p:cNvPicPr>
          <p:nvPr/>
        </p:nvPicPr>
        <p:blipFill>
          <a:blip r:embed="rId3"/>
          <a:stretch>
            <a:fillRect/>
          </a:stretch>
        </p:blipFill>
        <p:spPr>
          <a:xfrm>
            <a:off x="6190488" y="4453128"/>
            <a:ext cx="512064" cy="512064"/>
          </a:xfrm>
          <a:prstGeom prst="rect">
            <a:avLst/>
          </a:prstGeom>
        </p:spPr>
      </p:pic>
      <p:sp>
        <p:nvSpPr>
          <p:cNvPr id="16" name="Text 11"/>
          <p:cNvSpPr/>
          <p:nvPr/>
        </p:nvSpPr>
        <p:spPr>
          <a:xfrm>
            <a:off x="5532120" y="525780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Unconstrained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delegation</a:t>
            </a:r>
            <a:endParaRPr lang="en-US" sz="1100" dirty="0"/>
          </a:p>
        </p:txBody>
      </p:sp>
      <p:sp>
        <p:nvSpPr>
          <p:cNvPr id="17" name="Shape 12"/>
          <p:cNvSpPr/>
          <p:nvPr/>
        </p:nvSpPr>
        <p:spPr>
          <a:xfrm>
            <a:off x="8321040" y="3017520"/>
            <a:ext cx="1005840" cy="1005840"/>
          </a:xfrm>
          <a:prstGeom prst="ellipse">
            <a:avLst/>
          </a:prstGeom>
          <a:solidFill>
            <a:srgbClr val="121A33"/>
          </a:solidFill>
          <a:ln w="15240">
            <a:solidFill>
              <a:srgbClr val="00E5FF"/>
            </a:solidFill>
            <a:prstDash val="solid"/>
          </a:ln>
        </p:spPr>
      </p:sp>
      <p:pic>
        <p:nvPicPr>
          <p:cNvPr id="18" name="Image 3" descr="icons_server_00E5FF.png">    </p:cNvPr>
          <p:cNvPicPr>
            <a:picLocks noChangeAspect="1"/>
          </p:cNvPicPr>
          <p:nvPr/>
        </p:nvPicPr>
        <p:blipFill>
          <a:blip r:embed="rId4"/>
          <a:stretch>
            <a:fillRect/>
          </a:stretch>
        </p:blipFill>
        <p:spPr>
          <a:xfrm>
            <a:off x="8567928" y="3264408"/>
            <a:ext cx="512064" cy="512064"/>
          </a:xfrm>
          <a:prstGeom prst="rect">
            <a:avLst/>
          </a:prstGeom>
        </p:spPr>
      </p:pic>
      <p:sp>
        <p:nvSpPr>
          <p:cNvPr id="19" name="Text 13"/>
          <p:cNvSpPr/>
          <p:nvPr/>
        </p:nvSpPr>
        <p:spPr>
          <a:xfrm>
            <a:off x="7909560" y="406908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DCSync</a:t>
            </a:r>
            <a:endParaRPr lang="en-US" sz="1100" dirty="0"/>
          </a:p>
        </p:txBody>
      </p:sp>
      <p:sp>
        <p:nvSpPr>
          <p:cNvPr id="20" name="Shape 14"/>
          <p:cNvSpPr/>
          <p:nvPr/>
        </p:nvSpPr>
        <p:spPr>
          <a:xfrm>
            <a:off x="10515600" y="4206240"/>
            <a:ext cx="1005840" cy="1005840"/>
          </a:xfrm>
          <a:prstGeom prst="ellipse">
            <a:avLst/>
          </a:prstGeom>
          <a:solidFill>
            <a:srgbClr val="FF5C7A"/>
          </a:solidFill>
          <a:ln w="15240">
            <a:solidFill>
              <a:srgbClr val="FF5C7A"/>
            </a:solidFill>
            <a:prstDash val="solid"/>
          </a:ln>
        </p:spPr>
      </p:sp>
      <p:pic>
        <p:nvPicPr>
          <p:cNvPr id="21" name="Image 4" descr="icons_skull_FFFFFF.png">    </p:cNvPr>
          <p:cNvPicPr>
            <a:picLocks noChangeAspect="1"/>
          </p:cNvPicPr>
          <p:nvPr/>
        </p:nvPicPr>
        <p:blipFill>
          <a:blip r:embed="rId5"/>
          <a:stretch>
            <a:fillRect/>
          </a:stretch>
        </p:blipFill>
        <p:spPr>
          <a:xfrm>
            <a:off x="10762488" y="4453128"/>
            <a:ext cx="512064" cy="512064"/>
          </a:xfrm>
          <a:prstGeom prst="rect">
            <a:avLst/>
          </a:prstGeom>
        </p:spPr>
      </p:pic>
      <p:sp>
        <p:nvSpPr>
          <p:cNvPr id="22" name="Text 15"/>
          <p:cNvSpPr/>
          <p:nvPr/>
        </p:nvSpPr>
        <p:spPr>
          <a:xfrm>
            <a:off x="10104120" y="525780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23" name="Text 16"/>
          <p:cNvSpPr/>
          <p:nvPr/>
        </p:nvSpPr>
        <p:spPr>
          <a:xfrm>
            <a:off x="640080" y="5760720"/>
            <a:ext cx="10881360" cy="457200"/>
          </a:xfrm>
          <a:prstGeom prst="rect">
            <a:avLst/>
          </a:prstGeom>
          <a:noFill/>
          <a:ln/>
        </p:spPr>
        <p:txBody>
          <a:bodyPr wrap="square" rtlCol="0" anchor="ctr"/>
          <a:lstStyle/>
          <a:p>
            <a:pPr algn="ctr" indent="0" marL="0">
              <a:buNone/>
            </a:pPr>
            <a:r>
              <a:rPr lang="en-US" sz="1450" i="1" dirty="0">
                <a:solidFill>
                  <a:srgbClr val="8E9BC0"/>
                </a:solidFill>
                <a:latin typeface="Calibri" pitchFamily="34" charset="0"/>
                <a:ea typeface="Calibri" pitchFamily="34" charset="-122"/>
                <a:cs typeface="Calibri" pitchFamily="34" charset="-120"/>
              </a:rPr>
              <a:t>Five hops. One well-worn methodology. A predictable, defensible objective.</a:t>
            </a:r>
            <a:endParaRPr lang="en-US" sz="1450" dirty="0"/>
          </a:p>
        </p:txBody>
      </p:sp>
      <p:sp>
        <p:nvSpPr>
          <p:cNvPr id="24"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FOR TWO DECADES</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playbook that never changed</a:t>
            </a:r>
            <a:endParaRPr lang="en-US" sz="3200" dirty="0"/>
          </a:p>
        </p:txBody>
      </p:sp>
      <p:sp>
        <p:nvSpPr>
          <p:cNvPr id="4" name="Shape 2"/>
          <p:cNvSpPr/>
          <p:nvPr/>
        </p:nvSpPr>
        <p:spPr>
          <a:xfrm>
            <a:off x="1645920" y="2148840"/>
            <a:ext cx="8869680" cy="0"/>
          </a:xfrm>
          <a:prstGeom prst="line">
            <a:avLst/>
          </a:prstGeom>
          <a:noFill/>
          <a:ln w="25400">
            <a:solidFill>
              <a:srgbClr val="16204A"/>
            </a:solidFill>
            <a:prstDash val="solid"/>
          </a:ln>
        </p:spPr>
      </p:sp>
      <p:sp>
        <p:nvSpPr>
          <p:cNvPr id="5" name="Shape 3"/>
          <p:cNvSpPr/>
          <p:nvPr/>
        </p:nvSpPr>
        <p:spPr>
          <a:xfrm>
            <a:off x="1554480" y="2057400"/>
            <a:ext cx="182880" cy="182880"/>
          </a:xfrm>
          <a:prstGeom prst="ellipse">
            <a:avLst/>
          </a:prstGeom>
          <a:solidFill>
            <a:srgbClr val="00E5FF"/>
          </a:solidFill>
          <a:ln/>
        </p:spPr>
      </p:sp>
      <p:sp>
        <p:nvSpPr>
          <p:cNvPr id="6" name="Text 4"/>
          <p:cNvSpPr/>
          <p:nvPr/>
        </p:nvSpPr>
        <p:spPr>
          <a:xfrm>
            <a:off x="640080" y="1554480"/>
            <a:ext cx="2194560" cy="320040"/>
          </a:xfrm>
          <a:prstGeom prst="rect">
            <a:avLst/>
          </a:prstGeom>
          <a:noFill/>
          <a:ln/>
        </p:spPr>
        <p:txBody>
          <a:bodyPr wrap="square" rtlCol="0" anchor="ctr"/>
          <a:lstStyle/>
          <a:p>
            <a:pPr algn="ctr" indent="0" marL="0">
              <a:buNone/>
            </a:pPr>
            <a:r>
              <a:rPr lang="en-US" sz="1300" b="1" dirty="0">
                <a:solidFill>
                  <a:srgbClr val="00E5FF"/>
                </a:solidFill>
                <a:latin typeface="Calibri" pitchFamily="34" charset="0"/>
                <a:ea typeface="Calibri" pitchFamily="34" charset="-122"/>
                <a:cs typeface="Calibri" pitchFamily="34" charset="-120"/>
              </a:rPr>
              <a:t>2003</a:t>
            </a:r>
            <a:endParaRPr lang="en-US" sz="1300" dirty="0"/>
          </a:p>
        </p:txBody>
      </p:sp>
      <p:sp>
        <p:nvSpPr>
          <p:cNvPr id="7" name="Text 5"/>
          <p:cNvSpPr/>
          <p:nvPr/>
        </p:nvSpPr>
        <p:spPr>
          <a:xfrm>
            <a:off x="640080" y="2313432"/>
            <a:ext cx="2194560" cy="365760"/>
          </a:xfrm>
          <a:prstGeom prst="rect">
            <a:avLst/>
          </a:prstGeom>
          <a:noFill/>
          <a:ln/>
        </p:spPr>
        <p:txBody>
          <a:bodyPr wrap="square" rtlCol="0" anchor="ctr"/>
          <a:lstStyle/>
          <a:p>
            <a:pPr algn="ctr" indent="0" marL="0">
              <a:buNone/>
            </a:pPr>
            <a:r>
              <a:rPr lang="en-US" sz="1200" dirty="0">
                <a:solidFill>
                  <a:srgbClr val="8E9BC0"/>
                </a:solidFill>
                <a:latin typeface="Calibri" pitchFamily="34" charset="0"/>
                <a:ea typeface="Calibri" pitchFamily="34" charset="-122"/>
                <a:cs typeface="Calibri" pitchFamily="34" charset="-120"/>
              </a:rPr>
              <a:t>Early AD tradecraft</a:t>
            </a:r>
            <a:endParaRPr lang="en-US" sz="1200" dirty="0"/>
          </a:p>
        </p:txBody>
      </p:sp>
      <p:sp>
        <p:nvSpPr>
          <p:cNvPr id="8" name="Shape 6"/>
          <p:cNvSpPr/>
          <p:nvPr/>
        </p:nvSpPr>
        <p:spPr>
          <a:xfrm>
            <a:off x="4511040" y="2057400"/>
            <a:ext cx="182880" cy="182880"/>
          </a:xfrm>
          <a:prstGeom prst="ellipse">
            <a:avLst/>
          </a:prstGeom>
          <a:solidFill>
            <a:srgbClr val="00E5FF"/>
          </a:solidFill>
          <a:ln/>
        </p:spPr>
      </p:sp>
      <p:sp>
        <p:nvSpPr>
          <p:cNvPr id="9" name="Text 7"/>
          <p:cNvSpPr/>
          <p:nvPr/>
        </p:nvSpPr>
        <p:spPr>
          <a:xfrm>
            <a:off x="3505200" y="1554480"/>
            <a:ext cx="2194560" cy="320040"/>
          </a:xfrm>
          <a:prstGeom prst="rect">
            <a:avLst/>
          </a:prstGeom>
          <a:noFill/>
          <a:ln/>
        </p:spPr>
        <p:txBody>
          <a:bodyPr wrap="square" rtlCol="0" anchor="ctr"/>
          <a:lstStyle/>
          <a:p>
            <a:pPr algn="ctr" indent="0" marL="0">
              <a:buNone/>
            </a:pPr>
            <a:r>
              <a:rPr lang="en-US" sz="1300" b="1" dirty="0">
                <a:solidFill>
                  <a:srgbClr val="00E5FF"/>
                </a:solidFill>
                <a:latin typeface="Calibri" pitchFamily="34" charset="0"/>
                <a:ea typeface="Calibri" pitchFamily="34" charset="-122"/>
                <a:cs typeface="Calibri" pitchFamily="34" charset="-120"/>
              </a:rPr>
              <a:t>2014</a:t>
            </a:r>
            <a:endParaRPr lang="en-US" sz="1300" dirty="0"/>
          </a:p>
        </p:txBody>
      </p:sp>
      <p:sp>
        <p:nvSpPr>
          <p:cNvPr id="10" name="Text 8"/>
          <p:cNvSpPr/>
          <p:nvPr/>
        </p:nvSpPr>
        <p:spPr>
          <a:xfrm>
            <a:off x="3505200" y="2313432"/>
            <a:ext cx="2194560" cy="365760"/>
          </a:xfrm>
          <a:prstGeom prst="rect">
            <a:avLst/>
          </a:prstGeom>
          <a:noFill/>
          <a:ln/>
        </p:spPr>
        <p:txBody>
          <a:bodyPr wrap="square" rtlCol="0" anchor="ctr"/>
          <a:lstStyle/>
          <a:p>
            <a:pPr algn="ctr" indent="0" marL="0">
              <a:buNone/>
            </a:pPr>
            <a:r>
              <a:rPr lang="en-US" sz="1200" dirty="0">
                <a:solidFill>
                  <a:srgbClr val="8E9BC0"/>
                </a:solidFill>
                <a:latin typeface="Calibri" pitchFamily="34" charset="0"/>
                <a:ea typeface="Calibri" pitchFamily="34" charset="-122"/>
                <a:cs typeface="Calibri" pitchFamily="34" charset="-120"/>
              </a:rPr>
              <a:t>Attack-path graphing</a:t>
            </a:r>
            <a:endParaRPr lang="en-US" sz="1200" dirty="0"/>
          </a:p>
        </p:txBody>
      </p:sp>
      <p:sp>
        <p:nvSpPr>
          <p:cNvPr id="11" name="Shape 9"/>
          <p:cNvSpPr/>
          <p:nvPr/>
        </p:nvSpPr>
        <p:spPr>
          <a:xfrm>
            <a:off x="7467600" y="2057400"/>
            <a:ext cx="182880" cy="182880"/>
          </a:xfrm>
          <a:prstGeom prst="ellipse">
            <a:avLst/>
          </a:prstGeom>
          <a:solidFill>
            <a:srgbClr val="00E5FF"/>
          </a:solidFill>
          <a:ln/>
        </p:spPr>
      </p:sp>
      <p:sp>
        <p:nvSpPr>
          <p:cNvPr id="12" name="Text 10"/>
          <p:cNvSpPr/>
          <p:nvPr/>
        </p:nvSpPr>
        <p:spPr>
          <a:xfrm>
            <a:off x="6461760" y="1554480"/>
            <a:ext cx="2194560" cy="320040"/>
          </a:xfrm>
          <a:prstGeom prst="rect">
            <a:avLst/>
          </a:prstGeom>
          <a:noFill/>
          <a:ln/>
        </p:spPr>
        <p:txBody>
          <a:bodyPr wrap="square" rtlCol="0" anchor="ctr"/>
          <a:lstStyle/>
          <a:p>
            <a:pPr algn="ctr" indent="0" marL="0">
              <a:buNone/>
            </a:pPr>
            <a:r>
              <a:rPr lang="en-US" sz="1300" b="1" dirty="0">
                <a:solidFill>
                  <a:srgbClr val="00E5FF"/>
                </a:solidFill>
                <a:latin typeface="Calibri" pitchFamily="34" charset="0"/>
                <a:ea typeface="Calibri" pitchFamily="34" charset="-122"/>
                <a:cs typeface="Calibri" pitchFamily="34" charset="-120"/>
              </a:rPr>
              <a:t>2018</a:t>
            </a:r>
            <a:endParaRPr lang="en-US" sz="1300" dirty="0"/>
          </a:p>
        </p:txBody>
      </p:sp>
      <p:sp>
        <p:nvSpPr>
          <p:cNvPr id="13" name="Text 11"/>
          <p:cNvSpPr/>
          <p:nvPr/>
        </p:nvSpPr>
        <p:spPr>
          <a:xfrm>
            <a:off x="6461760" y="2313432"/>
            <a:ext cx="2194560" cy="365760"/>
          </a:xfrm>
          <a:prstGeom prst="rect">
            <a:avLst/>
          </a:prstGeom>
          <a:noFill/>
          <a:ln/>
        </p:spPr>
        <p:txBody>
          <a:bodyPr wrap="square" rtlCol="0" anchor="ctr"/>
          <a:lstStyle/>
          <a:p>
            <a:pPr algn="ctr" indent="0" marL="0">
              <a:buNone/>
            </a:pPr>
            <a:r>
              <a:rPr lang="en-US" sz="1200" dirty="0">
                <a:solidFill>
                  <a:srgbClr val="8E9BC0"/>
                </a:solidFill>
                <a:latin typeface="Calibri" pitchFamily="34" charset="0"/>
                <a:ea typeface="Calibri" pitchFamily="34" charset="-122"/>
                <a:cs typeface="Calibri" pitchFamily="34" charset="-120"/>
              </a:rPr>
              <a:t>Certificate abuse</a:t>
            </a:r>
            <a:endParaRPr lang="en-US" sz="1200" dirty="0"/>
          </a:p>
        </p:txBody>
      </p:sp>
      <p:sp>
        <p:nvSpPr>
          <p:cNvPr id="14" name="Shape 12"/>
          <p:cNvSpPr/>
          <p:nvPr/>
        </p:nvSpPr>
        <p:spPr>
          <a:xfrm>
            <a:off x="10424160" y="2057400"/>
            <a:ext cx="182880" cy="182880"/>
          </a:xfrm>
          <a:prstGeom prst="ellipse">
            <a:avLst/>
          </a:prstGeom>
          <a:solidFill>
            <a:srgbClr val="00E5FF"/>
          </a:solidFill>
          <a:ln/>
        </p:spPr>
      </p:sp>
      <p:sp>
        <p:nvSpPr>
          <p:cNvPr id="15" name="Text 13"/>
          <p:cNvSpPr/>
          <p:nvPr/>
        </p:nvSpPr>
        <p:spPr>
          <a:xfrm>
            <a:off x="9357055" y="1554480"/>
            <a:ext cx="2194560" cy="320040"/>
          </a:xfrm>
          <a:prstGeom prst="rect">
            <a:avLst/>
          </a:prstGeom>
          <a:noFill/>
          <a:ln/>
        </p:spPr>
        <p:txBody>
          <a:bodyPr wrap="square" rtlCol="0" anchor="ctr"/>
          <a:lstStyle/>
          <a:p>
            <a:pPr algn="ctr" indent="0" marL="0">
              <a:buNone/>
            </a:pPr>
            <a:r>
              <a:rPr lang="en-US" sz="1300" b="1" dirty="0">
                <a:solidFill>
                  <a:srgbClr val="00E5FF"/>
                </a:solidFill>
                <a:latin typeface="Calibri" pitchFamily="34" charset="0"/>
                <a:ea typeface="Calibri" pitchFamily="34" charset="-122"/>
                <a:cs typeface="Calibri" pitchFamily="34" charset="-120"/>
              </a:rPr>
              <a:t>2020+</a:t>
            </a:r>
            <a:endParaRPr lang="en-US" sz="1300" dirty="0"/>
          </a:p>
        </p:txBody>
      </p:sp>
      <p:sp>
        <p:nvSpPr>
          <p:cNvPr id="16" name="Text 14"/>
          <p:cNvSpPr/>
          <p:nvPr/>
        </p:nvSpPr>
        <p:spPr>
          <a:xfrm>
            <a:off x="9357055" y="2313432"/>
            <a:ext cx="2194560" cy="365760"/>
          </a:xfrm>
          <a:prstGeom prst="rect">
            <a:avLst/>
          </a:prstGeom>
          <a:noFill/>
          <a:ln/>
        </p:spPr>
        <p:txBody>
          <a:bodyPr wrap="square" rtlCol="0" anchor="ctr"/>
          <a:lstStyle/>
          <a:p>
            <a:pPr algn="ctr" indent="0" marL="0">
              <a:buNone/>
            </a:pPr>
            <a:r>
              <a:rPr lang="en-US" sz="1200" dirty="0">
                <a:solidFill>
                  <a:srgbClr val="8E9BC0"/>
                </a:solidFill>
                <a:latin typeface="Calibri" pitchFamily="34" charset="0"/>
                <a:ea typeface="Calibri" pitchFamily="34" charset="-122"/>
                <a:cs typeface="Calibri" pitchFamily="34" charset="-120"/>
              </a:rPr>
              <a:t>Assume-breach testing</a:t>
            </a:r>
            <a:endParaRPr lang="en-US" sz="1200" dirty="0"/>
          </a:p>
        </p:txBody>
      </p:sp>
      <p:sp>
        <p:nvSpPr>
          <p:cNvPr id="17" name="Shape 15"/>
          <p:cNvSpPr/>
          <p:nvPr/>
        </p:nvSpPr>
        <p:spPr>
          <a:xfrm>
            <a:off x="640080" y="3063240"/>
            <a:ext cx="1965960" cy="1965960"/>
          </a:xfrm>
          <a:prstGeom prst="roundRect">
            <a:avLst>
              <a:gd name="adj" fmla="val 5581"/>
            </a:avLst>
          </a:prstGeom>
          <a:solidFill>
            <a:srgbClr val="121A33"/>
          </a:solidFill>
          <a:ln/>
        </p:spPr>
      </p:sp>
      <p:sp>
        <p:nvSpPr>
          <p:cNvPr id="18" name="Shape 16"/>
          <p:cNvSpPr/>
          <p:nvPr/>
        </p:nvSpPr>
        <p:spPr>
          <a:xfrm>
            <a:off x="1280160" y="3319272"/>
            <a:ext cx="685800" cy="685800"/>
          </a:xfrm>
          <a:prstGeom prst="ellipse">
            <a:avLst/>
          </a:prstGeom>
          <a:solidFill>
            <a:srgbClr val="16204A"/>
          </a:solidFill>
          <a:ln/>
        </p:spPr>
      </p:sp>
      <p:pic>
        <p:nvPicPr>
          <p:cNvPr id="19" name="Image 0" descr="icons_key_00E5FF.png">    </p:cNvPr>
          <p:cNvPicPr>
            <a:picLocks noChangeAspect="1"/>
          </p:cNvPicPr>
          <p:nvPr/>
        </p:nvPicPr>
        <p:blipFill>
          <a:blip r:embed="rId1"/>
          <a:stretch>
            <a:fillRect/>
          </a:stretch>
        </p:blipFill>
        <p:spPr>
          <a:xfrm>
            <a:off x="1444752" y="3483864"/>
            <a:ext cx="356616" cy="356616"/>
          </a:xfrm>
          <a:prstGeom prst="rect">
            <a:avLst/>
          </a:prstGeom>
        </p:spPr>
      </p:pic>
      <p:sp>
        <p:nvSpPr>
          <p:cNvPr id="20" name="Text 17"/>
          <p:cNvSpPr/>
          <p:nvPr/>
        </p:nvSpPr>
        <p:spPr>
          <a:xfrm>
            <a:off x="731520" y="4206240"/>
            <a:ext cx="1783080" cy="68580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Kerberoasting</a:t>
            </a:r>
            <a:endParaRPr lang="en-US" sz="1350" dirty="0"/>
          </a:p>
        </p:txBody>
      </p:sp>
      <p:sp>
        <p:nvSpPr>
          <p:cNvPr id="21" name="Shape 18"/>
          <p:cNvSpPr/>
          <p:nvPr/>
        </p:nvSpPr>
        <p:spPr>
          <a:xfrm>
            <a:off x="2834640" y="3063240"/>
            <a:ext cx="1965960" cy="1965960"/>
          </a:xfrm>
          <a:prstGeom prst="roundRect">
            <a:avLst>
              <a:gd name="adj" fmla="val 5581"/>
            </a:avLst>
          </a:prstGeom>
          <a:solidFill>
            <a:srgbClr val="121A33"/>
          </a:solidFill>
          <a:ln/>
        </p:spPr>
      </p:sp>
      <p:sp>
        <p:nvSpPr>
          <p:cNvPr id="22" name="Shape 19"/>
          <p:cNvSpPr/>
          <p:nvPr/>
        </p:nvSpPr>
        <p:spPr>
          <a:xfrm>
            <a:off x="3474720" y="3319272"/>
            <a:ext cx="685800" cy="685800"/>
          </a:xfrm>
          <a:prstGeom prst="ellipse">
            <a:avLst/>
          </a:prstGeom>
          <a:solidFill>
            <a:srgbClr val="16204A"/>
          </a:solidFill>
          <a:ln/>
        </p:spPr>
      </p:sp>
      <p:pic>
        <p:nvPicPr>
          <p:cNvPr id="23" name="Image 1" descr="icons_exchange_00E5FF.png">    </p:cNvPr>
          <p:cNvPicPr>
            <a:picLocks noChangeAspect="1"/>
          </p:cNvPicPr>
          <p:nvPr/>
        </p:nvPicPr>
        <p:blipFill>
          <a:blip r:embed="rId2"/>
          <a:stretch>
            <a:fillRect/>
          </a:stretch>
        </p:blipFill>
        <p:spPr>
          <a:xfrm>
            <a:off x="3639312" y="3483864"/>
            <a:ext cx="356616" cy="356616"/>
          </a:xfrm>
          <a:prstGeom prst="rect">
            <a:avLst/>
          </a:prstGeom>
        </p:spPr>
      </p:pic>
      <p:sp>
        <p:nvSpPr>
          <p:cNvPr id="24" name="Text 20"/>
          <p:cNvSpPr/>
          <p:nvPr/>
        </p:nvSpPr>
        <p:spPr>
          <a:xfrm>
            <a:off x="2926080" y="4206240"/>
            <a:ext cx="1783080" cy="68580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Delegation Abuse</a:t>
            </a:r>
            <a:endParaRPr lang="en-US" sz="1350" dirty="0"/>
          </a:p>
        </p:txBody>
      </p:sp>
      <p:sp>
        <p:nvSpPr>
          <p:cNvPr id="25" name="Shape 21"/>
          <p:cNvSpPr/>
          <p:nvPr/>
        </p:nvSpPr>
        <p:spPr>
          <a:xfrm>
            <a:off x="5029200" y="3063240"/>
            <a:ext cx="1965960" cy="1965960"/>
          </a:xfrm>
          <a:prstGeom prst="roundRect">
            <a:avLst>
              <a:gd name="adj" fmla="val 5581"/>
            </a:avLst>
          </a:prstGeom>
          <a:solidFill>
            <a:srgbClr val="121A33"/>
          </a:solidFill>
          <a:ln/>
        </p:spPr>
      </p:sp>
      <p:sp>
        <p:nvSpPr>
          <p:cNvPr id="26" name="Shape 22"/>
          <p:cNvSpPr/>
          <p:nvPr/>
        </p:nvSpPr>
        <p:spPr>
          <a:xfrm>
            <a:off x="5669280" y="3319272"/>
            <a:ext cx="685800" cy="685800"/>
          </a:xfrm>
          <a:prstGeom prst="ellipse">
            <a:avLst/>
          </a:prstGeom>
          <a:solidFill>
            <a:srgbClr val="16204A"/>
          </a:solidFill>
          <a:ln/>
        </p:spPr>
      </p:sp>
      <p:pic>
        <p:nvPicPr>
          <p:cNvPr id="27" name="Image 2" descr="icons_shield_00E5FF.png">    </p:cNvPr>
          <p:cNvPicPr>
            <a:picLocks noChangeAspect="1"/>
          </p:cNvPicPr>
          <p:nvPr/>
        </p:nvPicPr>
        <p:blipFill>
          <a:blip r:embed="rId3"/>
          <a:stretch>
            <a:fillRect/>
          </a:stretch>
        </p:blipFill>
        <p:spPr>
          <a:xfrm>
            <a:off x="5833872" y="3483864"/>
            <a:ext cx="356616" cy="356616"/>
          </a:xfrm>
          <a:prstGeom prst="rect">
            <a:avLst/>
          </a:prstGeom>
        </p:spPr>
      </p:pic>
      <p:sp>
        <p:nvSpPr>
          <p:cNvPr id="28" name="Text 23"/>
          <p:cNvSpPr/>
          <p:nvPr/>
        </p:nvSpPr>
        <p:spPr>
          <a:xfrm>
            <a:off x="5120640" y="4206240"/>
            <a:ext cx="1783080" cy="68580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AD CS Attacks</a:t>
            </a:r>
            <a:endParaRPr lang="en-US" sz="1350" dirty="0"/>
          </a:p>
        </p:txBody>
      </p:sp>
      <p:sp>
        <p:nvSpPr>
          <p:cNvPr id="29" name="Shape 24"/>
          <p:cNvSpPr/>
          <p:nvPr/>
        </p:nvSpPr>
        <p:spPr>
          <a:xfrm>
            <a:off x="7223760" y="3063240"/>
            <a:ext cx="1965960" cy="1965960"/>
          </a:xfrm>
          <a:prstGeom prst="roundRect">
            <a:avLst>
              <a:gd name="adj" fmla="val 5581"/>
            </a:avLst>
          </a:prstGeom>
          <a:solidFill>
            <a:srgbClr val="121A33"/>
          </a:solidFill>
          <a:ln/>
        </p:spPr>
      </p:sp>
      <p:sp>
        <p:nvSpPr>
          <p:cNvPr id="30" name="Shape 25"/>
          <p:cNvSpPr/>
          <p:nvPr/>
        </p:nvSpPr>
        <p:spPr>
          <a:xfrm>
            <a:off x="7863840" y="3319272"/>
            <a:ext cx="685800" cy="685800"/>
          </a:xfrm>
          <a:prstGeom prst="ellipse">
            <a:avLst/>
          </a:prstGeom>
          <a:solidFill>
            <a:srgbClr val="16204A"/>
          </a:solidFill>
          <a:ln/>
        </p:spPr>
      </p:sp>
      <p:pic>
        <p:nvPicPr>
          <p:cNvPr id="31" name="Image 3" descr="icons_server_00E5FF.png">    </p:cNvPr>
          <p:cNvPicPr>
            <a:picLocks noChangeAspect="1"/>
          </p:cNvPicPr>
          <p:nvPr/>
        </p:nvPicPr>
        <p:blipFill>
          <a:blip r:embed="rId4"/>
          <a:stretch>
            <a:fillRect/>
          </a:stretch>
        </p:blipFill>
        <p:spPr>
          <a:xfrm>
            <a:off x="8028432" y="3483864"/>
            <a:ext cx="356616" cy="356616"/>
          </a:xfrm>
          <a:prstGeom prst="rect">
            <a:avLst/>
          </a:prstGeom>
        </p:spPr>
      </p:pic>
      <p:sp>
        <p:nvSpPr>
          <p:cNvPr id="32" name="Text 26"/>
          <p:cNvSpPr/>
          <p:nvPr/>
        </p:nvSpPr>
        <p:spPr>
          <a:xfrm>
            <a:off x="7315200" y="4206240"/>
            <a:ext cx="1783080" cy="68580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DCSync</a:t>
            </a:r>
            <a:endParaRPr lang="en-US" sz="1350" dirty="0"/>
          </a:p>
        </p:txBody>
      </p:sp>
      <p:sp>
        <p:nvSpPr>
          <p:cNvPr id="33" name="Shape 27"/>
          <p:cNvSpPr/>
          <p:nvPr/>
        </p:nvSpPr>
        <p:spPr>
          <a:xfrm>
            <a:off x="9418320" y="3063240"/>
            <a:ext cx="1965960" cy="1965960"/>
          </a:xfrm>
          <a:prstGeom prst="roundRect">
            <a:avLst>
              <a:gd name="adj" fmla="val 5581"/>
            </a:avLst>
          </a:prstGeom>
          <a:solidFill>
            <a:srgbClr val="121A33"/>
          </a:solidFill>
          <a:ln/>
        </p:spPr>
      </p:sp>
      <p:sp>
        <p:nvSpPr>
          <p:cNvPr id="34" name="Shape 28"/>
          <p:cNvSpPr/>
          <p:nvPr/>
        </p:nvSpPr>
        <p:spPr>
          <a:xfrm>
            <a:off x="10058400" y="3319272"/>
            <a:ext cx="685800" cy="685800"/>
          </a:xfrm>
          <a:prstGeom prst="ellipse">
            <a:avLst/>
          </a:prstGeom>
          <a:solidFill>
            <a:srgbClr val="16204A"/>
          </a:solidFill>
          <a:ln/>
        </p:spPr>
      </p:sp>
      <p:pic>
        <p:nvPicPr>
          <p:cNvPr id="35" name="Image 4" descr="icons_sitemap_00E5FF.png">    </p:cNvPr>
          <p:cNvPicPr>
            <a:picLocks noChangeAspect="1"/>
          </p:cNvPicPr>
          <p:nvPr/>
        </p:nvPicPr>
        <p:blipFill>
          <a:blip r:embed="rId5"/>
          <a:stretch>
            <a:fillRect/>
          </a:stretch>
        </p:blipFill>
        <p:spPr>
          <a:xfrm>
            <a:off x="10222992" y="3483864"/>
            <a:ext cx="356616" cy="356616"/>
          </a:xfrm>
          <a:prstGeom prst="rect">
            <a:avLst/>
          </a:prstGeom>
        </p:spPr>
      </p:pic>
      <p:sp>
        <p:nvSpPr>
          <p:cNvPr id="36" name="Text 29"/>
          <p:cNvSpPr/>
          <p:nvPr/>
        </p:nvSpPr>
        <p:spPr>
          <a:xfrm>
            <a:off x="9509760" y="4206240"/>
            <a:ext cx="1783080" cy="68580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BloodHound</a:t>
            </a:r>
            <a:endParaRPr lang="en-US" sz="1350" dirty="0"/>
          </a:p>
        </p:txBody>
      </p:sp>
      <p:sp>
        <p:nvSpPr>
          <p:cNvPr id="37" name="Text 30"/>
          <p:cNvSpPr/>
          <p:nvPr/>
        </p:nvSpPr>
        <p:spPr>
          <a:xfrm>
            <a:off x="640080" y="5257800"/>
            <a:ext cx="10881360" cy="457200"/>
          </a:xfrm>
          <a:prstGeom prst="rect">
            <a:avLst/>
          </a:prstGeom>
          <a:noFill/>
          <a:ln/>
        </p:spPr>
        <p:txBody>
          <a:bodyPr wrap="square" rtlCol="0" anchor="ctr"/>
          <a:lstStyle/>
          <a:p>
            <a:pPr algn="ctr" indent="0" marL="0">
              <a:buNone/>
            </a:pPr>
            <a:r>
              <a:rPr lang="en-US" sz="1600" i="1" dirty="0">
                <a:solidFill>
                  <a:srgbClr val="8E9BC0"/>
                </a:solidFill>
                <a:latin typeface="Calibri" pitchFamily="34" charset="0"/>
                <a:ea typeface="Calibri" pitchFamily="34" charset="-122"/>
                <a:cs typeface="Calibri" pitchFamily="34" charset="-120"/>
              </a:rPr>
              <a:t>Two decades of innovation. One unchanged finish line: Domain Admin.</a:t>
            </a:r>
            <a:endParaRPr lang="en-US" sz="1600" dirty="0"/>
          </a:p>
        </p:txBody>
      </p:sp>
      <p:sp>
        <p:nvSpPr>
          <p:cNvPr id="38" name="Text 3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ABOUT ME</a:t>
            </a:r>
            <a:endParaRPr lang="en-US" sz="1300" dirty="0"/>
          </a:p>
        </p:txBody>
      </p:sp>
      <p:sp>
        <p:nvSpPr>
          <p:cNvPr id="3" name="Text 1"/>
          <p:cNvSpPr/>
          <p:nvPr/>
        </p:nvSpPr>
        <p:spPr>
          <a:xfrm>
            <a:off x="640080" y="822960"/>
            <a:ext cx="1088136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Okay - quickly, why am I asking you this?</a:t>
            </a:r>
            <a:endParaRPr lang="en-US" sz="3200" dirty="0"/>
          </a:p>
        </p:txBody>
      </p:sp>
      <p:sp>
        <p:nvSpPr>
          <p:cNvPr id="4" name="Shape 2"/>
          <p:cNvSpPr/>
          <p:nvPr/>
        </p:nvSpPr>
        <p:spPr>
          <a:xfrm>
            <a:off x="640080" y="1600200"/>
            <a:ext cx="1005840" cy="1005840"/>
          </a:xfrm>
          <a:prstGeom prst="ellipse">
            <a:avLst/>
          </a:prstGeom>
          <a:solidFill>
            <a:srgbClr val="121A33"/>
          </a:solidFill>
          <a:ln/>
        </p:spPr>
      </p:sp>
      <p:pic>
        <p:nvPicPr>
          <p:cNvPr id="5" name="Image 0" descr="icons_usershield_00E5FF.png">    </p:cNvPr>
          <p:cNvPicPr>
            <a:picLocks noChangeAspect="1"/>
          </p:cNvPicPr>
          <p:nvPr/>
        </p:nvPicPr>
        <p:blipFill>
          <a:blip r:embed="rId1"/>
          <a:stretch>
            <a:fillRect/>
          </a:stretch>
        </p:blipFill>
        <p:spPr>
          <a:xfrm>
            <a:off x="881482" y="1841602"/>
            <a:ext cx="523037" cy="523037"/>
          </a:xfrm>
          <a:prstGeom prst="rect">
            <a:avLst/>
          </a:prstGeom>
        </p:spPr>
      </p:pic>
      <p:sp>
        <p:nvSpPr>
          <p:cNvPr id="6" name="Text 3"/>
          <p:cNvSpPr/>
          <p:nvPr/>
        </p:nvSpPr>
        <p:spPr>
          <a:xfrm>
            <a:off x="1828800" y="1572768"/>
            <a:ext cx="7315200" cy="41148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Dumisani Masimini</a:t>
            </a:r>
            <a:endParaRPr lang="en-US" sz="2200" dirty="0"/>
          </a:p>
        </p:txBody>
      </p:sp>
      <p:sp>
        <p:nvSpPr>
          <p:cNvPr id="7" name="Text 4"/>
          <p:cNvSpPr/>
          <p:nvPr/>
        </p:nvSpPr>
        <p:spPr>
          <a:xfrm>
            <a:off x="1828800" y="1993392"/>
            <a:ext cx="8686800" cy="320040"/>
          </a:xfrm>
          <a:prstGeom prst="rect">
            <a:avLst/>
          </a:prstGeom>
          <a:noFill/>
          <a:ln/>
        </p:spPr>
        <p:txBody>
          <a:bodyPr wrap="square" rtlCol="0" anchor="ctr"/>
          <a:lstStyle/>
          <a:p>
            <a:pPr indent="0" marL="0">
              <a:buNone/>
            </a:pPr>
            <a:r>
              <a:rPr lang="en-US" sz="1300" dirty="0">
                <a:solidFill>
                  <a:srgbClr val="00E5FF"/>
                </a:solidFill>
                <a:latin typeface="Calibri" pitchFamily="34" charset="0"/>
                <a:ea typeface="Calibri" pitchFamily="34" charset="-122"/>
                <a:cs typeface="Calibri" pitchFamily="34" charset="-120"/>
              </a:rPr>
              <a:t>Goes by Dumi  |  Offensive Security Consultant, WorkNest Secure</a:t>
            </a:r>
            <a:endParaRPr lang="en-US" sz="1300" dirty="0"/>
          </a:p>
        </p:txBody>
      </p:sp>
      <p:sp>
        <p:nvSpPr>
          <p:cNvPr id="8" name="Text 5"/>
          <p:cNvSpPr/>
          <p:nvPr/>
        </p:nvSpPr>
        <p:spPr>
          <a:xfrm>
            <a:off x="1828800" y="2304288"/>
            <a:ext cx="8686800" cy="274320"/>
          </a:xfrm>
          <a:prstGeom prst="rect">
            <a:avLst/>
          </a:prstGeom>
          <a:noFill/>
          <a:ln/>
        </p:spPr>
        <p:txBody>
          <a:bodyPr wrap="square" rtlCol="0" anchor="ctr"/>
          <a:lstStyle/>
          <a:p>
            <a:pPr indent="0" marL="0">
              <a:buNone/>
            </a:pPr>
            <a:r>
              <a:rPr lang="en-US" sz="1050" i="1" dirty="0">
                <a:solidFill>
                  <a:srgbClr val="8E9BC0"/>
                </a:solidFill>
                <a:latin typeface="Calibri" pitchFamily="34" charset="0"/>
                <a:ea typeface="Calibri" pitchFamily="34" charset="-122"/>
                <a:cs typeface="Calibri" pitchFamily="34" charset="-120"/>
              </a:rPr>
              <a:t>(formerly Pentest People - now merged with Bulletproof to form WorkNest Secure)</a:t>
            </a:r>
            <a:endParaRPr lang="en-US" sz="1050" dirty="0"/>
          </a:p>
        </p:txBody>
      </p:sp>
      <p:sp>
        <p:nvSpPr>
          <p:cNvPr id="9" name="Text 6"/>
          <p:cNvSpPr/>
          <p:nvPr/>
        </p:nvSpPr>
        <p:spPr>
          <a:xfrm>
            <a:off x="640080" y="2834640"/>
            <a:ext cx="10881360" cy="73152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In IT since 2008, penetration testing since 2019 - SensePost Academy trained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Focused on Active Directory, identity infrastructure, ADCS and cloud attack surfaces</a:t>
            </a:r>
            <a:endParaRPr lang="en-US" sz="1300" dirty="0"/>
          </a:p>
        </p:txBody>
      </p:sp>
      <p:sp>
        <p:nvSpPr>
          <p:cNvPr id="10" name="Shape 7"/>
          <p:cNvSpPr/>
          <p:nvPr/>
        </p:nvSpPr>
        <p:spPr>
          <a:xfrm>
            <a:off x="640080" y="3566160"/>
            <a:ext cx="10881360" cy="960120"/>
          </a:xfrm>
          <a:prstGeom prst="roundRect">
            <a:avLst>
              <a:gd name="adj" fmla="val 9524"/>
            </a:avLst>
          </a:prstGeom>
          <a:solidFill>
            <a:srgbClr val="121A33"/>
          </a:solidFill>
          <a:ln w="12700">
            <a:solidFill>
              <a:srgbClr val="7C5CFC"/>
            </a:solidFill>
            <a:prstDash val="solid"/>
          </a:ln>
        </p:spPr>
      </p:sp>
      <p:sp>
        <p:nvSpPr>
          <p:cNvPr id="11" name="Text 8"/>
          <p:cNvSpPr/>
          <p:nvPr/>
        </p:nvSpPr>
        <p:spPr>
          <a:xfrm>
            <a:off x="914400" y="3566160"/>
            <a:ext cx="10332720" cy="960120"/>
          </a:xfrm>
          <a:prstGeom prst="rect">
            <a:avLst/>
          </a:prstGeom>
          <a:noFill/>
          <a:ln/>
        </p:spPr>
        <p:txBody>
          <a:bodyPr wrap="square" rtlCol="0" anchor="ctr"/>
          <a:lstStyle/>
          <a:p>
            <a:pPr algn="ctr" indent="0" marL="0">
              <a:buNone/>
            </a:pPr>
            <a:r>
              <a:rPr lang="en-US" sz="1500" b="1" i="1" dirty="0">
                <a:solidFill>
                  <a:srgbClr val="FFFFFF"/>
                </a:solidFill>
                <a:latin typeface="Cambria" pitchFamily="34" charset="0"/>
                <a:ea typeface="Cambria" pitchFamily="34" charset="-122"/>
                <a:cs typeface="Cambria" pitchFamily="34" charset="-120"/>
              </a:rPr>
              <a:t>“I've spent years learning how to get Domain Admin. Increasingly, I've found myself asking - what happens after that?”</a:t>
            </a:r>
            <a:endParaRPr lang="en-US" sz="1500" dirty="0"/>
          </a:p>
        </p:txBody>
      </p:sp>
      <p:sp>
        <p:nvSpPr>
          <p:cNvPr id="12" name="Text 9"/>
          <p:cNvSpPr/>
          <p:nvPr/>
        </p:nvSpPr>
        <p:spPr>
          <a:xfrm>
            <a:off x="640080" y="4645152"/>
            <a:ext cx="7315200" cy="274320"/>
          </a:xfrm>
          <a:prstGeom prst="rect">
            <a:avLst/>
          </a:prstGeom>
          <a:noFill/>
          <a:ln/>
        </p:spPr>
        <p:txBody>
          <a:bodyPr wrap="square" rtlCol="0" anchor="ctr"/>
          <a:lstStyle/>
          <a:p>
            <a:pPr indent="0" marL="0">
              <a:buNone/>
            </a:pPr>
            <a:r>
              <a:rPr lang="en-US" sz="1100" b="1" spc="150" kern="0" dirty="0">
                <a:solidFill>
                  <a:srgbClr val="00E5FF"/>
                </a:solidFill>
                <a:latin typeface="Calibri" pitchFamily="34" charset="0"/>
                <a:ea typeface="Calibri" pitchFamily="34" charset="-122"/>
                <a:cs typeface="Calibri" pitchFamily="34" charset="-120"/>
              </a:rPr>
              <a:t>FULL CIRCLE - MY SPEAKING JOURNEY</a:t>
            </a:r>
            <a:endParaRPr lang="en-US" sz="1100" dirty="0"/>
          </a:p>
        </p:txBody>
      </p:sp>
      <p:sp>
        <p:nvSpPr>
          <p:cNvPr id="13" name="Shape 10"/>
          <p:cNvSpPr/>
          <p:nvPr/>
        </p:nvSpPr>
        <p:spPr>
          <a:xfrm>
            <a:off x="914400" y="5349240"/>
            <a:ext cx="10332720" cy="0"/>
          </a:xfrm>
          <a:prstGeom prst="line">
            <a:avLst/>
          </a:prstGeom>
          <a:noFill/>
          <a:ln w="25400">
            <a:solidFill>
              <a:srgbClr val="16204A"/>
            </a:solidFill>
            <a:prstDash val="solid"/>
          </a:ln>
        </p:spPr>
      </p:sp>
      <p:sp>
        <p:nvSpPr>
          <p:cNvPr id="14" name="Shape 11"/>
          <p:cNvSpPr/>
          <p:nvPr/>
        </p:nvSpPr>
        <p:spPr>
          <a:xfrm>
            <a:off x="662940" y="5097780"/>
            <a:ext cx="502920" cy="502920"/>
          </a:xfrm>
          <a:prstGeom prst="ellipse">
            <a:avLst/>
          </a:prstGeom>
          <a:solidFill>
            <a:srgbClr val="121A33"/>
          </a:solidFill>
          <a:ln/>
        </p:spPr>
      </p:sp>
      <p:pic>
        <p:nvPicPr>
          <p:cNvPr id="15" name="Image 1" descr="icons_sitemap_00E5FF.png">    </p:cNvPr>
          <p:cNvPicPr>
            <a:picLocks noChangeAspect="1"/>
          </p:cNvPicPr>
          <p:nvPr/>
        </p:nvPicPr>
        <p:blipFill>
          <a:blip r:embed="rId2"/>
          <a:stretch>
            <a:fillRect/>
          </a:stretch>
        </p:blipFill>
        <p:spPr>
          <a:xfrm>
            <a:off x="783641" y="5218481"/>
            <a:ext cx="261518" cy="261518"/>
          </a:xfrm>
          <a:prstGeom prst="rect">
            <a:avLst/>
          </a:prstGeom>
        </p:spPr>
      </p:pic>
      <p:sp>
        <p:nvSpPr>
          <p:cNvPr id="16" name="Text 12"/>
          <p:cNvSpPr/>
          <p:nvPr/>
        </p:nvSpPr>
        <p:spPr>
          <a:xfrm>
            <a:off x="0" y="5669280"/>
            <a:ext cx="1828800" cy="502920"/>
          </a:xfrm>
          <a:prstGeom prst="rect">
            <a:avLst/>
          </a:prstGeom>
          <a:noFill/>
          <a:ln/>
        </p:spPr>
        <p:txBody>
          <a:bodyPr wrap="square" rtlCol="0" anchor="t"/>
          <a:lstStyle/>
          <a:p>
            <a:pPr algn="ctr" indent="0" marL="0">
              <a:buNone/>
            </a:pPr>
            <a:r>
              <a:rPr lang="en-US" sz="1000" b="1" dirty="0">
                <a:solidFill>
                  <a:srgbClr val="8E9BC0"/>
                </a:solidFill>
                <a:latin typeface="Calibri" pitchFamily="34" charset="0"/>
                <a:ea typeface="Calibri" pitchFamily="34" charset="-122"/>
                <a:cs typeface="Calibri" pitchFamily="34" charset="-120"/>
              </a:rPr>
              <a:t>BSides</a:t>
            </a:r>
            <a:endParaRPr lang="en-US" sz="1000" dirty="0"/>
          </a:p>
          <a:p>
            <a:pPr algn="ctr" indent="0" marL="0">
              <a:buNone/>
            </a:pPr>
            <a:r>
              <a:rPr lang="en-US" sz="1000" b="1" dirty="0">
                <a:solidFill>
                  <a:srgbClr val="8E9BC0"/>
                </a:solidFill>
                <a:latin typeface="Calibri" pitchFamily="34" charset="0"/>
                <a:ea typeface="Calibri" pitchFamily="34" charset="-122"/>
                <a:cs typeface="Calibri" pitchFamily="34" charset="-120"/>
              </a:rPr>
              <a:t>Bristol 2025</a:t>
            </a:r>
            <a:endParaRPr lang="en-US" sz="1000" dirty="0"/>
          </a:p>
        </p:txBody>
      </p:sp>
      <p:sp>
        <p:nvSpPr>
          <p:cNvPr id="17" name="Shape 13"/>
          <p:cNvSpPr/>
          <p:nvPr/>
        </p:nvSpPr>
        <p:spPr>
          <a:xfrm>
            <a:off x="2729484" y="5097780"/>
            <a:ext cx="502920" cy="502920"/>
          </a:xfrm>
          <a:prstGeom prst="ellipse">
            <a:avLst/>
          </a:prstGeom>
          <a:solidFill>
            <a:srgbClr val="121A33"/>
          </a:solidFill>
          <a:ln/>
        </p:spPr>
      </p:sp>
      <p:pic>
        <p:nvPicPr>
          <p:cNvPr id="18" name="Image 2" descr="icons_sitemap_00E5FF.png">    </p:cNvPr>
          <p:cNvPicPr>
            <a:picLocks noChangeAspect="1"/>
          </p:cNvPicPr>
          <p:nvPr/>
        </p:nvPicPr>
        <p:blipFill>
          <a:blip r:embed="rId3"/>
          <a:stretch>
            <a:fillRect/>
          </a:stretch>
        </p:blipFill>
        <p:spPr>
          <a:xfrm>
            <a:off x="2850185" y="5218481"/>
            <a:ext cx="261518" cy="261518"/>
          </a:xfrm>
          <a:prstGeom prst="rect">
            <a:avLst/>
          </a:prstGeom>
        </p:spPr>
      </p:pic>
      <p:sp>
        <p:nvSpPr>
          <p:cNvPr id="19" name="Text 14"/>
          <p:cNvSpPr/>
          <p:nvPr/>
        </p:nvSpPr>
        <p:spPr>
          <a:xfrm>
            <a:off x="2066544" y="5669280"/>
            <a:ext cx="1828800" cy="502920"/>
          </a:xfrm>
          <a:prstGeom prst="rect">
            <a:avLst/>
          </a:prstGeom>
          <a:noFill/>
          <a:ln/>
        </p:spPr>
        <p:txBody>
          <a:bodyPr wrap="square" rtlCol="0" anchor="t"/>
          <a:lstStyle/>
          <a:p>
            <a:pPr algn="ctr" indent="0" marL="0">
              <a:buNone/>
            </a:pPr>
            <a:r>
              <a:rPr lang="en-US" sz="1000" b="1" dirty="0">
                <a:solidFill>
                  <a:srgbClr val="8E9BC0"/>
                </a:solidFill>
                <a:latin typeface="Calibri" pitchFamily="34" charset="0"/>
                <a:ea typeface="Calibri" pitchFamily="34" charset="-122"/>
                <a:cs typeface="Calibri" pitchFamily="34" charset="-120"/>
              </a:rPr>
              <a:t>BSides</a:t>
            </a:r>
            <a:endParaRPr lang="en-US" sz="1000" dirty="0"/>
          </a:p>
          <a:p>
            <a:pPr algn="ctr" indent="0" marL="0">
              <a:buNone/>
            </a:pPr>
            <a:r>
              <a:rPr lang="en-US" sz="1000" b="1" dirty="0">
                <a:solidFill>
                  <a:srgbClr val="8E9BC0"/>
                </a:solidFill>
                <a:latin typeface="Calibri" pitchFamily="34" charset="0"/>
                <a:ea typeface="Calibri" pitchFamily="34" charset="-122"/>
                <a:cs typeface="Calibri" pitchFamily="34" charset="-120"/>
              </a:rPr>
              <a:t>Exeter</a:t>
            </a:r>
            <a:endParaRPr lang="en-US" sz="1000" dirty="0"/>
          </a:p>
        </p:txBody>
      </p:sp>
      <p:sp>
        <p:nvSpPr>
          <p:cNvPr id="20" name="Shape 15"/>
          <p:cNvSpPr/>
          <p:nvPr/>
        </p:nvSpPr>
        <p:spPr>
          <a:xfrm>
            <a:off x="4796028" y="5097780"/>
            <a:ext cx="502920" cy="502920"/>
          </a:xfrm>
          <a:prstGeom prst="ellipse">
            <a:avLst/>
          </a:prstGeom>
          <a:solidFill>
            <a:srgbClr val="121A33"/>
          </a:solidFill>
          <a:ln/>
        </p:spPr>
      </p:sp>
      <p:pic>
        <p:nvPicPr>
          <p:cNvPr id="21" name="Image 3" descr="icons_sitemap_00E5FF.png">    </p:cNvPr>
          <p:cNvPicPr>
            <a:picLocks noChangeAspect="1"/>
          </p:cNvPicPr>
          <p:nvPr/>
        </p:nvPicPr>
        <p:blipFill>
          <a:blip r:embed="rId4"/>
          <a:stretch>
            <a:fillRect/>
          </a:stretch>
        </p:blipFill>
        <p:spPr>
          <a:xfrm>
            <a:off x="4916729" y="5218481"/>
            <a:ext cx="261518" cy="261518"/>
          </a:xfrm>
          <a:prstGeom prst="rect">
            <a:avLst/>
          </a:prstGeom>
        </p:spPr>
      </p:pic>
      <p:sp>
        <p:nvSpPr>
          <p:cNvPr id="22" name="Text 16"/>
          <p:cNvSpPr/>
          <p:nvPr/>
        </p:nvSpPr>
        <p:spPr>
          <a:xfrm>
            <a:off x="4133088" y="5669280"/>
            <a:ext cx="1828800" cy="502920"/>
          </a:xfrm>
          <a:prstGeom prst="rect">
            <a:avLst/>
          </a:prstGeom>
          <a:noFill/>
          <a:ln/>
        </p:spPr>
        <p:txBody>
          <a:bodyPr wrap="square" rtlCol="0" anchor="t"/>
          <a:lstStyle/>
          <a:p>
            <a:pPr algn="ctr" indent="0" marL="0">
              <a:buNone/>
            </a:pPr>
            <a:r>
              <a:rPr lang="en-US" sz="1000" b="1" dirty="0">
                <a:solidFill>
                  <a:srgbClr val="8E9BC0"/>
                </a:solidFill>
                <a:latin typeface="Calibri" pitchFamily="34" charset="0"/>
                <a:ea typeface="Calibri" pitchFamily="34" charset="-122"/>
                <a:cs typeface="Calibri" pitchFamily="34" charset="-120"/>
              </a:rPr>
              <a:t>BSides</a:t>
            </a:r>
            <a:endParaRPr lang="en-US" sz="1000" dirty="0"/>
          </a:p>
          <a:p>
            <a:pPr algn="ctr" indent="0" marL="0">
              <a:buNone/>
            </a:pPr>
            <a:r>
              <a:rPr lang="en-US" sz="1000" b="1" dirty="0">
                <a:solidFill>
                  <a:srgbClr val="8E9BC0"/>
                </a:solidFill>
                <a:latin typeface="Calibri" pitchFamily="34" charset="0"/>
                <a:ea typeface="Calibri" pitchFamily="34" charset="-122"/>
                <a:cs typeface="Calibri" pitchFamily="34" charset="-120"/>
              </a:rPr>
              <a:t>Kent</a:t>
            </a:r>
            <a:endParaRPr lang="en-US" sz="1000" dirty="0"/>
          </a:p>
        </p:txBody>
      </p:sp>
      <p:sp>
        <p:nvSpPr>
          <p:cNvPr id="23" name="Shape 17"/>
          <p:cNvSpPr/>
          <p:nvPr/>
        </p:nvSpPr>
        <p:spPr>
          <a:xfrm>
            <a:off x="6862572" y="5097780"/>
            <a:ext cx="502920" cy="502920"/>
          </a:xfrm>
          <a:prstGeom prst="ellipse">
            <a:avLst/>
          </a:prstGeom>
          <a:solidFill>
            <a:srgbClr val="121A33"/>
          </a:solidFill>
          <a:ln/>
        </p:spPr>
      </p:sp>
      <p:pic>
        <p:nvPicPr>
          <p:cNvPr id="24" name="Image 4" descr="icons_sitemap_00E5FF.png">    </p:cNvPr>
          <p:cNvPicPr>
            <a:picLocks noChangeAspect="1"/>
          </p:cNvPicPr>
          <p:nvPr/>
        </p:nvPicPr>
        <p:blipFill>
          <a:blip r:embed="rId5"/>
          <a:stretch>
            <a:fillRect/>
          </a:stretch>
        </p:blipFill>
        <p:spPr>
          <a:xfrm>
            <a:off x="6983273" y="5218481"/>
            <a:ext cx="261518" cy="261518"/>
          </a:xfrm>
          <a:prstGeom prst="rect">
            <a:avLst/>
          </a:prstGeom>
        </p:spPr>
      </p:pic>
      <p:sp>
        <p:nvSpPr>
          <p:cNvPr id="25" name="Text 18"/>
          <p:cNvSpPr/>
          <p:nvPr/>
        </p:nvSpPr>
        <p:spPr>
          <a:xfrm>
            <a:off x="6199632" y="5669280"/>
            <a:ext cx="1828800" cy="502920"/>
          </a:xfrm>
          <a:prstGeom prst="rect">
            <a:avLst/>
          </a:prstGeom>
          <a:noFill/>
          <a:ln/>
        </p:spPr>
        <p:txBody>
          <a:bodyPr wrap="square" rtlCol="0" anchor="t"/>
          <a:lstStyle/>
          <a:p>
            <a:pPr algn="ctr" indent="0" marL="0">
              <a:buNone/>
            </a:pPr>
            <a:r>
              <a:rPr lang="en-US" sz="1000" b="1" dirty="0">
                <a:solidFill>
                  <a:srgbClr val="8E9BC0"/>
                </a:solidFill>
                <a:latin typeface="Calibri" pitchFamily="34" charset="0"/>
                <a:ea typeface="Calibri" pitchFamily="34" charset="-122"/>
                <a:cs typeface="Calibri" pitchFamily="34" charset="-120"/>
              </a:rPr>
              <a:t>BSides</a:t>
            </a:r>
            <a:endParaRPr lang="en-US" sz="1000" dirty="0"/>
          </a:p>
          <a:p>
            <a:pPr algn="ctr" indent="0" marL="0">
              <a:buNone/>
            </a:pPr>
            <a:r>
              <a:rPr lang="en-US" sz="1000" b="1" dirty="0">
                <a:solidFill>
                  <a:srgbClr val="8E9BC0"/>
                </a:solidFill>
                <a:latin typeface="Calibri" pitchFamily="34" charset="0"/>
                <a:ea typeface="Calibri" pitchFamily="34" charset="-122"/>
                <a:cs typeface="Calibri" pitchFamily="34" charset="-120"/>
              </a:rPr>
              <a:t>Birmingham</a:t>
            </a:r>
            <a:endParaRPr lang="en-US" sz="1000" dirty="0"/>
          </a:p>
        </p:txBody>
      </p:sp>
      <p:sp>
        <p:nvSpPr>
          <p:cNvPr id="26" name="Shape 19"/>
          <p:cNvSpPr/>
          <p:nvPr/>
        </p:nvSpPr>
        <p:spPr>
          <a:xfrm>
            <a:off x="8929116" y="5097780"/>
            <a:ext cx="502920" cy="502920"/>
          </a:xfrm>
          <a:prstGeom prst="ellipse">
            <a:avLst/>
          </a:prstGeom>
          <a:solidFill>
            <a:srgbClr val="121A33"/>
          </a:solidFill>
          <a:ln/>
        </p:spPr>
      </p:sp>
      <p:pic>
        <p:nvPicPr>
          <p:cNvPr id="27" name="Image 5" descr="icons_sitemap_00E5FF.png">    </p:cNvPr>
          <p:cNvPicPr>
            <a:picLocks noChangeAspect="1"/>
          </p:cNvPicPr>
          <p:nvPr/>
        </p:nvPicPr>
        <p:blipFill>
          <a:blip r:embed="rId6"/>
          <a:stretch>
            <a:fillRect/>
          </a:stretch>
        </p:blipFill>
        <p:spPr>
          <a:xfrm>
            <a:off x="9049817" y="5218481"/>
            <a:ext cx="261518" cy="261518"/>
          </a:xfrm>
          <a:prstGeom prst="rect">
            <a:avLst/>
          </a:prstGeom>
        </p:spPr>
      </p:pic>
      <p:sp>
        <p:nvSpPr>
          <p:cNvPr id="28" name="Text 20"/>
          <p:cNvSpPr/>
          <p:nvPr/>
        </p:nvSpPr>
        <p:spPr>
          <a:xfrm>
            <a:off x="8266176" y="5669280"/>
            <a:ext cx="1828800" cy="502920"/>
          </a:xfrm>
          <a:prstGeom prst="rect">
            <a:avLst/>
          </a:prstGeom>
          <a:noFill/>
          <a:ln/>
        </p:spPr>
        <p:txBody>
          <a:bodyPr wrap="square" rtlCol="0" anchor="t"/>
          <a:lstStyle/>
          <a:p>
            <a:pPr algn="ctr" indent="0" marL="0">
              <a:buNone/>
            </a:pPr>
            <a:r>
              <a:rPr lang="en-US" sz="1000" b="1" dirty="0">
                <a:solidFill>
                  <a:srgbClr val="8E9BC0"/>
                </a:solidFill>
                <a:latin typeface="Calibri" pitchFamily="34" charset="0"/>
                <a:ea typeface="Calibri" pitchFamily="34" charset="-122"/>
                <a:cs typeface="Calibri" pitchFamily="34" charset="-120"/>
              </a:rPr>
              <a:t>Webinars &amp;</a:t>
            </a:r>
            <a:endParaRPr lang="en-US" sz="1000" dirty="0"/>
          </a:p>
          <a:p>
            <a:pPr algn="ctr" indent="0" marL="0">
              <a:buNone/>
            </a:pPr>
            <a:r>
              <a:rPr lang="en-US" sz="1000" b="1" dirty="0">
                <a:solidFill>
                  <a:srgbClr val="8E9BC0"/>
                </a:solidFill>
                <a:latin typeface="Calibri" pitchFamily="34" charset="0"/>
                <a:ea typeface="Calibri" pitchFamily="34" charset="-122"/>
                <a:cs typeface="Calibri" pitchFamily="34" charset="-120"/>
              </a:rPr>
              <a:t>Partner Talks</a:t>
            </a:r>
            <a:endParaRPr lang="en-US" sz="1000" dirty="0"/>
          </a:p>
        </p:txBody>
      </p:sp>
      <p:sp>
        <p:nvSpPr>
          <p:cNvPr id="29" name="Shape 21"/>
          <p:cNvSpPr/>
          <p:nvPr/>
        </p:nvSpPr>
        <p:spPr>
          <a:xfrm>
            <a:off x="10995660" y="5097780"/>
            <a:ext cx="502920" cy="502920"/>
          </a:xfrm>
          <a:prstGeom prst="ellipse">
            <a:avLst/>
          </a:prstGeom>
          <a:solidFill>
            <a:srgbClr val="FF5C7A"/>
          </a:solidFill>
          <a:ln/>
        </p:spPr>
      </p:sp>
      <p:pic>
        <p:nvPicPr>
          <p:cNvPr id="30" name="Image 6" descr="icons_flag_FFFFFF.png">    </p:cNvPr>
          <p:cNvPicPr>
            <a:picLocks noChangeAspect="1"/>
          </p:cNvPicPr>
          <p:nvPr/>
        </p:nvPicPr>
        <p:blipFill>
          <a:blip r:embed="rId7"/>
          <a:stretch>
            <a:fillRect/>
          </a:stretch>
        </p:blipFill>
        <p:spPr>
          <a:xfrm>
            <a:off x="11116361" y="5218481"/>
            <a:ext cx="261518" cy="261518"/>
          </a:xfrm>
          <a:prstGeom prst="rect">
            <a:avLst/>
          </a:prstGeom>
        </p:spPr>
      </p:pic>
      <p:sp>
        <p:nvSpPr>
          <p:cNvPr id="31" name="Text 22"/>
          <p:cNvSpPr/>
          <p:nvPr/>
        </p:nvSpPr>
        <p:spPr>
          <a:xfrm>
            <a:off x="10332720" y="5669280"/>
            <a:ext cx="1828800" cy="502920"/>
          </a:xfrm>
          <a:prstGeom prst="rect">
            <a:avLst/>
          </a:prstGeom>
          <a:noFill/>
          <a:ln/>
        </p:spPr>
        <p:txBody>
          <a:bodyPr wrap="square" rtlCol="0" anchor="t"/>
          <a:lstStyle/>
          <a:p>
            <a:pPr algn="ctr" indent="0" marL="0">
              <a:buNone/>
            </a:pPr>
            <a:r>
              <a:rPr lang="en-US" sz="1000" b="1" dirty="0">
                <a:solidFill>
                  <a:srgbClr val="FFFFFF"/>
                </a:solidFill>
                <a:latin typeface="Calibri" pitchFamily="34" charset="0"/>
                <a:ea typeface="Calibri" pitchFamily="34" charset="-122"/>
                <a:cs typeface="Calibri" pitchFamily="34" charset="-120"/>
              </a:rPr>
              <a:t>BSides Bristol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2026</a:t>
            </a:r>
            <a:endParaRPr lang="en-US" sz="1000" dirty="0"/>
          </a:p>
        </p:txBody>
      </p:sp>
      <p:sp>
        <p:nvSpPr>
          <p:cNvPr id="32" name="Text 2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377440"/>
            <a:ext cx="10515600" cy="2011680"/>
          </a:xfrm>
          <a:prstGeom prst="rect">
            <a:avLst/>
          </a:prstGeom>
          <a:noFill/>
          <a:ln/>
        </p:spPr>
        <p:txBody>
          <a:bodyPr wrap="square" rtlCol="0" anchor="ctr"/>
          <a:lstStyle/>
          <a:p>
            <a:pPr algn="ctr" indent="0" marL="0">
              <a:buNone/>
            </a:pPr>
            <a:r>
              <a:rPr lang="en-US" sz="4600" b="1" dirty="0">
                <a:solidFill>
                  <a:srgbClr val="FF5C7A"/>
                </a:solidFill>
                <a:latin typeface="Cambria" pitchFamily="34" charset="0"/>
                <a:ea typeface="Cambria" pitchFamily="34" charset="-122"/>
                <a:cs typeface="Cambria" pitchFamily="34" charset="-120"/>
              </a:rPr>
              <a:t>BUT WHAT IF</a:t>
            </a:r>
            <a:endParaRPr lang="en-US" sz="4600" dirty="0"/>
          </a:p>
          <a:p>
            <a:pPr algn="ctr" indent="0" marL="0">
              <a:buNone/>
            </a:pPr>
            <a:r>
              <a:rPr lang="en-US" sz="4600" b="1" dirty="0">
                <a:solidFill>
                  <a:srgbClr val="FF5C7A"/>
                </a:solidFill>
                <a:latin typeface="Cambria" pitchFamily="34" charset="0"/>
                <a:ea typeface="Cambria" pitchFamily="34" charset="-122"/>
                <a:cs typeface="Cambria" pitchFamily="34" charset="-120"/>
              </a:rPr>
              <a:t>THE GAME IS WRONG?</a:t>
            </a:r>
            <a:endParaRPr lang="en-US" sz="4600" dirty="0"/>
          </a:p>
        </p:txBody>
      </p:sp>
      <p:sp>
        <p:nvSpPr>
          <p:cNvPr id="3" name="Text 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18"/>
        </a:solidFill>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sp>
      <p:sp>
        <p:nvSpPr>
          <p:cNvPr id="3" name="Shape 1"/>
          <p:cNvSpPr/>
          <p:nvPr/>
        </p:nvSpPr>
        <p:spPr>
          <a:xfrm>
            <a:off x="731520" y="2011680"/>
            <a:ext cx="1097280" cy="1645920"/>
          </a:xfrm>
          <a:prstGeom prst="line">
            <a:avLst/>
          </a:prstGeom>
          <a:noFill/>
          <a:ln w="15240">
            <a:solidFill>
              <a:srgbClr val="16204A"/>
            </a:solidFill>
            <a:prstDash val="solid"/>
          </a:ln>
        </p:spPr>
      </p:sp>
      <p:sp>
        <p:nvSpPr>
          <p:cNvPr id="4" name="Shape 2"/>
          <p:cNvSpPr/>
          <p:nvPr/>
        </p:nvSpPr>
        <p:spPr>
          <a:xfrm>
            <a:off x="10789920" y="1097280"/>
            <a:ext cx="640080" cy="1645920"/>
          </a:xfrm>
          <a:prstGeom prst="line">
            <a:avLst/>
          </a:prstGeom>
          <a:noFill/>
          <a:ln w="15240">
            <a:solidFill>
              <a:srgbClr val="16204A"/>
            </a:solidFill>
            <a:prstDash val="solid"/>
          </a:ln>
        </p:spPr>
      </p:sp>
      <p:sp>
        <p:nvSpPr>
          <p:cNvPr id="5" name="Shape 3"/>
          <p:cNvSpPr/>
          <p:nvPr/>
        </p:nvSpPr>
        <p:spPr>
          <a:xfrm>
            <a:off x="10515600" y="2743200"/>
            <a:ext cx="914400" cy="1828800"/>
          </a:xfrm>
          <a:prstGeom prst="line">
            <a:avLst/>
          </a:prstGeom>
          <a:noFill/>
          <a:ln w="15240">
            <a:solidFill>
              <a:srgbClr val="16204A"/>
            </a:solidFill>
            <a:prstDash val="solid"/>
          </a:ln>
        </p:spPr>
      </p:sp>
      <p:sp>
        <p:nvSpPr>
          <p:cNvPr id="6" name="Shape 4"/>
          <p:cNvSpPr/>
          <p:nvPr/>
        </p:nvSpPr>
        <p:spPr>
          <a:xfrm>
            <a:off x="859536" y="859536"/>
            <a:ext cx="109728" cy="109728"/>
          </a:xfrm>
          <a:prstGeom prst="ellipse">
            <a:avLst/>
          </a:prstGeom>
          <a:solidFill>
            <a:srgbClr val="00E5FF"/>
          </a:solidFill>
          <a:ln/>
        </p:spPr>
      </p:sp>
      <p:sp>
        <p:nvSpPr>
          <p:cNvPr id="7" name="Shape 5"/>
          <p:cNvSpPr/>
          <p:nvPr/>
        </p:nvSpPr>
        <p:spPr>
          <a:xfrm>
            <a:off x="1773936" y="1956816"/>
            <a:ext cx="109728" cy="109728"/>
          </a:xfrm>
          <a:prstGeom prst="ellipse">
            <a:avLst/>
          </a:prstGeom>
          <a:solidFill>
            <a:srgbClr val="7C5CFC"/>
          </a:solidFill>
          <a:ln/>
        </p:spPr>
      </p:sp>
      <p:sp>
        <p:nvSpPr>
          <p:cNvPr id="8" name="Shape 6"/>
          <p:cNvSpPr/>
          <p:nvPr/>
        </p:nvSpPr>
        <p:spPr>
          <a:xfrm>
            <a:off x="676656" y="3602736"/>
            <a:ext cx="109728" cy="109728"/>
          </a:xfrm>
          <a:prstGeom prst="ellipse">
            <a:avLst/>
          </a:prstGeom>
          <a:solidFill>
            <a:srgbClr val="7C5CFC"/>
          </a:solidFill>
          <a:ln/>
        </p:spPr>
      </p:sp>
      <p:sp>
        <p:nvSpPr>
          <p:cNvPr id="9" name="Shape 7"/>
          <p:cNvSpPr/>
          <p:nvPr/>
        </p:nvSpPr>
        <p:spPr>
          <a:xfrm>
            <a:off x="10735056" y="1042416"/>
            <a:ext cx="109728" cy="109728"/>
          </a:xfrm>
          <a:prstGeom prst="ellipse">
            <a:avLst/>
          </a:prstGeom>
          <a:solidFill>
            <a:srgbClr val="00E5FF"/>
          </a:solidFill>
          <a:ln/>
        </p:spPr>
      </p:sp>
      <p:sp>
        <p:nvSpPr>
          <p:cNvPr id="10" name="Shape 8"/>
          <p:cNvSpPr/>
          <p:nvPr/>
        </p:nvSpPr>
        <p:spPr>
          <a:xfrm>
            <a:off x="11375136" y="2688336"/>
            <a:ext cx="109728" cy="109728"/>
          </a:xfrm>
          <a:prstGeom prst="ellipse">
            <a:avLst/>
          </a:prstGeom>
          <a:solidFill>
            <a:srgbClr val="7C5CFC"/>
          </a:solidFill>
          <a:ln/>
        </p:spPr>
      </p:sp>
      <p:sp>
        <p:nvSpPr>
          <p:cNvPr id="11" name="Shape 9"/>
          <p:cNvSpPr/>
          <p:nvPr/>
        </p:nvSpPr>
        <p:spPr>
          <a:xfrm>
            <a:off x="10460736" y="4517136"/>
            <a:ext cx="109728" cy="109728"/>
          </a:xfrm>
          <a:prstGeom prst="ellipse">
            <a:avLst/>
          </a:prstGeom>
          <a:solidFill>
            <a:srgbClr val="7C5CFC"/>
          </a:solidFill>
          <a:ln/>
        </p:spPr>
      </p:sp>
      <p:sp>
        <p:nvSpPr>
          <p:cNvPr id="12" name="Shape 10"/>
          <p:cNvSpPr/>
          <p:nvPr/>
        </p:nvSpPr>
        <p:spPr>
          <a:xfrm>
            <a:off x="822960" y="1463040"/>
            <a:ext cx="822960" cy="822960"/>
          </a:xfrm>
          <a:prstGeom prst="ellipse">
            <a:avLst/>
          </a:prstGeom>
          <a:solidFill>
            <a:srgbClr val="0A0F1F"/>
          </a:solidFill>
          <a:ln/>
        </p:spPr>
      </p:sp>
      <p:pic>
        <p:nvPicPr>
          <p:cNvPr id="13" name="Image 0" descr="icons_quote_7C5CFC.png">    </p:cNvPr>
          <p:cNvPicPr>
            <a:picLocks noChangeAspect="1"/>
          </p:cNvPicPr>
          <p:nvPr/>
        </p:nvPicPr>
        <p:blipFill>
          <a:blip r:embed="rId1"/>
          <a:stretch>
            <a:fillRect/>
          </a:stretch>
        </p:blipFill>
        <p:spPr>
          <a:xfrm>
            <a:off x="1020470" y="1660550"/>
            <a:ext cx="427939" cy="427939"/>
          </a:xfrm>
          <a:prstGeom prst="rect">
            <a:avLst/>
          </a:prstGeom>
        </p:spPr>
      </p:pic>
      <p:sp>
        <p:nvSpPr>
          <p:cNvPr id="14" name="Text 11"/>
          <p:cNvSpPr/>
          <p:nvPr/>
        </p:nvSpPr>
        <p:spPr>
          <a:xfrm>
            <a:off x="1097280" y="2468880"/>
            <a:ext cx="9966960" cy="1828800"/>
          </a:xfrm>
          <a:prstGeom prst="rect">
            <a:avLst/>
          </a:prstGeom>
          <a:noFill/>
          <a:ln/>
        </p:spPr>
        <p:txBody>
          <a:bodyPr wrap="square" rtlCol="0" anchor="ctr"/>
          <a:lstStyle/>
          <a:p>
            <a:pPr algn="l" indent="0" marL="0">
              <a:buNone/>
            </a:pPr>
            <a:r>
              <a:rPr lang="en-US" sz="2700" b="1" i="1" dirty="0">
                <a:solidFill>
                  <a:srgbClr val="FFFFFF"/>
                </a:solidFill>
                <a:latin typeface="Cambria" pitchFamily="34" charset="0"/>
                <a:ea typeface="Cambria" pitchFamily="34" charset="-122"/>
                <a:cs typeface="Cambria" pitchFamily="34" charset="-120"/>
              </a:rPr>
              <a:t>“We got Domain Admin in four hours...</a:t>
            </a:r>
            <a:endParaRPr lang="en-US" sz="2700" dirty="0"/>
          </a:p>
          <a:p>
            <a:pPr algn="l" indent="0" marL="0">
              <a:buNone/>
            </a:pPr>
            <a:r>
              <a:rPr lang="en-US" sz="2700" b="1" i="1" dirty="0">
                <a:solidFill>
                  <a:srgbClr val="FFFFFF"/>
                </a:solidFill>
                <a:latin typeface="Cambria" pitchFamily="34" charset="0"/>
                <a:ea typeface="Cambria" pitchFamily="34" charset="-122"/>
                <a:cs typeface="Cambria" pitchFamily="34" charset="-120"/>
              </a:rPr>
              <a:t>but the client's actual crown jewels lived</a:t>
            </a:r>
            <a:endParaRPr lang="en-US" sz="2700" dirty="0"/>
          </a:p>
          <a:p>
            <a:pPr algn="l" indent="0" marL="0">
              <a:buNone/>
            </a:pPr>
            <a:r>
              <a:rPr lang="en-US" sz="2700" b="1" i="1" dirty="0">
                <a:solidFill>
                  <a:srgbClr val="FFFFFF"/>
                </a:solidFill>
                <a:latin typeface="Cambria" pitchFamily="34" charset="0"/>
                <a:ea typeface="Cambria" pitchFamily="34" charset="-122"/>
                <a:cs typeface="Cambria" pitchFamily="34" charset="-120"/>
              </a:rPr>
              <a:t>in a SaaS platform we never touched.”</a:t>
            </a:r>
            <a:endParaRPr lang="en-US" sz="2700" dirty="0"/>
          </a:p>
        </p:txBody>
      </p:sp>
      <p:sp>
        <p:nvSpPr>
          <p:cNvPr id="15" name="Text 12"/>
          <p:cNvSpPr/>
          <p:nvPr/>
        </p:nvSpPr>
        <p:spPr>
          <a:xfrm>
            <a:off x="1097280" y="4434840"/>
            <a:ext cx="9144000" cy="548640"/>
          </a:xfrm>
          <a:prstGeom prst="rect">
            <a:avLst/>
          </a:prstGeom>
          <a:noFill/>
          <a:ln/>
        </p:spPr>
        <p:txBody>
          <a:bodyPr wrap="square" rtlCol="0" anchor="ctr"/>
          <a:lstStyle/>
          <a:p>
            <a:pPr indent="0" marL="0">
              <a:buNone/>
            </a:pPr>
            <a:r>
              <a:rPr lang="en-US" sz="1450" dirty="0">
                <a:solidFill>
                  <a:srgbClr val="8E9BC0"/>
                </a:solidFill>
                <a:latin typeface="Calibri" pitchFamily="34" charset="0"/>
                <a:ea typeface="Calibri" pitchFamily="34" charset="-122"/>
                <a:cs typeface="Calibri" pitchFamily="34" charset="-120"/>
              </a:rPr>
              <a:t>A sentence every pentester has quietly thought - and one every report should reckon with.</a:t>
            </a:r>
            <a:endParaRPr lang="en-US" sz="1450" dirty="0"/>
          </a:p>
        </p:txBody>
      </p:sp>
      <p:sp>
        <p:nvSpPr>
          <p:cNvPr id="16" name="Text 1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286000"/>
            <a:ext cx="10515600" cy="201168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SO WHAT DID WE</a:t>
            </a:r>
            <a:endParaRPr lang="en-US" sz="4400" dirty="0"/>
          </a:p>
          <a:p>
            <a:pPr algn="ctr" indent="0" marL="0">
              <a:buNone/>
            </a:pPr>
            <a:r>
              <a:rPr lang="en-US" sz="4400" b="1" dirty="0">
                <a:solidFill>
                  <a:srgbClr val="FFFFFF"/>
                </a:solidFill>
                <a:latin typeface="Cambria" pitchFamily="34" charset="0"/>
                <a:ea typeface="Cambria" pitchFamily="34" charset="-122"/>
                <a:cs typeface="Cambria" pitchFamily="34" charset="-120"/>
              </a:rPr>
              <a:t>ACTUALLY PROVE?</a:t>
            </a:r>
            <a:endParaRPr lang="en-US" sz="4400" dirty="0"/>
          </a:p>
        </p:txBody>
      </p:sp>
      <p:sp>
        <p:nvSpPr>
          <p:cNvPr id="3" name="Text 1"/>
          <p:cNvSpPr/>
          <p:nvPr/>
        </p:nvSpPr>
        <p:spPr>
          <a:xfrm>
            <a:off x="1280160" y="4434840"/>
            <a:ext cx="9601200" cy="548640"/>
          </a:xfrm>
          <a:prstGeom prst="rect">
            <a:avLst/>
          </a:prstGeom>
          <a:noFill/>
          <a:ln/>
        </p:spPr>
        <p:txBody>
          <a:bodyPr wrap="square" rtlCol="0" anchor="ctr"/>
          <a:lstStyle/>
          <a:p>
            <a:pPr algn="ctr" indent="0" marL="0">
              <a:buNone/>
            </a:pPr>
            <a:r>
              <a:rPr lang="en-US" sz="1500" i="1" dirty="0">
                <a:solidFill>
                  <a:srgbClr val="8E9BC0"/>
                </a:solidFill>
                <a:latin typeface="Calibri" pitchFamily="34" charset="0"/>
                <a:ea typeface="Calibri" pitchFamily="34" charset="-122"/>
                <a:cs typeface="Calibri" pitchFamily="34" charset="-120"/>
              </a:rPr>
              <a:t>Not what we thought. The enterprise underneath us has moved.</a:t>
            </a:r>
            <a:endParaRPr lang="en-US" sz="1500" dirty="0"/>
          </a:p>
        </p:txBody>
      </p:sp>
      <p:sp>
        <p:nvSpPr>
          <p:cNvPr id="4" name="Text 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HERE'S WHAT MOVED</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architecture nobody re-scoped for</a:t>
            </a:r>
            <a:endParaRPr lang="en-US" sz="3200" dirty="0"/>
          </a:p>
        </p:txBody>
      </p:sp>
      <p:sp>
        <p:nvSpPr>
          <p:cNvPr id="4" name="Shape 2"/>
          <p:cNvSpPr/>
          <p:nvPr/>
        </p:nvSpPr>
        <p:spPr>
          <a:xfrm>
            <a:off x="640080" y="2331720"/>
            <a:ext cx="2514600" cy="3108960"/>
          </a:xfrm>
          <a:prstGeom prst="roundRect">
            <a:avLst>
              <a:gd name="adj" fmla="val 4364"/>
            </a:avLst>
          </a:prstGeom>
          <a:solidFill>
            <a:srgbClr val="121A33"/>
          </a:solidFill>
          <a:ln/>
        </p:spPr>
      </p:sp>
      <p:sp>
        <p:nvSpPr>
          <p:cNvPr id="5" name="Shape 3"/>
          <p:cNvSpPr/>
          <p:nvPr/>
        </p:nvSpPr>
        <p:spPr>
          <a:xfrm>
            <a:off x="1508760" y="2651760"/>
            <a:ext cx="777240" cy="777240"/>
          </a:xfrm>
          <a:prstGeom prst="ellipse">
            <a:avLst/>
          </a:prstGeom>
          <a:solidFill>
            <a:srgbClr val="16204A"/>
          </a:solidFill>
          <a:ln/>
        </p:spPr>
      </p:sp>
      <p:pic>
        <p:nvPicPr>
          <p:cNvPr id="6" name="Image 0" descr="icons_chart_00E5FF.png">    </p:cNvPr>
          <p:cNvPicPr>
            <a:picLocks noChangeAspect="1"/>
          </p:cNvPicPr>
          <p:nvPr/>
        </p:nvPicPr>
        <p:blipFill>
          <a:blip r:embed="rId1"/>
          <a:stretch>
            <a:fillRect/>
          </a:stretch>
        </p:blipFill>
        <p:spPr>
          <a:xfrm>
            <a:off x="1695298" y="2838298"/>
            <a:ext cx="404165" cy="404165"/>
          </a:xfrm>
          <a:prstGeom prst="rect">
            <a:avLst/>
          </a:prstGeom>
        </p:spPr>
      </p:pic>
      <p:sp>
        <p:nvSpPr>
          <p:cNvPr id="7" name="Text 4"/>
          <p:cNvSpPr/>
          <p:nvPr/>
        </p:nvSpPr>
        <p:spPr>
          <a:xfrm>
            <a:off x="777240" y="3611880"/>
            <a:ext cx="2240280" cy="64008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M365 / Entra ID</a:t>
            </a:r>
            <a:endParaRPr lang="en-US" sz="1400" dirty="0"/>
          </a:p>
        </p:txBody>
      </p:sp>
      <p:sp>
        <p:nvSpPr>
          <p:cNvPr id="8" name="Text 5"/>
          <p:cNvSpPr/>
          <p:nvPr/>
        </p:nvSpPr>
        <p:spPr>
          <a:xfrm>
            <a:off x="777240" y="4251960"/>
            <a:ext cx="2240280" cy="100584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The default identity backbone for most enterprises today</a:t>
            </a:r>
            <a:endParaRPr lang="en-US" sz="1150" dirty="0"/>
          </a:p>
        </p:txBody>
      </p:sp>
      <p:sp>
        <p:nvSpPr>
          <p:cNvPr id="9" name="Shape 6"/>
          <p:cNvSpPr/>
          <p:nvPr/>
        </p:nvSpPr>
        <p:spPr>
          <a:xfrm>
            <a:off x="3429000" y="2331720"/>
            <a:ext cx="2514600" cy="3108960"/>
          </a:xfrm>
          <a:prstGeom prst="roundRect">
            <a:avLst>
              <a:gd name="adj" fmla="val 4364"/>
            </a:avLst>
          </a:prstGeom>
          <a:solidFill>
            <a:srgbClr val="121A33"/>
          </a:solidFill>
          <a:ln/>
        </p:spPr>
      </p:sp>
      <p:sp>
        <p:nvSpPr>
          <p:cNvPr id="10" name="Shape 7"/>
          <p:cNvSpPr/>
          <p:nvPr/>
        </p:nvSpPr>
        <p:spPr>
          <a:xfrm>
            <a:off x="4297680" y="2651760"/>
            <a:ext cx="777240" cy="777240"/>
          </a:xfrm>
          <a:prstGeom prst="ellipse">
            <a:avLst/>
          </a:prstGeom>
          <a:solidFill>
            <a:srgbClr val="16204A"/>
          </a:solidFill>
          <a:ln/>
        </p:spPr>
      </p:sp>
      <p:pic>
        <p:nvPicPr>
          <p:cNvPr id="11" name="Image 1" descr="icons_layers_00E5FF.png">    </p:cNvPr>
          <p:cNvPicPr>
            <a:picLocks noChangeAspect="1"/>
          </p:cNvPicPr>
          <p:nvPr/>
        </p:nvPicPr>
        <p:blipFill>
          <a:blip r:embed="rId2"/>
          <a:stretch>
            <a:fillRect/>
          </a:stretch>
        </p:blipFill>
        <p:spPr>
          <a:xfrm>
            <a:off x="4484218" y="2838298"/>
            <a:ext cx="404165" cy="404165"/>
          </a:xfrm>
          <a:prstGeom prst="rect">
            <a:avLst/>
          </a:prstGeom>
        </p:spPr>
      </p:pic>
      <p:sp>
        <p:nvSpPr>
          <p:cNvPr id="12" name="Text 8"/>
          <p:cNvSpPr/>
          <p:nvPr/>
        </p:nvSpPr>
        <p:spPr>
          <a:xfrm>
            <a:off x="3566160" y="3611880"/>
            <a:ext cx="2240280" cy="64008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Dozens of SaaS apps</a:t>
            </a:r>
            <a:endParaRPr lang="en-US" sz="1400" dirty="0"/>
          </a:p>
        </p:txBody>
      </p:sp>
      <p:sp>
        <p:nvSpPr>
          <p:cNvPr id="13" name="Text 9"/>
          <p:cNvSpPr/>
          <p:nvPr/>
        </p:nvSpPr>
        <p:spPr>
          <a:xfrm>
            <a:off x="3566160" y="4251960"/>
            <a:ext cx="2240280" cy="100584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Per organisation, each with its own admin plane and data</a:t>
            </a:r>
            <a:endParaRPr lang="en-US" sz="1150" dirty="0"/>
          </a:p>
        </p:txBody>
      </p:sp>
      <p:sp>
        <p:nvSpPr>
          <p:cNvPr id="14" name="Shape 10"/>
          <p:cNvSpPr/>
          <p:nvPr/>
        </p:nvSpPr>
        <p:spPr>
          <a:xfrm>
            <a:off x="6217920" y="2331720"/>
            <a:ext cx="2514600" cy="3108960"/>
          </a:xfrm>
          <a:prstGeom prst="roundRect">
            <a:avLst>
              <a:gd name="adj" fmla="val 4364"/>
            </a:avLst>
          </a:prstGeom>
          <a:solidFill>
            <a:srgbClr val="121A33"/>
          </a:solidFill>
          <a:ln/>
        </p:spPr>
      </p:sp>
      <p:sp>
        <p:nvSpPr>
          <p:cNvPr id="15" name="Shape 11"/>
          <p:cNvSpPr/>
          <p:nvPr/>
        </p:nvSpPr>
        <p:spPr>
          <a:xfrm>
            <a:off x="7086600" y="2651760"/>
            <a:ext cx="777240" cy="777240"/>
          </a:xfrm>
          <a:prstGeom prst="ellipse">
            <a:avLst/>
          </a:prstGeom>
          <a:solidFill>
            <a:srgbClr val="16204A"/>
          </a:solidFill>
          <a:ln/>
        </p:spPr>
      </p:sp>
      <p:pic>
        <p:nvPicPr>
          <p:cNvPr id="16" name="Image 2" descr="icons_cloud_00E5FF.png">    </p:cNvPr>
          <p:cNvPicPr>
            <a:picLocks noChangeAspect="1"/>
          </p:cNvPicPr>
          <p:nvPr/>
        </p:nvPicPr>
        <p:blipFill>
          <a:blip r:embed="rId3"/>
          <a:stretch>
            <a:fillRect/>
          </a:stretch>
        </p:blipFill>
        <p:spPr>
          <a:xfrm>
            <a:off x="7273138" y="2838298"/>
            <a:ext cx="404165" cy="404165"/>
          </a:xfrm>
          <a:prstGeom prst="rect">
            <a:avLst/>
          </a:prstGeom>
        </p:spPr>
      </p:pic>
      <p:sp>
        <p:nvSpPr>
          <p:cNvPr id="17" name="Text 12"/>
          <p:cNvSpPr/>
          <p:nvPr/>
        </p:nvSpPr>
        <p:spPr>
          <a:xfrm>
            <a:off x="6355080" y="3611880"/>
            <a:ext cx="2240280" cy="64008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Multi-cloud by default</a:t>
            </a:r>
            <a:endParaRPr lang="en-US" sz="1400" dirty="0"/>
          </a:p>
        </p:txBody>
      </p:sp>
      <p:sp>
        <p:nvSpPr>
          <p:cNvPr id="18" name="Text 13"/>
          <p:cNvSpPr/>
          <p:nvPr/>
        </p:nvSpPr>
        <p:spPr>
          <a:xfrm>
            <a:off x="6355080" y="4251960"/>
            <a:ext cx="2240280" cy="100584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AWS, Azure and GCP control planes running in parallel</a:t>
            </a:r>
            <a:endParaRPr lang="en-US" sz="1150" dirty="0"/>
          </a:p>
        </p:txBody>
      </p:sp>
      <p:sp>
        <p:nvSpPr>
          <p:cNvPr id="19" name="Shape 14"/>
          <p:cNvSpPr/>
          <p:nvPr/>
        </p:nvSpPr>
        <p:spPr>
          <a:xfrm>
            <a:off x="9006840" y="2331720"/>
            <a:ext cx="2514600" cy="3108960"/>
          </a:xfrm>
          <a:prstGeom prst="roundRect">
            <a:avLst>
              <a:gd name="adj" fmla="val 4364"/>
            </a:avLst>
          </a:prstGeom>
          <a:solidFill>
            <a:srgbClr val="121A33"/>
          </a:solidFill>
          <a:ln/>
        </p:spPr>
      </p:sp>
      <p:sp>
        <p:nvSpPr>
          <p:cNvPr id="20" name="Shape 15"/>
          <p:cNvSpPr/>
          <p:nvPr/>
        </p:nvSpPr>
        <p:spPr>
          <a:xfrm>
            <a:off x="9875520" y="2651760"/>
            <a:ext cx="777240" cy="777240"/>
          </a:xfrm>
          <a:prstGeom prst="ellipse">
            <a:avLst/>
          </a:prstGeom>
          <a:solidFill>
            <a:srgbClr val="16204A"/>
          </a:solidFill>
          <a:ln/>
        </p:spPr>
      </p:sp>
      <p:pic>
        <p:nvPicPr>
          <p:cNvPr id="21" name="Image 3" descr="icons_mobile_00E5FF.png">    </p:cNvPr>
          <p:cNvPicPr>
            <a:picLocks noChangeAspect="1"/>
          </p:cNvPicPr>
          <p:nvPr/>
        </p:nvPicPr>
        <p:blipFill>
          <a:blip r:embed="rId4"/>
          <a:stretch>
            <a:fillRect/>
          </a:stretch>
        </p:blipFill>
        <p:spPr>
          <a:xfrm>
            <a:off x="10062058" y="2838298"/>
            <a:ext cx="404165" cy="404165"/>
          </a:xfrm>
          <a:prstGeom prst="rect">
            <a:avLst/>
          </a:prstGeom>
        </p:spPr>
      </p:pic>
      <p:sp>
        <p:nvSpPr>
          <p:cNvPr id="22" name="Text 16"/>
          <p:cNvSpPr/>
          <p:nvPr/>
        </p:nvSpPr>
        <p:spPr>
          <a:xfrm>
            <a:off x="9144000" y="3611880"/>
            <a:ext cx="2240280" cy="64008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Fully managed endpoints</a:t>
            </a:r>
            <a:endParaRPr lang="en-US" sz="1400" dirty="0"/>
          </a:p>
        </p:txBody>
      </p:sp>
      <p:sp>
        <p:nvSpPr>
          <p:cNvPr id="23" name="Text 17"/>
          <p:cNvSpPr/>
          <p:nvPr/>
        </p:nvSpPr>
        <p:spPr>
          <a:xfrm>
            <a:off x="9144000" y="4251960"/>
            <a:ext cx="2240280" cy="1005840"/>
          </a:xfrm>
          <a:prstGeom prst="rect">
            <a:avLst/>
          </a:prstGeom>
          <a:noFill/>
          <a:ln/>
        </p:spPr>
        <p:txBody>
          <a:bodyPr wrap="square" rtlCol="0" anchor="t"/>
          <a:lstStyle/>
          <a:p>
            <a:pPr algn="ctr" indent="0" marL="0">
              <a:buNone/>
            </a:pPr>
            <a:r>
              <a:rPr lang="en-US" sz="1150" dirty="0">
                <a:solidFill>
                  <a:srgbClr val="8E9BC0"/>
                </a:solidFill>
                <a:latin typeface="Calibri" pitchFamily="34" charset="0"/>
                <a:ea typeface="Calibri" pitchFamily="34" charset="-122"/>
                <a:cs typeface="Calibri" pitchFamily="34" charset="-120"/>
              </a:rPr>
              <a:t>MDM/UEM platforms deciding what gets to connect at all</a:t>
            </a:r>
            <a:endParaRPr lang="en-US" sz="1150" dirty="0"/>
          </a:p>
        </p:txBody>
      </p:sp>
      <p:sp>
        <p:nvSpPr>
          <p:cNvPr id="24" name="Text 1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468880"/>
            <a:ext cx="10515600" cy="18288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PRIVILEGE IS NO LONGER</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THE UNIT OF COMPROMISE.</a:t>
            </a:r>
            <a:endParaRPr lang="en-US" sz="3800" dirty="0"/>
          </a:p>
        </p:txBody>
      </p:sp>
      <p:sp>
        <p:nvSpPr>
          <p:cNvPr id="3" name="Text 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LET'S FIND OUT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Follow the trust</a:t>
            </a:r>
            <a:endParaRPr lang="en-US" sz="3200" dirty="0"/>
          </a:p>
        </p:txBody>
      </p:sp>
      <p:sp>
        <p:nvSpPr>
          <p:cNvPr id="4" name="Shape 2"/>
          <p:cNvSpPr/>
          <p:nvPr/>
        </p:nvSpPr>
        <p:spPr>
          <a:xfrm>
            <a:off x="640080" y="2331720"/>
            <a:ext cx="1965960" cy="2743200"/>
          </a:xfrm>
          <a:prstGeom prst="roundRect">
            <a:avLst>
              <a:gd name="adj" fmla="val 5581"/>
            </a:avLst>
          </a:prstGeom>
          <a:solidFill>
            <a:srgbClr val="121A33"/>
          </a:solidFill>
          <a:ln/>
        </p:spPr>
      </p:sp>
      <p:sp>
        <p:nvSpPr>
          <p:cNvPr id="5" name="Shape 3"/>
          <p:cNvSpPr/>
          <p:nvPr/>
        </p:nvSpPr>
        <p:spPr>
          <a:xfrm>
            <a:off x="1257300" y="2651760"/>
            <a:ext cx="731520" cy="731520"/>
          </a:xfrm>
          <a:prstGeom prst="ellipse">
            <a:avLst/>
          </a:prstGeom>
          <a:solidFill>
            <a:srgbClr val="0A0F1F"/>
          </a:solidFill>
          <a:ln/>
        </p:spPr>
      </p:sp>
      <p:pic>
        <p:nvPicPr>
          <p:cNvPr id="6" name="Image 0" descr="icons_usershield_00E5FF.png">    </p:cNvPr>
          <p:cNvPicPr>
            <a:picLocks noChangeAspect="1"/>
          </p:cNvPicPr>
          <p:nvPr/>
        </p:nvPicPr>
        <p:blipFill>
          <a:blip r:embed="rId1"/>
          <a:stretch>
            <a:fillRect/>
          </a:stretch>
        </p:blipFill>
        <p:spPr>
          <a:xfrm>
            <a:off x="1432865" y="2827325"/>
            <a:ext cx="380390" cy="380390"/>
          </a:xfrm>
          <a:prstGeom prst="rect">
            <a:avLst/>
          </a:prstGeom>
        </p:spPr>
      </p:pic>
      <p:sp>
        <p:nvSpPr>
          <p:cNvPr id="7" name="Text 4"/>
          <p:cNvSpPr/>
          <p:nvPr/>
        </p:nvSpPr>
        <p:spPr>
          <a:xfrm>
            <a:off x="731520" y="3566160"/>
            <a:ext cx="1783080" cy="64008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Identity Providers</a:t>
            </a:r>
            <a:endParaRPr lang="en-US" sz="1350" dirty="0"/>
          </a:p>
        </p:txBody>
      </p:sp>
      <p:sp>
        <p:nvSpPr>
          <p:cNvPr id="8" name="Text 5"/>
          <p:cNvSpPr/>
          <p:nvPr/>
        </p:nvSpPr>
        <p:spPr>
          <a:xfrm>
            <a:off x="731520" y="4206240"/>
            <a:ext cx="1783080" cy="777240"/>
          </a:xfrm>
          <a:prstGeom prst="rect">
            <a:avLst/>
          </a:prstGeom>
          <a:noFill/>
          <a:ln/>
        </p:spPr>
        <p:txBody>
          <a:bodyPr wrap="square" rtlCol="0" anchor="t"/>
          <a:lstStyle/>
          <a:p>
            <a:pPr algn="ctr" indent="0" marL="0">
              <a:buNone/>
            </a:pPr>
            <a:r>
              <a:rPr lang="en-US" sz="1050" dirty="0">
                <a:solidFill>
                  <a:srgbClr val="8E9BC0"/>
                </a:solidFill>
                <a:latin typeface="Calibri" pitchFamily="34" charset="0"/>
                <a:ea typeface="Calibri" pitchFamily="34" charset="-122"/>
                <a:cs typeface="Calibri" pitchFamily="34" charset="-120"/>
              </a:rPr>
              <a:t>Entra ID, Okta, Google Workspace</a:t>
            </a:r>
            <a:endParaRPr lang="en-US" sz="1050" dirty="0"/>
          </a:p>
        </p:txBody>
      </p:sp>
      <p:sp>
        <p:nvSpPr>
          <p:cNvPr id="9" name="Shape 6"/>
          <p:cNvSpPr/>
          <p:nvPr/>
        </p:nvSpPr>
        <p:spPr>
          <a:xfrm>
            <a:off x="2834640" y="2331720"/>
            <a:ext cx="1965960" cy="2743200"/>
          </a:xfrm>
          <a:prstGeom prst="roundRect">
            <a:avLst>
              <a:gd name="adj" fmla="val 5581"/>
            </a:avLst>
          </a:prstGeom>
          <a:solidFill>
            <a:srgbClr val="121A33"/>
          </a:solidFill>
          <a:ln/>
        </p:spPr>
      </p:sp>
      <p:sp>
        <p:nvSpPr>
          <p:cNvPr id="10" name="Shape 7"/>
          <p:cNvSpPr/>
          <p:nvPr/>
        </p:nvSpPr>
        <p:spPr>
          <a:xfrm>
            <a:off x="3451860" y="2651760"/>
            <a:ext cx="731520" cy="731520"/>
          </a:xfrm>
          <a:prstGeom prst="ellipse">
            <a:avLst/>
          </a:prstGeom>
          <a:solidFill>
            <a:srgbClr val="0A0F1F"/>
          </a:solidFill>
          <a:ln/>
        </p:spPr>
      </p:sp>
      <p:pic>
        <p:nvPicPr>
          <p:cNvPr id="11" name="Image 1" descr="icons_building_00E5FF.png">    </p:cNvPr>
          <p:cNvPicPr>
            <a:picLocks noChangeAspect="1"/>
          </p:cNvPicPr>
          <p:nvPr/>
        </p:nvPicPr>
        <p:blipFill>
          <a:blip r:embed="rId2"/>
          <a:stretch>
            <a:fillRect/>
          </a:stretch>
        </p:blipFill>
        <p:spPr>
          <a:xfrm>
            <a:off x="3627425" y="2827325"/>
            <a:ext cx="380390" cy="380390"/>
          </a:xfrm>
          <a:prstGeom prst="rect">
            <a:avLst/>
          </a:prstGeom>
        </p:spPr>
      </p:pic>
      <p:sp>
        <p:nvSpPr>
          <p:cNvPr id="12" name="Text 8"/>
          <p:cNvSpPr/>
          <p:nvPr/>
        </p:nvSpPr>
        <p:spPr>
          <a:xfrm>
            <a:off x="2926080" y="3566160"/>
            <a:ext cx="1783080" cy="64008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SaaS Platforms</a:t>
            </a:r>
            <a:endParaRPr lang="en-US" sz="1350" dirty="0"/>
          </a:p>
        </p:txBody>
      </p:sp>
      <p:sp>
        <p:nvSpPr>
          <p:cNvPr id="13" name="Text 9"/>
          <p:cNvSpPr/>
          <p:nvPr/>
        </p:nvSpPr>
        <p:spPr>
          <a:xfrm>
            <a:off x="2926080" y="4206240"/>
            <a:ext cx="1783080" cy="777240"/>
          </a:xfrm>
          <a:prstGeom prst="rect">
            <a:avLst/>
          </a:prstGeom>
          <a:noFill/>
          <a:ln/>
        </p:spPr>
        <p:txBody>
          <a:bodyPr wrap="square" rtlCol="0" anchor="t"/>
          <a:lstStyle/>
          <a:p>
            <a:pPr algn="ctr" indent="0" marL="0">
              <a:buNone/>
            </a:pPr>
            <a:r>
              <a:rPr lang="en-US" sz="1050" dirty="0">
                <a:solidFill>
                  <a:srgbClr val="8E9BC0"/>
                </a:solidFill>
                <a:latin typeface="Calibri" pitchFamily="34" charset="0"/>
                <a:ea typeface="Calibri" pitchFamily="34" charset="-122"/>
                <a:cs typeface="Calibri" pitchFamily="34" charset="-120"/>
              </a:rPr>
              <a:t>Sensitive data &amp; admin control</a:t>
            </a:r>
            <a:endParaRPr lang="en-US" sz="1050" dirty="0"/>
          </a:p>
        </p:txBody>
      </p:sp>
      <p:sp>
        <p:nvSpPr>
          <p:cNvPr id="14" name="Shape 10"/>
          <p:cNvSpPr/>
          <p:nvPr/>
        </p:nvSpPr>
        <p:spPr>
          <a:xfrm>
            <a:off x="5029200" y="2331720"/>
            <a:ext cx="1965960" cy="2743200"/>
          </a:xfrm>
          <a:prstGeom prst="roundRect">
            <a:avLst>
              <a:gd name="adj" fmla="val 5581"/>
            </a:avLst>
          </a:prstGeom>
          <a:solidFill>
            <a:srgbClr val="16204A"/>
          </a:solidFill>
          <a:ln/>
        </p:spPr>
      </p:sp>
      <p:sp>
        <p:nvSpPr>
          <p:cNvPr id="15" name="Shape 11"/>
          <p:cNvSpPr/>
          <p:nvPr/>
        </p:nvSpPr>
        <p:spPr>
          <a:xfrm>
            <a:off x="5646420" y="2651760"/>
            <a:ext cx="731520" cy="731520"/>
          </a:xfrm>
          <a:prstGeom prst="ellipse">
            <a:avLst/>
          </a:prstGeom>
          <a:solidFill>
            <a:srgbClr val="0A0F1F"/>
          </a:solidFill>
          <a:ln/>
        </p:spPr>
      </p:sp>
      <p:pic>
        <p:nvPicPr>
          <p:cNvPr id="16" name="Image 2" descr="icons_mobile_00E5FF.png">    </p:cNvPr>
          <p:cNvPicPr>
            <a:picLocks noChangeAspect="1"/>
          </p:cNvPicPr>
          <p:nvPr/>
        </p:nvPicPr>
        <p:blipFill>
          <a:blip r:embed="rId3"/>
          <a:stretch>
            <a:fillRect/>
          </a:stretch>
        </p:blipFill>
        <p:spPr>
          <a:xfrm>
            <a:off x="5821985" y="2827325"/>
            <a:ext cx="380390" cy="380390"/>
          </a:xfrm>
          <a:prstGeom prst="rect">
            <a:avLst/>
          </a:prstGeom>
        </p:spPr>
      </p:pic>
      <p:sp>
        <p:nvSpPr>
          <p:cNvPr id="17" name="Text 12"/>
          <p:cNvSpPr/>
          <p:nvPr/>
        </p:nvSpPr>
        <p:spPr>
          <a:xfrm>
            <a:off x="5120640" y="3566160"/>
            <a:ext cx="1783080" cy="64008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Device Management</a:t>
            </a:r>
            <a:endParaRPr lang="en-US" sz="1350" dirty="0"/>
          </a:p>
        </p:txBody>
      </p:sp>
      <p:sp>
        <p:nvSpPr>
          <p:cNvPr id="18" name="Text 13"/>
          <p:cNvSpPr/>
          <p:nvPr/>
        </p:nvSpPr>
        <p:spPr>
          <a:xfrm>
            <a:off x="5120640" y="4206240"/>
            <a:ext cx="1783080" cy="777240"/>
          </a:xfrm>
          <a:prstGeom prst="rect">
            <a:avLst/>
          </a:prstGeom>
          <a:noFill/>
          <a:ln/>
        </p:spPr>
        <p:txBody>
          <a:bodyPr wrap="square" rtlCol="0" anchor="t"/>
          <a:lstStyle/>
          <a:p>
            <a:pPr algn="ctr" indent="0" marL="0">
              <a:buNone/>
            </a:pPr>
            <a:r>
              <a:rPr lang="en-US" sz="1050" dirty="0">
                <a:solidFill>
                  <a:srgbClr val="8E9BC0"/>
                </a:solidFill>
                <a:latin typeface="Calibri" pitchFamily="34" charset="0"/>
                <a:ea typeface="Calibri" pitchFamily="34" charset="-122"/>
                <a:cs typeface="Calibri" pitchFamily="34" charset="-120"/>
              </a:rPr>
              <a:t>Intune, Jamf, endpoint trust</a:t>
            </a:r>
            <a:endParaRPr lang="en-US" sz="1050" dirty="0"/>
          </a:p>
        </p:txBody>
      </p:sp>
      <p:sp>
        <p:nvSpPr>
          <p:cNvPr id="19" name="Shape 14"/>
          <p:cNvSpPr/>
          <p:nvPr/>
        </p:nvSpPr>
        <p:spPr>
          <a:xfrm>
            <a:off x="7223760" y="2331720"/>
            <a:ext cx="1965960" cy="2743200"/>
          </a:xfrm>
          <a:prstGeom prst="roundRect">
            <a:avLst>
              <a:gd name="adj" fmla="val 5581"/>
            </a:avLst>
          </a:prstGeom>
          <a:solidFill>
            <a:srgbClr val="121A33"/>
          </a:solidFill>
          <a:ln/>
        </p:spPr>
      </p:sp>
      <p:sp>
        <p:nvSpPr>
          <p:cNvPr id="20" name="Shape 15"/>
          <p:cNvSpPr/>
          <p:nvPr/>
        </p:nvSpPr>
        <p:spPr>
          <a:xfrm>
            <a:off x="7840980" y="2651760"/>
            <a:ext cx="731520" cy="731520"/>
          </a:xfrm>
          <a:prstGeom prst="ellipse">
            <a:avLst/>
          </a:prstGeom>
          <a:solidFill>
            <a:srgbClr val="0A0F1F"/>
          </a:solidFill>
          <a:ln/>
        </p:spPr>
      </p:sp>
      <p:pic>
        <p:nvPicPr>
          <p:cNvPr id="21" name="Image 3" descr="icons_cloud_00E5FF.png">    </p:cNvPr>
          <p:cNvPicPr>
            <a:picLocks noChangeAspect="1"/>
          </p:cNvPicPr>
          <p:nvPr/>
        </p:nvPicPr>
        <p:blipFill>
          <a:blip r:embed="rId4"/>
          <a:stretch>
            <a:fillRect/>
          </a:stretch>
        </p:blipFill>
        <p:spPr>
          <a:xfrm>
            <a:off x="8016545" y="2827325"/>
            <a:ext cx="380390" cy="380390"/>
          </a:xfrm>
          <a:prstGeom prst="rect">
            <a:avLst/>
          </a:prstGeom>
        </p:spPr>
      </p:pic>
      <p:sp>
        <p:nvSpPr>
          <p:cNvPr id="22" name="Text 16"/>
          <p:cNvSpPr/>
          <p:nvPr/>
        </p:nvSpPr>
        <p:spPr>
          <a:xfrm>
            <a:off x="7315200" y="3566160"/>
            <a:ext cx="1783080" cy="64008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Cloud Admin Planes</a:t>
            </a:r>
            <a:endParaRPr lang="en-US" sz="1350" dirty="0"/>
          </a:p>
        </p:txBody>
      </p:sp>
      <p:sp>
        <p:nvSpPr>
          <p:cNvPr id="23" name="Text 17"/>
          <p:cNvSpPr/>
          <p:nvPr/>
        </p:nvSpPr>
        <p:spPr>
          <a:xfrm>
            <a:off x="7315200" y="4206240"/>
            <a:ext cx="1783080" cy="777240"/>
          </a:xfrm>
          <a:prstGeom prst="rect">
            <a:avLst/>
          </a:prstGeom>
          <a:noFill/>
          <a:ln/>
        </p:spPr>
        <p:txBody>
          <a:bodyPr wrap="square" rtlCol="0" anchor="t"/>
          <a:lstStyle/>
          <a:p>
            <a:pPr algn="ctr" indent="0" marL="0">
              <a:buNone/>
            </a:pPr>
            <a:r>
              <a:rPr lang="en-US" sz="1050" dirty="0">
                <a:solidFill>
                  <a:srgbClr val="8E9BC0"/>
                </a:solidFill>
                <a:latin typeface="Calibri" pitchFamily="34" charset="0"/>
                <a:ea typeface="Calibri" pitchFamily="34" charset="-122"/>
                <a:cs typeface="Calibri" pitchFamily="34" charset="-120"/>
              </a:rPr>
              <a:t>AWS, Azure, GCP control planes</a:t>
            </a:r>
            <a:endParaRPr lang="en-US" sz="1050" dirty="0"/>
          </a:p>
        </p:txBody>
      </p:sp>
      <p:sp>
        <p:nvSpPr>
          <p:cNvPr id="24" name="Shape 18"/>
          <p:cNvSpPr/>
          <p:nvPr/>
        </p:nvSpPr>
        <p:spPr>
          <a:xfrm>
            <a:off x="9418320" y="2331720"/>
            <a:ext cx="1965960" cy="2743200"/>
          </a:xfrm>
          <a:prstGeom prst="roundRect">
            <a:avLst>
              <a:gd name="adj" fmla="val 5581"/>
            </a:avLst>
          </a:prstGeom>
          <a:solidFill>
            <a:srgbClr val="121A33"/>
          </a:solidFill>
          <a:ln/>
        </p:spPr>
      </p:sp>
      <p:sp>
        <p:nvSpPr>
          <p:cNvPr id="25" name="Shape 19"/>
          <p:cNvSpPr/>
          <p:nvPr/>
        </p:nvSpPr>
        <p:spPr>
          <a:xfrm>
            <a:off x="10035540" y="2651760"/>
            <a:ext cx="731520" cy="731520"/>
          </a:xfrm>
          <a:prstGeom prst="ellipse">
            <a:avLst/>
          </a:prstGeom>
          <a:solidFill>
            <a:srgbClr val="0A0F1F"/>
          </a:solidFill>
          <a:ln/>
        </p:spPr>
      </p:sp>
      <p:pic>
        <p:nvPicPr>
          <p:cNvPr id="26" name="Image 4" descr="icons_exchange_00E5FF.png">    </p:cNvPr>
          <p:cNvPicPr>
            <a:picLocks noChangeAspect="1"/>
          </p:cNvPicPr>
          <p:nvPr/>
        </p:nvPicPr>
        <p:blipFill>
          <a:blip r:embed="rId5"/>
          <a:stretch>
            <a:fillRect/>
          </a:stretch>
        </p:blipFill>
        <p:spPr>
          <a:xfrm>
            <a:off x="10211105" y="2827325"/>
            <a:ext cx="380390" cy="380390"/>
          </a:xfrm>
          <a:prstGeom prst="rect">
            <a:avLst/>
          </a:prstGeom>
        </p:spPr>
      </p:pic>
      <p:sp>
        <p:nvSpPr>
          <p:cNvPr id="27" name="Text 20"/>
          <p:cNvSpPr/>
          <p:nvPr/>
        </p:nvSpPr>
        <p:spPr>
          <a:xfrm>
            <a:off x="9509760" y="3566160"/>
            <a:ext cx="1783080" cy="64008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OAuth &amp; Federation</a:t>
            </a:r>
            <a:endParaRPr lang="en-US" sz="1350" dirty="0"/>
          </a:p>
        </p:txBody>
      </p:sp>
      <p:sp>
        <p:nvSpPr>
          <p:cNvPr id="28" name="Text 21"/>
          <p:cNvSpPr/>
          <p:nvPr/>
        </p:nvSpPr>
        <p:spPr>
          <a:xfrm>
            <a:off x="9509760" y="4206240"/>
            <a:ext cx="1783080" cy="777240"/>
          </a:xfrm>
          <a:prstGeom prst="rect">
            <a:avLst/>
          </a:prstGeom>
          <a:noFill/>
          <a:ln/>
        </p:spPr>
        <p:txBody>
          <a:bodyPr wrap="square" rtlCol="0" anchor="t"/>
          <a:lstStyle/>
          <a:p>
            <a:pPr algn="ctr" indent="0" marL="0">
              <a:buNone/>
            </a:pPr>
            <a:r>
              <a:rPr lang="en-US" sz="1050" dirty="0">
                <a:solidFill>
                  <a:srgbClr val="8E9BC0"/>
                </a:solidFill>
                <a:latin typeface="Calibri" pitchFamily="34" charset="0"/>
                <a:ea typeface="Calibri" pitchFamily="34" charset="-122"/>
                <a:cs typeface="Calibri" pitchFamily="34" charset="-120"/>
              </a:rPr>
              <a:t>Cross-org trust relationships</a:t>
            </a:r>
            <a:endParaRPr lang="en-US" sz="1050" dirty="0"/>
          </a:p>
        </p:txBody>
      </p:sp>
      <p:sp>
        <p:nvSpPr>
          <p:cNvPr id="29" name="Text 2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B18"/>
        </a:solidFill>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sp>
      <p:sp>
        <p:nvSpPr>
          <p:cNvPr id="3" name="Shape 1"/>
          <p:cNvSpPr/>
          <p:nvPr/>
        </p:nvSpPr>
        <p:spPr>
          <a:xfrm>
            <a:off x="731520" y="2011680"/>
            <a:ext cx="1097280" cy="1645920"/>
          </a:xfrm>
          <a:prstGeom prst="line">
            <a:avLst/>
          </a:prstGeom>
          <a:noFill/>
          <a:ln w="15240">
            <a:solidFill>
              <a:srgbClr val="16204A"/>
            </a:solidFill>
            <a:prstDash val="solid"/>
          </a:ln>
        </p:spPr>
      </p:sp>
      <p:sp>
        <p:nvSpPr>
          <p:cNvPr id="4" name="Shape 2"/>
          <p:cNvSpPr/>
          <p:nvPr/>
        </p:nvSpPr>
        <p:spPr>
          <a:xfrm>
            <a:off x="10789920" y="1097280"/>
            <a:ext cx="640080" cy="1645920"/>
          </a:xfrm>
          <a:prstGeom prst="line">
            <a:avLst/>
          </a:prstGeom>
          <a:noFill/>
          <a:ln w="15240">
            <a:solidFill>
              <a:srgbClr val="16204A"/>
            </a:solidFill>
            <a:prstDash val="solid"/>
          </a:ln>
        </p:spPr>
      </p:sp>
      <p:sp>
        <p:nvSpPr>
          <p:cNvPr id="5" name="Shape 3"/>
          <p:cNvSpPr/>
          <p:nvPr/>
        </p:nvSpPr>
        <p:spPr>
          <a:xfrm>
            <a:off x="10515600" y="2743200"/>
            <a:ext cx="914400" cy="1828800"/>
          </a:xfrm>
          <a:prstGeom prst="line">
            <a:avLst/>
          </a:prstGeom>
          <a:noFill/>
          <a:ln w="15240">
            <a:solidFill>
              <a:srgbClr val="16204A"/>
            </a:solidFill>
            <a:prstDash val="solid"/>
          </a:ln>
        </p:spPr>
      </p:sp>
      <p:sp>
        <p:nvSpPr>
          <p:cNvPr id="6" name="Shape 4"/>
          <p:cNvSpPr/>
          <p:nvPr/>
        </p:nvSpPr>
        <p:spPr>
          <a:xfrm>
            <a:off x="859536" y="859536"/>
            <a:ext cx="109728" cy="109728"/>
          </a:xfrm>
          <a:prstGeom prst="ellipse">
            <a:avLst/>
          </a:prstGeom>
          <a:solidFill>
            <a:srgbClr val="00E5FF"/>
          </a:solidFill>
          <a:ln/>
        </p:spPr>
      </p:sp>
      <p:sp>
        <p:nvSpPr>
          <p:cNvPr id="7" name="Shape 5"/>
          <p:cNvSpPr/>
          <p:nvPr/>
        </p:nvSpPr>
        <p:spPr>
          <a:xfrm>
            <a:off x="1773936" y="1956816"/>
            <a:ext cx="109728" cy="109728"/>
          </a:xfrm>
          <a:prstGeom prst="ellipse">
            <a:avLst/>
          </a:prstGeom>
          <a:solidFill>
            <a:srgbClr val="7C5CFC"/>
          </a:solidFill>
          <a:ln/>
        </p:spPr>
      </p:sp>
      <p:sp>
        <p:nvSpPr>
          <p:cNvPr id="8" name="Shape 6"/>
          <p:cNvSpPr/>
          <p:nvPr/>
        </p:nvSpPr>
        <p:spPr>
          <a:xfrm>
            <a:off x="676656" y="3602736"/>
            <a:ext cx="109728" cy="109728"/>
          </a:xfrm>
          <a:prstGeom prst="ellipse">
            <a:avLst/>
          </a:prstGeom>
          <a:solidFill>
            <a:srgbClr val="7C5CFC"/>
          </a:solidFill>
          <a:ln/>
        </p:spPr>
      </p:sp>
      <p:sp>
        <p:nvSpPr>
          <p:cNvPr id="9" name="Shape 7"/>
          <p:cNvSpPr/>
          <p:nvPr/>
        </p:nvSpPr>
        <p:spPr>
          <a:xfrm>
            <a:off x="10735056" y="1042416"/>
            <a:ext cx="109728" cy="109728"/>
          </a:xfrm>
          <a:prstGeom prst="ellipse">
            <a:avLst/>
          </a:prstGeom>
          <a:solidFill>
            <a:srgbClr val="00E5FF"/>
          </a:solidFill>
          <a:ln/>
        </p:spPr>
      </p:sp>
      <p:sp>
        <p:nvSpPr>
          <p:cNvPr id="10" name="Shape 8"/>
          <p:cNvSpPr/>
          <p:nvPr/>
        </p:nvSpPr>
        <p:spPr>
          <a:xfrm>
            <a:off x="11375136" y="2688336"/>
            <a:ext cx="109728" cy="109728"/>
          </a:xfrm>
          <a:prstGeom prst="ellipse">
            <a:avLst/>
          </a:prstGeom>
          <a:solidFill>
            <a:srgbClr val="7C5CFC"/>
          </a:solidFill>
          <a:ln/>
        </p:spPr>
      </p:sp>
      <p:sp>
        <p:nvSpPr>
          <p:cNvPr id="11" name="Shape 9"/>
          <p:cNvSpPr/>
          <p:nvPr/>
        </p:nvSpPr>
        <p:spPr>
          <a:xfrm>
            <a:off x="10460736" y="4517136"/>
            <a:ext cx="109728" cy="109728"/>
          </a:xfrm>
          <a:prstGeom prst="ellipse">
            <a:avLst/>
          </a:prstGeom>
          <a:solidFill>
            <a:srgbClr val="7C5CFC"/>
          </a:solidFill>
          <a:ln/>
        </p:spPr>
      </p:sp>
      <p:sp>
        <p:nvSpPr>
          <p:cNvPr id="12" name="Text 1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PILLAR 1 OF 5</a:t>
            </a:r>
            <a:endParaRPr lang="en-US" sz="1300" dirty="0"/>
          </a:p>
        </p:txBody>
      </p:sp>
      <p:sp>
        <p:nvSpPr>
          <p:cNvPr id="13" name="Shape 11"/>
          <p:cNvSpPr/>
          <p:nvPr/>
        </p:nvSpPr>
        <p:spPr>
          <a:xfrm>
            <a:off x="822960" y="1828800"/>
            <a:ext cx="1188720" cy="1188720"/>
          </a:xfrm>
          <a:prstGeom prst="ellipse">
            <a:avLst/>
          </a:prstGeom>
          <a:solidFill>
            <a:srgbClr val="121A33"/>
          </a:solidFill>
          <a:ln/>
        </p:spPr>
      </p:sp>
      <p:pic>
        <p:nvPicPr>
          <p:cNvPr id="14" name="Image 0" descr="icons_usershield_00E5FF.png">    </p:cNvPr>
          <p:cNvPicPr>
            <a:picLocks noChangeAspect="1"/>
          </p:cNvPicPr>
          <p:nvPr/>
        </p:nvPicPr>
        <p:blipFill>
          <a:blip r:embed="rId1"/>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Identity Providers</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indent="0" marL="0">
              <a:buNone/>
            </a:pPr>
            <a:r>
              <a:rPr lang="en-US" sz="1700" i="1" dirty="0">
                <a:solidFill>
                  <a:srgbClr val="7C5CFC"/>
                </a:solidFill>
                <a:latin typeface="Cambria" pitchFamily="34" charset="0"/>
                <a:ea typeface="Cambria" pitchFamily="34" charset="-122"/>
                <a:cs typeface="Cambria" pitchFamily="34" charset="-120"/>
              </a:rPr>
              <a:t>What trusts my identity?</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sp>
      <p:sp>
        <p:nvSpPr>
          <p:cNvPr id="18" name="Text 15"/>
          <p:cNvSpPr/>
          <p:nvPr/>
        </p:nvSpPr>
        <p:spPr>
          <a:xfrm>
            <a:off x="1188720" y="3886200"/>
            <a:ext cx="9784080" cy="457200"/>
          </a:xfrm>
          <a:prstGeom prst="rect">
            <a:avLst/>
          </a:prstGeom>
          <a:noFill/>
          <a:ln/>
        </p:spPr>
        <p:txBody>
          <a:bodyPr wrap="square"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indent="0" marL="0">
              <a:buNone/>
            </a:pPr>
            <a:r>
              <a:rPr lang="en-US" sz="1400" dirty="0">
                <a:solidFill>
                  <a:srgbClr val="8E9BC0"/>
                </a:solidFill>
                <a:latin typeface="Calibri" pitchFamily="34" charset="0"/>
                <a:ea typeface="Calibri" pitchFamily="34" charset="-122"/>
                <a:cs typeface="Calibri" pitchFamily="34" charset="-120"/>
              </a:rPr>
              <a:t>The identity provider is where authentication, MFA policy and conditional access converge for almost every downstream system. Compromise it and you often inherit trust everywhere federation reaches.</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CHAIN EXAMPLE 1</a:t>
            </a:r>
            <a:endParaRPr lang="en-US" sz="1300" dirty="0"/>
          </a:p>
        </p:txBody>
      </p:sp>
      <p:sp>
        <p:nvSpPr>
          <p:cNvPr id="3" name="Text 1"/>
          <p:cNvSpPr/>
          <p:nvPr/>
        </p:nvSpPr>
        <p:spPr>
          <a:xfrm>
            <a:off x="7436815" y="530352"/>
            <a:ext cx="4114800" cy="320040"/>
          </a:xfrm>
          <a:prstGeom prst="rect">
            <a:avLst/>
          </a:prstGeom>
          <a:noFill/>
          <a:ln/>
        </p:spPr>
        <p:txBody>
          <a:bodyPr wrap="square" rtlCol="0" anchor="ctr"/>
          <a:lstStyle/>
          <a:p>
            <a:pPr algn="r" indent="0" marL="0">
              <a:buNone/>
            </a:pPr>
            <a:r>
              <a:rPr lang="en-US" sz="1050" i="1" dirty="0">
                <a:solidFill>
                  <a:srgbClr val="8E9BC0"/>
                </a:solidFill>
                <a:latin typeface="Calibri" pitchFamily="34" charset="0"/>
                <a:ea typeface="Calibri" pitchFamily="34" charset="-122"/>
                <a:cs typeface="Calibri" pitchFamily="34" charset="-120"/>
              </a:rPr>
              <a:t>Case study: MGM Resorts / Caesars, Sept 2023 (Scattered Spider)</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Identity provider as the new domain controller</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sp>
      <p:sp>
        <p:nvSpPr>
          <p:cNvPr id="6" name="Shape 4"/>
          <p:cNvSpPr/>
          <p:nvPr/>
        </p:nvSpPr>
        <p:spPr>
          <a:xfrm>
            <a:off x="1531620" y="2926080"/>
            <a:ext cx="502920" cy="502920"/>
          </a:xfrm>
          <a:prstGeom prst="ellipse">
            <a:avLst/>
          </a:prstGeom>
          <a:solidFill>
            <a:srgbClr val="0A0F1F"/>
          </a:solidFill>
          <a:ln/>
        </p:spPr>
      </p:sp>
      <p:pic>
        <p:nvPicPr>
          <p:cNvPr id="7" name="Image 0" descr="icons_usershield_00E5FF.png">    </p:cNvPr>
          <p:cNvPicPr>
            <a:picLocks noChangeAspect="1"/>
          </p:cNvPicPr>
          <p:nvPr/>
        </p:nvPicPr>
        <p:blipFill>
          <a:blip r:embed="rId1"/>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Weak MFA / conditional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access gap in the IdP</a:t>
            </a:r>
            <a:endParaRPr lang="en-US" sz="1150" dirty="0"/>
          </a:p>
        </p:txBody>
      </p:sp>
      <p:sp>
        <p:nvSpPr>
          <p:cNvPr id="9" name="Shape 6"/>
          <p:cNvSpPr/>
          <p:nvPr/>
        </p:nvSpPr>
        <p:spPr>
          <a:xfrm>
            <a:off x="2926080" y="3319272"/>
            <a:ext cx="579120" cy="219456"/>
          </a:xfrm>
          <a:prstGeom prst="rightArrow">
            <a:avLst/>
          </a:prstGeom>
          <a:solidFill>
            <a:srgbClr val="7C5CFC"/>
          </a:solidFill>
          <a:ln/>
        </p:spPr>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sp>
      <p:sp>
        <p:nvSpPr>
          <p:cNvPr id="11" name="Shape 8"/>
          <p:cNvSpPr/>
          <p:nvPr/>
        </p:nvSpPr>
        <p:spPr>
          <a:xfrm>
            <a:off x="4396740" y="2926080"/>
            <a:ext cx="502920" cy="502920"/>
          </a:xfrm>
          <a:prstGeom prst="ellipse">
            <a:avLst/>
          </a:prstGeom>
          <a:solidFill>
            <a:srgbClr val="0A0F1F"/>
          </a:solidFill>
          <a:ln/>
        </p:spPr>
      </p:sp>
      <p:pic>
        <p:nvPicPr>
          <p:cNvPr id="12" name="Image 1" descr="icons_key_00E5FF.png">    </p:cNvPr>
          <p:cNvPicPr>
            <a:picLocks noChangeAspect="1"/>
          </p:cNvPicPr>
          <p:nvPr/>
        </p:nvPicPr>
        <p:blipFill>
          <a:blip r:embed="rId2"/>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Token or session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compromise</a:t>
            </a:r>
            <a:endParaRPr lang="en-US" sz="1150" dirty="0"/>
          </a:p>
        </p:txBody>
      </p:sp>
      <p:sp>
        <p:nvSpPr>
          <p:cNvPr id="14" name="Shape 10"/>
          <p:cNvSpPr/>
          <p:nvPr/>
        </p:nvSpPr>
        <p:spPr>
          <a:xfrm>
            <a:off x="5791200" y="3319272"/>
            <a:ext cx="579120" cy="219456"/>
          </a:xfrm>
          <a:prstGeom prst="rightArrow">
            <a:avLst/>
          </a:prstGeom>
          <a:solidFill>
            <a:srgbClr val="7C5CFC"/>
          </a:solidFill>
          <a:ln/>
        </p:spPr>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sp>
      <p:sp>
        <p:nvSpPr>
          <p:cNvPr id="16" name="Shape 12"/>
          <p:cNvSpPr/>
          <p:nvPr/>
        </p:nvSpPr>
        <p:spPr>
          <a:xfrm>
            <a:off x="7261860" y="2926080"/>
            <a:ext cx="502920" cy="502920"/>
          </a:xfrm>
          <a:prstGeom prst="ellipse">
            <a:avLst/>
          </a:prstGeom>
          <a:solidFill>
            <a:srgbClr val="0A0F1F"/>
          </a:solidFill>
          <a:ln/>
        </p:spPr>
      </p:sp>
      <p:pic>
        <p:nvPicPr>
          <p:cNvPr id="17" name="Image 2" descr="icons_cloud_00E5FF.png">    </p:cNvPr>
          <p:cNvPicPr>
            <a:picLocks noChangeAspect="1"/>
          </p:cNvPicPr>
          <p:nvPr/>
        </p:nvPicPr>
        <p:blipFill>
          <a:blip r:embed="rId3"/>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Federated access to</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linked business systems</a:t>
            </a:r>
            <a:endParaRPr lang="en-US" sz="1150" dirty="0"/>
          </a:p>
        </p:txBody>
      </p:sp>
      <p:sp>
        <p:nvSpPr>
          <p:cNvPr id="19" name="Shape 14"/>
          <p:cNvSpPr/>
          <p:nvPr/>
        </p:nvSpPr>
        <p:spPr>
          <a:xfrm>
            <a:off x="8656320" y="3319272"/>
            <a:ext cx="579120" cy="219456"/>
          </a:xfrm>
          <a:prstGeom prst="rightArrow">
            <a:avLst/>
          </a:prstGeom>
          <a:solidFill>
            <a:srgbClr val="7C5CFC"/>
          </a:solidFill>
          <a:ln/>
        </p:spPr>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sp>
      <p:sp>
        <p:nvSpPr>
          <p:cNvPr id="21" name="Shape 16"/>
          <p:cNvSpPr/>
          <p:nvPr/>
        </p:nvSpPr>
        <p:spPr>
          <a:xfrm>
            <a:off x="10126980" y="2926080"/>
            <a:ext cx="502920" cy="502920"/>
          </a:xfrm>
          <a:prstGeom prst="ellipse">
            <a:avLst/>
          </a:prstGeom>
          <a:solidFill>
            <a:srgbClr val="FF5C7A"/>
          </a:solidFill>
          <a:ln/>
        </p:spPr>
      </p:sp>
      <p:pic>
        <p:nvPicPr>
          <p:cNvPr id="22" name="Image 3" descr="icons_skull_FFFFFF.png">    </p:cNvPr>
          <p:cNvPicPr>
            <a:picLocks noChangeAspect="1"/>
          </p:cNvPicPr>
          <p:nvPr/>
        </p:nvPicPr>
        <p:blipFill>
          <a:blip r:embed="rId4"/>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Business-critical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impact</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sp>
      <p:sp>
        <p:nvSpPr>
          <p:cNvPr id="25" name="Text 19"/>
          <p:cNvSpPr/>
          <p:nvPr/>
        </p:nvSpPr>
        <p:spPr>
          <a:xfrm>
            <a:off x="914400" y="4709160"/>
            <a:ext cx="10332720" cy="1234440"/>
          </a:xfrm>
          <a:prstGeom prst="rect">
            <a:avLst/>
          </a:prstGeom>
          <a:noFill/>
          <a:ln/>
        </p:spPr>
        <p:txBody>
          <a:bodyPr wrap="square" rtlCol="0" anchor="ctr"/>
          <a:lstStyle/>
          <a:p>
            <a:pPr indent="0" marL="0">
              <a:buNone/>
            </a:pPr>
            <a:r>
              <a:rPr lang="en-US" sz="1350" i="1" dirty="0">
                <a:solidFill>
                  <a:srgbClr val="8E9BC0"/>
                </a:solidFill>
                <a:latin typeface="Calibri" pitchFamily="34" charset="0"/>
                <a:ea typeface="Calibri" pitchFamily="34" charset="-122"/>
                <a:cs typeface="Calibri" pitchFamily="34" charset="-120"/>
              </a:rPr>
              <a:t>Inspired by real-world patterns: a gap in conditional access or an admin session compromise on the identity provider gave access far beyond what any single on-prem AD compromise would have granted.</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gap that let it happen</a:t>
            </a:r>
            <a:endParaRPr lang="en-US" sz="3200" dirty="0"/>
          </a:p>
        </p:txBody>
      </p:sp>
      <p:sp>
        <p:nvSpPr>
          <p:cNvPr id="4" name="Shape 2"/>
          <p:cNvSpPr/>
          <p:nvPr/>
        </p:nvSpPr>
        <p:spPr>
          <a:xfrm>
            <a:off x="1005840" y="2286000"/>
            <a:ext cx="10149840" cy="2221992"/>
          </a:xfrm>
          <a:prstGeom prst="rect">
            <a:avLst/>
          </a:prstGeom>
          <a:solidFill>
            <a:srgbClr val="F5F7FB"/>
          </a:solidFill>
          <a:ln/>
        </p:spPr>
      </p:sp>
      <p:sp>
        <p:nvSpPr>
          <p:cNvPr id="5" name="Shape 3"/>
          <p:cNvSpPr/>
          <p:nvPr/>
        </p:nvSpPr>
        <p:spPr>
          <a:xfrm>
            <a:off x="1005840" y="1920240"/>
            <a:ext cx="10149840" cy="365760"/>
          </a:xfrm>
          <a:prstGeom prst="roundRect">
            <a:avLst>
              <a:gd name="adj" fmla="val 15000"/>
            </a:avLst>
          </a:prstGeom>
          <a:solidFill>
            <a:srgbClr val="D8DCE6"/>
          </a:solidFill>
          <a:ln/>
        </p:spPr>
      </p:sp>
      <p:sp>
        <p:nvSpPr>
          <p:cNvPr id="6" name="Shape 4"/>
          <p:cNvSpPr/>
          <p:nvPr/>
        </p:nvSpPr>
        <p:spPr>
          <a:xfrm>
            <a:off x="1207008" y="2057400"/>
            <a:ext cx="100584" cy="100584"/>
          </a:xfrm>
          <a:prstGeom prst="ellipse">
            <a:avLst/>
          </a:prstGeom>
          <a:solidFill>
            <a:srgbClr val="FF5F56"/>
          </a:solidFill>
          <a:ln/>
        </p:spPr>
      </p:sp>
      <p:sp>
        <p:nvSpPr>
          <p:cNvPr id="7" name="Shape 5"/>
          <p:cNvSpPr/>
          <p:nvPr/>
        </p:nvSpPr>
        <p:spPr>
          <a:xfrm>
            <a:off x="1408176" y="2057400"/>
            <a:ext cx="100584" cy="100584"/>
          </a:xfrm>
          <a:prstGeom prst="ellipse">
            <a:avLst/>
          </a:prstGeom>
          <a:solidFill>
            <a:srgbClr val="FFBD2E"/>
          </a:solidFill>
          <a:ln/>
        </p:spPr>
      </p:sp>
      <p:sp>
        <p:nvSpPr>
          <p:cNvPr id="8" name="Shape 6"/>
          <p:cNvSpPr/>
          <p:nvPr/>
        </p:nvSpPr>
        <p:spPr>
          <a:xfrm>
            <a:off x="1609344" y="2057400"/>
            <a:ext cx="100584" cy="100584"/>
          </a:xfrm>
          <a:prstGeom prst="ellipse">
            <a:avLst/>
          </a:prstGeom>
          <a:solidFill>
            <a:srgbClr val="27C93F"/>
          </a:solidFill>
          <a:ln/>
        </p:spPr>
      </p:sp>
      <p:sp>
        <p:nvSpPr>
          <p:cNvPr id="9" name="Shape 7"/>
          <p:cNvSpPr/>
          <p:nvPr/>
        </p:nvSpPr>
        <p:spPr>
          <a:xfrm>
            <a:off x="2011680" y="1993392"/>
            <a:ext cx="8046720" cy="219456"/>
          </a:xfrm>
          <a:prstGeom prst="roundRect">
            <a:avLst>
              <a:gd name="adj" fmla="val 25000"/>
            </a:avLst>
          </a:prstGeom>
          <a:solidFill>
            <a:srgbClr val="EDEFF5"/>
          </a:solidFill>
          <a:ln/>
        </p:spPr>
      </p:sp>
      <p:sp>
        <p:nvSpPr>
          <p:cNvPr id="10" name="Text 8"/>
          <p:cNvSpPr/>
          <p:nvPr/>
        </p:nvSpPr>
        <p:spPr>
          <a:xfrm>
            <a:off x="2148840" y="1993392"/>
            <a:ext cx="7863840" cy="219456"/>
          </a:xfrm>
          <a:prstGeom prst="rect">
            <a:avLst/>
          </a:prstGeom>
          <a:noFill/>
          <a:ln/>
        </p:spPr>
        <p:txBody>
          <a:bodyPr wrap="square" rtlCol="0" anchor="ctr"/>
          <a:lstStyle/>
          <a:p>
            <a:pPr indent="0" marL="0">
              <a:buNone/>
            </a:pPr>
            <a:r>
              <a:rPr lang="en-US" sz="950" dirty="0">
                <a:solidFill>
                  <a:srgbClr val="6B7280"/>
                </a:solidFill>
                <a:latin typeface="Consolas" pitchFamily="34" charset="0"/>
                <a:ea typeface="Consolas" pitchFamily="34" charset="-122"/>
                <a:cs typeface="Consolas" pitchFamily="34" charset="-120"/>
              </a:rPr>
              <a:t>🔒 identity-admin.example/conditional-access</a:t>
            </a:r>
            <a:endParaRPr lang="en-US" sz="950" dirty="0"/>
          </a:p>
        </p:txBody>
      </p:sp>
      <p:sp>
        <p:nvSpPr>
          <p:cNvPr id="11" name="Text 9"/>
          <p:cNvSpPr/>
          <p:nvPr/>
        </p:nvSpPr>
        <p:spPr>
          <a:xfrm>
            <a:off x="1325880" y="2423160"/>
            <a:ext cx="9509760" cy="365760"/>
          </a:xfrm>
          <a:prstGeom prst="rect">
            <a:avLst/>
          </a:prstGeom>
          <a:noFill/>
          <a:ln/>
        </p:spPr>
        <p:txBody>
          <a:bodyPr wrap="square" rtlCol="0" anchor="ctr"/>
          <a:lstStyle/>
          <a:p>
            <a:pPr indent="0" marL="0">
              <a:buNone/>
            </a:pPr>
            <a:r>
              <a:rPr lang="en-US" sz="1400" b="1" dirty="0">
                <a:solidFill>
                  <a:srgbClr val="1A1F2E"/>
                </a:solidFill>
                <a:latin typeface="Calibri" pitchFamily="34" charset="0"/>
                <a:ea typeface="Calibri" pitchFamily="34" charset="-122"/>
                <a:cs typeface="Calibri" pitchFamily="34" charset="-120"/>
              </a:rPr>
              <a:t>Conditional Access Policies</a:t>
            </a:r>
            <a:endParaRPr lang="en-US" sz="1400" dirty="0"/>
          </a:p>
        </p:txBody>
      </p:sp>
      <p:sp>
        <p:nvSpPr>
          <p:cNvPr id="12" name="Shape 10"/>
          <p:cNvSpPr/>
          <p:nvPr/>
        </p:nvSpPr>
        <p:spPr>
          <a:xfrm>
            <a:off x="1005840" y="2880360"/>
            <a:ext cx="10149840" cy="512064"/>
          </a:xfrm>
          <a:prstGeom prst="rect">
            <a:avLst/>
          </a:prstGeom>
          <a:solidFill>
            <a:srgbClr val="FFFFFF"/>
          </a:solidFill>
          <a:ln w="6350">
            <a:solidFill>
              <a:srgbClr val="E4E7EF"/>
            </a:solidFill>
            <a:prstDash val="solid"/>
          </a:ln>
        </p:spPr>
      </p:sp>
      <p:sp>
        <p:nvSpPr>
          <p:cNvPr id="13" name="Text 11"/>
          <p:cNvSpPr/>
          <p:nvPr/>
        </p:nvSpPr>
        <p:spPr>
          <a:xfrm>
            <a:off x="1325880" y="2880360"/>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Block Legacy Authentication</a:t>
            </a:r>
            <a:endParaRPr lang="en-US" sz="1150" dirty="0"/>
          </a:p>
        </p:txBody>
      </p:sp>
      <p:sp>
        <p:nvSpPr>
          <p:cNvPr id="14" name="Shape 12"/>
          <p:cNvSpPr/>
          <p:nvPr/>
        </p:nvSpPr>
        <p:spPr>
          <a:xfrm>
            <a:off x="8961120" y="2990088"/>
            <a:ext cx="1828800" cy="292608"/>
          </a:xfrm>
          <a:prstGeom prst="roundRect">
            <a:avLst>
              <a:gd name="adj" fmla="val 50000"/>
            </a:avLst>
          </a:prstGeom>
          <a:solidFill>
            <a:srgbClr val="16A34A"/>
          </a:solidFill>
          <a:ln/>
        </p:spPr>
      </p:sp>
      <p:sp>
        <p:nvSpPr>
          <p:cNvPr id="15" name="Text 13"/>
          <p:cNvSpPr/>
          <p:nvPr/>
        </p:nvSpPr>
        <p:spPr>
          <a:xfrm>
            <a:off x="8961120" y="2990088"/>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ENABLED</a:t>
            </a:r>
            <a:endParaRPr lang="en-US" sz="1000" dirty="0"/>
          </a:p>
        </p:txBody>
      </p:sp>
      <p:sp>
        <p:nvSpPr>
          <p:cNvPr id="16" name="Shape 14"/>
          <p:cNvSpPr/>
          <p:nvPr/>
        </p:nvSpPr>
        <p:spPr>
          <a:xfrm>
            <a:off x="1005840" y="3392424"/>
            <a:ext cx="10149840" cy="512064"/>
          </a:xfrm>
          <a:prstGeom prst="rect">
            <a:avLst/>
          </a:prstGeom>
          <a:solidFill>
            <a:srgbClr val="FDEAEA"/>
          </a:solidFill>
          <a:ln w="6350">
            <a:solidFill>
              <a:srgbClr val="E4E7EF"/>
            </a:solidFill>
            <a:prstDash val="solid"/>
          </a:ln>
        </p:spPr>
      </p:sp>
      <p:sp>
        <p:nvSpPr>
          <p:cNvPr id="17" name="Shape 15"/>
          <p:cNvSpPr/>
          <p:nvPr/>
        </p:nvSpPr>
        <p:spPr>
          <a:xfrm>
            <a:off x="1005840" y="3392424"/>
            <a:ext cx="54864" cy="512064"/>
          </a:xfrm>
          <a:prstGeom prst="rect">
            <a:avLst/>
          </a:prstGeom>
          <a:solidFill>
            <a:srgbClr val="DC2626"/>
          </a:solidFill>
          <a:ln/>
        </p:spPr>
      </p:sp>
      <p:sp>
        <p:nvSpPr>
          <p:cNvPr id="18" name="Text 16"/>
          <p:cNvSpPr/>
          <p:nvPr/>
        </p:nvSpPr>
        <p:spPr>
          <a:xfrm>
            <a:off x="1325880" y="3392424"/>
            <a:ext cx="7223760" cy="512064"/>
          </a:xfrm>
          <a:prstGeom prst="rect">
            <a:avLst/>
          </a:prstGeom>
          <a:noFill/>
          <a:ln/>
        </p:spPr>
        <p:txBody>
          <a:bodyPr wrap="square" rtlCol="0" anchor="ctr"/>
          <a:lstStyle/>
          <a:p>
            <a:pPr indent="0" marL="0">
              <a:buNone/>
            </a:pPr>
            <a:r>
              <a:rPr lang="en-US" sz="1150" b="1" dirty="0">
                <a:solidFill>
                  <a:srgbClr val="1A1F2E"/>
                </a:solidFill>
                <a:latin typeface="Calibri" pitchFamily="34" charset="0"/>
                <a:ea typeface="Calibri" pitchFamily="34" charset="-122"/>
                <a:cs typeface="Calibri" pitchFamily="34" charset="-120"/>
              </a:rPr>
              <a:t>Require MFA - All Users</a:t>
            </a:r>
            <a:endParaRPr lang="en-US" sz="1150" dirty="0"/>
          </a:p>
        </p:txBody>
      </p:sp>
      <p:sp>
        <p:nvSpPr>
          <p:cNvPr id="19" name="Shape 17"/>
          <p:cNvSpPr/>
          <p:nvPr/>
        </p:nvSpPr>
        <p:spPr>
          <a:xfrm>
            <a:off x="8961120" y="3502152"/>
            <a:ext cx="1828800" cy="292608"/>
          </a:xfrm>
          <a:prstGeom prst="roundRect">
            <a:avLst>
              <a:gd name="adj" fmla="val 50000"/>
            </a:avLst>
          </a:prstGeom>
          <a:solidFill>
            <a:srgbClr val="DC2626"/>
          </a:solidFill>
          <a:ln/>
        </p:spPr>
      </p:sp>
      <p:sp>
        <p:nvSpPr>
          <p:cNvPr id="20" name="Text 18"/>
          <p:cNvSpPr/>
          <p:nvPr/>
        </p:nvSpPr>
        <p:spPr>
          <a:xfrm>
            <a:off x="8961120" y="3502152"/>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OFF</a:t>
            </a:r>
            <a:endParaRPr lang="en-US" sz="1000" dirty="0"/>
          </a:p>
        </p:txBody>
      </p:sp>
      <p:sp>
        <p:nvSpPr>
          <p:cNvPr id="21" name="Shape 19"/>
          <p:cNvSpPr/>
          <p:nvPr/>
        </p:nvSpPr>
        <p:spPr>
          <a:xfrm>
            <a:off x="1005840" y="3904488"/>
            <a:ext cx="10149840" cy="512064"/>
          </a:xfrm>
          <a:prstGeom prst="rect">
            <a:avLst/>
          </a:prstGeom>
          <a:solidFill>
            <a:srgbClr val="FFFFFF"/>
          </a:solidFill>
          <a:ln w="6350">
            <a:solidFill>
              <a:srgbClr val="E4E7EF"/>
            </a:solidFill>
            <a:prstDash val="solid"/>
          </a:ln>
        </p:spPr>
      </p:sp>
      <p:sp>
        <p:nvSpPr>
          <p:cNvPr id="22" name="Text 20"/>
          <p:cNvSpPr/>
          <p:nvPr/>
        </p:nvSpPr>
        <p:spPr>
          <a:xfrm>
            <a:off x="1325880" y="3904488"/>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Require Compliant Device - Admins</a:t>
            </a:r>
            <a:endParaRPr lang="en-US" sz="1150" dirty="0"/>
          </a:p>
        </p:txBody>
      </p:sp>
      <p:sp>
        <p:nvSpPr>
          <p:cNvPr id="23" name="Shape 21"/>
          <p:cNvSpPr/>
          <p:nvPr/>
        </p:nvSpPr>
        <p:spPr>
          <a:xfrm>
            <a:off x="8961120" y="4014216"/>
            <a:ext cx="1828800" cy="292608"/>
          </a:xfrm>
          <a:prstGeom prst="roundRect">
            <a:avLst>
              <a:gd name="adj" fmla="val 50000"/>
            </a:avLst>
          </a:prstGeom>
          <a:solidFill>
            <a:srgbClr val="D97706"/>
          </a:solidFill>
          <a:ln/>
        </p:spPr>
      </p:sp>
      <p:sp>
        <p:nvSpPr>
          <p:cNvPr id="24" name="Text 22"/>
          <p:cNvSpPr/>
          <p:nvPr/>
        </p:nvSpPr>
        <p:spPr>
          <a:xfrm>
            <a:off x="8961120" y="4014216"/>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REPORT-ONLY</a:t>
            </a:r>
            <a:endParaRPr lang="en-US" sz="1000" dirty="0"/>
          </a:p>
        </p:txBody>
      </p:sp>
      <p:sp>
        <p:nvSpPr>
          <p:cNvPr id="25" name="Text 23"/>
          <p:cNvSpPr/>
          <p:nvPr/>
        </p:nvSpPr>
        <p:spPr>
          <a:xfrm>
            <a:off x="640080" y="4736592"/>
            <a:ext cx="10881360" cy="548640"/>
          </a:xfrm>
          <a:prstGeom prst="rect">
            <a:avLst/>
          </a:prstGeom>
          <a:noFill/>
          <a:ln/>
        </p:spPr>
        <p:txBody>
          <a:bodyPr wrap="square" rtlCol="0" anchor="t"/>
          <a:lstStyle/>
          <a:p>
            <a:pPr algn="ctr" indent="0" marL="0">
              <a:buNone/>
            </a:pPr>
            <a:r>
              <a:rPr lang="en-US" sz="1350" i="1" dirty="0">
                <a:solidFill>
                  <a:srgbClr val="8E9BC0"/>
                </a:solidFill>
                <a:latin typeface="Calibri" pitchFamily="34" charset="0"/>
                <a:ea typeface="Calibri" pitchFamily="34" charset="-122"/>
                <a:cs typeface="Calibri" pitchFamily="34" charset="-120"/>
              </a:rPr>
              <a:t>One policy, switched off. That's the entire gap between "we have MFA" and a help-desk phone call becoming Global Admin.</a:t>
            </a:r>
            <a:endParaRPr lang="en-US" sz="1350" dirty="0"/>
          </a:p>
        </p:txBody>
      </p:sp>
      <p:sp>
        <p:nvSpPr>
          <p:cNvPr id="26" name="Text 24"/>
          <p:cNvSpPr/>
          <p:nvPr/>
        </p:nvSpPr>
        <p:spPr>
          <a:xfrm>
            <a:off x="640080" y="6355080"/>
            <a:ext cx="10881360" cy="274320"/>
          </a:xfrm>
          <a:prstGeom prst="rect">
            <a:avLst/>
          </a:prstGeom>
          <a:noFill/>
          <a:ln/>
        </p:spPr>
        <p:txBody>
          <a:bodyPr wrap="square" rtlCol="0" anchor="ctr"/>
          <a:lstStyle/>
          <a:p>
            <a:pPr algn="ctr" indent="0" marL="0">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7" name="Text 2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B18"/>
        </a:solidFill>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sp>
      <p:sp>
        <p:nvSpPr>
          <p:cNvPr id="3" name="Shape 1"/>
          <p:cNvSpPr/>
          <p:nvPr/>
        </p:nvSpPr>
        <p:spPr>
          <a:xfrm>
            <a:off x="731520" y="2011680"/>
            <a:ext cx="1097280" cy="1645920"/>
          </a:xfrm>
          <a:prstGeom prst="line">
            <a:avLst/>
          </a:prstGeom>
          <a:noFill/>
          <a:ln w="15240">
            <a:solidFill>
              <a:srgbClr val="16204A"/>
            </a:solidFill>
            <a:prstDash val="solid"/>
          </a:ln>
        </p:spPr>
      </p:sp>
      <p:sp>
        <p:nvSpPr>
          <p:cNvPr id="4" name="Shape 2"/>
          <p:cNvSpPr/>
          <p:nvPr/>
        </p:nvSpPr>
        <p:spPr>
          <a:xfrm>
            <a:off x="10789920" y="1097280"/>
            <a:ext cx="640080" cy="1645920"/>
          </a:xfrm>
          <a:prstGeom prst="line">
            <a:avLst/>
          </a:prstGeom>
          <a:noFill/>
          <a:ln w="15240">
            <a:solidFill>
              <a:srgbClr val="16204A"/>
            </a:solidFill>
            <a:prstDash val="solid"/>
          </a:ln>
        </p:spPr>
      </p:sp>
      <p:sp>
        <p:nvSpPr>
          <p:cNvPr id="5" name="Shape 3"/>
          <p:cNvSpPr/>
          <p:nvPr/>
        </p:nvSpPr>
        <p:spPr>
          <a:xfrm>
            <a:off x="10515600" y="2743200"/>
            <a:ext cx="914400" cy="1828800"/>
          </a:xfrm>
          <a:prstGeom prst="line">
            <a:avLst/>
          </a:prstGeom>
          <a:noFill/>
          <a:ln w="15240">
            <a:solidFill>
              <a:srgbClr val="16204A"/>
            </a:solidFill>
            <a:prstDash val="solid"/>
          </a:ln>
        </p:spPr>
      </p:sp>
      <p:sp>
        <p:nvSpPr>
          <p:cNvPr id="6" name="Shape 4"/>
          <p:cNvSpPr/>
          <p:nvPr/>
        </p:nvSpPr>
        <p:spPr>
          <a:xfrm>
            <a:off x="859536" y="859536"/>
            <a:ext cx="109728" cy="109728"/>
          </a:xfrm>
          <a:prstGeom prst="ellipse">
            <a:avLst/>
          </a:prstGeom>
          <a:solidFill>
            <a:srgbClr val="00E5FF"/>
          </a:solidFill>
          <a:ln/>
        </p:spPr>
      </p:sp>
      <p:sp>
        <p:nvSpPr>
          <p:cNvPr id="7" name="Shape 5"/>
          <p:cNvSpPr/>
          <p:nvPr/>
        </p:nvSpPr>
        <p:spPr>
          <a:xfrm>
            <a:off x="1773936" y="1956816"/>
            <a:ext cx="109728" cy="109728"/>
          </a:xfrm>
          <a:prstGeom prst="ellipse">
            <a:avLst/>
          </a:prstGeom>
          <a:solidFill>
            <a:srgbClr val="7C5CFC"/>
          </a:solidFill>
          <a:ln/>
        </p:spPr>
      </p:sp>
      <p:sp>
        <p:nvSpPr>
          <p:cNvPr id="8" name="Shape 6"/>
          <p:cNvSpPr/>
          <p:nvPr/>
        </p:nvSpPr>
        <p:spPr>
          <a:xfrm>
            <a:off x="676656" y="3602736"/>
            <a:ext cx="109728" cy="109728"/>
          </a:xfrm>
          <a:prstGeom prst="ellipse">
            <a:avLst/>
          </a:prstGeom>
          <a:solidFill>
            <a:srgbClr val="7C5CFC"/>
          </a:solidFill>
          <a:ln/>
        </p:spPr>
      </p:sp>
      <p:sp>
        <p:nvSpPr>
          <p:cNvPr id="9" name="Shape 7"/>
          <p:cNvSpPr/>
          <p:nvPr/>
        </p:nvSpPr>
        <p:spPr>
          <a:xfrm>
            <a:off x="10735056" y="1042416"/>
            <a:ext cx="109728" cy="109728"/>
          </a:xfrm>
          <a:prstGeom prst="ellipse">
            <a:avLst/>
          </a:prstGeom>
          <a:solidFill>
            <a:srgbClr val="00E5FF"/>
          </a:solidFill>
          <a:ln/>
        </p:spPr>
      </p:sp>
      <p:sp>
        <p:nvSpPr>
          <p:cNvPr id="10" name="Shape 8"/>
          <p:cNvSpPr/>
          <p:nvPr/>
        </p:nvSpPr>
        <p:spPr>
          <a:xfrm>
            <a:off x="11375136" y="2688336"/>
            <a:ext cx="109728" cy="109728"/>
          </a:xfrm>
          <a:prstGeom prst="ellipse">
            <a:avLst/>
          </a:prstGeom>
          <a:solidFill>
            <a:srgbClr val="7C5CFC"/>
          </a:solidFill>
          <a:ln/>
        </p:spPr>
      </p:sp>
      <p:sp>
        <p:nvSpPr>
          <p:cNvPr id="11" name="Shape 9"/>
          <p:cNvSpPr/>
          <p:nvPr/>
        </p:nvSpPr>
        <p:spPr>
          <a:xfrm>
            <a:off x="10460736" y="4517136"/>
            <a:ext cx="109728" cy="109728"/>
          </a:xfrm>
          <a:prstGeom prst="ellipse">
            <a:avLst/>
          </a:prstGeom>
          <a:solidFill>
            <a:srgbClr val="7C5CFC"/>
          </a:solidFill>
          <a:ln/>
        </p:spPr>
      </p:sp>
      <p:sp>
        <p:nvSpPr>
          <p:cNvPr id="12" name="Text 1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PILLAR 2 OF 5</a:t>
            </a:r>
            <a:endParaRPr lang="en-US" sz="1300" dirty="0"/>
          </a:p>
        </p:txBody>
      </p:sp>
      <p:sp>
        <p:nvSpPr>
          <p:cNvPr id="13" name="Shape 11"/>
          <p:cNvSpPr/>
          <p:nvPr/>
        </p:nvSpPr>
        <p:spPr>
          <a:xfrm>
            <a:off x="822960" y="1828800"/>
            <a:ext cx="1188720" cy="1188720"/>
          </a:xfrm>
          <a:prstGeom prst="ellipse">
            <a:avLst/>
          </a:prstGeom>
          <a:solidFill>
            <a:srgbClr val="121A33"/>
          </a:solidFill>
          <a:ln/>
        </p:spPr>
      </p:sp>
      <p:pic>
        <p:nvPicPr>
          <p:cNvPr id="14" name="Image 0" descr="icons_mobile_00E5FF.png">    </p:cNvPr>
          <p:cNvPicPr>
            <a:picLocks noChangeAspect="1"/>
          </p:cNvPicPr>
          <p:nvPr/>
        </p:nvPicPr>
        <p:blipFill>
          <a:blip r:embed="rId1"/>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Device Management</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indent="0" marL="0">
              <a:buNone/>
            </a:pPr>
            <a:r>
              <a:rPr lang="en-US" sz="1700" i="1" dirty="0">
                <a:solidFill>
                  <a:srgbClr val="7C5CFC"/>
                </a:solidFill>
                <a:latin typeface="Cambria" pitchFamily="34" charset="0"/>
                <a:ea typeface="Cambria" pitchFamily="34" charset="-122"/>
                <a:cs typeface="Cambria" pitchFamily="34" charset="-120"/>
              </a:rPr>
              <a:t>What trusts my device?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sp>
      <p:sp>
        <p:nvSpPr>
          <p:cNvPr id="18" name="Text 15"/>
          <p:cNvSpPr/>
          <p:nvPr/>
        </p:nvSpPr>
        <p:spPr>
          <a:xfrm>
            <a:off x="1188720" y="3886200"/>
            <a:ext cx="9784080" cy="457200"/>
          </a:xfrm>
          <a:prstGeom prst="rect">
            <a:avLst/>
          </a:prstGeom>
          <a:noFill/>
          <a:ln/>
        </p:spPr>
        <p:txBody>
          <a:bodyPr wrap="square"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indent="0" marL="0">
              <a:buNone/>
            </a:pPr>
            <a:r>
              <a:rPr lang="en-US" sz="1400" dirty="0">
                <a:solidFill>
                  <a:srgbClr val="8E9BC0"/>
                </a:solidFill>
                <a:latin typeface="Calibri" pitchFamily="34" charset="0"/>
                <a:ea typeface="Calibri" pitchFamily="34" charset="-122"/>
                <a:cs typeface="Calibri" pitchFamily="34" charset="-120"/>
              </a:rPr>
              <a:t>MDM/UEM platforms decide which endpoints are allowed to authenticate, what policies they receive, and increasingly what certificates and secrets they're issued. It's a trust broker most assessments never touch.</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CHAIN EXAMPLE 2</a:t>
            </a:r>
            <a:endParaRPr lang="en-US" sz="1300" dirty="0"/>
          </a:p>
        </p:txBody>
      </p:sp>
      <p:sp>
        <p:nvSpPr>
          <p:cNvPr id="3" name="Text 1"/>
          <p:cNvSpPr/>
          <p:nvPr/>
        </p:nvSpPr>
        <p:spPr>
          <a:xfrm>
            <a:off x="7436815" y="530352"/>
            <a:ext cx="4114800" cy="320040"/>
          </a:xfrm>
          <a:prstGeom prst="rect">
            <a:avLst/>
          </a:prstGeom>
          <a:noFill/>
          <a:ln/>
        </p:spPr>
        <p:txBody>
          <a:bodyPr wrap="square" rtlCol="0" anchor="ctr"/>
          <a:lstStyle/>
          <a:p>
            <a:pPr algn="r" indent="0" marL="0">
              <a:buNone/>
            </a:pPr>
            <a:r>
              <a:rPr lang="en-US" sz="1050" i="1" dirty="0">
                <a:solidFill>
                  <a:srgbClr val="8E9BC0"/>
                </a:solidFill>
                <a:latin typeface="Calibri" pitchFamily="34" charset="0"/>
                <a:ea typeface="Calibri" pitchFamily="34" charset="-122"/>
                <a:cs typeface="Calibri" pitchFamily="34" charset="-120"/>
              </a:rPr>
              <a:t>Emerging surface - research-driven, not yet a headline breach</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Device management as an endpoint trust broker</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sp>
      <p:sp>
        <p:nvSpPr>
          <p:cNvPr id="6" name="Shape 4"/>
          <p:cNvSpPr/>
          <p:nvPr/>
        </p:nvSpPr>
        <p:spPr>
          <a:xfrm>
            <a:off x="1531620" y="2926080"/>
            <a:ext cx="502920" cy="502920"/>
          </a:xfrm>
          <a:prstGeom prst="ellipse">
            <a:avLst/>
          </a:prstGeom>
          <a:solidFill>
            <a:srgbClr val="0A0F1F"/>
          </a:solidFill>
          <a:ln/>
        </p:spPr>
      </p:sp>
      <p:pic>
        <p:nvPicPr>
          <p:cNvPr id="7" name="Image 0" descr="icons_mobile_00E5FF.png">    </p:cNvPr>
          <p:cNvPicPr>
            <a:picLocks noChangeAspect="1"/>
          </p:cNvPicPr>
          <p:nvPr/>
        </p:nvPicPr>
        <p:blipFill>
          <a:blip r:embed="rId1"/>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Device management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portal misconfiguration</a:t>
            </a:r>
            <a:endParaRPr lang="en-US" sz="1150" dirty="0"/>
          </a:p>
        </p:txBody>
      </p:sp>
      <p:sp>
        <p:nvSpPr>
          <p:cNvPr id="9" name="Shape 6"/>
          <p:cNvSpPr/>
          <p:nvPr/>
        </p:nvSpPr>
        <p:spPr>
          <a:xfrm>
            <a:off x="2926080" y="3319272"/>
            <a:ext cx="579120" cy="219456"/>
          </a:xfrm>
          <a:prstGeom prst="rightArrow">
            <a:avLst/>
          </a:prstGeom>
          <a:solidFill>
            <a:srgbClr val="7C5CFC"/>
          </a:solidFill>
          <a:ln/>
        </p:spPr>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sp>
      <p:sp>
        <p:nvSpPr>
          <p:cNvPr id="11" name="Shape 8"/>
          <p:cNvSpPr/>
          <p:nvPr/>
        </p:nvSpPr>
        <p:spPr>
          <a:xfrm>
            <a:off x="4396740" y="2926080"/>
            <a:ext cx="502920" cy="502920"/>
          </a:xfrm>
          <a:prstGeom prst="ellipse">
            <a:avLst/>
          </a:prstGeom>
          <a:solidFill>
            <a:srgbClr val="0A0F1F"/>
          </a:solidFill>
          <a:ln/>
        </p:spPr>
      </p:sp>
      <p:pic>
        <p:nvPicPr>
          <p:cNvPr id="12" name="Image 1" descr="icons_exchange_00E5FF.png">    </p:cNvPr>
          <p:cNvPicPr>
            <a:picLocks noChangeAspect="1"/>
          </p:cNvPicPr>
          <p:nvPr/>
        </p:nvPicPr>
        <p:blipFill>
          <a:blip r:embed="rId2"/>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Policy pushed to</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enrolled endpoints</a:t>
            </a:r>
            <a:endParaRPr lang="en-US" sz="1150" dirty="0"/>
          </a:p>
        </p:txBody>
      </p:sp>
      <p:sp>
        <p:nvSpPr>
          <p:cNvPr id="14" name="Shape 10"/>
          <p:cNvSpPr/>
          <p:nvPr/>
        </p:nvSpPr>
        <p:spPr>
          <a:xfrm>
            <a:off x="5791200" y="3319272"/>
            <a:ext cx="579120" cy="219456"/>
          </a:xfrm>
          <a:prstGeom prst="rightArrow">
            <a:avLst/>
          </a:prstGeom>
          <a:solidFill>
            <a:srgbClr val="7C5CFC"/>
          </a:solidFill>
          <a:ln/>
        </p:spPr>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sp>
      <p:sp>
        <p:nvSpPr>
          <p:cNvPr id="16" name="Shape 12"/>
          <p:cNvSpPr/>
          <p:nvPr/>
        </p:nvSpPr>
        <p:spPr>
          <a:xfrm>
            <a:off x="7261860" y="2926080"/>
            <a:ext cx="502920" cy="502920"/>
          </a:xfrm>
          <a:prstGeom prst="ellipse">
            <a:avLst/>
          </a:prstGeom>
          <a:solidFill>
            <a:srgbClr val="0A0F1F"/>
          </a:solidFill>
          <a:ln/>
        </p:spPr>
      </p:sp>
      <p:pic>
        <p:nvPicPr>
          <p:cNvPr id="17" name="Image 2" descr="icons_laptop_00E5FF.png">    </p:cNvPr>
          <p:cNvPicPr>
            <a:picLocks noChangeAspect="1"/>
          </p:cNvPicPr>
          <p:nvPr/>
        </p:nvPicPr>
        <p:blipFill>
          <a:blip r:embed="rId3"/>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Trusted device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impersonation</a:t>
            </a:r>
            <a:endParaRPr lang="en-US" sz="1150" dirty="0"/>
          </a:p>
        </p:txBody>
      </p:sp>
      <p:sp>
        <p:nvSpPr>
          <p:cNvPr id="19" name="Shape 14"/>
          <p:cNvSpPr/>
          <p:nvPr/>
        </p:nvSpPr>
        <p:spPr>
          <a:xfrm>
            <a:off x="8656320" y="3319272"/>
            <a:ext cx="579120" cy="219456"/>
          </a:xfrm>
          <a:prstGeom prst="rightArrow">
            <a:avLst/>
          </a:prstGeom>
          <a:solidFill>
            <a:srgbClr val="7C5CFC"/>
          </a:solidFill>
          <a:ln/>
        </p:spPr>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sp>
      <p:sp>
        <p:nvSpPr>
          <p:cNvPr id="21" name="Shape 16"/>
          <p:cNvSpPr/>
          <p:nvPr/>
        </p:nvSpPr>
        <p:spPr>
          <a:xfrm>
            <a:off x="10126980" y="2926080"/>
            <a:ext cx="502920" cy="502920"/>
          </a:xfrm>
          <a:prstGeom prst="ellipse">
            <a:avLst/>
          </a:prstGeom>
          <a:solidFill>
            <a:srgbClr val="FF5C7A"/>
          </a:solidFill>
          <a:ln/>
        </p:spPr>
      </p:sp>
      <p:pic>
        <p:nvPicPr>
          <p:cNvPr id="22" name="Image 3" descr="icons_skull_FFFFFF.png">    </p:cNvPr>
          <p:cNvPicPr>
            <a:picLocks noChangeAspect="1"/>
          </p:cNvPicPr>
          <p:nvPr/>
        </p:nvPicPr>
        <p:blipFill>
          <a:blip r:embed="rId4"/>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Lateral access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to managed fleet</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sp>
      <p:sp>
        <p:nvSpPr>
          <p:cNvPr id="25" name="Text 19"/>
          <p:cNvSpPr/>
          <p:nvPr/>
        </p:nvSpPr>
        <p:spPr>
          <a:xfrm>
            <a:off x="914400" y="4709160"/>
            <a:ext cx="10332720" cy="1234440"/>
          </a:xfrm>
          <a:prstGeom prst="rect">
            <a:avLst/>
          </a:prstGeom>
          <a:noFill/>
          <a:ln/>
        </p:spPr>
        <p:txBody>
          <a:bodyPr wrap="square" rtlCol="0" anchor="ctr"/>
          <a:lstStyle/>
          <a:p>
            <a:pPr indent="0" marL="0">
              <a:buNone/>
            </a:pPr>
            <a:r>
              <a:rPr lang="en-US" sz="1350" i="1" dirty="0">
                <a:solidFill>
                  <a:srgbClr val="8E9BC0"/>
                </a:solidFill>
                <a:latin typeface="Calibri" pitchFamily="34" charset="0"/>
                <a:ea typeface="Calibri" pitchFamily="34" charset="-122"/>
                <a:cs typeface="Calibri" pitchFamily="34" charset="-120"/>
              </a:rPr>
              <a:t>Device management platforms decide which endpoints are trusted - compromise the platform and you inherit that trust across the entire fleet. This pillar is more research-driven than breach-driven today; treat it as where the field is heading, not a settled case study.</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trust broker with the guardrails off</a:t>
            </a:r>
            <a:endParaRPr lang="en-US" sz="3200" dirty="0"/>
          </a:p>
        </p:txBody>
      </p:sp>
      <p:sp>
        <p:nvSpPr>
          <p:cNvPr id="4" name="Shape 2"/>
          <p:cNvSpPr/>
          <p:nvPr/>
        </p:nvSpPr>
        <p:spPr>
          <a:xfrm>
            <a:off x="1005840" y="2286000"/>
            <a:ext cx="10149840" cy="2221992"/>
          </a:xfrm>
          <a:prstGeom prst="rect">
            <a:avLst/>
          </a:prstGeom>
          <a:solidFill>
            <a:srgbClr val="F5F7FB"/>
          </a:solidFill>
          <a:ln/>
        </p:spPr>
      </p:sp>
      <p:sp>
        <p:nvSpPr>
          <p:cNvPr id="5" name="Shape 3"/>
          <p:cNvSpPr/>
          <p:nvPr/>
        </p:nvSpPr>
        <p:spPr>
          <a:xfrm>
            <a:off x="1005840" y="1920240"/>
            <a:ext cx="10149840" cy="365760"/>
          </a:xfrm>
          <a:prstGeom prst="roundRect">
            <a:avLst>
              <a:gd name="adj" fmla="val 15000"/>
            </a:avLst>
          </a:prstGeom>
          <a:solidFill>
            <a:srgbClr val="D8DCE6"/>
          </a:solidFill>
          <a:ln/>
        </p:spPr>
      </p:sp>
      <p:sp>
        <p:nvSpPr>
          <p:cNvPr id="6" name="Shape 4"/>
          <p:cNvSpPr/>
          <p:nvPr/>
        </p:nvSpPr>
        <p:spPr>
          <a:xfrm>
            <a:off x="1207008" y="2057400"/>
            <a:ext cx="100584" cy="100584"/>
          </a:xfrm>
          <a:prstGeom prst="ellipse">
            <a:avLst/>
          </a:prstGeom>
          <a:solidFill>
            <a:srgbClr val="FF5F56"/>
          </a:solidFill>
          <a:ln/>
        </p:spPr>
      </p:sp>
      <p:sp>
        <p:nvSpPr>
          <p:cNvPr id="7" name="Shape 5"/>
          <p:cNvSpPr/>
          <p:nvPr/>
        </p:nvSpPr>
        <p:spPr>
          <a:xfrm>
            <a:off x="1408176" y="2057400"/>
            <a:ext cx="100584" cy="100584"/>
          </a:xfrm>
          <a:prstGeom prst="ellipse">
            <a:avLst/>
          </a:prstGeom>
          <a:solidFill>
            <a:srgbClr val="FFBD2E"/>
          </a:solidFill>
          <a:ln/>
        </p:spPr>
      </p:sp>
      <p:sp>
        <p:nvSpPr>
          <p:cNvPr id="8" name="Shape 6"/>
          <p:cNvSpPr/>
          <p:nvPr/>
        </p:nvSpPr>
        <p:spPr>
          <a:xfrm>
            <a:off x="1609344" y="2057400"/>
            <a:ext cx="100584" cy="100584"/>
          </a:xfrm>
          <a:prstGeom prst="ellipse">
            <a:avLst/>
          </a:prstGeom>
          <a:solidFill>
            <a:srgbClr val="27C93F"/>
          </a:solidFill>
          <a:ln/>
        </p:spPr>
      </p:sp>
      <p:sp>
        <p:nvSpPr>
          <p:cNvPr id="9" name="Shape 7"/>
          <p:cNvSpPr/>
          <p:nvPr/>
        </p:nvSpPr>
        <p:spPr>
          <a:xfrm>
            <a:off x="2011680" y="1993392"/>
            <a:ext cx="8046720" cy="219456"/>
          </a:xfrm>
          <a:prstGeom prst="roundRect">
            <a:avLst>
              <a:gd name="adj" fmla="val 25000"/>
            </a:avLst>
          </a:prstGeom>
          <a:solidFill>
            <a:srgbClr val="EDEFF5"/>
          </a:solidFill>
          <a:ln/>
        </p:spPr>
      </p:sp>
      <p:sp>
        <p:nvSpPr>
          <p:cNvPr id="10" name="Text 8"/>
          <p:cNvSpPr/>
          <p:nvPr/>
        </p:nvSpPr>
        <p:spPr>
          <a:xfrm>
            <a:off x="2148840" y="1993392"/>
            <a:ext cx="7863840" cy="219456"/>
          </a:xfrm>
          <a:prstGeom prst="rect">
            <a:avLst/>
          </a:prstGeom>
          <a:noFill/>
          <a:ln/>
        </p:spPr>
        <p:txBody>
          <a:bodyPr wrap="square" rtlCol="0" anchor="ctr"/>
          <a:lstStyle/>
          <a:p>
            <a:pPr indent="0" marL="0">
              <a:buNone/>
            </a:pPr>
            <a:r>
              <a:rPr lang="en-US" sz="950" dirty="0">
                <a:solidFill>
                  <a:srgbClr val="6B7280"/>
                </a:solidFill>
                <a:latin typeface="Consolas" pitchFamily="34" charset="0"/>
                <a:ea typeface="Consolas" pitchFamily="34" charset="-122"/>
                <a:cs typeface="Consolas" pitchFamily="34" charset="-120"/>
              </a:rPr>
              <a:t>🔒 device-admin.example/compliance-policies</a:t>
            </a:r>
            <a:endParaRPr lang="en-US" sz="950" dirty="0"/>
          </a:p>
        </p:txBody>
      </p:sp>
      <p:sp>
        <p:nvSpPr>
          <p:cNvPr id="11" name="Text 9"/>
          <p:cNvSpPr/>
          <p:nvPr/>
        </p:nvSpPr>
        <p:spPr>
          <a:xfrm>
            <a:off x="1325880" y="2423160"/>
            <a:ext cx="9509760" cy="365760"/>
          </a:xfrm>
          <a:prstGeom prst="rect">
            <a:avLst/>
          </a:prstGeom>
          <a:noFill/>
          <a:ln/>
        </p:spPr>
        <p:txBody>
          <a:bodyPr wrap="square" rtlCol="0" anchor="ctr"/>
          <a:lstStyle/>
          <a:p>
            <a:pPr indent="0" marL="0">
              <a:buNone/>
            </a:pPr>
            <a:r>
              <a:rPr lang="en-US" sz="1400" b="1" dirty="0">
                <a:solidFill>
                  <a:srgbClr val="1A1F2E"/>
                </a:solidFill>
                <a:latin typeface="Calibri" pitchFamily="34" charset="0"/>
                <a:ea typeface="Calibri" pitchFamily="34" charset="-122"/>
                <a:cs typeface="Calibri" pitchFamily="34" charset="-120"/>
              </a:rPr>
              <a:t>Device Compliance Policy - Company-wide</a:t>
            </a:r>
            <a:endParaRPr lang="en-US" sz="1400" dirty="0"/>
          </a:p>
        </p:txBody>
      </p:sp>
      <p:sp>
        <p:nvSpPr>
          <p:cNvPr id="12" name="Shape 10"/>
          <p:cNvSpPr/>
          <p:nvPr/>
        </p:nvSpPr>
        <p:spPr>
          <a:xfrm>
            <a:off x="1005840" y="2880360"/>
            <a:ext cx="10149840" cy="512064"/>
          </a:xfrm>
          <a:prstGeom prst="rect">
            <a:avLst/>
          </a:prstGeom>
          <a:solidFill>
            <a:srgbClr val="FFFFFF"/>
          </a:solidFill>
          <a:ln w="6350">
            <a:solidFill>
              <a:srgbClr val="E4E7EF"/>
            </a:solidFill>
            <a:prstDash val="solid"/>
          </a:ln>
        </p:spPr>
      </p:sp>
      <p:sp>
        <p:nvSpPr>
          <p:cNvPr id="13" name="Text 11"/>
          <p:cNvSpPr/>
          <p:nvPr/>
        </p:nvSpPr>
        <p:spPr>
          <a:xfrm>
            <a:off x="1325880" y="2880360"/>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Require Disk Encryption</a:t>
            </a:r>
            <a:endParaRPr lang="en-US" sz="1150" dirty="0"/>
          </a:p>
        </p:txBody>
      </p:sp>
      <p:sp>
        <p:nvSpPr>
          <p:cNvPr id="14" name="Shape 12"/>
          <p:cNvSpPr/>
          <p:nvPr/>
        </p:nvSpPr>
        <p:spPr>
          <a:xfrm>
            <a:off x="8961120" y="2990088"/>
            <a:ext cx="1828800" cy="292608"/>
          </a:xfrm>
          <a:prstGeom prst="roundRect">
            <a:avLst>
              <a:gd name="adj" fmla="val 50000"/>
            </a:avLst>
          </a:prstGeom>
          <a:solidFill>
            <a:srgbClr val="16A34A"/>
          </a:solidFill>
          <a:ln/>
        </p:spPr>
      </p:sp>
      <p:sp>
        <p:nvSpPr>
          <p:cNvPr id="15" name="Text 13"/>
          <p:cNvSpPr/>
          <p:nvPr/>
        </p:nvSpPr>
        <p:spPr>
          <a:xfrm>
            <a:off x="8961120" y="2990088"/>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ENABLED</a:t>
            </a:r>
            <a:endParaRPr lang="en-US" sz="1000" dirty="0"/>
          </a:p>
        </p:txBody>
      </p:sp>
      <p:sp>
        <p:nvSpPr>
          <p:cNvPr id="16" name="Shape 14"/>
          <p:cNvSpPr/>
          <p:nvPr/>
        </p:nvSpPr>
        <p:spPr>
          <a:xfrm>
            <a:off x="1005840" y="3392424"/>
            <a:ext cx="10149840" cy="512064"/>
          </a:xfrm>
          <a:prstGeom prst="rect">
            <a:avLst/>
          </a:prstGeom>
          <a:solidFill>
            <a:srgbClr val="FDEAEA"/>
          </a:solidFill>
          <a:ln w="6350">
            <a:solidFill>
              <a:srgbClr val="E4E7EF"/>
            </a:solidFill>
            <a:prstDash val="solid"/>
          </a:ln>
        </p:spPr>
      </p:sp>
      <p:sp>
        <p:nvSpPr>
          <p:cNvPr id="17" name="Shape 15"/>
          <p:cNvSpPr/>
          <p:nvPr/>
        </p:nvSpPr>
        <p:spPr>
          <a:xfrm>
            <a:off x="1005840" y="3392424"/>
            <a:ext cx="54864" cy="512064"/>
          </a:xfrm>
          <a:prstGeom prst="rect">
            <a:avLst/>
          </a:prstGeom>
          <a:solidFill>
            <a:srgbClr val="DC2626"/>
          </a:solidFill>
          <a:ln/>
        </p:spPr>
      </p:sp>
      <p:sp>
        <p:nvSpPr>
          <p:cNvPr id="18" name="Text 16"/>
          <p:cNvSpPr/>
          <p:nvPr/>
        </p:nvSpPr>
        <p:spPr>
          <a:xfrm>
            <a:off x="1325880" y="3392424"/>
            <a:ext cx="7223760" cy="512064"/>
          </a:xfrm>
          <a:prstGeom prst="rect">
            <a:avLst/>
          </a:prstGeom>
          <a:noFill/>
          <a:ln/>
        </p:spPr>
        <p:txBody>
          <a:bodyPr wrap="square" rtlCol="0" anchor="ctr"/>
          <a:lstStyle/>
          <a:p>
            <a:pPr indent="0" marL="0">
              <a:buNone/>
            </a:pPr>
            <a:r>
              <a:rPr lang="en-US" sz="1150" b="1" dirty="0">
                <a:solidFill>
                  <a:srgbClr val="1A1F2E"/>
                </a:solidFill>
                <a:latin typeface="Calibri" pitchFamily="34" charset="0"/>
                <a:ea typeface="Calibri" pitchFamily="34" charset="-122"/>
                <a:cs typeface="Calibri" pitchFamily="34" charset="-120"/>
              </a:rPr>
              <a:t>Block Jailbroken / Rooted Devices</a:t>
            </a:r>
            <a:endParaRPr lang="en-US" sz="1150" dirty="0"/>
          </a:p>
        </p:txBody>
      </p:sp>
      <p:sp>
        <p:nvSpPr>
          <p:cNvPr id="19" name="Shape 17"/>
          <p:cNvSpPr/>
          <p:nvPr/>
        </p:nvSpPr>
        <p:spPr>
          <a:xfrm>
            <a:off x="8961120" y="3502152"/>
            <a:ext cx="1828800" cy="292608"/>
          </a:xfrm>
          <a:prstGeom prst="roundRect">
            <a:avLst>
              <a:gd name="adj" fmla="val 50000"/>
            </a:avLst>
          </a:prstGeom>
          <a:solidFill>
            <a:srgbClr val="DC2626"/>
          </a:solidFill>
          <a:ln/>
        </p:spPr>
      </p:sp>
      <p:sp>
        <p:nvSpPr>
          <p:cNvPr id="20" name="Text 18"/>
          <p:cNvSpPr/>
          <p:nvPr/>
        </p:nvSpPr>
        <p:spPr>
          <a:xfrm>
            <a:off x="8961120" y="3502152"/>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OFF</a:t>
            </a:r>
            <a:endParaRPr lang="en-US" sz="1000" dirty="0"/>
          </a:p>
        </p:txBody>
      </p:sp>
      <p:sp>
        <p:nvSpPr>
          <p:cNvPr id="21" name="Shape 19"/>
          <p:cNvSpPr/>
          <p:nvPr/>
        </p:nvSpPr>
        <p:spPr>
          <a:xfrm>
            <a:off x="1005840" y="3904488"/>
            <a:ext cx="10149840" cy="512064"/>
          </a:xfrm>
          <a:prstGeom prst="rect">
            <a:avLst/>
          </a:prstGeom>
          <a:solidFill>
            <a:srgbClr val="FFFFFF"/>
          </a:solidFill>
          <a:ln w="6350">
            <a:solidFill>
              <a:srgbClr val="E4E7EF"/>
            </a:solidFill>
            <a:prstDash val="solid"/>
          </a:ln>
        </p:spPr>
      </p:sp>
      <p:sp>
        <p:nvSpPr>
          <p:cNvPr id="22" name="Text 20"/>
          <p:cNvSpPr/>
          <p:nvPr/>
        </p:nvSpPr>
        <p:spPr>
          <a:xfrm>
            <a:off x="1325880" y="3904488"/>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Personal (BYOD) Enrollment</a:t>
            </a:r>
            <a:endParaRPr lang="en-US" sz="1150" dirty="0"/>
          </a:p>
        </p:txBody>
      </p:sp>
      <p:sp>
        <p:nvSpPr>
          <p:cNvPr id="23" name="Shape 21"/>
          <p:cNvSpPr/>
          <p:nvPr/>
        </p:nvSpPr>
        <p:spPr>
          <a:xfrm>
            <a:off x="8961120" y="4014216"/>
            <a:ext cx="1828800" cy="292608"/>
          </a:xfrm>
          <a:prstGeom prst="roundRect">
            <a:avLst>
              <a:gd name="adj" fmla="val 50000"/>
            </a:avLst>
          </a:prstGeom>
          <a:solidFill>
            <a:srgbClr val="D97706"/>
          </a:solidFill>
          <a:ln/>
        </p:spPr>
      </p:sp>
      <p:sp>
        <p:nvSpPr>
          <p:cNvPr id="24" name="Text 22"/>
          <p:cNvSpPr/>
          <p:nvPr/>
        </p:nvSpPr>
        <p:spPr>
          <a:xfrm>
            <a:off x="8961120" y="4014216"/>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ALLOWED - ALL USERS</a:t>
            </a:r>
            <a:endParaRPr lang="en-US" sz="1000" dirty="0"/>
          </a:p>
        </p:txBody>
      </p:sp>
      <p:sp>
        <p:nvSpPr>
          <p:cNvPr id="25" name="Text 23"/>
          <p:cNvSpPr/>
          <p:nvPr/>
        </p:nvSpPr>
        <p:spPr>
          <a:xfrm>
            <a:off x="640080" y="4736592"/>
            <a:ext cx="10881360" cy="548640"/>
          </a:xfrm>
          <a:prstGeom prst="rect">
            <a:avLst/>
          </a:prstGeom>
          <a:noFill/>
          <a:ln/>
        </p:spPr>
        <p:txBody>
          <a:bodyPr wrap="square" rtlCol="0" anchor="t"/>
          <a:lstStyle/>
          <a:p>
            <a:pPr algn="ctr" indent="0" marL="0">
              <a:buNone/>
            </a:pPr>
            <a:r>
              <a:rPr lang="en-US" sz="1350" i="1" dirty="0">
                <a:solidFill>
                  <a:srgbClr val="8E9BC0"/>
                </a:solidFill>
                <a:latin typeface="Calibri" pitchFamily="34" charset="0"/>
                <a:ea typeface="Calibri" pitchFamily="34" charset="-122"/>
                <a:cs typeface="Calibri" pitchFamily="34" charset="-120"/>
              </a:rPr>
              <a:t>Jailbreak detection off, personal devices allowed for everyone. The platform deciding what to trust isn't checking very hard.</a:t>
            </a:r>
            <a:endParaRPr lang="en-US" sz="1350" dirty="0"/>
          </a:p>
        </p:txBody>
      </p:sp>
      <p:sp>
        <p:nvSpPr>
          <p:cNvPr id="26" name="Text 24"/>
          <p:cNvSpPr/>
          <p:nvPr/>
        </p:nvSpPr>
        <p:spPr>
          <a:xfrm>
            <a:off x="640080" y="6355080"/>
            <a:ext cx="10881360" cy="274320"/>
          </a:xfrm>
          <a:prstGeom prst="rect">
            <a:avLst/>
          </a:prstGeom>
          <a:noFill/>
          <a:ln/>
        </p:spPr>
        <p:txBody>
          <a:bodyPr wrap="square" rtlCol="0" anchor="ctr"/>
          <a:lstStyle/>
          <a:p>
            <a:pPr algn="ctr" indent="0" marL="0">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7" name="Text 2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B18"/>
        </a:solidFill>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sp>
      <p:sp>
        <p:nvSpPr>
          <p:cNvPr id="3" name="Shape 1"/>
          <p:cNvSpPr/>
          <p:nvPr/>
        </p:nvSpPr>
        <p:spPr>
          <a:xfrm>
            <a:off x="731520" y="2011680"/>
            <a:ext cx="1097280" cy="1645920"/>
          </a:xfrm>
          <a:prstGeom prst="line">
            <a:avLst/>
          </a:prstGeom>
          <a:noFill/>
          <a:ln w="15240">
            <a:solidFill>
              <a:srgbClr val="16204A"/>
            </a:solidFill>
            <a:prstDash val="solid"/>
          </a:ln>
        </p:spPr>
      </p:sp>
      <p:sp>
        <p:nvSpPr>
          <p:cNvPr id="4" name="Shape 2"/>
          <p:cNvSpPr/>
          <p:nvPr/>
        </p:nvSpPr>
        <p:spPr>
          <a:xfrm>
            <a:off x="10789920" y="1097280"/>
            <a:ext cx="640080" cy="1645920"/>
          </a:xfrm>
          <a:prstGeom prst="line">
            <a:avLst/>
          </a:prstGeom>
          <a:noFill/>
          <a:ln w="15240">
            <a:solidFill>
              <a:srgbClr val="16204A"/>
            </a:solidFill>
            <a:prstDash val="solid"/>
          </a:ln>
        </p:spPr>
      </p:sp>
      <p:sp>
        <p:nvSpPr>
          <p:cNvPr id="5" name="Shape 3"/>
          <p:cNvSpPr/>
          <p:nvPr/>
        </p:nvSpPr>
        <p:spPr>
          <a:xfrm>
            <a:off x="10515600" y="2743200"/>
            <a:ext cx="914400" cy="1828800"/>
          </a:xfrm>
          <a:prstGeom prst="line">
            <a:avLst/>
          </a:prstGeom>
          <a:noFill/>
          <a:ln w="15240">
            <a:solidFill>
              <a:srgbClr val="16204A"/>
            </a:solidFill>
            <a:prstDash val="solid"/>
          </a:ln>
        </p:spPr>
      </p:sp>
      <p:sp>
        <p:nvSpPr>
          <p:cNvPr id="6" name="Shape 4"/>
          <p:cNvSpPr/>
          <p:nvPr/>
        </p:nvSpPr>
        <p:spPr>
          <a:xfrm>
            <a:off x="859536" y="859536"/>
            <a:ext cx="109728" cy="109728"/>
          </a:xfrm>
          <a:prstGeom prst="ellipse">
            <a:avLst/>
          </a:prstGeom>
          <a:solidFill>
            <a:srgbClr val="00E5FF"/>
          </a:solidFill>
          <a:ln/>
        </p:spPr>
      </p:sp>
      <p:sp>
        <p:nvSpPr>
          <p:cNvPr id="7" name="Shape 5"/>
          <p:cNvSpPr/>
          <p:nvPr/>
        </p:nvSpPr>
        <p:spPr>
          <a:xfrm>
            <a:off x="1773936" y="1956816"/>
            <a:ext cx="109728" cy="109728"/>
          </a:xfrm>
          <a:prstGeom prst="ellipse">
            <a:avLst/>
          </a:prstGeom>
          <a:solidFill>
            <a:srgbClr val="7C5CFC"/>
          </a:solidFill>
          <a:ln/>
        </p:spPr>
      </p:sp>
      <p:sp>
        <p:nvSpPr>
          <p:cNvPr id="8" name="Shape 6"/>
          <p:cNvSpPr/>
          <p:nvPr/>
        </p:nvSpPr>
        <p:spPr>
          <a:xfrm>
            <a:off x="676656" y="3602736"/>
            <a:ext cx="109728" cy="109728"/>
          </a:xfrm>
          <a:prstGeom prst="ellipse">
            <a:avLst/>
          </a:prstGeom>
          <a:solidFill>
            <a:srgbClr val="7C5CFC"/>
          </a:solidFill>
          <a:ln/>
        </p:spPr>
      </p:sp>
      <p:sp>
        <p:nvSpPr>
          <p:cNvPr id="9" name="Shape 7"/>
          <p:cNvSpPr/>
          <p:nvPr/>
        </p:nvSpPr>
        <p:spPr>
          <a:xfrm>
            <a:off x="10735056" y="1042416"/>
            <a:ext cx="109728" cy="109728"/>
          </a:xfrm>
          <a:prstGeom prst="ellipse">
            <a:avLst/>
          </a:prstGeom>
          <a:solidFill>
            <a:srgbClr val="00E5FF"/>
          </a:solidFill>
          <a:ln/>
        </p:spPr>
      </p:sp>
      <p:sp>
        <p:nvSpPr>
          <p:cNvPr id="10" name="Shape 8"/>
          <p:cNvSpPr/>
          <p:nvPr/>
        </p:nvSpPr>
        <p:spPr>
          <a:xfrm>
            <a:off x="11375136" y="2688336"/>
            <a:ext cx="109728" cy="109728"/>
          </a:xfrm>
          <a:prstGeom prst="ellipse">
            <a:avLst/>
          </a:prstGeom>
          <a:solidFill>
            <a:srgbClr val="7C5CFC"/>
          </a:solidFill>
          <a:ln/>
        </p:spPr>
      </p:sp>
      <p:sp>
        <p:nvSpPr>
          <p:cNvPr id="11" name="Shape 9"/>
          <p:cNvSpPr/>
          <p:nvPr/>
        </p:nvSpPr>
        <p:spPr>
          <a:xfrm>
            <a:off x="10460736" y="4517136"/>
            <a:ext cx="109728" cy="109728"/>
          </a:xfrm>
          <a:prstGeom prst="ellipse">
            <a:avLst/>
          </a:prstGeom>
          <a:solidFill>
            <a:srgbClr val="7C5CFC"/>
          </a:solidFill>
          <a:ln/>
        </p:spPr>
      </p:sp>
      <p:sp>
        <p:nvSpPr>
          <p:cNvPr id="12" name="Text 1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PILLAR 3 OF 5</a:t>
            </a:r>
            <a:endParaRPr lang="en-US" sz="1300" dirty="0"/>
          </a:p>
        </p:txBody>
      </p:sp>
      <p:sp>
        <p:nvSpPr>
          <p:cNvPr id="13" name="Shape 11"/>
          <p:cNvSpPr/>
          <p:nvPr/>
        </p:nvSpPr>
        <p:spPr>
          <a:xfrm>
            <a:off x="822960" y="1828800"/>
            <a:ext cx="1188720" cy="1188720"/>
          </a:xfrm>
          <a:prstGeom prst="ellipse">
            <a:avLst/>
          </a:prstGeom>
          <a:solidFill>
            <a:srgbClr val="121A33"/>
          </a:solidFill>
          <a:ln/>
        </p:spPr>
      </p:sp>
      <p:pic>
        <p:nvPicPr>
          <p:cNvPr id="14" name="Image 0" descr="icons_building_00E5FF.png">    </p:cNvPr>
          <p:cNvPicPr>
            <a:picLocks noChangeAspect="1"/>
          </p:cNvPicPr>
          <p:nvPr/>
        </p:nvPicPr>
        <p:blipFill>
          <a:blip r:embed="rId1"/>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SaaS Platforms</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indent="0" marL="0">
              <a:buNone/>
            </a:pPr>
            <a:r>
              <a:rPr lang="en-US" sz="1700" i="1" dirty="0">
                <a:solidFill>
                  <a:srgbClr val="7C5CFC"/>
                </a:solidFill>
                <a:latin typeface="Cambria" pitchFamily="34" charset="0"/>
                <a:ea typeface="Cambria" pitchFamily="34" charset="-122"/>
                <a:cs typeface="Cambria" pitchFamily="34" charset="-120"/>
              </a:rPr>
              <a:t>Where does that trust take me?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sp>
      <p:sp>
        <p:nvSpPr>
          <p:cNvPr id="18" name="Text 15"/>
          <p:cNvSpPr/>
          <p:nvPr/>
        </p:nvSpPr>
        <p:spPr>
          <a:xfrm>
            <a:off x="1188720" y="3886200"/>
            <a:ext cx="9784080" cy="457200"/>
          </a:xfrm>
          <a:prstGeom prst="rect">
            <a:avLst/>
          </a:prstGeom>
          <a:noFill/>
          <a:ln/>
        </p:spPr>
        <p:txBody>
          <a:bodyPr wrap="square"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indent="0" marL="0">
              <a:buNone/>
            </a:pPr>
            <a:r>
              <a:rPr lang="en-US" sz="1400" dirty="0">
                <a:solidFill>
                  <a:srgbClr val="8E9BC0"/>
                </a:solidFill>
                <a:latin typeface="Calibri" pitchFamily="34" charset="0"/>
                <a:ea typeface="Calibri" pitchFamily="34" charset="-122"/>
                <a:cs typeface="Calibri" pitchFamily="34" charset="-120"/>
              </a:rPr>
              <a:t>SaaS applications increasingly hold the data and workflows attackers actually want - CRM records, financial systems, source code, HR data - all administered outside the domain entirely.</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CHAIN EXAMPLE 3</a:t>
            </a:r>
            <a:endParaRPr lang="en-US" sz="1300" dirty="0"/>
          </a:p>
        </p:txBody>
      </p:sp>
      <p:sp>
        <p:nvSpPr>
          <p:cNvPr id="3" name="Text 1"/>
          <p:cNvSpPr/>
          <p:nvPr/>
        </p:nvSpPr>
        <p:spPr>
          <a:xfrm>
            <a:off x="7436815" y="530352"/>
            <a:ext cx="4114800" cy="320040"/>
          </a:xfrm>
          <a:prstGeom prst="rect">
            <a:avLst/>
          </a:prstGeom>
          <a:noFill/>
          <a:ln/>
        </p:spPr>
        <p:txBody>
          <a:bodyPr wrap="square" rtlCol="0" anchor="ctr"/>
          <a:lstStyle/>
          <a:p>
            <a:pPr algn="r" indent="0" marL="0">
              <a:buNone/>
            </a:pPr>
            <a:r>
              <a:rPr lang="en-US" sz="1050" i="1" dirty="0">
                <a:solidFill>
                  <a:srgbClr val="8E9BC0"/>
                </a:solidFill>
                <a:latin typeface="Calibri" pitchFamily="34" charset="0"/>
                <a:ea typeface="Calibri" pitchFamily="34" charset="-122"/>
                <a:cs typeface="Calibri" pitchFamily="34" charset="-120"/>
              </a:rPr>
              <a:t>Case study: Snowflake customer breach, 2024 (UNC5537)</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SaaS platforms holding the keys</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sp>
      <p:sp>
        <p:nvSpPr>
          <p:cNvPr id="6" name="Shape 4"/>
          <p:cNvSpPr/>
          <p:nvPr/>
        </p:nvSpPr>
        <p:spPr>
          <a:xfrm>
            <a:off x="1531620" y="2926080"/>
            <a:ext cx="502920" cy="502920"/>
          </a:xfrm>
          <a:prstGeom prst="ellipse">
            <a:avLst/>
          </a:prstGeom>
          <a:solidFill>
            <a:srgbClr val="0A0F1F"/>
          </a:solidFill>
          <a:ln/>
        </p:spPr>
      </p:sp>
      <p:pic>
        <p:nvPicPr>
          <p:cNvPr id="7" name="Image 0" descr="icons_building_00E5FF.png">    </p:cNvPr>
          <p:cNvPicPr>
            <a:picLocks noChangeAspect="1"/>
          </p:cNvPicPr>
          <p:nvPr/>
        </p:nvPicPr>
        <p:blipFill>
          <a:blip r:embed="rId1"/>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Over-privileged SaaS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account, no MFA</a:t>
            </a:r>
            <a:endParaRPr lang="en-US" sz="1150" dirty="0"/>
          </a:p>
        </p:txBody>
      </p:sp>
      <p:sp>
        <p:nvSpPr>
          <p:cNvPr id="9" name="Shape 6"/>
          <p:cNvSpPr/>
          <p:nvPr/>
        </p:nvSpPr>
        <p:spPr>
          <a:xfrm>
            <a:off x="2926080" y="3319272"/>
            <a:ext cx="579120" cy="219456"/>
          </a:xfrm>
          <a:prstGeom prst="rightArrow">
            <a:avLst/>
          </a:prstGeom>
          <a:solidFill>
            <a:srgbClr val="7C5CFC"/>
          </a:solidFill>
          <a:ln/>
        </p:spPr>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sp>
      <p:sp>
        <p:nvSpPr>
          <p:cNvPr id="11" name="Shape 8"/>
          <p:cNvSpPr/>
          <p:nvPr/>
        </p:nvSpPr>
        <p:spPr>
          <a:xfrm>
            <a:off x="4396740" y="2926080"/>
            <a:ext cx="502920" cy="502920"/>
          </a:xfrm>
          <a:prstGeom prst="ellipse">
            <a:avLst/>
          </a:prstGeom>
          <a:solidFill>
            <a:srgbClr val="0A0F1F"/>
          </a:solidFill>
          <a:ln/>
        </p:spPr>
      </p:sp>
      <p:pic>
        <p:nvPicPr>
          <p:cNvPr id="12" name="Image 1" descr="icons_key_00E5FF.png">    </p:cNvPr>
          <p:cNvPicPr>
            <a:picLocks noChangeAspect="1"/>
          </p:cNvPicPr>
          <p:nvPr/>
        </p:nvPicPr>
        <p:blipFill>
          <a:blip r:embed="rId2"/>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Stolen credentials from</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infostealer malware</a:t>
            </a:r>
            <a:endParaRPr lang="en-US" sz="1150" dirty="0"/>
          </a:p>
        </p:txBody>
      </p:sp>
      <p:sp>
        <p:nvSpPr>
          <p:cNvPr id="14" name="Shape 10"/>
          <p:cNvSpPr/>
          <p:nvPr/>
        </p:nvSpPr>
        <p:spPr>
          <a:xfrm>
            <a:off x="5791200" y="3319272"/>
            <a:ext cx="579120" cy="219456"/>
          </a:xfrm>
          <a:prstGeom prst="rightArrow">
            <a:avLst/>
          </a:prstGeom>
          <a:solidFill>
            <a:srgbClr val="7C5CFC"/>
          </a:solidFill>
          <a:ln/>
        </p:spPr>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sp>
      <p:sp>
        <p:nvSpPr>
          <p:cNvPr id="16" name="Shape 12"/>
          <p:cNvSpPr/>
          <p:nvPr/>
        </p:nvSpPr>
        <p:spPr>
          <a:xfrm>
            <a:off x="7261860" y="2926080"/>
            <a:ext cx="502920" cy="502920"/>
          </a:xfrm>
          <a:prstGeom prst="ellipse">
            <a:avLst/>
          </a:prstGeom>
          <a:solidFill>
            <a:srgbClr val="0A0F1F"/>
          </a:solidFill>
          <a:ln/>
        </p:spPr>
      </p:sp>
      <p:pic>
        <p:nvPicPr>
          <p:cNvPr id="17" name="Image 2" descr="icons_usershield_00E5FF.png">    </p:cNvPr>
          <p:cNvPicPr>
            <a:picLocks noChangeAspect="1"/>
          </p:cNvPicPr>
          <p:nvPr/>
        </p:nvPicPr>
        <p:blipFill>
          <a:blip r:embed="rId3"/>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Direct login to</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customer tenant</a:t>
            </a:r>
            <a:endParaRPr lang="en-US" sz="1150" dirty="0"/>
          </a:p>
        </p:txBody>
      </p:sp>
      <p:sp>
        <p:nvSpPr>
          <p:cNvPr id="19" name="Shape 14"/>
          <p:cNvSpPr/>
          <p:nvPr/>
        </p:nvSpPr>
        <p:spPr>
          <a:xfrm>
            <a:off x="8656320" y="3319272"/>
            <a:ext cx="579120" cy="219456"/>
          </a:xfrm>
          <a:prstGeom prst="rightArrow">
            <a:avLst/>
          </a:prstGeom>
          <a:solidFill>
            <a:srgbClr val="7C5CFC"/>
          </a:solidFill>
          <a:ln/>
        </p:spPr>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sp>
      <p:sp>
        <p:nvSpPr>
          <p:cNvPr id="21" name="Shape 16"/>
          <p:cNvSpPr/>
          <p:nvPr/>
        </p:nvSpPr>
        <p:spPr>
          <a:xfrm>
            <a:off x="10126980" y="2926080"/>
            <a:ext cx="502920" cy="502920"/>
          </a:xfrm>
          <a:prstGeom prst="ellipse">
            <a:avLst/>
          </a:prstGeom>
          <a:solidFill>
            <a:srgbClr val="FF5C7A"/>
          </a:solidFill>
          <a:ln/>
        </p:spPr>
      </p:sp>
      <p:pic>
        <p:nvPicPr>
          <p:cNvPr id="22" name="Image 3" descr="icons_skull_FFFFFF.png">    </p:cNvPr>
          <p:cNvPicPr>
            <a:picLocks noChangeAspect="1"/>
          </p:cNvPicPr>
          <p:nvPr/>
        </p:nvPicPr>
        <p:blipFill>
          <a:blip r:embed="rId4"/>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Mass data</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exfiltration</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sp>
      <p:sp>
        <p:nvSpPr>
          <p:cNvPr id="25" name="Text 19"/>
          <p:cNvSpPr/>
          <p:nvPr/>
        </p:nvSpPr>
        <p:spPr>
          <a:xfrm>
            <a:off x="914400" y="4709160"/>
            <a:ext cx="10332720" cy="1234440"/>
          </a:xfrm>
          <a:prstGeom prst="rect">
            <a:avLst/>
          </a:prstGeom>
          <a:noFill/>
          <a:ln/>
        </p:spPr>
        <p:txBody>
          <a:bodyPr wrap="square" rtlCol="0" anchor="ctr"/>
          <a:lstStyle/>
          <a:p>
            <a:pPr indent="0" marL="0">
              <a:buNone/>
            </a:pPr>
            <a:r>
              <a:rPr lang="en-US" sz="1350" i="1" dirty="0">
                <a:solidFill>
                  <a:srgbClr val="8E9BC0"/>
                </a:solidFill>
                <a:latin typeface="Calibri" pitchFamily="34" charset="0"/>
                <a:ea typeface="Calibri" pitchFamily="34" charset="-122"/>
                <a:cs typeface="Calibri" pitchFamily="34" charset="-120"/>
              </a:rPr>
              <a:t>SaaS platforms increasingly hold sensitive data and administrative control that never touches the Windows domain at all - and attackers don't need a platform vulnerability, just a valid stolen credential and no MFA.</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account nobody was watching</a:t>
            </a:r>
            <a:endParaRPr lang="en-US" sz="3200" dirty="0"/>
          </a:p>
        </p:txBody>
      </p:sp>
      <p:sp>
        <p:nvSpPr>
          <p:cNvPr id="4" name="Shape 2"/>
          <p:cNvSpPr/>
          <p:nvPr/>
        </p:nvSpPr>
        <p:spPr>
          <a:xfrm>
            <a:off x="1005840" y="2286000"/>
            <a:ext cx="10149840" cy="2221992"/>
          </a:xfrm>
          <a:prstGeom prst="rect">
            <a:avLst/>
          </a:prstGeom>
          <a:solidFill>
            <a:srgbClr val="F5F7FB"/>
          </a:solidFill>
          <a:ln/>
        </p:spPr>
      </p:sp>
      <p:sp>
        <p:nvSpPr>
          <p:cNvPr id="5" name="Shape 3"/>
          <p:cNvSpPr/>
          <p:nvPr/>
        </p:nvSpPr>
        <p:spPr>
          <a:xfrm>
            <a:off x="1005840" y="1920240"/>
            <a:ext cx="10149840" cy="365760"/>
          </a:xfrm>
          <a:prstGeom prst="roundRect">
            <a:avLst>
              <a:gd name="adj" fmla="val 15000"/>
            </a:avLst>
          </a:prstGeom>
          <a:solidFill>
            <a:srgbClr val="D8DCE6"/>
          </a:solidFill>
          <a:ln/>
        </p:spPr>
      </p:sp>
      <p:sp>
        <p:nvSpPr>
          <p:cNvPr id="6" name="Shape 4"/>
          <p:cNvSpPr/>
          <p:nvPr/>
        </p:nvSpPr>
        <p:spPr>
          <a:xfrm>
            <a:off x="1207008" y="2057400"/>
            <a:ext cx="100584" cy="100584"/>
          </a:xfrm>
          <a:prstGeom prst="ellipse">
            <a:avLst/>
          </a:prstGeom>
          <a:solidFill>
            <a:srgbClr val="FF5F56"/>
          </a:solidFill>
          <a:ln/>
        </p:spPr>
      </p:sp>
      <p:sp>
        <p:nvSpPr>
          <p:cNvPr id="7" name="Shape 5"/>
          <p:cNvSpPr/>
          <p:nvPr/>
        </p:nvSpPr>
        <p:spPr>
          <a:xfrm>
            <a:off x="1408176" y="2057400"/>
            <a:ext cx="100584" cy="100584"/>
          </a:xfrm>
          <a:prstGeom prst="ellipse">
            <a:avLst/>
          </a:prstGeom>
          <a:solidFill>
            <a:srgbClr val="FFBD2E"/>
          </a:solidFill>
          <a:ln/>
        </p:spPr>
      </p:sp>
      <p:sp>
        <p:nvSpPr>
          <p:cNvPr id="8" name="Shape 6"/>
          <p:cNvSpPr/>
          <p:nvPr/>
        </p:nvSpPr>
        <p:spPr>
          <a:xfrm>
            <a:off x="1609344" y="2057400"/>
            <a:ext cx="100584" cy="100584"/>
          </a:xfrm>
          <a:prstGeom prst="ellipse">
            <a:avLst/>
          </a:prstGeom>
          <a:solidFill>
            <a:srgbClr val="27C93F"/>
          </a:solidFill>
          <a:ln/>
        </p:spPr>
      </p:sp>
      <p:sp>
        <p:nvSpPr>
          <p:cNvPr id="9" name="Shape 7"/>
          <p:cNvSpPr/>
          <p:nvPr/>
        </p:nvSpPr>
        <p:spPr>
          <a:xfrm>
            <a:off x="2011680" y="1993392"/>
            <a:ext cx="8046720" cy="219456"/>
          </a:xfrm>
          <a:prstGeom prst="roundRect">
            <a:avLst>
              <a:gd name="adj" fmla="val 25000"/>
            </a:avLst>
          </a:prstGeom>
          <a:solidFill>
            <a:srgbClr val="EDEFF5"/>
          </a:solidFill>
          <a:ln/>
        </p:spPr>
      </p:sp>
      <p:sp>
        <p:nvSpPr>
          <p:cNvPr id="10" name="Text 8"/>
          <p:cNvSpPr/>
          <p:nvPr/>
        </p:nvSpPr>
        <p:spPr>
          <a:xfrm>
            <a:off x="2148840" y="1993392"/>
            <a:ext cx="7863840" cy="219456"/>
          </a:xfrm>
          <a:prstGeom prst="rect">
            <a:avLst/>
          </a:prstGeom>
          <a:noFill/>
          <a:ln/>
        </p:spPr>
        <p:txBody>
          <a:bodyPr wrap="square" rtlCol="0" anchor="ctr"/>
          <a:lstStyle/>
          <a:p>
            <a:pPr indent="0" marL="0">
              <a:buNone/>
            </a:pPr>
            <a:r>
              <a:rPr lang="en-US" sz="950" dirty="0">
                <a:solidFill>
                  <a:srgbClr val="6B7280"/>
                </a:solidFill>
                <a:latin typeface="Consolas" pitchFamily="34" charset="0"/>
                <a:ea typeface="Consolas" pitchFamily="34" charset="-122"/>
                <a:cs typeface="Consolas" pitchFamily="34" charset="-120"/>
              </a:rPr>
              <a:t>🔒 saas-console.example/user-roles</a:t>
            </a:r>
            <a:endParaRPr lang="en-US" sz="950" dirty="0"/>
          </a:p>
        </p:txBody>
      </p:sp>
      <p:sp>
        <p:nvSpPr>
          <p:cNvPr id="11" name="Text 9"/>
          <p:cNvSpPr/>
          <p:nvPr/>
        </p:nvSpPr>
        <p:spPr>
          <a:xfrm>
            <a:off x="1325880" y="2423160"/>
            <a:ext cx="9509760" cy="365760"/>
          </a:xfrm>
          <a:prstGeom prst="rect">
            <a:avLst/>
          </a:prstGeom>
          <a:noFill/>
          <a:ln/>
        </p:spPr>
        <p:txBody>
          <a:bodyPr wrap="square" rtlCol="0" anchor="ctr"/>
          <a:lstStyle/>
          <a:p>
            <a:pPr indent="0" marL="0">
              <a:buNone/>
            </a:pPr>
            <a:r>
              <a:rPr lang="en-US" sz="1400" b="1" dirty="0">
                <a:solidFill>
                  <a:srgbClr val="1A1F2E"/>
                </a:solidFill>
                <a:latin typeface="Calibri" pitchFamily="34" charset="0"/>
                <a:ea typeface="Calibri" pitchFamily="34" charset="-122"/>
                <a:cs typeface="Calibri" pitchFamily="34" charset="-120"/>
              </a:rPr>
              <a:t>User Roles - Finance Data Platform</a:t>
            </a:r>
            <a:endParaRPr lang="en-US" sz="1400" dirty="0"/>
          </a:p>
        </p:txBody>
      </p:sp>
      <p:sp>
        <p:nvSpPr>
          <p:cNvPr id="12" name="Shape 10"/>
          <p:cNvSpPr/>
          <p:nvPr/>
        </p:nvSpPr>
        <p:spPr>
          <a:xfrm>
            <a:off x="1005840" y="2880360"/>
            <a:ext cx="10149840" cy="512064"/>
          </a:xfrm>
          <a:prstGeom prst="rect">
            <a:avLst/>
          </a:prstGeom>
          <a:solidFill>
            <a:srgbClr val="FFFFFF"/>
          </a:solidFill>
          <a:ln w="6350">
            <a:solidFill>
              <a:srgbClr val="E4E7EF"/>
            </a:solidFill>
            <a:prstDash val="solid"/>
          </a:ln>
        </p:spPr>
      </p:sp>
      <p:sp>
        <p:nvSpPr>
          <p:cNvPr id="13" name="Text 11"/>
          <p:cNvSpPr/>
          <p:nvPr/>
        </p:nvSpPr>
        <p:spPr>
          <a:xfrm>
            <a:off x="1325880" y="2880360"/>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j.smith@company.example - Analyst</a:t>
            </a:r>
            <a:endParaRPr lang="en-US" sz="1150" dirty="0"/>
          </a:p>
        </p:txBody>
      </p:sp>
      <p:sp>
        <p:nvSpPr>
          <p:cNvPr id="14" name="Shape 12"/>
          <p:cNvSpPr/>
          <p:nvPr/>
        </p:nvSpPr>
        <p:spPr>
          <a:xfrm>
            <a:off x="8961120" y="2990088"/>
            <a:ext cx="1828800" cy="292608"/>
          </a:xfrm>
          <a:prstGeom prst="roundRect">
            <a:avLst>
              <a:gd name="adj" fmla="val 50000"/>
            </a:avLst>
          </a:prstGeom>
          <a:solidFill>
            <a:srgbClr val="16A34A"/>
          </a:solidFill>
          <a:ln/>
        </p:spPr>
      </p:sp>
      <p:sp>
        <p:nvSpPr>
          <p:cNvPr id="15" name="Text 13"/>
          <p:cNvSpPr/>
          <p:nvPr/>
        </p:nvSpPr>
        <p:spPr>
          <a:xfrm>
            <a:off x="8961120" y="2990088"/>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MFA ENROLLED</a:t>
            </a:r>
            <a:endParaRPr lang="en-US" sz="1000" dirty="0"/>
          </a:p>
        </p:txBody>
      </p:sp>
      <p:sp>
        <p:nvSpPr>
          <p:cNvPr id="16" name="Shape 14"/>
          <p:cNvSpPr/>
          <p:nvPr/>
        </p:nvSpPr>
        <p:spPr>
          <a:xfrm>
            <a:off x="1005840" y="3392424"/>
            <a:ext cx="10149840" cy="512064"/>
          </a:xfrm>
          <a:prstGeom prst="rect">
            <a:avLst/>
          </a:prstGeom>
          <a:solidFill>
            <a:srgbClr val="FDEAEA"/>
          </a:solidFill>
          <a:ln w="6350">
            <a:solidFill>
              <a:srgbClr val="E4E7EF"/>
            </a:solidFill>
            <a:prstDash val="solid"/>
          </a:ln>
        </p:spPr>
      </p:sp>
      <p:sp>
        <p:nvSpPr>
          <p:cNvPr id="17" name="Shape 15"/>
          <p:cNvSpPr/>
          <p:nvPr/>
        </p:nvSpPr>
        <p:spPr>
          <a:xfrm>
            <a:off x="1005840" y="3392424"/>
            <a:ext cx="54864" cy="512064"/>
          </a:xfrm>
          <a:prstGeom prst="rect">
            <a:avLst/>
          </a:prstGeom>
          <a:solidFill>
            <a:srgbClr val="DC2626"/>
          </a:solidFill>
          <a:ln/>
        </p:spPr>
      </p:sp>
      <p:sp>
        <p:nvSpPr>
          <p:cNvPr id="18" name="Text 16"/>
          <p:cNvSpPr/>
          <p:nvPr/>
        </p:nvSpPr>
        <p:spPr>
          <a:xfrm>
            <a:off x="1325880" y="3392424"/>
            <a:ext cx="7223760" cy="512064"/>
          </a:xfrm>
          <a:prstGeom prst="rect">
            <a:avLst/>
          </a:prstGeom>
          <a:noFill/>
          <a:ln/>
        </p:spPr>
        <p:txBody>
          <a:bodyPr wrap="square" rtlCol="0" anchor="ctr"/>
          <a:lstStyle/>
          <a:p>
            <a:pPr indent="0" marL="0">
              <a:buNone/>
            </a:pPr>
            <a:r>
              <a:rPr lang="en-US" sz="1150" b="1" dirty="0">
                <a:solidFill>
                  <a:srgbClr val="1A1F2E"/>
                </a:solidFill>
                <a:latin typeface="Calibri" pitchFamily="34" charset="0"/>
                <a:ea typeface="Calibri" pitchFamily="34" charset="-122"/>
                <a:cs typeface="Calibri" pitchFamily="34" charset="-120"/>
              </a:rPr>
              <a:t>svc-reporting@company.example - ACCOUNTADMIN</a:t>
            </a:r>
            <a:endParaRPr lang="en-US" sz="1150" dirty="0"/>
          </a:p>
        </p:txBody>
      </p:sp>
      <p:sp>
        <p:nvSpPr>
          <p:cNvPr id="19" name="Shape 17"/>
          <p:cNvSpPr/>
          <p:nvPr/>
        </p:nvSpPr>
        <p:spPr>
          <a:xfrm>
            <a:off x="8961120" y="3502152"/>
            <a:ext cx="1828800" cy="292608"/>
          </a:xfrm>
          <a:prstGeom prst="roundRect">
            <a:avLst>
              <a:gd name="adj" fmla="val 50000"/>
            </a:avLst>
          </a:prstGeom>
          <a:solidFill>
            <a:srgbClr val="DC2626"/>
          </a:solidFill>
          <a:ln/>
        </p:spPr>
      </p:sp>
      <p:sp>
        <p:nvSpPr>
          <p:cNvPr id="20" name="Text 18"/>
          <p:cNvSpPr/>
          <p:nvPr/>
        </p:nvSpPr>
        <p:spPr>
          <a:xfrm>
            <a:off x="8961120" y="3502152"/>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 MFA</a:t>
            </a:r>
            <a:endParaRPr lang="en-US" sz="1000" dirty="0"/>
          </a:p>
        </p:txBody>
      </p:sp>
      <p:sp>
        <p:nvSpPr>
          <p:cNvPr id="21" name="Shape 19"/>
          <p:cNvSpPr/>
          <p:nvPr/>
        </p:nvSpPr>
        <p:spPr>
          <a:xfrm>
            <a:off x="1005840" y="3904488"/>
            <a:ext cx="10149840" cy="512064"/>
          </a:xfrm>
          <a:prstGeom prst="rect">
            <a:avLst/>
          </a:prstGeom>
          <a:solidFill>
            <a:srgbClr val="FFFFFF"/>
          </a:solidFill>
          <a:ln w="6350">
            <a:solidFill>
              <a:srgbClr val="E4E7EF"/>
            </a:solidFill>
            <a:prstDash val="solid"/>
          </a:ln>
        </p:spPr>
      </p:sp>
      <p:sp>
        <p:nvSpPr>
          <p:cNvPr id="22" name="Text 20"/>
          <p:cNvSpPr/>
          <p:nvPr/>
        </p:nvSpPr>
        <p:spPr>
          <a:xfrm>
            <a:off x="1325880" y="3904488"/>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d.patel@company.example - Analyst</a:t>
            </a:r>
            <a:endParaRPr lang="en-US" sz="1150" dirty="0"/>
          </a:p>
        </p:txBody>
      </p:sp>
      <p:sp>
        <p:nvSpPr>
          <p:cNvPr id="23" name="Shape 21"/>
          <p:cNvSpPr/>
          <p:nvPr/>
        </p:nvSpPr>
        <p:spPr>
          <a:xfrm>
            <a:off x="8961120" y="4014216"/>
            <a:ext cx="1828800" cy="292608"/>
          </a:xfrm>
          <a:prstGeom prst="roundRect">
            <a:avLst>
              <a:gd name="adj" fmla="val 50000"/>
            </a:avLst>
          </a:prstGeom>
          <a:solidFill>
            <a:srgbClr val="16A34A"/>
          </a:solidFill>
          <a:ln/>
        </p:spPr>
      </p:sp>
      <p:sp>
        <p:nvSpPr>
          <p:cNvPr id="24" name="Text 22"/>
          <p:cNvSpPr/>
          <p:nvPr/>
        </p:nvSpPr>
        <p:spPr>
          <a:xfrm>
            <a:off x="8961120" y="4014216"/>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MFA ENROLLED</a:t>
            </a:r>
            <a:endParaRPr lang="en-US" sz="1000" dirty="0"/>
          </a:p>
        </p:txBody>
      </p:sp>
      <p:sp>
        <p:nvSpPr>
          <p:cNvPr id="25" name="Text 23"/>
          <p:cNvSpPr/>
          <p:nvPr/>
        </p:nvSpPr>
        <p:spPr>
          <a:xfrm>
            <a:off x="640080" y="4736592"/>
            <a:ext cx="10881360" cy="548640"/>
          </a:xfrm>
          <a:prstGeom prst="rect">
            <a:avLst/>
          </a:prstGeom>
          <a:noFill/>
          <a:ln/>
        </p:spPr>
        <p:txBody>
          <a:bodyPr wrap="square" rtlCol="0" anchor="t"/>
          <a:lstStyle/>
          <a:p>
            <a:pPr algn="ctr" indent="0" marL="0">
              <a:buNone/>
            </a:pPr>
            <a:r>
              <a:rPr lang="en-US" sz="1350" i="1" dirty="0">
                <a:solidFill>
                  <a:srgbClr val="8E9BC0"/>
                </a:solidFill>
                <a:latin typeface="Calibri" pitchFamily="34" charset="0"/>
                <a:ea typeface="Calibri" pitchFamily="34" charset="-122"/>
                <a:cs typeface="Calibri" pitchFamily="34" charset="-120"/>
              </a:rPr>
              <a:t>A service account with full admin rights and no MFA. Not a vulnerability - a permissions decision nobody revisited.</a:t>
            </a:r>
            <a:endParaRPr lang="en-US" sz="1350" dirty="0"/>
          </a:p>
        </p:txBody>
      </p:sp>
      <p:sp>
        <p:nvSpPr>
          <p:cNvPr id="26" name="Text 24"/>
          <p:cNvSpPr/>
          <p:nvPr/>
        </p:nvSpPr>
        <p:spPr>
          <a:xfrm>
            <a:off x="640080" y="6355080"/>
            <a:ext cx="10881360" cy="274320"/>
          </a:xfrm>
          <a:prstGeom prst="rect">
            <a:avLst/>
          </a:prstGeom>
          <a:noFill/>
          <a:ln/>
        </p:spPr>
        <p:txBody>
          <a:bodyPr wrap="square" rtlCol="0" anchor="ctr"/>
          <a:lstStyle/>
          <a:p>
            <a:pPr algn="ctr" indent="0" marL="0">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7" name="Text 2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B18"/>
        </a:solidFill>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sp>
      <p:sp>
        <p:nvSpPr>
          <p:cNvPr id="3" name="Shape 1"/>
          <p:cNvSpPr/>
          <p:nvPr/>
        </p:nvSpPr>
        <p:spPr>
          <a:xfrm>
            <a:off x="731520" y="2011680"/>
            <a:ext cx="1097280" cy="1645920"/>
          </a:xfrm>
          <a:prstGeom prst="line">
            <a:avLst/>
          </a:prstGeom>
          <a:noFill/>
          <a:ln w="15240">
            <a:solidFill>
              <a:srgbClr val="16204A"/>
            </a:solidFill>
            <a:prstDash val="solid"/>
          </a:ln>
        </p:spPr>
      </p:sp>
      <p:sp>
        <p:nvSpPr>
          <p:cNvPr id="4" name="Shape 2"/>
          <p:cNvSpPr/>
          <p:nvPr/>
        </p:nvSpPr>
        <p:spPr>
          <a:xfrm>
            <a:off x="10789920" y="1097280"/>
            <a:ext cx="640080" cy="1645920"/>
          </a:xfrm>
          <a:prstGeom prst="line">
            <a:avLst/>
          </a:prstGeom>
          <a:noFill/>
          <a:ln w="15240">
            <a:solidFill>
              <a:srgbClr val="16204A"/>
            </a:solidFill>
            <a:prstDash val="solid"/>
          </a:ln>
        </p:spPr>
      </p:sp>
      <p:sp>
        <p:nvSpPr>
          <p:cNvPr id="5" name="Shape 3"/>
          <p:cNvSpPr/>
          <p:nvPr/>
        </p:nvSpPr>
        <p:spPr>
          <a:xfrm>
            <a:off x="10515600" y="2743200"/>
            <a:ext cx="914400" cy="1828800"/>
          </a:xfrm>
          <a:prstGeom prst="line">
            <a:avLst/>
          </a:prstGeom>
          <a:noFill/>
          <a:ln w="15240">
            <a:solidFill>
              <a:srgbClr val="16204A"/>
            </a:solidFill>
            <a:prstDash val="solid"/>
          </a:ln>
        </p:spPr>
      </p:sp>
      <p:sp>
        <p:nvSpPr>
          <p:cNvPr id="6" name="Shape 4"/>
          <p:cNvSpPr/>
          <p:nvPr/>
        </p:nvSpPr>
        <p:spPr>
          <a:xfrm>
            <a:off x="859536" y="859536"/>
            <a:ext cx="109728" cy="109728"/>
          </a:xfrm>
          <a:prstGeom prst="ellipse">
            <a:avLst/>
          </a:prstGeom>
          <a:solidFill>
            <a:srgbClr val="00E5FF"/>
          </a:solidFill>
          <a:ln/>
        </p:spPr>
      </p:sp>
      <p:sp>
        <p:nvSpPr>
          <p:cNvPr id="7" name="Shape 5"/>
          <p:cNvSpPr/>
          <p:nvPr/>
        </p:nvSpPr>
        <p:spPr>
          <a:xfrm>
            <a:off x="1773936" y="1956816"/>
            <a:ext cx="109728" cy="109728"/>
          </a:xfrm>
          <a:prstGeom prst="ellipse">
            <a:avLst/>
          </a:prstGeom>
          <a:solidFill>
            <a:srgbClr val="7C5CFC"/>
          </a:solidFill>
          <a:ln/>
        </p:spPr>
      </p:sp>
      <p:sp>
        <p:nvSpPr>
          <p:cNvPr id="8" name="Shape 6"/>
          <p:cNvSpPr/>
          <p:nvPr/>
        </p:nvSpPr>
        <p:spPr>
          <a:xfrm>
            <a:off x="676656" y="3602736"/>
            <a:ext cx="109728" cy="109728"/>
          </a:xfrm>
          <a:prstGeom prst="ellipse">
            <a:avLst/>
          </a:prstGeom>
          <a:solidFill>
            <a:srgbClr val="7C5CFC"/>
          </a:solidFill>
          <a:ln/>
        </p:spPr>
      </p:sp>
      <p:sp>
        <p:nvSpPr>
          <p:cNvPr id="9" name="Shape 7"/>
          <p:cNvSpPr/>
          <p:nvPr/>
        </p:nvSpPr>
        <p:spPr>
          <a:xfrm>
            <a:off x="10735056" y="1042416"/>
            <a:ext cx="109728" cy="109728"/>
          </a:xfrm>
          <a:prstGeom prst="ellipse">
            <a:avLst/>
          </a:prstGeom>
          <a:solidFill>
            <a:srgbClr val="00E5FF"/>
          </a:solidFill>
          <a:ln/>
        </p:spPr>
      </p:sp>
      <p:sp>
        <p:nvSpPr>
          <p:cNvPr id="10" name="Shape 8"/>
          <p:cNvSpPr/>
          <p:nvPr/>
        </p:nvSpPr>
        <p:spPr>
          <a:xfrm>
            <a:off x="11375136" y="2688336"/>
            <a:ext cx="109728" cy="109728"/>
          </a:xfrm>
          <a:prstGeom prst="ellipse">
            <a:avLst/>
          </a:prstGeom>
          <a:solidFill>
            <a:srgbClr val="7C5CFC"/>
          </a:solidFill>
          <a:ln/>
        </p:spPr>
      </p:sp>
      <p:sp>
        <p:nvSpPr>
          <p:cNvPr id="11" name="Shape 9"/>
          <p:cNvSpPr/>
          <p:nvPr/>
        </p:nvSpPr>
        <p:spPr>
          <a:xfrm>
            <a:off x="10460736" y="4517136"/>
            <a:ext cx="109728" cy="109728"/>
          </a:xfrm>
          <a:prstGeom prst="ellipse">
            <a:avLst/>
          </a:prstGeom>
          <a:solidFill>
            <a:srgbClr val="7C5CFC"/>
          </a:solidFill>
          <a:ln/>
        </p:spPr>
      </p:sp>
      <p:sp>
        <p:nvSpPr>
          <p:cNvPr id="12" name="Text 1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PILLAR 4 OF 5</a:t>
            </a:r>
            <a:endParaRPr lang="en-US" sz="1300" dirty="0"/>
          </a:p>
        </p:txBody>
      </p:sp>
      <p:sp>
        <p:nvSpPr>
          <p:cNvPr id="13" name="Shape 11"/>
          <p:cNvSpPr/>
          <p:nvPr/>
        </p:nvSpPr>
        <p:spPr>
          <a:xfrm>
            <a:off x="822960" y="1828800"/>
            <a:ext cx="1188720" cy="1188720"/>
          </a:xfrm>
          <a:prstGeom prst="ellipse">
            <a:avLst/>
          </a:prstGeom>
          <a:solidFill>
            <a:srgbClr val="121A33"/>
          </a:solidFill>
          <a:ln/>
        </p:spPr>
      </p:sp>
      <p:pic>
        <p:nvPicPr>
          <p:cNvPr id="14" name="Image 0" descr="icons_exchange_00E5FF.png">    </p:cNvPr>
          <p:cNvPicPr>
            <a:picLocks noChangeAspect="1"/>
          </p:cNvPicPr>
          <p:nvPr/>
        </p:nvPicPr>
        <p:blipFill>
          <a:blip r:embed="rId1"/>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OAuth &amp; Federation</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indent="0" marL="0">
              <a:buNone/>
            </a:pPr>
            <a:r>
              <a:rPr lang="en-US" sz="1700" i="1" dirty="0">
                <a:solidFill>
                  <a:srgbClr val="7C5CFC"/>
                </a:solidFill>
                <a:latin typeface="Cambria" pitchFamily="34" charset="0"/>
                <a:ea typeface="Cambria" pitchFamily="34" charset="-122"/>
                <a:cs typeface="Cambria" pitchFamily="34" charset="-120"/>
              </a:rPr>
              <a:t>What can that trust authorise?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sp>
      <p:sp>
        <p:nvSpPr>
          <p:cNvPr id="18" name="Text 15"/>
          <p:cNvSpPr/>
          <p:nvPr/>
        </p:nvSpPr>
        <p:spPr>
          <a:xfrm>
            <a:off x="1188720" y="3886200"/>
            <a:ext cx="9784080" cy="457200"/>
          </a:xfrm>
          <a:prstGeom prst="rect">
            <a:avLst/>
          </a:prstGeom>
          <a:noFill/>
          <a:ln/>
        </p:spPr>
        <p:txBody>
          <a:bodyPr wrap="square"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indent="0" marL="0">
              <a:buNone/>
            </a:pPr>
            <a:r>
              <a:rPr lang="en-US" sz="1400" dirty="0">
                <a:solidFill>
                  <a:srgbClr val="8E9BC0"/>
                </a:solidFill>
                <a:latin typeface="Calibri" pitchFamily="34" charset="0"/>
                <a:ea typeface="Calibri" pitchFamily="34" charset="-122"/>
                <a:cs typeface="Calibri" pitchFamily="34" charset="-120"/>
              </a:rPr>
              <a:t>OAuth consent and federated trust relationships quietly bridge organisational boundaries. A single over-scoped app registration can become a bridge into a partner's or customer's tenant.</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CHAIN EXAMPLE 4</a:t>
            </a:r>
            <a:endParaRPr lang="en-US" sz="1300" dirty="0"/>
          </a:p>
        </p:txBody>
      </p:sp>
      <p:sp>
        <p:nvSpPr>
          <p:cNvPr id="3" name="Text 1"/>
          <p:cNvSpPr/>
          <p:nvPr/>
        </p:nvSpPr>
        <p:spPr>
          <a:xfrm>
            <a:off x="7436815" y="530352"/>
            <a:ext cx="4114800" cy="320040"/>
          </a:xfrm>
          <a:prstGeom prst="rect">
            <a:avLst/>
          </a:prstGeom>
          <a:noFill/>
          <a:ln/>
        </p:spPr>
        <p:txBody>
          <a:bodyPr wrap="square" rtlCol="0" anchor="ctr"/>
          <a:lstStyle/>
          <a:p>
            <a:pPr algn="r" indent="0" marL="0">
              <a:buNone/>
            </a:pPr>
            <a:r>
              <a:rPr lang="en-US" sz="1050" i="1" dirty="0">
                <a:solidFill>
                  <a:srgbClr val="8E9BC0"/>
                </a:solidFill>
                <a:latin typeface="Calibri" pitchFamily="34" charset="0"/>
                <a:ea typeface="Calibri" pitchFamily="34" charset="-122"/>
                <a:cs typeface="Calibri" pitchFamily="34" charset="-120"/>
              </a:rPr>
              <a:t>Case study: Microsoft corporate breach, Jan 2024 (Midnight Blizzard/APT29)</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OAuth &amp; federation: trust without borders</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sp>
      <p:sp>
        <p:nvSpPr>
          <p:cNvPr id="6" name="Shape 4"/>
          <p:cNvSpPr/>
          <p:nvPr/>
        </p:nvSpPr>
        <p:spPr>
          <a:xfrm>
            <a:off x="1531620" y="2926080"/>
            <a:ext cx="502920" cy="502920"/>
          </a:xfrm>
          <a:prstGeom prst="ellipse">
            <a:avLst/>
          </a:prstGeom>
          <a:solidFill>
            <a:srgbClr val="0A0F1F"/>
          </a:solidFill>
          <a:ln/>
        </p:spPr>
      </p:sp>
      <p:pic>
        <p:nvPicPr>
          <p:cNvPr id="7" name="Image 0" descr="icons_exchange_00E5FF.png">    </p:cNvPr>
          <p:cNvPicPr>
            <a:picLocks noChangeAspect="1"/>
          </p:cNvPicPr>
          <p:nvPr/>
        </p:nvPicPr>
        <p:blipFill>
          <a:blip r:embed="rId1"/>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Over-permissioned legacy</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OAuth test application</a:t>
            </a:r>
            <a:endParaRPr lang="en-US" sz="1150" dirty="0"/>
          </a:p>
        </p:txBody>
      </p:sp>
      <p:sp>
        <p:nvSpPr>
          <p:cNvPr id="9" name="Shape 6"/>
          <p:cNvSpPr/>
          <p:nvPr/>
        </p:nvSpPr>
        <p:spPr>
          <a:xfrm>
            <a:off x="2926080" y="3319272"/>
            <a:ext cx="579120" cy="219456"/>
          </a:xfrm>
          <a:prstGeom prst="rightArrow">
            <a:avLst/>
          </a:prstGeom>
          <a:solidFill>
            <a:srgbClr val="7C5CFC"/>
          </a:solidFill>
          <a:ln/>
        </p:spPr>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sp>
      <p:sp>
        <p:nvSpPr>
          <p:cNvPr id="11" name="Shape 8"/>
          <p:cNvSpPr/>
          <p:nvPr/>
        </p:nvSpPr>
        <p:spPr>
          <a:xfrm>
            <a:off x="4396740" y="2926080"/>
            <a:ext cx="502920" cy="502920"/>
          </a:xfrm>
          <a:prstGeom prst="ellipse">
            <a:avLst/>
          </a:prstGeom>
          <a:solidFill>
            <a:srgbClr val="0A0F1F"/>
          </a:solidFill>
          <a:ln/>
        </p:spPr>
      </p:sp>
      <p:pic>
        <p:nvPicPr>
          <p:cNvPr id="12" name="Image 1" descr="icons_link_00E5FF.png">    </p:cNvPr>
          <p:cNvPicPr>
            <a:picLocks noChangeAspect="1"/>
          </p:cNvPicPr>
          <p:nvPr/>
        </p:nvPicPr>
        <p:blipFill>
          <a:blip r:embed="rId2"/>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Malicious OAuth apps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created via new admin</a:t>
            </a:r>
            <a:endParaRPr lang="en-US" sz="1150" dirty="0"/>
          </a:p>
        </p:txBody>
      </p:sp>
      <p:sp>
        <p:nvSpPr>
          <p:cNvPr id="14" name="Shape 10"/>
          <p:cNvSpPr/>
          <p:nvPr/>
        </p:nvSpPr>
        <p:spPr>
          <a:xfrm>
            <a:off x="5791200" y="3319272"/>
            <a:ext cx="579120" cy="219456"/>
          </a:xfrm>
          <a:prstGeom prst="rightArrow">
            <a:avLst/>
          </a:prstGeom>
          <a:solidFill>
            <a:srgbClr val="7C5CFC"/>
          </a:solidFill>
          <a:ln/>
        </p:spPr>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sp>
      <p:sp>
        <p:nvSpPr>
          <p:cNvPr id="16" name="Shape 12"/>
          <p:cNvSpPr/>
          <p:nvPr/>
        </p:nvSpPr>
        <p:spPr>
          <a:xfrm>
            <a:off x="7261860" y="2926080"/>
            <a:ext cx="502920" cy="502920"/>
          </a:xfrm>
          <a:prstGeom prst="ellipse">
            <a:avLst/>
          </a:prstGeom>
          <a:solidFill>
            <a:srgbClr val="0A0F1F"/>
          </a:solidFill>
          <a:ln/>
        </p:spPr>
      </p:sp>
      <p:pic>
        <p:nvPicPr>
          <p:cNvPr id="17" name="Image 2" descr="icons_cloud_00E5FF.png">    </p:cNvPr>
          <p:cNvPicPr>
            <a:picLocks noChangeAspect="1"/>
          </p:cNvPicPr>
          <p:nvPr/>
        </p:nvPicPr>
        <p:blipFill>
          <a:blip r:embed="rId3"/>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full_access_as_app role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granted to attacker apps</a:t>
            </a:r>
            <a:endParaRPr lang="en-US" sz="1150" dirty="0"/>
          </a:p>
        </p:txBody>
      </p:sp>
      <p:sp>
        <p:nvSpPr>
          <p:cNvPr id="19" name="Shape 14"/>
          <p:cNvSpPr/>
          <p:nvPr/>
        </p:nvSpPr>
        <p:spPr>
          <a:xfrm>
            <a:off x="8656320" y="3319272"/>
            <a:ext cx="579120" cy="219456"/>
          </a:xfrm>
          <a:prstGeom prst="rightArrow">
            <a:avLst/>
          </a:prstGeom>
          <a:solidFill>
            <a:srgbClr val="7C5CFC"/>
          </a:solidFill>
          <a:ln/>
        </p:spPr>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sp>
      <p:sp>
        <p:nvSpPr>
          <p:cNvPr id="21" name="Shape 16"/>
          <p:cNvSpPr/>
          <p:nvPr/>
        </p:nvSpPr>
        <p:spPr>
          <a:xfrm>
            <a:off x="10126980" y="2926080"/>
            <a:ext cx="502920" cy="502920"/>
          </a:xfrm>
          <a:prstGeom prst="ellipse">
            <a:avLst/>
          </a:prstGeom>
          <a:solidFill>
            <a:srgbClr val="FF5C7A"/>
          </a:solidFill>
          <a:ln/>
        </p:spPr>
      </p:sp>
      <p:pic>
        <p:nvPicPr>
          <p:cNvPr id="22" name="Image 3" descr="icons_skull_FFFFFF.png">    </p:cNvPr>
          <p:cNvPicPr>
            <a:picLocks noChangeAspect="1"/>
          </p:cNvPicPr>
          <p:nvPr/>
        </p:nvPicPr>
        <p:blipFill>
          <a:blip r:embed="rId4"/>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Full mailbox access,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senior leadership impact</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sp>
      <p:sp>
        <p:nvSpPr>
          <p:cNvPr id="25" name="Text 19"/>
          <p:cNvSpPr/>
          <p:nvPr/>
        </p:nvSpPr>
        <p:spPr>
          <a:xfrm>
            <a:off x="914400" y="4709160"/>
            <a:ext cx="10332720" cy="1234440"/>
          </a:xfrm>
          <a:prstGeom prst="rect">
            <a:avLst/>
          </a:prstGeom>
          <a:noFill/>
          <a:ln/>
        </p:spPr>
        <p:txBody>
          <a:bodyPr wrap="square" rtlCol="0" anchor="ctr"/>
          <a:lstStyle/>
          <a:p>
            <a:pPr indent="0" marL="0">
              <a:buNone/>
            </a:pPr>
            <a:r>
              <a:rPr lang="en-US" sz="1350" i="1" dirty="0">
                <a:solidFill>
                  <a:srgbClr val="8E9BC0"/>
                </a:solidFill>
                <a:latin typeface="Calibri" pitchFamily="34" charset="0"/>
                <a:ea typeface="Calibri" pitchFamily="34" charset="-122"/>
                <a:cs typeface="Calibri" pitchFamily="34" charset="-120"/>
              </a:rPr>
              <a:t>Federated identity introduces entirely new attack paths - a single forgotten, over-scoped OAuth application can become a bridge into an entire tenant, bypassing MFA and session controls altogether.</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app everyone forgot about</a:t>
            </a:r>
            <a:endParaRPr lang="en-US" sz="3200" dirty="0"/>
          </a:p>
        </p:txBody>
      </p:sp>
      <p:sp>
        <p:nvSpPr>
          <p:cNvPr id="4" name="Shape 2"/>
          <p:cNvSpPr/>
          <p:nvPr/>
        </p:nvSpPr>
        <p:spPr>
          <a:xfrm>
            <a:off x="1005840" y="2286000"/>
            <a:ext cx="10149840" cy="2221992"/>
          </a:xfrm>
          <a:prstGeom prst="rect">
            <a:avLst/>
          </a:prstGeom>
          <a:solidFill>
            <a:srgbClr val="F5F7FB"/>
          </a:solidFill>
          <a:ln/>
        </p:spPr>
      </p:sp>
      <p:sp>
        <p:nvSpPr>
          <p:cNvPr id="5" name="Shape 3"/>
          <p:cNvSpPr/>
          <p:nvPr/>
        </p:nvSpPr>
        <p:spPr>
          <a:xfrm>
            <a:off x="1005840" y="1920240"/>
            <a:ext cx="10149840" cy="365760"/>
          </a:xfrm>
          <a:prstGeom prst="roundRect">
            <a:avLst>
              <a:gd name="adj" fmla="val 15000"/>
            </a:avLst>
          </a:prstGeom>
          <a:solidFill>
            <a:srgbClr val="D8DCE6"/>
          </a:solidFill>
          <a:ln/>
        </p:spPr>
      </p:sp>
      <p:sp>
        <p:nvSpPr>
          <p:cNvPr id="6" name="Shape 4"/>
          <p:cNvSpPr/>
          <p:nvPr/>
        </p:nvSpPr>
        <p:spPr>
          <a:xfrm>
            <a:off x="1207008" y="2057400"/>
            <a:ext cx="100584" cy="100584"/>
          </a:xfrm>
          <a:prstGeom prst="ellipse">
            <a:avLst/>
          </a:prstGeom>
          <a:solidFill>
            <a:srgbClr val="FF5F56"/>
          </a:solidFill>
          <a:ln/>
        </p:spPr>
      </p:sp>
      <p:sp>
        <p:nvSpPr>
          <p:cNvPr id="7" name="Shape 5"/>
          <p:cNvSpPr/>
          <p:nvPr/>
        </p:nvSpPr>
        <p:spPr>
          <a:xfrm>
            <a:off x="1408176" y="2057400"/>
            <a:ext cx="100584" cy="100584"/>
          </a:xfrm>
          <a:prstGeom prst="ellipse">
            <a:avLst/>
          </a:prstGeom>
          <a:solidFill>
            <a:srgbClr val="FFBD2E"/>
          </a:solidFill>
          <a:ln/>
        </p:spPr>
      </p:sp>
      <p:sp>
        <p:nvSpPr>
          <p:cNvPr id="8" name="Shape 6"/>
          <p:cNvSpPr/>
          <p:nvPr/>
        </p:nvSpPr>
        <p:spPr>
          <a:xfrm>
            <a:off x="1609344" y="2057400"/>
            <a:ext cx="100584" cy="100584"/>
          </a:xfrm>
          <a:prstGeom prst="ellipse">
            <a:avLst/>
          </a:prstGeom>
          <a:solidFill>
            <a:srgbClr val="27C93F"/>
          </a:solidFill>
          <a:ln/>
        </p:spPr>
      </p:sp>
      <p:sp>
        <p:nvSpPr>
          <p:cNvPr id="9" name="Shape 7"/>
          <p:cNvSpPr/>
          <p:nvPr/>
        </p:nvSpPr>
        <p:spPr>
          <a:xfrm>
            <a:off x="2011680" y="1993392"/>
            <a:ext cx="8046720" cy="219456"/>
          </a:xfrm>
          <a:prstGeom prst="roundRect">
            <a:avLst>
              <a:gd name="adj" fmla="val 25000"/>
            </a:avLst>
          </a:prstGeom>
          <a:solidFill>
            <a:srgbClr val="EDEFF5"/>
          </a:solidFill>
          <a:ln/>
        </p:spPr>
      </p:sp>
      <p:sp>
        <p:nvSpPr>
          <p:cNvPr id="10" name="Text 8"/>
          <p:cNvSpPr/>
          <p:nvPr/>
        </p:nvSpPr>
        <p:spPr>
          <a:xfrm>
            <a:off x="2148840" y="1993392"/>
            <a:ext cx="7863840" cy="219456"/>
          </a:xfrm>
          <a:prstGeom prst="rect">
            <a:avLst/>
          </a:prstGeom>
          <a:noFill/>
          <a:ln/>
        </p:spPr>
        <p:txBody>
          <a:bodyPr wrap="square" rtlCol="0" anchor="ctr"/>
          <a:lstStyle/>
          <a:p>
            <a:pPr indent="0" marL="0">
              <a:buNone/>
            </a:pPr>
            <a:r>
              <a:rPr lang="en-US" sz="950" dirty="0">
                <a:solidFill>
                  <a:srgbClr val="6B7280"/>
                </a:solidFill>
                <a:latin typeface="Consolas" pitchFamily="34" charset="0"/>
                <a:ea typeface="Consolas" pitchFamily="34" charset="-122"/>
                <a:cs typeface="Consolas" pitchFamily="34" charset="-120"/>
              </a:rPr>
              <a:t>🔒 app-permissions.example/enterprise-applications</a:t>
            </a:r>
            <a:endParaRPr lang="en-US" sz="950" dirty="0"/>
          </a:p>
        </p:txBody>
      </p:sp>
      <p:sp>
        <p:nvSpPr>
          <p:cNvPr id="11" name="Text 9"/>
          <p:cNvSpPr/>
          <p:nvPr/>
        </p:nvSpPr>
        <p:spPr>
          <a:xfrm>
            <a:off x="1325880" y="2423160"/>
            <a:ext cx="9509760" cy="365760"/>
          </a:xfrm>
          <a:prstGeom prst="rect">
            <a:avLst/>
          </a:prstGeom>
          <a:noFill/>
          <a:ln/>
        </p:spPr>
        <p:txBody>
          <a:bodyPr wrap="square" rtlCol="0" anchor="ctr"/>
          <a:lstStyle/>
          <a:p>
            <a:pPr indent="0" marL="0">
              <a:buNone/>
            </a:pPr>
            <a:r>
              <a:rPr lang="en-US" sz="1400" b="1" dirty="0">
                <a:solidFill>
                  <a:srgbClr val="1A1F2E"/>
                </a:solidFill>
                <a:latin typeface="Calibri" pitchFamily="34" charset="0"/>
                <a:ea typeface="Calibri" pitchFamily="34" charset="-122"/>
                <a:cs typeface="Calibri" pitchFamily="34" charset="-120"/>
              </a:rPr>
              <a:t>Enterprise Applications - Admin Consent Granted</a:t>
            </a:r>
            <a:endParaRPr lang="en-US" sz="1400" dirty="0"/>
          </a:p>
        </p:txBody>
      </p:sp>
      <p:sp>
        <p:nvSpPr>
          <p:cNvPr id="12" name="Shape 10"/>
          <p:cNvSpPr/>
          <p:nvPr/>
        </p:nvSpPr>
        <p:spPr>
          <a:xfrm>
            <a:off x="1005840" y="2880360"/>
            <a:ext cx="10149840" cy="512064"/>
          </a:xfrm>
          <a:prstGeom prst="rect">
            <a:avLst/>
          </a:prstGeom>
          <a:solidFill>
            <a:srgbClr val="FFFFFF"/>
          </a:solidFill>
          <a:ln w="6350">
            <a:solidFill>
              <a:srgbClr val="E4E7EF"/>
            </a:solidFill>
            <a:prstDash val="solid"/>
          </a:ln>
        </p:spPr>
      </p:sp>
      <p:sp>
        <p:nvSpPr>
          <p:cNvPr id="13" name="Text 11"/>
          <p:cNvSpPr/>
          <p:nvPr/>
        </p:nvSpPr>
        <p:spPr>
          <a:xfrm>
            <a:off x="1325880" y="2880360"/>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Approved HR Portal - User.Read</a:t>
            </a:r>
            <a:endParaRPr lang="en-US" sz="1150" dirty="0"/>
          </a:p>
        </p:txBody>
      </p:sp>
      <p:sp>
        <p:nvSpPr>
          <p:cNvPr id="14" name="Shape 12"/>
          <p:cNvSpPr/>
          <p:nvPr/>
        </p:nvSpPr>
        <p:spPr>
          <a:xfrm>
            <a:off x="8961120" y="2990088"/>
            <a:ext cx="1828800" cy="292608"/>
          </a:xfrm>
          <a:prstGeom prst="roundRect">
            <a:avLst>
              <a:gd name="adj" fmla="val 50000"/>
            </a:avLst>
          </a:prstGeom>
          <a:solidFill>
            <a:srgbClr val="16A34A"/>
          </a:solidFill>
          <a:ln/>
        </p:spPr>
      </p:sp>
      <p:sp>
        <p:nvSpPr>
          <p:cNvPr id="15" name="Text 13"/>
          <p:cNvSpPr/>
          <p:nvPr/>
        </p:nvSpPr>
        <p:spPr>
          <a:xfrm>
            <a:off x="8961120" y="2990088"/>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ACTIVE TODAY</a:t>
            </a:r>
            <a:endParaRPr lang="en-US" sz="1000" dirty="0"/>
          </a:p>
        </p:txBody>
      </p:sp>
      <p:sp>
        <p:nvSpPr>
          <p:cNvPr id="16" name="Shape 14"/>
          <p:cNvSpPr/>
          <p:nvPr/>
        </p:nvSpPr>
        <p:spPr>
          <a:xfrm>
            <a:off x="1005840" y="3392424"/>
            <a:ext cx="10149840" cy="512064"/>
          </a:xfrm>
          <a:prstGeom prst="rect">
            <a:avLst/>
          </a:prstGeom>
          <a:solidFill>
            <a:srgbClr val="FDEAEA"/>
          </a:solidFill>
          <a:ln w="6350">
            <a:solidFill>
              <a:srgbClr val="E4E7EF"/>
            </a:solidFill>
            <a:prstDash val="solid"/>
          </a:ln>
        </p:spPr>
      </p:sp>
      <p:sp>
        <p:nvSpPr>
          <p:cNvPr id="17" name="Shape 15"/>
          <p:cNvSpPr/>
          <p:nvPr/>
        </p:nvSpPr>
        <p:spPr>
          <a:xfrm>
            <a:off x="1005840" y="3392424"/>
            <a:ext cx="54864" cy="512064"/>
          </a:xfrm>
          <a:prstGeom prst="rect">
            <a:avLst/>
          </a:prstGeom>
          <a:solidFill>
            <a:srgbClr val="DC2626"/>
          </a:solidFill>
          <a:ln/>
        </p:spPr>
      </p:sp>
      <p:sp>
        <p:nvSpPr>
          <p:cNvPr id="18" name="Text 16"/>
          <p:cNvSpPr/>
          <p:nvPr/>
        </p:nvSpPr>
        <p:spPr>
          <a:xfrm>
            <a:off x="1325880" y="3392424"/>
            <a:ext cx="7223760" cy="512064"/>
          </a:xfrm>
          <a:prstGeom prst="rect">
            <a:avLst/>
          </a:prstGeom>
          <a:noFill/>
          <a:ln/>
        </p:spPr>
        <p:txBody>
          <a:bodyPr wrap="square" rtlCol="0" anchor="ctr"/>
          <a:lstStyle/>
          <a:p>
            <a:pPr indent="0" marL="0">
              <a:buNone/>
            </a:pPr>
            <a:r>
              <a:rPr lang="en-US" sz="1150" b="1" dirty="0">
                <a:solidFill>
                  <a:srgbClr val="1A1F2E"/>
                </a:solidFill>
                <a:latin typeface="Calibri" pitchFamily="34" charset="0"/>
                <a:ea typeface="Calibri" pitchFamily="34" charset="-122"/>
                <a:cs typeface="Calibri" pitchFamily="34" charset="-120"/>
              </a:rPr>
              <a:t>Legacy Reporting Connector - full_access_as_app</a:t>
            </a:r>
            <a:endParaRPr lang="en-US" sz="1150" dirty="0"/>
          </a:p>
        </p:txBody>
      </p:sp>
      <p:sp>
        <p:nvSpPr>
          <p:cNvPr id="19" name="Shape 17"/>
          <p:cNvSpPr/>
          <p:nvPr/>
        </p:nvSpPr>
        <p:spPr>
          <a:xfrm>
            <a:off x="8961120" y="3502152"/>
            <a:ext cx="1828800" cy="292608"/>
          </a:xfrm>
          <a:prstGeom prst="roundRect">
            <a:avLst>
              <a:gd name="adj" fmla="val 50000"/>
            </a:avLst>
          </a:prstGeom>
          <a:solidFill>
            <a:srgbClr val="DC2626"/>
          </a:solidFill>
          <a:ln/>
        </p:spPr>
      </p:sp>
      <p:sp>
        <p:nvSpPr>
          <p:cNvPr id="20" name="Text 18"/>
          <p:cNvSpPr/>
          <p:nvPr/>
        </p:nvSpPr>
        <p:spPr>
          <a:xfrm>
            <a:off x="8961120" y="3502152"/>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LAST USED 214 DAYS AGO</a:t>
            </a:r>
            <a:endParaRPr lang="en-US" sz="1000" dirty="0"/>
          </a:p>
        </p:txBody>
      </p:sp>
      <p:sp>
        <p:nvSpPr>
          <p:cNvPr id="21" name="Shape 19"/>
          <p:cNvSpPr/>
          <p:nvPr/>
        </p:nvSpPr>
        <p:spPr>
          <a:xfrm>
            <a:off x="1005840" y="3904488"/>
            <a:ext cx="10149840" cy="512064"/>
          </a:xfrm>
          <a:prstGeom prst="rect">
            <a:avLst/>
          </a:prstGeom>
          <a:solidFill>
            <a:srgbClr val="FFFFFF"/>
          </a:solidFill>
          <a:ln w="6350">
            <a:solidFill>
              <a:srgbClr val="E4E7EF"/>
            </a:solidFill>
            <a:prstDash val="solid"/>
          </a:ln>
        </p:spPr>
      </p:sp>
      <p:sp>
        <p:nvSpPr>
          <p:cNvPr id="22" name="Text 20"/>
          <p:cNvSpPr/>
          <p:nvPr/>
        </p:nvSpPr>
        <p:spPr>
          <a:xfrm>
            <a:off x="1325880" y="3904488"/>
            <a:ext cx="7223760" cy="512064"/>
          </a:xfrm>
          <a:prstGeom prst="rect">
            <a:avLst/>
          </a:prstGeom>
          <a:noFill/>
          <a:ln/>
        </p:spPr>
        <p:txBody>
          <a:bodyPr wrap="square" rtlCol="0" anchor="ctr"/>
          <a:lstStyle/>
          <a:p>
            <a:pPr indent="0" marL="0">
              <a:buNone/>
            </a:pPr>
            <a:r>
              <a:rPr lang="en-US" sz="1150" dirty="0">
                <a:solidFill>
                  <a:srgbClr val="1A1F2E"/>
                </a:solidFill>
                <a:latin typeface="Calibri" pitchFamily="34" charset="0"/>
                <a:ea typeface="Calibri" pitchFamily="34" charset="-122"/>
                <a:cs typeface="Calibri" pitchFamily="34" charset="-120"/>
              </a:rPr>
              <a:t>Expenses Tool - Mail.Read</a:t>
            </a:r>
            <a:endParaRPr lang="en-US" sz="1150" dirty="0"/>
          </a:p>
        </p:txBody>
      </p:sp>
      <p:sp>
        <p:nvSpPr>
          <p:cNvPr id="23" name="Shape 21"/>
          <p:cNvSpPr/>
          <p:nvPr/>
        </p:nvSpPr>
        <p:spPr>
          <a:xfrm>
            <a:off x="8961120" y="4014216"/>
            <a:ext cx="1828800" cy="292608"/>
          </a:xfrm>
          <a:prstGeom prst="roundRect">
            <a:avLst>
              <a:gd name="adj" fmla="val 50000"/>
            </a:avLst>
          </a:prstGeom>
          <a:solidFill>
            <a:srgbClr val="16A34A"/>
          </a:solidFill>
          <a:ln/>
        </p:spPr>
      </p:sp>
      <p:sp>
        <p:nvSpPr>
          <p:cNvPr id="24" name="Text 22"/>
          <p:cNvSpPr/>
          <p:nvPr/>
        </p:nvSpPr>
        <p:spPr>
          <a:xfrm>
            <a:off x="8961120" y="4014216"/>
            <a:ext cx="182880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ACTIVE THIS WEEK</a:t>
            </a:r>
            <a:endParaRPr lang="en-US" sz="1000" dirty="0"/>
          </a:p>
        </p:txBody>
      </p:sp>
      <p:sp>
        <p:nvSpPr>
          <p:cNvPr id="25" name="Text 23"/>
          <p:cNvSpPr/>
          <p:nvPr/>
        </p:nvSpPr>
        <p:spPr>
          <a:xfrm>
            <a:off x="640080" y="4736592"/>
            <a:ext cx="10881360" cy="548640"/>
          </a:xfrm>
          <a:prstGeom prst="rect">
            <a:avLst/>
          </a:prstGeom>
          <a:noFill/>
          <a:ln/>
        </p:spPr>
        <p:txBody>
          <a:bodyPr wrap="square" rtlCol="0" anchor="t"/>
          <a:lstStyle/>
          <a:p>
            <a:pPr algn="ctr" indent="0" marL="0">
              <a:buNone/>
            </a:pPr>
            <a:r>
              <a:rPr lang="en-US" sz="1350" i="1" dirty="0">
                <a:solidFill>
                  <a:srgbClr val="8E9BC0"/>
                </a:solidFill>
                <a:latin typeface="Calibri" pitchFamily="34" charset="0"/>
                <a:ea typeface="Calibri" pitchFamily="34" charset="-122"/>
                <a:cs typeface="Calibri" pitchFamily="34" charset="-120"/>
              </a:rPr>
              <a:t>Full mailbox access, granted years ago, never revoked. Nobody remembers this app exists - which is exactly why it's still dangerous.</a:t>
            </a:r>
            <a:endParaRPr lang="en-US" sz="1350" dirty="0"/>
          </a:p>
        </p:txBody>
      </p:sp>
      <p:sp>
        <p:nvSpPr>
          <p:cNvPr id="26" name="Text 24"/>
          <p:cNvSpPr/>
          <p:nvPr/>
        </p:nvSpPr>
        <p:spPr>
          <a:xfrm>
            <a:off x="640080" y="6355080"/>
            <a:ext cx="10881360" cy="274320"/>
          </a:xfrm>
          <a:prstGeom prst="rect">
            <a:avLst/>
          </a:prstGeom>
          <a:noFill/>
          <a:ln/>
        </p:spPr>
        <p:txBody>
          <a:bodyPr wrap="square" rtlCol="0" anchor="ctr"/>
          <a:lstStyle/>
          <a:p>
            <a:pPr algn="ctr" indent="0" marL="0">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7" name="Text 2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B18"/>
        </a:solidFill>
      </p:bgPr>
    </p:bg>
    <p:spTree>
      <p:nvGrpSpPr>
        <p:cNvPr id="1" name=""/>
        <p:cNvGrpSpPr/>
        <p:nvPr/>
      </p:nvGrpSpPr>
      <p:grpSpPr>
        <a:xfrm>
          <a:off x="0" y="0"/>
          <a:ext cx="0" cy="0"/>
          <a:chOff x="0" y="0"/>
          <a:chExt cx="0" cy="0"/>
        </a:xfrm>
      </p:grpSpPr>
      <p:sp>
        <p:nvSpPr>
          <p:cNvPr id="2" name="Shape 0"/>
          <p:cNvSpPr/>
          <p:nvPr/>
        </p:nvSpPr>
        <p:spPr>
          <a:xfrm>
            <a:off x="914400" y="914400"/>
            <a:ext cx="914400" cy="1097280"/>
          </a:xfrm>
          <a:prstGeom prst="line">
            <a:avLst/>
          </a:prstGeom>
          <a:noFill/>
          <a:ln w="15240">
            <a:solidFill>
              <a:srgbClr val="16204A"/>
            </a:solidFill>
            <a:prstDash val="solid"/>
          </a:ln>
        </p:spPr>
      </p:sp>
      <p:sp>
        <p:nvSpPr>
          <p:cNvPr id="3" name="Shape 1"/>
          <p:cNvSpPr/>
          <p:nvPr/>
        </p:nvSpPr>
        <p:spPr>
          <a:xfrm>
            <a:off x="731520" y="2011680"/>
            <a:ext cx="1097280" cy="1645920"/>
          </a:xfrm>
          <a:prstGeom prst="line">
            <a:avLst/>
          </a:prstGeom>
          <a:noFill/>
          <a:ln w="15240">
            <a:solidFill>
              <a:srgbClr val="16204A"/>
            </a:solidFill>
            <a:prstDash val="solid"/>
          </a:ln>
        </p:spPr>
      </p:sp>
      <p:sp>
        <p:nvSpPr>
          <p:cNvPr id="4" name="Shape 2"/>
          <p:cNvSpPr/>
          <p:nvPr/>
        </p:nvSpPr>
        <p:spPr>
          <a:xfrm>
            <a:off x="10789920" y="1097280"/>
            <a:ext cx="640080" cy="1645920"/>
          </a:xfrm>
          <a:prstGeom prst="line">
            <a:avLst/>
          </a:prstGeom>
          <a:noFill/>
          <a:ln w="15240">
            <a:solidFill>
              <a:srgbClr val="16204A"/>
            </a:solidFill>
            <a:prstDash val="solid"/>
          </a:ln>
        </p:spPr>
      </p:sp>
      <p:sp>
        <p:nvSpPr>
          <p:cNvPr id="5" name="Shape 3"/>
          <p:cNvSpPr/>
          <p:nvPr/>
        </p:nvSpPr>
        <p:spPr>
          <a:xfrm>
            <a:off x="10515600" y="2743200"/>
            <a:ext cx="914400" cy="1828800"/>
          </a:xfrm>
          <a:prstGeom prst="line">
            <a:avLst/>
          </a:prstGeom>
          <a:noFill/>
          <a:ln w="15240">
            <a:solidFill>
              <a:srgbClr val="16204A"/>
            </a:solidFill>
            <a:prstDash val="solid"/>
          </a:ln>
        </p:spPr>
      </p:sp>
      <p:sp>
        <p:nvSpPr>
          <p:cNvPr id="6" name="Shape 4"/>
          <p:cNvSpPr/>
          <p:nvPr/>
        </p:nvSpPr>
        <p:spPr>
          <a:xfrm>
            <a:off x="859536" y="859536"/>
            <a:ext cx="109728" cy="109728"/>
          </a:xfrm>
          <a:prstGeom prst="ellipse">
            <a:avLst/>
          </a:prstGeom>
          <a:solidFill>
            <a:srgbClr val="00E5FF"/>
          </a:solidFill>
          <a:ln/>
        </p:spPr>
      </p:sp>
      <p:sp>
        <p:nvSpPr>
          <p:cNvPr id="7" name="Shape 5"/>
          <p:cNvSpPr/>
          <p:nvPr/>
        </p:nvSpPr>
        <p:spPr>
          <a:xfrm>
            <a:off x="1773936" y="1956816"/>
            <a:ext cx="109728" cy="109728"/>
          </a:xfrm>
          <a:prstGeom prst="ellipse">
            <a:avLst/>
          </a:prstGeom>
          <a:solidFill>
            <a:srgbClr val="7C5CFC"/>
          </a:solidFill>
          <a:ln/>
        </p:spPr>
      </p:sp>
      <p:sp>
        <p:nvSpPr>
          <p:cNvPr id="8" name="Shape 6"/>
          <p:cNvSpPr/>
          <p:nvPr/>
        </p:nvSpPr>
        <p:spPr>
          <a:xfrm>
            <a:off x="676656" y="3602736"/>
            <a:ext cx="109728" cy="109728"/>
          </a:xfrm>
          <a:prstGeom prst="ellipse">
            <a:avLst/>
          </a:prstGeom>
          <a:solidFill>
            <a:srgbClr val="7C5CFC"/>
          </a:solidFill>
          <a:ln/>
        </p:spPr>
      </p:sp>
      <p:sp>
        <p:nvSpPr>
          <p:cNvPr id="9" name="Shape 7"/>
          <p:cNvSpPr/>
          <p:nvPr/>
        </p:nvSpPr>
        <p:spPr>
          <a:xfrm>
            <a:off x="10735056" y="1042416"/>
            <a:ext cx="109728" cy="109728"/>
          </a:xfrm>
          <a:prstGeom prst="ellipse">
            <a:avLst/>
          </a:prstGeom>
          <a:solidFill>
            <a:srgbClr val="00E5FF"/>
          </a:solidFill>
          <a:ln/>
        </p:spPr>
      </p:sp>
      <p:sp>
        <p:nvSpPr>
          <p:cNvPr id="10" name="Shape 8"/>
          <p:cNvSpPr/>
          <p:nvPr/>
        </p:nvSpPr>
        <p:spPr>
          <a:xfrm>
            <a:off x="11375136" y="2688336"/>
            <a:ext cx="109728" cy="109728"/>
          </a:xfrm>
          <a:prstGeom prst="ellipse">
            <a:avLst/>
          </a:prstGeom>
          <a:solidFill>
            <a:srgbClr val="7C5CFC"/>
          </a:solidFill>
          <a:ln/>
        </p:spPr>
      </p:sp>
      <p:sp>
        <p:nvSpPr>
          <p:cNvPr id="11" name="Shape 9"/>
          <p:cNvSpPr/>
          <p:nvPr/>
        </p:nvSpPr>
        <p:spPr>
          <a:xfrm>
            <a:off x="10460736" y="4517136"/>
            <a:ext cx="109728" cy="109728"/>
          </a:xfrm>
          <a:prstGeom prst="ellipse">
            <a:avLst/>
          </a:prstGeom>
          <a:solidFill>
            <a:srgbClr val="7C5CFC"/>
          </a:solidFill>
          <a:ln/>
        </p:spPr>
      </p:sp>
      <p:sp>
        <p:nvSpPr>
          <p:cNvPr id="12" name="Text 1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PILLAR 5 OF 5</a:t>
            </a:r>
            <a:endParaRPr lang="en-US" sz="1300" dirty="0"/>
          </a:p>
        </p:txBody>
      </p:sp>
      <p:sp>
        <p:nvSpPr>
          <p:cNvPr id="13" name="Shape 11"/>
          <p:cNvSpPr/>
          <p:nvPr/>
        </p:nvSpPr>
        <p:spPr>
          <a:xfrm>
            <a:off x="822960" y="1828800"/>
            <a:ext cx="1188720" cy="1188720"/>
          </a:xfrm>
          <a:prstGeom prst="ellipse">
            <a:avLst/>
          </a:prstGeom>
          <a:solidFill>
            <a:srgbClr val="121A33"/>
          </a:solidFill>
          <a:ln/>
        </p:spPr>
      </p:sp>
      <p:pic>
        <p:nvPicPr>
          <p:cNvPr id="14" name="Image 0" descr="icons_cloud_00E5FF.png">    </p:cNvPr>
          <p:cNvPicPr>
            <a:picLocks noChangeAspect="1"/>
          </p:cNvPicPr>
          <p:nvPr/>
        </p:nvPicPr>
        <p:blipFill>
          <a:blip r:embed="rId1"/>
          <a:stretch>
            <a:fillRect/>
          </a:stretch>
        </p:blipFill>
        <p:spPr>
          <a:xfrm>
            <a:off x="1108253" y="2114093"/>
            <a:ext cx="618134" cy="618134"/>
          </a:xfrm>
          <a:prstGeom prst="rect">
            <a:avLst/>
          </a:prstGeom>
        </p:spPr>
      </p:pic>
      <p:sp>
        <p:nvSpPr>
          <p:cNvPr id="15" name="Text 12"/>
          <p:cNvSpPr/>
          <p:nvPr/>
        </p:nvSpPr>
        <p:spPr>
          <a:xfrm>
            <a:off x="2286000" y="1783080"/>
            <a:ext cx="86868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Cloud Admin Planes</a:t>
            </a:r>
            <a:endParaRPr lang="en-US" sz="3400" dirty="0"/>
          </a:p>
        </p:txBody>
      </p:sp>
      <p:sp>
        <p:nvSpPr>
          <p:cNvPr id="16" name="Text 13"/>
          <p:cNvSpPr/>
          <p:nvPr/>
        </p:nvSpPr>
        <p:spPr>
          <a:xfrm>
            <a:off x="2286000" y="2606040"/>
            <a:ext cx="8686800" cy="457200"/>
          </a:xfrm>
          <a:prstGeom prst="rect">
            <a:avLst/>
          </a:prstGeom>
          <a:noFill/>
          <a:ln/>
        </p:spPr>
        <p:txBody>
          <a:bodyPr wrap="square" rtlCol="0" anchor="ctr"/>
          <a:lstStyle/>
          <a:p>
            <a:pPr indent="0" marL="0">
              <a:buNone/>
            </a:pPr>
            <a:r>
              <a:rPr lang="en-US" sz="1700" i="1" dirty="0">
                <a:solidFill>
                  <a:srgbClr val="7C5CFC"/>
                </a:solidFill>
                <a:latin typeface="Cambria" pitchFamily="34" charset="0"/>
                <a:ea typeface="Cambria" pitchFamily="34" charset="-122"/>
                <a:cs typeface="Cambria" pitchFamily="34" charset="-120"/>
              </a:rPr>
              <a:t>What can that trust become?</a:t>
            </a:r>
            <a:endParaRPr lang="en-US" sz="1700" dirty="0"/>
          </a:p>
        </p:txBody>
      </p:sp>
      <p:sp>
        <p:nvSpPr>
          <p:cNvPr id="17" name="Shape 14"/>
          <p:cNvSpPr/>
          <p:nvPr/>
        </p:nvSpPr>
        <p:spPr>
          <a:xfrm>
            <a:off x="822960" y="3657600"/>
            <a:ext cx="10515600" cy="1737360"/>
          </a:xfrm>
          <a:prstGeom prst="roundRect">
            <a:avLst>
              <a:gd name="adj" fmla="val 6316"/>
            </a:avLst>
          </a:prstGeom>
          <a:solidFill>
            <a:srgbClr val="121A33"/>
          </a:solidFill>
          <a:ln/>
        </p:spPr>
      </p:sp>
      <p:sp>
        <p:nvSpPr>
          <p:cNvPr id="18" name="Text 15"/>
          <p:cNvSpPr/>
          <p:nvPr/>
        </p:nvSpPr>
        <p:spPr>
          <a:xfrm>
            <a:off x="1188720" y="3886200"/>
            <a:ext cx="9784080" cy="457200"/>
          </a:xfrm>
          <a:prstGeom prst="rect">
            <a:avLst/>
          </a:prstGeom>
          <a:noFill/>
          <a:ln/>
        </p:spPr>
        <p:txBody>
          <a:bodyPr wrap="square" rtlCol="0" anchor="ctr"/>
          <a:lstStyle/>
          <a:p>
            <a:pPr indent="0" marL="0">
              <a:buNone/>
            </a:pPr>
            <a:r>
              <a:rPr lang="en-US" sz="1500" b="1" dirty="0">
                <a:solidFill>
                  <a:srgbClr val="00E5FF"/>
                </a:solidFill>
                <a:latin typeface="Calibri" pitchFamily="34" charset="0"/>
                <a:ea typeface="Calibri" pitchFamily="34" charset="-122"/>
                <a:cs typeface="Calibri" pitchFamily="34" charset="-120"/>
              </a:rPr>
              <a:t>Why it matters</a:t>
            </a:r>
            <a:endParaRPr lang="en-US" sz="1500" dirty="0"/>
          </a:p>
        </p:txBody>
      </p:sp>
      <p:sp>
        <p:nvSpPr>
          <p:cNvPr id="19" name="Text 16"/>
          <p:cNvSpPr/>
          <p:nvPr/>
        </p:nvSpPr>
        <p:spPr>
          <a:xfrm>
            <a:off x="1188720" y="4343400"/>
            <a:ext cx="9784080" cy="914400"/>
          </a:xfrm>
          <a:prstGeom prst="rect">
            <a:avLst/>
          </a:prstGeom>
          <a:noFill/>
          <a:ln/>
        </p:spPr>
        <p:txBody>
          <a:bodyPr wrap="square" rtlCol="0" anchor="t"/>
          <a:lstStyle/>
          <a:p>
            <a:pPr indent="0" marL="0">
              <a:buNone/>
            </a:pPr>
            <a:r>
              <a:rPr lang="en-US" sz="1400" dirty="0">
                <a:solidFill>
                  <a:srgbClr val="8E9BC0"/>
                </a:solidFill>
                <a:latin typeface="Calibri" pitchFamily="34" charset="0"/>
                <a:ea typeface="Calibri" pitchFamily="34" charset="-122"/>
                <a:cs typeface="Calibri" pitchFamily="34" charset="-120"/>
              </a:rPr>
              <a:t>Cloud management planes often govern more infrastructure, with broader blast radius, than any on-premises domain ever did. IAM misconfigurations here can outrank Domain Admin entirely.</a:t>
            </a:r>
            <a:endParaRPr lang="en-US" sz="1400" dirty="0"/>
          </a:p>
        </p:txBody>
      </p:sp>
      <p:sp>
        <p:nvSpPr>
          <p:cNvPr id="20"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CHAIN EXAMPLE 5</a:t>
            </a:r>
            <a:endParaRPr lang="en-US" sz="1300" dirty="0"/>
          </a:p>
        </p:txBody>
      </p:sp>
      <p:sp>
        <p:nvSpPr>
          <p:cNvPr id="3" name="Text 1"/>
          <p:cNvSpPr/>
          <p:nvPr/>
        </p:nvSpPr>
        <p:spPr>
          <a:xfrm>
            <a:off x="7436815" y="530352"/>
            <a:ext cx="4114800" cy="320040"/>
          </a:xfrm>
          <a:prstGeom prst="rect">
            <a:avLst/>
          </a:prstGeom>
          <a:noFill/>
          <a:ln/>
        </p:spPr>
        <p:txBody>
          <a:bodyPr wrap="square" rtlCol="0" anchor="ctr"/>
          <a:lstStyle/>
          <a:p>
            <a:pPr algn="r" indent="0" marL="0">
              <a:buNone/>
            </a:pPr>
            <a:r>
              <a:rPr lang="en-US" sz="1050" i="1" dirty="0">
                <a:solidFill>
                  <a:srgbClr val="8E9BC0"/>
                </a:solidFill>
                <a:latin typeface="Calibri" pitchFamily="34" charset="0"/>
                <a:ea typeface="Calibri" pitchFamily="34" charset="-122"/>
                <a:cs typeface="Calibri" pitchFamily="34" charset="-120"/>
              </a:rPr>
              <a:t>Well-established: IAM misconfig is a recurring root cause in cloud breach research</a:t>
            </a:r>
            <a:endParaRPr lang="en-US" sz="1050" dirty="0"/>
          </a:p>
        </p:txBody>
      </p:sp>
      <p:sp>
        <p:nvSpPr>
          <p:cNvPr id="4" name="Text 2"/>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Cloud admin planes: broader than on-prem ever was</a:t>
            </a:r>
            <a:endParaRPr lang="en-US" sz="3200" dirty="0"/>
          </a:p>
        </p:txBody>
      </p:sp>
      <p:sp>
        <p:nvSpPr>
          <p:cNvPr id="5" name="Shape 3"/>
          <p:cNvSpPr/>
          <p:nvPr/>
        </p:nvSpPr>
        <p:spPr>
          <a:xfrm>
            <a:off x="640080" y="2743200"/>
            <a:ext cx="2286000" cy="1371600"/>
          </a:xfrm>
          <a:prstGeom prst="roundRect">
            <a:avLst>
              <a:gd name="adj" fmla="val 6667"/>
            </a:avLst>
          </a:prstGeom>
          <a:solidFill>
            <a:srgbClr val="121A33"/>
          </a:solidFill>
          <a:ln w="12700">
            <a:solidFill>
              <a:srgbClr val="16204A"/>
            </a:solidFill>
            <a:prstDash val="solid"/>
          </a:ln>
        </p:spPr>
      </p:sp>
      <p:sp>
        <p:nvSpPr>
          <p:cNvPr id="6" name="Shape 4"/>
          <p:cNvSpPr/>
          <p:nvPr/>
        </p:nvSpPr>
        <p:spPr>
          <a:xfrm>
            <a:off x="1531620" y="2926080"/>
            <a:ext cx="502920" cy="502920"/>
          </a:xfrm>
          <a:prstGeom prst="ellipse">
            <a:avLst/>
          </a:prstGeom>
          <a:solidFill>
            <a:srgbClr val="0A0F1F"/>
          </a:solidFill>
          <a:ln/>
        </p:spPr>
      </p:sp>
      <p:pic>
        <p:nvPicPr>
          <p:cNvPr id="7" name="Image 0" descr="icons_cloud_00E5FF.png">    </p:cNvPr>
          <p:cNvPicPr>
            <a:picLocks noChangeAspect="1"/>
          </p:cNvPicPr>
          <p:nvPr/>
        </p:nvPicPr>
        <p:blipFill>
          <a:blip r:embed="rId1"/>
          <a:stretch>
            <a:fillRect/>
          </a:stretch>
        </p:blipFill>
        <p:spPr>
          <a:xfrm>
            <a:off x="1652321" y="3046781"/>
            <a:ext cx="261518" cy="261518"/>
          </a:xfrm>
          <a:prstGeom prst="rect">
            <a:avLst/>
          </a:prstGeom>
        </p:spPr>
      </p:pic>
      <p:sp>
        <p:nvSpPr>
          <p:cNvPr id="8" name="Text 5"/>
          <p:cNvSpPr/>
          <p:nvPr/>
        </p:nvSpPr>
        <p:spPr>
          <a:xfrm>
            <a:off x="71323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Misconfigured cloud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IAM role or policy</a:t>
            </a:r>
            <a:endParaRPr lang="en-US" sz="1150" dirty="0"/>
          </a:p>
        </p:txBody>
      </p:sp>
      <p:sp>
        <p:nvSpPr>
          <p:cNvPr id="9" name="Shape 6"/>
          <p:cNvSpPr/>
          <p:nvPr/>
        </p:nvSpPr>
        <p:spPr>
          <a:xfrm>
            <a:off x="2926080" y="3319272"/>
            <a:ext cx="579120" cy="219456"/>
          </a:xfrm>
          <a:prstGeom prst="rightArrow">
            <a:avLst/>
          </a:prstGeom>
          <a:solidFill>
            <a:srgbClr val="7C5CFC"/>
          </a:solidFill>
          <a:ln/>
        </p:spPr>
      </p:sp>
      <p:sp>
        <p:nvSpPr>
          <p:cNvPr id="10" name="Shape 7"/>
          <p:cNvSpPr/>
          <p:nvPr/>
        </p:nvSpPr>
        <p:spPr>
          <a:xfrm>
            <a:off x="3505200" y="2743200"/>
            <a:ext cx="2286000" cy="1371600"/>
          </a:xfrm>
          <a:prstGeom prst="roundRect">
            <a:avLst>
              <a:gd name="adj" fmla="val 6667"/>
            </a:avLst>
          </a:prstGeom>
          <a:solidFill>
            <a:srgbClr val="121A33"/>
          </a:solidFill>
          <a:ln w="12700">
            <a:solidFill>
              <a:srgbClr val="16204A"/>
            </a:solidFill>
            <a:prstDash val="solid"/>
          </a:ln>
        </p:spPr>
      </p:sp>
      <p:sp>
        <p:nvSpPr>
          <p:cNvPr id="11" name="Shape 8"/>
          <p:cNvSpPr/>
          <p:nvPr/>
        </p:nvSpPr>
        <p:spPr>
          <a:xfrm>
            <a:off x="4396740" y="2926080"/>
            <a:ext cx="502920" cy="502920"/>
          </a:xfrm>
          <a:prstGeom prst="ellipse">
            <a:avLst/>
          </a:prstGeom>
          <a:solidFill>
            <a:srgbClr val="0A0F1F"/>
          </a:solidFill>
          <a:ln/>
        </p:spPr>
      </p:sp>
      <p:pic>
        <p:nvPicPr>
          <p:cNvPr id="12" name="Image 1" descr="icons_server_00E5FF.png">    </p:cNvPr>
          <p:cNvPicPr>
            <a:picLocks noChangeAspect="1"/>
          </p:cNvPicPr>
          <p:nvPr/>
        </p:nvPicPr>
        <p:blipFill>
          <a:blip r:embed="rId2"/>
          <a:stretch>
            <a:fillRect/>
          </a:stretch>
        </p:blipFill>
        <p:spPr>
          <a:xfrm>
            <a:off x="4517441" y="3046781"/>
            <a:ext cx="261518" cy="261518"/>
          </a:xfrm>
          <a:prstGeom prst="rect">
            <a:avLst/>
          </a:prstGeom>
        </p:spPr>
      </p:pic>
      <p:sp>
        <p:nvSpPr>
          <p:cNvPr id="13" name="Text 9"/>
          <p:cNvSpPr/>
          <p:nvPr/>
        </p:nvSpPr>
        <p:spPr>
          <a:xfrm>
            <a:off x="357835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Privilege escalation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within the control plane</a:t>
            </a:r>
            <a:endParaRPr lang="en-US" sz="1150" dirty="0"/>
          </a:p>
        </p:txBody>
      </p:sp>
      <p:sp>
        <p:nvSpPr>
          <p:cNvPr id="14" name="Shape 10"/>
          <p:cNvSpPr/>
          <p:nvPr/>
        </p:nvSpPr>
        <p:spPr>
          <a:xfrm>
            <a:off x="5791200" y="3319272"/>
            <a:ext cx="579120" cy="219456"/>
          </a:xfrm>
          <a:prstGeom prst="rightArrow">
            <a:avLst/>
          </a:prstGeom>
          <a:solidFill>
            <a:srgbClr val="7C5CFC"/>
          </a:solidFill>
          <a:ln/>
        </p:spPr>
      </p:sp>
      <p:sp>
        <p:nvSpPr>
          <p:cNvPr id="15" name="Shape 11"/>
          <p:cNvSpPr/>
          <p:nvPr/>
        </p:nvSpPr>
        <p:spPr>
          <a:xfrm>
            <a:off x="6370320" y="2743200"/>
            <a:ext cx="2286000" cy="1371600"/>
          </a:xfrm>
          <a:prstGeom prst="roundRect">
            <a:avLst>
              <a:gd name="adj" fmla="val 6667"/>
            </a:avLst>
          </a:prstGeom>
          <a:solidFill>
            <a:srgbClr val="121A33"/>
          </a:solidFill>
          <a:ln w="12700">
            <a:solidFill>
              <a:srgbClr val="16204A"/>
            </a:solidFill>
            <a:prstDash val="solid"/>
          </a:ln>
        </p:spPr>
      </p:sp>
      <p:sp>
        <p:nvSpPr>
          <p:cNvPr id="16" name="Shape 12"/>
          <p:cNvSpPr/>
          <p:nvPr/>
        </p:nvSpPr>
        <p:spPr>
          <a:xfrm>
            <a:off x="7261860" y="2926080"/>
            <a:ext cx="502920" cy="502920"/>
          </a:xfrm>
          <a:prstGeom prst="ellipse">
            <a:avLst/>
          </a:prstGeom>
          <a:solidFill>
            <a:srgbClr val="0A0F1F"/>
          </a:solidFill>
          <a:ln/>
        </p:spPr>
      </p:sp>
      <p:pic>
        <p:nvPicPr>
          <p:cNvPr id="17" name="Image 2" descr="icons_usershield_00E5FF.png">    </p:cNvPr>
          <p:cNvPicPr>
            <a:picLocks noChangeAspect="1"/>
          </p:cNvPicPr>
          <p:nvPr/>
        </p:nvPicPr>
        <p:blipFill>
          <a:blip r:embed="rId3"/>
          <a:stretch>
            <a:fillRect/>
          </a:stretch>
        </p:blipFill>
        <p:spPr>
          <a:xfrm>
            <a:off x="7382561" y="3046781"/>
            <a:ext cx="261518" cy="261518"/>
          </a:xfrm>
          <a:prstGeom prst="rect">
            <a:avLst/>
          </a:prstGeom>
        </p:spPr>
      </p:pic>
      <p:sp>
        <p:nvSpPr>
          <p:cNvPr id="18" name="Text 13"/>
          <p:cNvSpPr/>
          <p:nvPr/>
        </p:nvSpPr>
        <p:spPr>
          <a:xfrm>
            <a:off x="644347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Access to every</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workload it governs</a:t>
            </a:r>
            <a:endParaRPr lang="en-US" sz="1150" dirty="0"/>
          </a:p>
        </p:txBody>
      </p:sp>
      <p:sp>
        <p:nvSpPr>
          <p:cNvPr id="19" name="Shape 14"/>
          <p:cNvSpPr/>
          <p:nvPr/>
        </p:nvSpPr>
        <p:spPr>
          <a:xfrm>
            <a:off x="8656320" y="3319272"/>
            <a:ext cx="579120" cy="219456"/>
          </a:xfrm>
          <a:prstGeom prst="rightArrow">
            <a:avLst/>
          </a:prstGeom>
          <a:solidFill>
            <a:srgbClr val="7C5CFC"/>
          </a:solidFill>
          <a:ln/>
        </p:spPr>
      </p:sp>
      <p:sp>
        <p:nvSpPr>
          <p:cNvPr id="20" name="Shape 15"/>
          <p:cNvSpPr/>
          <p:nvPr/>
        </p:nvSpPr>
        <p:spPr>
          <a:xfrm>
            <a:off x="9235440" y="2743200"/>
            <a:ext cx="2286000" cy="1371600"/>
          </a:xfrm>
          <a:prstGeom prst="roundRect">
            <a:avLst>
              <a:gd name="adj" fmla="val 6667"/>
            </a:avLst>
          </a:prstGeom>
          <a:solidFill>
            <a:srgbClr val="3A1030"/>
          </a:solidFill>
          <a:ln w="19050">
            <a:solidFill>
              <a:srgbClr val="FF5C7A"/>
            </a:solidFill>
            <a:prstDash val="solid"/>
          </a:ln>
        </p:spPr>
      </p:sp>
      <p:sp>
        <p:nvSpPr>
          <p:cNvPr id="21" name="Shape 16"/>
          <p:cNvSpPr/>
          <p:nvPr/>
        </p:nvSpPr>
        <p:spPr>
          <a:xfrm>
            <a:off x="10126980" y="2926080"/>
            <a:ext cx="502920" cy="502920"/>
          </a:xfrm>
          <a:prstGeom prst="ellipse">
            <a:avLst/>
          </a:prstGeom>
          <a:solidFill>
            <a:srgbClr val="FF5C7A"/>
          </a:solidFill>
          <a:ln/>
        </p:spPr>
      </p:sp>
      <p:pic>
        <p:nvPicPr>
          <p:cNvPr id="22" name="Image 3" descr="icons_skull_FFFFFF.png">    </p:cNvPr>
          <p:cNvPicPr>
            <a:picLocks noChangeAspect="1"/>
          </p:cNvPicPr>
          <p:nvPr/>
        </p:nvPicPr>
        <p:blipFill>
          <a:blip r:embed="rId4"/>
          <a:stretch>
            <a:fillRect/>
          </a:stretch>
        </p:blipFill>
        <p:spPr>
          <a:xfrm>
            <a:off x="10247681" y="3046781"/>
            <a:ext cx="261518" cy="261518"/>
          </a:xfrm>
          <a:prstGeom prst="rect">
            <a:avLst/>
          </a:prstGeom>
        </p:spPr>
      </p:pic>
      <p:sp>
        <p:nvSpPr>
          <p:cNvPr id="23" name="Text 17"/>
          <p:cNvSpPr/>
          <p:nvPr/>
        </p:nvSpPr>
        <p:spPr>
          <a:xfrm>
            <a:off x="9308592" y="3520440"/>
            <a:ext cx="2139696" cy="54864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Organisation-wide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blast radius</a:t>
            </a:r>
            <a:endParaRPr lang="en-US" sz="1150" dirty="0"/>
          </a:p>
        </p:txBody>
      </p:sp>
      <p:sp>
        <p:nvSpPr>
          <p:cNvPr id="24" name="Shape 18"/>
          <p:cNvSpPr/>
          <p:nvPr/>
        </p:nvSpPr>
        <p:spPr>
          <a:xfrm>
            <a:off x="640080" y="4709160"/>
            <a:ext cx="10881360" cy="1234440"/>
          </a:xfrm>
          <a:prstGeom prst="roundRect">
            <a:avLst>
              <a:gd name="adj" fmla="val 7407"/>
            </a:avLst>
          </a:prstGeom>
          <a:solidFill>
            <a:srgbClr val="121A33"/>
          </a:solidFill>
          <a:ln/>
        </p:spPr>
      </p:sp>
      <p:sp>
        <p:nvSpPr>
          <p:cNvPr id="25" name="Text 19"/>
          <p:cNvSpPr/>
          <p:nvPr/>
        </p:nvSpPr>
        <p:spPr>
          <a:xfrm>
            <a:off x="914400" y="4709160"/>
            <a:ext cx="10332720" cy="1234440"/>
          </a:xfrm>
          <a:prstGeom prst="rect">
            <a:avLst/>
          </a:prstGeom>
          <a:noFill/>
          <a:ln/>
        </p:spPr>
        <p:txBody>
          <a:bodyPr wrap="square" rtlCol="0" anchor="ctr"/>
          <a:lstStyle/>
          <a:p>
            <a:pPr indent="0" marL="0">
              <a:buNone/>
            </a:pPr>
            <a:r>
              <a:rPr lang="en-US" sz="1350" i="1" dirty="0">
                <a:solidFill>
                  <a:srgbClr val="8E9BC0"/>
                </a:solidFill>
                <a:latin typeface="Calibri" pitchFamily="34" charset="0"/>
                <a:ea typeface="Calibri" pitchFamily="34" charset="-122"/>
                <a:cs typeface="Calibri" pitchFamily="34" charset="-120"/>
              </a:rPr>
              <a:t>Cloud management planes often provide broader influence than on-premises infrastructure ever did - one control-plane compromise can outrank Domain Admin entirely. IAM misconfiguration remains one of the most consistently cited root causes across cloud breach research year over year.</a:t>
            </a:r>
            <a:endParaRPr lang="en-US" sz="13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WHAT THIS LOOKS LIKE</a:t>
            </a:r>
            <a:endParaRPr lang="en-US" sz="1300" dirty="0"/>
          </a:p>
        </p:txBody>
      </p:sp>
      <p:sp>
        <p:nvSpPr>
          <p:cNvPr id="3" name="Text 1"/>
          <p:cNvSpPr/>
          <p:nvPr/>
        </p:nvSpPr>
        <p:spPr>
          <a:xfrm>
            <a:off x="640080" y="822960"/>
            <a:ext cx="1078992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policy, total control</a:t>
            </a:r>
            <a:endParaRPr lang="en-US" sz="3200" dirty="0"/>
          </a:p>
        </p:txBody>
      </p:sp>
      <p:sp>
        <p:nvSpPr>
          <p:cNvPr id="4" name="Shape 2"/>
          <p:cNvSpPr/>
          <p:nvPr/>
        </p:nvSpPr>
        <p:spPr>
          <a:xfrm>
            <a:off x="1005840" y="2103120"/>
            <a:ext cx="10149840" cy="3063240"/>
          </a:xfrm>
          <a:prstGeom prst="rect">
            <a:avLst/>
          </a:prstGeom>
          <a:solidFill>
            <a:srgbClr val="1E2430"/>
          </a:solidFill>
          <a:ln/>
        </p:spPr>
      </p:sp>
      <p:sp>
        <p:nvSpPr>
          <p:cNvPr id="5" name="Shape 3"/>
          <p:cNvSpPr/>
          <p:nvPr/>
        </p:nvSpPr>
        <p:spPr>
          <a:xfrm>
            <a:off x="1005840" y="1737360"/>
            <a:ext cx="10149840" cy="365760"/>
          </a:xfrm>
          <a:prstGeom prst="roundRect">
            <a:avLst>
              <a:gd name="adj" fmla="val 15000"/>
            </a:avLst>
          </a:prstGeom>
          <a:solidFill>
            <a:srgbClr val="D8DCE6"/>
          </a:solidFill>
          <a:ln/>
        </p:spPr>
      </p:sp>
      <p:sp>
        <p:nvSpPr>
          <p:cNvPr id="6" name="Shape 4"/>
          <p:cNvSpPr/>
          <p:nvPr/>
        </p:nvSpPr>
        <p:spPr>
          <a:xfrm>
            <a:off x="1207008" y="1874520"/>
            <a:ext cx="100584" cy="100584"/>
          </a:xfrm>
          <a:prstGeom prst="ellipse">
            <a:avLst/>
          </a:prstGeom>
          <a:solidFill>
            <a:srgbClr val="FF5F56"/>
          </a:solidFill>
          <a:ln/>
        </p:spPr>
      </p:sp>
      <p:sp>
        <p:nvSpPr>
          <p:cNvPr id="7" name="Shape 5"/>
          <p:cNvSpPr/>
          <p:nvPr/>
        </p:nvSpPr>
        <p:spPr>
          <a:xfrm>
            <a:off x="1408176" y="1874520"/>
            <a:ext cx="100584" cy="100584"/>
          </a:xfrm>
          <a:prstGeom prst="ellipse">
            <a:avLst/>
          </a:prstGeom>
          <a:solidFill>
            <a:srgbClr val="FFBD2E"/>
          </a:solidFill>
          <a:ln/>
        </p:spPr>
      </p:sp>
      <p:sp>
        <p:nvSpPr>
          <p:cNvPr id="8" name="Shape 6"/>
          <p:cNvSpPr/>
          <p:nvPr/>
        </p:nvSpPr>
        <p:spPr>
          <a:xfrm>
            <a:off x="1609344" y="1874520"/>
            <a:ext cx="100584" cy="100584"/>
          </a:xfrm>
          <a:prstGeom prst="ellipse">
            <a:avLst/>
          </a:prstGeom>
          <a:solidFill>
            <a:srgbClr val="27C93F"/>
          </a:solidFill>
          <a:ln/>
        </p:spPr>
      </p:sp>
      <p:sp>
        <p:nvSpPr>
          <p:cNvPr id="9" name="Shape 7"/>
          <p:cNvSpPr/>
          <p:nvPr/>
        </p:nvSpPr>
        <p:spPr>
          <a:xfrm>
            <a:off x="2011680" y="1810512"/>
            <a:ext cx="8046720" cy="219456"/>
          </a:xfrm>
          <a:prstGeom prst="roundRect">
            <a:avLst>
              <a:gd name="adj" fmla="val 25000"/>
            </a:avLst>
          </a:prstGeom>
          <a:solidFill>
            <a:srgbClr val="EDEFF5"/>
          </a:solidFill>
          <a:ln/>
        </p:spPr>
      </p:sp>
      <p:sp>
        <p:nvSpPr>
          <p:cNvPr id="10" name="Text 8"/>
          <p:cNvSpPr/>
          <p:nvPr/>
        </p:nvSpPr>
        <p:spPr>
          <a:xfrm>
            <a:off x="2148840" y="1810512"/>
            <a:ext cx="7863840" cy="219456"/>
          </a:xfrm>
          <a:prstGeom prst="rect">
            <a:avLst/>
          </a:prstGeom>
          <a:noFill/>
          <a:ln/>
        </p:spPr>
        <p:txBody>
          <a:bodyPr wrap="square" rtlCol="0" anchor="ctr"/>
          <a:lstStyle/>
          <a:p>
            <a:pPr indent="0" marL="0">
              <a:buNone/>
            </a:pPr>
            <a:r>
              <a:rPr lang="en-US" sz="950" dirty="0">
                <a:solidFill>
                  <a:srgbClr val="6B7280"/>
                </a:solidFill>
                <a:latin typeface="Consolas" pitchFamily="34" charset="0"/>
                <a:ea typeface="Consolas" pitchFamily="34" charset="-122"/>
                <a:cs typeface="Consolas" pitchFamily="34" charset="-120"/>
              </a:rPr>
              <a:t>🔒 cloud-console.example/iam/roles/app-deploy-role</a:t>
            </a:r>
            <a:endParaRPr lang="en-US" sz="950" dirty="0"/>
          </a:p>
        </p:txBody>
      </p:sp>
      <p:sp>
        <p:nvSpPr>
          <p:cNvPr id="11" name="Text 9"/>
          <p:cNvSpPr/>
          <p:nvPr/>
        </p:nvSpPr>
        <p:spPr>
          <a:xfrm>
            <a:off x="1325880" y="2194560"/>
            <a:ext cx="9509760" cy="274320"/>
          </a:xfrm>
          <a:prstGeom prst="rect">
            <a:avLst/>
          </a:prstGeom>
          <a:noFill/>
          <a:ln/>
        </p:spPr>
        <p:txBody>
          <a:bodyPr wrap="square" rtlCol="0" anchor="ctr"/>
          <a:lstStyle/>
          <a:p>
            <a:pPr indent="0" marL="0">
              <a:buNone/>
            </a:pPr>
            <a:r>
              <a:rPr lang="en-US" sz="1250" b="1" dirty="0">
                <a:solidFill>
                  <a:srgbClr val="C9D1E0"/>
                </a:solidFill>
                <a:latin typeface="Calibri" pitchFamily="34" charset="0"/>
                <a:ea typeface="Calibri" pitchFamily="34" charset="-122"/>
                <a:cs typeface="Calibri" pitchFamily="34" charset="-120"/>
              </a:rPr>
              <a:t>IAM Policy - attached to role: app-deploy-role</a:t>
            </a:r>
            <a:endParaRPr lang="en-US" sz="1250" dirty="0"/>
          </a:p>
        </p:txBody>
      </p:sp>
      <p:sp>
        <p:nvSpPr>
          <p:cNvPr id="12" name="Text 10"/>
          <p:cNvSpPr/>
          <p:nvPr/>
        </p:nvSpPr>
        <p:spPr>
          <a:xfrm>
            <a:off x="1463040" y="2560320"/>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1463040" y="2807208"/>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  "Version": "2012-10-17",</a:t>
            </a:r>
            <a:endParaRPr lang="en-US" sz="1100" dirty="0"/>
          </a:p>
        </p:txBody>
      </p:sp>
      <p:sp>
        <p:nvSpPr>
          <p:cNvPr id="14" name="Text 12"/>
          <p:cNvSpPr/>
          <p:nvPr/>
        </p:nvSpPr>
        <p:spPr>
          <a:xfrm>
            <a:off x="1463040" y="3054096"/>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  "Statement": [</a:t>
            </a:r>
            <a:endParaRPr lang="en-US" sz="1100" dirty="0"/>
          </a:p>
        </p:txBody>
      </p:sp>
      <p:sp>
        <p:nvSpPr>
          <p:cNvPr id="15" name="Text 13"/>
          <p:cNvSpPr/>
          <p:nvPr/>
        </p:nvSpPr>
        <p:spPr>
          <a:xfrm>
            <a:off x="1463040" y="3300984"/>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    {</a:t>
            </a:r>
            <a:endParaRPr lang="en-US" sz="1100" dirty="0"/>
          </a:p>
        </p:txBody>
      </p:sp>
      <p:sp>
        <p:nvSpPr>
          <p:cNvPr id="16" name="Text 14"/>
          <p:cNvSpPr/>
          <p:nvPr/>
        </p:nvSpPr>
        <p:spPr>
          <a:xfrm>
            <a:off x="1463040" y="3547872"/>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      "Effect": "Allow",</a:t>
            </a:r>
            <a:endParaRPr lang="en-US" sz="1100" dirty="0"/>
          </a:p>
        </p:txBody>
      </p:sp>
      <p:sp>
        <p:nvSpPr>
          <p:cNvPr id="17" name="Shape 15"/>
          <p:cNvSpPr/>
          <p:nvPr/>
        </p:nvSpPr>
        <p:spPr>
          <a:xfrm>
            <a:off x="1280160" y="3776472"/>
            <a:ext cx="9601200" cy="246888"/>
          </a:xfrm>
          <a:prstGeom prst="rect">
            <a:avLst/>
          </a:prstGeom>
          <a:solidFill>
            <a:srgbClr val="3A1522"/>
          </a:solidFill>
          <a:ln w="12700">
            <a:solidFill>
              <a:srgbClr val="DC2626"/>
            </a:solidFill>
            <a:prstDash val="solid"/>
          </a:ln>
        </p:spPr>
      </p:sp>
      <p:sp>
        <p:nvSpPr>
          <p:cNvPr id="18" name="Text 16"/>
          <p:cNvSpPr/>
          <p:nvPr/>
        </p:nvSpPr>
        <p:spPr>
          <a:xfrm>
            <a:off x="1463040" y="3794760"/>
            <a:ext cx="9235440" cy="246888"/>
          </a:xfrm>
          <a:prstGeom prst="rect">
            <a:avLst/>
          </a:prstGeom>
          <a:noFill/>
          <a:ln/>
        </p:spPr>
        <p:txBody>
          <a:bodyPr wrap="square" rtlCol="0" anchor="ctr"/>
          <a:lstStyle/>
          <a:p>
            <a:pPr indent="0" marL="0">
              <a:buNone/>
            </a:pPr>
            <a:r>
              <a:rPr lang="en-US" sz="1100" dirty="0">
                <a:solidFill>
                  <a:srgbClr val="FF8FA3"/>
                </a:solidFill>
                <a:latin typeface="Consolas" pitchFamily="34" charset="0"/>
                <a:ea typeface="Consolas" pitchFamily="34" charset="-122"/>
                <a:cs typeface="Consolas" pitchFamily="34" charset="-120"/>
              </a:rPr>
              <a:t>      "Action": "*",</a:t>
            </a:r>
            <a:endParaRPr lang="en-US" sz="1100" dirty="0"/>
          </a:p>
        </p:txBody>
      </p:sp>
      <p:sp>
        <p:nvSpPr>
          <p:cNvPr id="19" name="Shape 17"/>
          <p:cNvSpPr/>
          <p:nvPr/>
        </p:nvSpPr>
        <p:spPr>
          <a:xfrm>
            <a:off x="1280160" y="4023360"/>
            <a:ext cx="9601200" cy="246888"/>
          </a:xfrm>
          <a:prstGeom prst="rect">
            <a:avLst/>
          </a:prstGeom>
          <a:solidFill>
            <a:srgbClr val="3A1522"/>
          </a:solidFill>
          <a:ln w="12700">
            <a:solidFill>
              <a:srgbClr val="DC2626"/>
            </a:solidFill>
            <a:prstDash val="solid"/>
          </a:ln>
        </p:spPr>
      </p:sp>
      <p:sp>
        <p:nvSpPr>
          <p:cNvPr id="20" name="Text 18"/>
          <p:cNvSpPr/>
          <p:nvPr/>
        </p:nvSpPr>
        <p:spPr>
          <a:xfrm>
            <a:off x="1463040" y="4041648"/>
            <a:ext cx="9235440" cy="246888"/>
          </a:xfrm>
          <a:prstGeom prst="rect">
            <a:avLst/>
          </a:prstGeom>
          <a:noFill/>
          <a:ln/>
        </p:spPr>
        <p:txBody>
          <a:bodyPr wrap="square" rtlCol="0" anchor="ctr"/>
          <a:lstStyle/>
          <a:p>
            <a:pPr indent="0" marL="0">
              <a:buNone/>
            </a:pPr>
            <a:r>
              <a:rPr lang="en-US" sz="1100" dirty="0">
                <a:solidFill>
                  <a:srgbClr val="FF8FA3"/>
                </a:solidFill>
                <a:latin typeface="Consolas" pitchFamily="34" charset="0"/>
                <a:ea typeface="Consolas" pitchFamily="34" charset="-122"/>
                <a:cs typeface="Consolas" pitchFamily="34" charset="-120"/>
              </a:rPr>
              <a:t>      "Resource": "*"</a:t>
            </a:r>
            <a:endParaRPr lang="en-US" sz="1100" dirty="0"/>
          </a:p>
        </p:txBody>
      </p:sp>
      <p:sp>
        <p:nvSpPr>
          <p:cNvPr id="21" name="Text 19"/>
          <p:cNvSpPr/>
          <p:nvPr/>
        </p:nvSpPr>
        <p:spPr>
          <a:xfrm>
            <a:off x="1463040" y="4288536"/>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    }</a:t>
            </a:r>
            <a:endParaRPr lang="en-US" sz="1100" dirty="0"/>
          </a:p>
        </p:txBody>
      </p:sp>
      <p:sp>
        <p:nvSpPr>
          <p:cNvPr id="22" name="Text 20"/>
          <p:cNvSpPr/>
          <p:nvPr/>
        </p:nvSpPr>
        <p:spPr>
          <a:xfrm>
            <a:off x="1463040" y="4535424"/>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  ]</a:t>
            </a:r>
            <a:endParaRPr lang="en-US" sz="1100" dirty="0"/>
          </a:p>
        </p:txBody>
      </p:sp>
      <p:sp>
        <p:nvSpPr>
          <p:cNvPr id="23" name="Text 21"/>
          <p:cNvSpPr/>
          <p:nvPr/>
        </p:nvSpPr>
        <p:spPr>
          <a:xfrm>
            <a:off x="1463040" y="4782312"/>
            <a:ext cx="9235440" cy="246888"/>
          </a:xfrm>
          <a:prstGeom prst="rect">
            <a:avLst/>
          </a:prstGeom>
          <a:noFill/>
          <a:ln/>
        </p:spPr>
        <p:txBody>
          <a:bodyPr wrap="square" rtlCol="0" anchor="ctr"/>
          <a:lstStyle/>
          <a:p>
            <a:pPr indent="0" marL="0">
              <a:buNone/>
            </a:pPr>
            <a:r>
              <a:rPr lang="en-US" sz="1100" dirty="0">
                <a:solidFill>
                  <a:srgbClr val="9FE8C7"/>
                </a:solidFill>
                <a:latin typeface="Consolas" pitchFamily="34" charset="0"/>
                <a:ea typeface="Consolas" pitchFamily="34" charset="-122"/>
                <a:cs typeface="Consolas" pitchFamily="34" charset="-120"/>
              </a:rPr>
              <a:t>}</a:t>
            </a:r>
            <a:endParaRPr lang="en-US" sz="1100" dirty="0"/>
          </a:p>
        </p:txBody>
      </p:sp>
      <p:sp>
        <p:nvSpPr>
          <p:cNvPr id="24" name="Text 22"/>
          <p:cNvSpPr/>
          <p:nvPr/>
        </p:nvSpPr>
        <p:spPr>
          <a:xfrm>
            <a:off x="640080" y="5330952"/>
            <a:ext cx="10881360" cy="411480"/>
          </a:xfrm>
          <a:prstGeom prst="rect">
            <a:avLst/>
          </a:prstGeom>
          <a:noFill/>
          <a:ln/>
        </p:spPr>
        <p:txBody>
          <a:bodyPr wrap="square" rtlCol="0" anchor="t"/>
          <a:lstStyle/>
          <a:p>
            <a:pPr algn="ctr" indent="0" marL="0">
              <a:buNone/>
            </a:pPr>
            <a:r>
              <a:rPr lang="en-US" sz="1300" i="1" dirty="0">
                <a:solidFill>
                  <a:srgbClr val="8E9BC0"/>
                </a:solidFill>
                <a:latin typeface="Calibri" pitchFamily="34" charset="0"/>
                <a:ea typeface="Calibri" pitchFamily="34" charset="-122"/>
                <a:cs typeface="Calibri" pitchFamily="34" charset="-120"/>
              </a:rPr>
              <a:t>Two wildcards. That's the difference between "can deploy an application" and "can act as owner of the entire account."</a:t>
            </a:r>
            <a:endParaRPr lang="en-US" sz="1300" dirty="0"/>
          </a:p>
        </p:txBody>
      </p:sp>
      <p:sp>
        <p:nvSpPr>
          <p:cNvPr id="25" name="Text 23"/>
          <p:cNvSpPr/>
          <p:nvPr/>
        </p:nvSpPr>
        <p:spPr>
          <a:xfrm>
            <a:off x="640080" y="6382512"/>
            <a:ext cx="10881360" cy="256032"/>
          </a:xfrm>
          <a:prstGeom prst="rect">
            <a:avLst/>
          </a:prstGeom>
          <a:noFill/>
          <a:ln/>
        </p:spPr>
        <p:txBody>
          <a:bodyPr wrap="square" rtlCol="0" anchor="ctr"/>
          <a:lstStyle/>
          <a:p>
            <a:pPr algn="ctr" indent="0" marL="0">
              <a:buNone/>
            </a:pPr>
            <a:r>
              <a:rPr lang="en-US" sz="950" i="1" dirty="0">
                <a:solidFill>
                  <a:srgbClr val="8E9BC0"/>
                </a:solidFill>
                <a:latin typeface="Calibri" pitchFamily="34" charset="0"/>
                <a:ea typeface="Calibri" pitchFamily="34" charset="-122"/>
                <a:cs typeface="Calibri" pitchFamily="34" charset="-120"/>
              </a:rPr>
              <a:t>Illustrative mockup - not a real tenant or customer environment</a:t>
            </a:r>
            <a:endParaRPr lang="en-US" sz="950" dirty="0"/>
          </a:p>
        </p:txBody>
      </p:sp>
      <p:sp>
        <p:nvSpPr>
          <p:cNvPr id="26" name="Text 2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0B18"/>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WATCH WHAT HAPPENS WHEN I FOLLOW TRUST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identity. Five pillars. No Domain Admin.</a:t>
            </a:r>
            <a:endParaRPr lang="en-US" sz="3200" dirty="0"/>
          </a:p>
        </p:txBody>
      </p:sp>
      <p:sp>
        <p:nvSpPr>
          <p:cNvPr id="4" name="Shape 2"/>
          <p:cNvSpPr/>
          <p:nvPr/>
        </p:nvSpPr>
        <p:spPr>
          <a:xfrm>
            <a:off x="1280160" y="2834640"/>
            <a:ext cx="2057400" cy="1097280"/>
          </a:xfrm>
          <a:prstGeom prst="line">
            <a:avLst/>
          </a:prstGeom>
          <a:noFill/>
          <a:ln w="27940">
            <a:solidFill>
              <a:srgbClr val="7C5CFC"/>
            </a:solidFill>
            <a:prstDash val="solid"/>
          </a:ln>
        </p:spPr>
      </p:sp>
      <p:sp>
        <p:nvSpPr>
          <p:cNvPr id="5" name="Shape 3"/>
          <p:cNvSpPr/>
          <p:nvPr/>
        </p:nvSpPr>
        <p:spPr>
          <a:xfrm flipV="1">
            <a:off x="3337560" y="2834640"/>
            <a:ext cx="2057400" cy="1097280"/>
          </a:xfrm>
          <a:prstGeom prst="line">
            <a:avLst/>
          </a:prstGeom>
          <a:noFill/>
          <a:ln w="27940">
            <a:solidFill>
              <a:srgbClr val="7C5CFC"/>
            </a:solidFill>
            <a:prstDash val="solid"/>
          </a:ln>
        </p:spPr>
      </p:sp>
      <p:sp>
        <p:nvSpPr>
          <p:cNvPr id="6" name="Shape 4"/>
          <p:cNvSpPr/>
          <p:nvPr/>
        </p:nvSpPr>
        <p:spPr>
          <a:xfrm>
            <a:off x="5394960" y="2834640"/>
            <a:ext cx="2057400" cy="1097280"/>
          </a:xfrm>
          <a:prstGeom prst="line">
            <a:avLst/>
          </a:prstGeom>
          <a:noFill/>
          <a:ln w="27940">
            <a:solidFill>
              <a:srgbClr val="7C5CFC"/>
            </a:solidFill>
            <a:prstDash val="solid"/>
          </a:ln>
        </p:spPr>
      </p:sp>
      <p:sp>
        <p:nvSpPr>
          <p:cNvPr id="7" name="Shape 5"/>
          <p:cNvSpPr/>
          <p:nvPr/>
        </p:nvSpPr>
        <p:spPr>
          <a:xfrm flipV="1">
            <a:off x="7452360" y="2834640"/>
            <a:ext cx="2057400" cy="1097280"/>
          </a:xfrm>
          <a:prstGeom prst="line">
            <a:avLst/>
          </a:prstGeom>
          <a:noFill/>
          <a:ln w="27940">
            <a:solidFill>
              <a:srgbClr val="7C5CFC"/>
            </a:solidFill>
            <a:prstDash val="solid"/>
          </a:ln>
        </p:spPr>
      </p:sp>
      <p:sp>
        <p:nvSpPr>
          <p:cNvPr id="8" name="Shape 6"/>
          <p:cNvSpPr/>
          <p:nvPr/>
        </p:nvSpPr>
        <p:spPr>
          <a:xfrm>
            <a:off x="9509760" y="2834640"/>
            <a:ext cx="1920240" cy="1097280"/>
          </a:xfrm>
          <a:prstGeom prst="line">
            <a:avLst/>
          </a:prstGeom>
          <a:noFill/>
          <a:ln w="27940">
            <a:solidFill>
              <a:srgbClr val="7C5CFC"/>
            </a:solidFill>
            <a:prstDash val="solid"/>
          </a:ln>
        </p:spPr>
      </p:sp>
      <p:sp>
        <p:nvSpPr>
          <p:cNvPr id="9" name="Shape 7"/>
          <p:cNvSpPr/>
          <p:nvPr/>
        </p:nvSpPr>
        <p:spPr>
          <a:xfrm>
            <a:off x="822960" y="2377440"/>
            <a:ext cx="914400" cy="914400"/>
          </a:xfrm>
          <a:prstGeom prst="ellipse">
            <a:avLst/>
          </a:prstGeom>
          <a:solidFill>
            <a:srgbClr val="121A33"/>
          </a:solidFill>
          <a:ln w="15240">
            <a:solidFill>
              <a:srgbClr val="00E5FF"/>
            </a:solidFill>
            <a:prstDash val="solid"/>
          </a:ln>
        </p:spPr>
      </p:sp>
      <p:pic>
        <p:nvPicPr>
          <p:cNvPr id="10" name="Image 0" descr="icons_usershield_00E5FF.png">    </p:cNvPr>
          <p:cNvPicPr>
            <a:picLocks noChangeAspect="1"/>
          </p:cNvPicPr>
          <p:nvPr/>
        </p:nvPicPr>
        <p:blipFill>
          <a:blip r:embed="rId1"/>
          <a:stretch>
            <a:fillRect/>
          </a:stretch>
        </p:blipFill>
        <p:spPr>
          <a:xfrm>
            <a:off x="1042416" y="2596896"/>
            <a:ext cx="475488" cy="475488"/>
          </a:xfrm>
          <a:prstGeom prst="rect">
            <a:avLst/>
          </a:prstGeom>
        </p:spPr>
      </p:pic>
      <p:sp>
        <p:nvSpPr>
          <p:cNvPr id="11" name="Text 8"/>
          <p:cNvSpPr/>
          <p:nvPr/>
        </p:nvSpPr>
        <p:spPr>
          <a:xfrm>
            <a:off x="320040" y="3337560"/>
            <a:ext cx="19202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Phished IdP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session token</a:t>
            </a:r>
            <a:endParaRPr lang="en-US" sz="1050" dirty="0"/>
          </a:p>
        </p:txBody>
      </p:sp>
      <p:sp>
        <p:nvSpPr>
          <p:cNvPr id="12" name="Shape 9"/>
          <p:cNvSpPr/>
          <p:nvPr/>
        </p:nvSpPr>
        <p:spPr>
          <a:xfrm>
            <a:off x="2880360" y="3474720"/>
            <a:ext cx="914400" cy="914400"/>
          </a:xfrm>
          <a:prstGeom prst="ellipse">
            <a:avLst/>
          </a:prstGeom>
          <a:solidFill>
            <a:srgbClr val="121A33"/>
          </a:solidFill>
          <a:ln w="15240">
            <a:solidFill>
              <a:srgbClr val="00E5FF"/>
            </a:solidFill>
            <a:prstDash val="solid"/>
          </a:ln>
        </p:spPr>
      </p:sp>
      <p:pic>
        <p:nvPicPr>
          <p:cNvPr id="13" name="Image 1" descr="icons_mobile_00E5FF.png">    </p:cNvPr>
          <p:cNvPicPr>
            <a:picLocks noChangeAspect="1"/>
          </p:cNvPicPr>
          <p:nvPr/>
        </p:nvPicPr>
        <p:blipFill>
          <a:blip r:embed="rId2"/>
          <a:stretch>
            <a:fillRect/>
          </a:stretch>
        </p:blipFill>
        <p:spPr>
          <a:xfrm>
            <a:off x="3099816" y="3694176"/>
            <a:ext cx="475488" cy="475488"/>
          </a:xfrm>
          <a:prstGeom prst="rect">
            <a:avLst/>
          </a:prstGeom>
        </p:spPr>
      </p:pic>
      <p:sp>
        <p:nvSpPr>
          <p:cNvPr id="14" name="Text 10"/>
          <p:cNvSpPr/>
          <p:nvPr/>
        </p:nvSpPr>
        <p:spPr>
          <a:xfrm>
            <a:off x="2377440" y="4434840"/>
            <a:ext cx="19202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Registered as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trusted device</a:t>
            </a:r>
            <a:endParaRPr lang="en-US" sz="1050" dirty="0"/>
          </a:p>
        </p:txBody>
      </p:sp>
      <p:sp>
        <p:nvSpPr>
          <p:cNvPr id="15" name="Shape 11"/>
          <p:cNvSpPr/>
          <p:nvPr/>
        </p:nvSpPr>
        <p:spPr>
          <a:xfrm>
            <a:off x="4937760" y="2377440"/>
            <a:ext cx="914400" cy="914400"/>
          </a:xfrm>
          <a:prstGeom prst="ellipse">
            <a:avLst/>
          </a:prstGeom>
          <a:solidFill>
            <a:srgbClr val="121A33"/>
          </a:solidFill>
          <a:ln w="15240">
            <a:solidFill>
              <a:srgbClr val="00E5FF"/>
            </a:solidFill>
            <a:prstDash val="solid"/>
          </a:ln>
        </p:spPr>
      </p:sp>
      <p:pic>
        <p:nvPicPr>
          <p:cNvPr id="16" name="Image 2" descr="icons_building_00E5FF.png">    </p:cNvPr>
          <p:cNvPicPr>
            <a:picLocks noChangeAspect="1"/>
          </p:cNvPicPr>
          <p:nvPr/>
        </p:nvPicPr>
        <p:blipFill>
          <a:blip r:embed="rId3"/>
          <a:stretch>
            <a:fillRect/>
          </a:stretch>
        </p:blipFill>
        <p:spPr>
          <a:xfrm>
            <a:off x="5157216" y="2596896"/>
            <a:ext cx="475488" cy="475488"/>
          </a:xfrm>
          <a:prstGeom prst="rect">
            <a:avLst/>
          </a:prstGeom>
        </p:spPr>
      </p:pic>
      <p:sp>
        <p:nvSpPr>
          <p:cNvPr id="17" name="Text 12"/>
          <p:cNvSpPr/>
          <p:nvPr/>
        </p:nvSpPr>
        <p:spPr>
          <a:xfrm>
            <a:off x="4434840" y="3337560"/>
            <a:ext cx="19202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SaaS admin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console reached</a:t>
            </a:r>
            <a:endParaRPr lang="en-US" sz="1050" dirty="0"/>
          </a:p>
        </p:txBody>
      </p:sp>
      <p:sp>
        <p:nvSpPr>
          <p:cNvPr id="18" name="Shape 13"/>
          <p:cNvSpPr/>
          <p:nvPr/>
        </p:nvSpPr>
        <p:spPr>
          <a:xfrm>
            <a:off x="6995160" y="3474720"/>
            <a:ext cx="914400" cy="914400"/>
          </a:xfrm>
          <a:prstGeom prst="ellipse">
            <a:avLst/>
          </a:prstGeom>
          <a:solidFill>
            <a:srgbClr val="121A33"/>
          </a:solidFill>
          <a:ln w="15240">
            <a:solidFill>
              <a:srgbClr val="00E5FF"/>
            </a:solidFill>
            <a:prstDash val="solid"/>
          </a:ln>
        </p:spPr>
      </p:sp>
      <p:pic>
        <p:nvPicPr>
          <p:cNvPr id="19" name="Image 3" descr="icons_exchange_00E5FF.png">    </p:cNvPr>
          <p:cNvPicPr>
            <a:picLocks noChangeAspect="1"/>
          </p:cNvPicPr>
          <p:nvPr/>
        </p:nvPicPr>
        <p:blipFill>
          <a:blip r:embed="rId4"/>
          <a:stretch>
            <a:fillRect/>
          </a:stretch>
        </p:blipFill>
        <p:spPr>
          <a:xfrm>
            <a:off x="7214616" y="3694176"/>
            <a:ext cx="475488" cy="475488"/>
          </a:xfrm>
          <a:prstGeom prst="rect">
            <a:avLst/>
          </a:prstGeom>
        </p:spPr>
      </p:pic>
      <p:sp>
        <p:nvSpPr>
          <p:cNvPr id="20" name="Text 14"/>
          <p:cNvSpPr/>
          <p:nvPr/>
        </p:nvSpPr>
        <p:spPr>
          <a:xfrm>
            <a:off x="6492240" y="4434840"/>
            <a:ext cx="19202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OAuth grant to</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partner tenant</a:t>
            </a:r>
            <a:endParaRPr lang="en-US" sz="1050" dirty="0"/>
          </a:p>
        </p:txBody>
      </p:sp>
      <p:sp>
        <p:nvSpPr>
          <p:cNvPr id="21" name="Shape 15"/>
          <p:cNvSpPr/>
          <p:nvPr/>
        </p:nvSpPr>
        <p:spPr>
          <a:xfrm>
            <a:off x="9052560" y="2377440"/>
            <a:ext cx="914400" cy="914400"/>
          </a:xfrm>
          <a:prstGeom prst="ellipse">
            <a:avLst/>
          </a:prstGeom>
          <a:solidFill>
            <a:srgbClr val="121A33"/>
          </a:solidFill>
          <a:ln w="15240">
            <a:solidFill>
              <a:srgbClr val="00E5FF"/>
            </a:solidFill>
            <a:prstDash val="solid"/>
          </a:ln>
        </p:spPr>
      </p:sp>
      <p:pic>
        <p:nvPicPr>
          <p:cNvPr id="22" name="Image 4" descr="icons_cloud_00E5FF.png">    </p:cNvPr>
          <p:cNvPicPr>
            <a:picLocks noChangeAspect="1"/>
          </p:cNvPicPr>
          <p:nvPr/>
        </p:nvPicPr>
        <p:blipFill>
          <a:blip r:embed="rId5"/>
          <a:stretch>
            <a:fillRect/>
          </a:stretch>
        </p:blipFill>
        <p:spPr>
          <a:xfrm>
            <a:off x="9272016" y="2596896"/>
            <a:ext cx="475488" cy="475488"/>
          </a:xfrm>
          <a:prstGeom prst="rect">
            <a:avLst/>
          </a:prstGeom>
        </p:spPr>
      </p:pic>
      <p:sp>
        <p:nvSpPr>
          <p:cNvPr id="23" name="Text 16"/>
          <p:cNvSpPr/>
          <p:nvPr/>
        </p:nvSpPr>
        <p:spPr>
          <a:xfrm>
            <a:off x="8549640" y="3337560"/>
            <a:ext cx="19202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Cloud IAM role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assumed</a:t>
            </a:r>
            <a:endParaRPr lang="en-US" sz="1050" dirty="0"/>
          </a:p>
        </p:txBody>
      </p:sp>
      <p:sp>
        <p:nvSpPr>
          <p:cNvPr id="24" name="Shape 17"/>
          <p:cNvSpPr/>
          <p:nvPr/>
        </p:nvSpPr>
        <p:spPr>
          <a:xfrm>
            <a:off x="10972800" y="3474720"/>
            <a:ext cx="914400" cy="914400"/>
          </a:xfrm>
          <a:prstGeom prst="ellipse">
            <a:avLst/>
          </a:prstGeom>
          <a:solidFill>
            <a:srgbClr val="FF5C7A"/>
          </a:solidFill>
          <a:ln w="15240">
            <a:solidFill>
              <a:srgbClr val="FF5C7A"/>
            </a:solidFill>
            <a:prstDash val="solid"/>
          </a:ln>
        </p:spPr>
      </p:sp>
      <p:pic>
        <p:nvPicPr>
          <p:cNvPr id="25" name="Image 5" descr="icons_skull_FFFFFF.png">    </p:cNvPr>
          <p:cNvPicPr>
            <a:picLocks noChangeAspect="1"/>
          </p:cNvPicPr>
          <p:nvPr/>
        </p:nvPicPr>
        <p:blipFill>
          <a:blip r:embed="rId6"/>
          <a:stretch>
            <a:fillRect/>
          </a:stretch>
        </p:blipFill>
        <p:spPr>
          <a:xfrm>
            <a:off x="11192256" y="3694176"/>
            <a:ext cx="475488" cy="475488"/>
          </a:xfrm>
          <a:prstGeom prst="rect">
            <a:avLst/>
          </a:prstGeom>
        </p:spPr>
      </p:pic>
      <p:sp>
        <p:nvSpPr>
          <p:cNvPr id="26" name="Text 18"/>
          <p:cNvSpPr/>
          <p:nvPr/>
        </p:nvSpPr>
        <p:spPr>
          <a:xfrm>
            <a:off x="10469880" y="4434840"/>
            <a:ext cx="1920240" cy="5943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Full estate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compromise</a:t>
            </a:r>
            <a:endParaRPr lang="en-US" sz="1050" dirty="0"/>
          </a:p>
        </p:txBody>
      </p:sp>
      <p:sp>
        <p:nvSpPr>
          <p:cNvPr id="27" name="Text 19"/>
          <p:cNvSpPr/>
          <p:nvPr/>
        </p:nvSpPr>
        <p:spPr>
          <a:xfrm>
            <a:off x="640080" y="5669280"/>
            <a:ext cx="10881360" cy="457200"/>
          </a:xfrm>
          <a:prstGeom prst="rect">
            <a:avLst/>
          </a:prstGeom>
          <a:noFill/>
          <a:ln/>
        </p:spPr>
        <p:txBody>
          <a:bodyPr wrap="square" rtlCol="0" anchor="ctr"/>
          <a:lstStyle/>
          <a:p>
            <a:pPr algn="ctr" indent="0" marL="0">
              <a:buNone/>
            </a:pPr>
            <a:r>
              <a:rPr lang="en-US" sz="1500" i="1" dirty="0">
                <a:solidFill>
                  <a:srgbClr val="8E9BC0"/>
                </a:solidFill>
                <a:latin typeface="Calibri" pitchFamily="34" charset="0"/>
                <a:ea typeface="Calibri" pitchFamily="34" charset="-122"/>
                <a:cs typeface="Calibri" pitchFamily="34" charset="-120"/>
              </a:rPr>
              <a:t>No domain controller was ever touched. No BloodHound edge was ever walked.</a:t>
            </a:r>
            <a:endParaRPr lang="en-US" sz="1500" dirty="0"/>
          </a:p>
        </p:txBody>
      </p:sp>
      <p:sp>
        <p:nvSpPr>
          <p:cNvPr id="28"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377440"/>
            <a:ext cx="10515600" cy="2011680"/>
          </a:xfrm>
          <a:prstGeom prst="rect">
            <a:avLst/>
          </a:prstGeom>
          <a:noFill/>
          <a:ln/>
        </p:spPr>
        <p:txBody>
          <a:bodyPr wrap="square" rtlCol="0" anchor="ctr"/>
          <a:lstStyle/>
          <a:p>
            <a:pPr algn="ctr" indent="0" marL="0">
              <a:buNone/>
            </a:pPr>
            <a:r>
              <a:rPr lang="en-US" sz="5000" b="1" dirty="0">
                <a:solidFill>
                  <a:srgbClr val="FF5C7A"/>
                </a:solidFill>
                <a:latin typeface="Cambria" pitchFamily="34" charset="0"/>
                <a:ea typeface="Cambria" pitchFamily="34" charset="-122"/>
                <a:cs typeface="Cambria" pitchFamily="34" charset="-120"/>
              </a:rPr>
              <a:t>I NEVER NEEDED</a:t>
            </a:r>
            <a:endParaRPr lang="en-US" sz="5000" dirty="0"/>
          </a:p>
          <a:p>
            <a:pPr algn="ctr" indent="0" marL="0">
              <a:buNone/>
            </a:pPr>
            <a:r>
              <a:rPr lang="en-US" sz="5000" b="1" dirty="0">
                <a:solidFill>
                  <a:srgbClr val="FF5C7A"/>
                </a:solidFill>
                <a:latin typeface="Cambria" pitchFamily="34" charset="0"/>
                <a:ea typeface="Cambria" pitchFamily="34" charset="-122"/>
                <a:cs typeface="Cambria" pitchFamily="34" charset="-120"/>
              </a:rPr>
              <a:t>DOMAIN ADMIN.</a:t>
            </a:r>
            <a:endParaRPr lang="en-US" sz="5000" dirty="0"/>
          </a:p>
        </p:txBody>
      </p:sp>
      <p:sp>
        <p:nvSpPr>
          <p:cNvPr id="3" name="Text 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468880"/>
            <a:ext cx="10515600" cy="18288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SO WHAT WAS</a:t>
            </a:r>
            <a:endParaRPr lang="en-US" sz="4200" dirty="0"/>
          </a:p>
          <a:p>
            <a:pPr algn="ctr" indent="0" marL="0">
              <a:buNone/>
            </a:pPr>
            <a:r>
              <a:rPr lang="en-US" sz="4200" b="1" dirty="0">
                <a:solidFill>
                  <a:srgbClr val="FFFFFF"/>
                </a:solidFill>
                <a:latin typeface="Cambria" pitchFamily="34" charset="0"/>
                <a:ea typeface="Cambria" pitchFamily="34" charset="-122"/>
                <a:cs typeface="Cambria" pitchFamily="34" charset="-120"/>
              </a:rPr>
              <a:t>THE OBJECTIVE?</a:t>
            </a:r>
            <a:endParaRPr lang="en-US" sz="4200" dirty="0"/>
          </a:p>
        </p:txBody>
      </p:sp>
      <p:sp>
        <p:nvSpPr>
          <p:cNvPr id="3" name="Text 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5070A"/>
        </a:solidFill>
      </p:bgPr>
    </p:bg>
    <p:spTree>
      <p:nvGrpSpPr>
        <p:cNvPr id="1" name=""/>
        <p:cNvGrpSpPr/>
        <p:nvPr/>
      </p:nvGrpSpPr>
      <p:grpSpPr>
        <a:xfrm>
          <a:off x="0" y="0"/>
          <a:ext cx="0" cy="0"/>
          <a:chOff x="0" y="0"/>
          <a:chExt cx="0" cy="0"/>
        </a:xfrm>
      </p:grpSpPr>
      <p:sp>
        <p:nvSpPr>
          <p:cNvPr id="2" name="Text 0"/>
          <p:cNvSpPr/>
          <p:nvPr/>
        </p:nvSpPr>
        <p:spPr>
          <a:xfrm>
            <a:off x="822960" y="2286000"/>
            <a:ext cx="10515600" cy="1463040"/>
          </a:xfrm>
          <a:prstGeom prst="rect">
            <a:avLst/>
          </a:prstGeom>
          <a:noFill/>
          <a:ln/>
        </p:spPr>
        <p:txBody>
          <a:bodyPr wrap="square" rtlCol="0" anchor="ctr"/>
          <a:lstStyle/>
          <a:p>
            <a:pPr algn="ctr" indent="0" marL="0">
              <a:buNone/>
            </a:pPr>
            <a:r>
              <a:rPr lang="en-US" sz="6800" b="1" dirty="0">
                <a:solidFill>
                  <a:srgbClr val="00E5FF"/>
                </a:solidFill>
                <a:latin typeface="Cambria" pitchFamily="34" charset="0"/>
                <a:ea typeface="Cambria" pitchFamily="34" charset="-122"/>
                <a:cs typeface="Cambria" pitchFamily="34" charset="-120"/>
              </a:rPr>
              <a:t>REACH.</a:t>
            </a:r>
            <a:endParaRPr lang="en-US" sz="6800" dirty="0"/>
          </a:p>
        </p:txBody>
      </p:sp>
      <p:sp>
        <p:nvSpPr>
          <p:cNvPr id="3" name="Text 1"/>
          <p:cNvSpPr/>
          <p:nvPr/>
        </p:nvSpPr>
        <p:spPr>
          <a:xfrm>
            <a:off x="1280160" y="3886200"/>
            <a:ext cx="9601200" cy="548640"/>
          </a:xfrm>
          <a:prstGeom prst="rect">
            <a:avLst/>
          </a:prstGeom>
          <a:noFill/>
          <a:ln/>
        </p:spPr>
        <p:txBody>
          <a:bodyPr wrap="square" rtlCol="0" anchor="ctr"/>
          <a:lstStyle/>
          <a:p>
            <a:pPr algn="ctr" indent="0" marL="0">
              <a:buNone/>
            </a:pPr>
            <a:r>
              <a:rPr lang="en-US" sz="1500" i="1" dirty="0">
                <a:solidFill>
                  <a:srgbClr val="8E9BC0"/>
                </a:solidFill>
                <a:latin typeface="Calibri" pitchFamily="34" charset="0"/>
                <a:ea typeface="Calibri" pitchFamily="34" charset="-122"/>
                <a:cs typeface="Calibri" pitchFamily="34" charset="-120"/>
              </a:rPr>
              <a:t>Trust is how you get there. Reach is what you're actually measuring.</a:t>
            </a:r>
            <a:endParaRPr lang="en-US" sz="1500" dirty="0"/>
          </a:p>
        </p:txBody>
      </p:sp>
      <p:sp>
        <p:nvSpPr>
          <p:cNvPr id="4" name="Text 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A THOUGHT EXPERIMENT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pentests</a:t>
            </a:r>
            <a:endParaRPr lang="en-US" sz="3200" dirty="0"/>
          </a:p>
        </p:txBody>
      </p:sp>
      <p:sp>
        <p:nvSpPr>
          <p:cNvPr id="4" name="Shape 2"/>
          <p:cNvSpPr/>
          <p:nvPr/>
        </p:nvSpPr>
        <p:spPr>
          <a:xfrm>
            <a:off x="640080" y="1783080"/>
            <a:ext cx="5120640" cy="4114800"/>
          </a:xfrm>
          <a:prstGeom prst="roundRect">
            <a:avLst>
              <a:gd name="adj" fmla="val 2667"/>
            </a:avLst>
          </a:prstGeom>
          <a:solidFill>
            <a:srgbClr val="121A33"/>
          </a:solidFill>
          <a:ln w="15240">
            <a:solidFill>
              <a:srgbClr val="7C5CFC"/>
            </a:solidFill>
            <a:prstDash val="solid"/>
          </a:ln>
        </p:spPr>
      </p:sp>
      <p:sp>
        <p:nvSpPr>
          <p:cNvPr id="5" name="Text 3"/>
          <p:cNvSpPr/>
          <p:nvPr/>
        </p:nvSpPr>
        <p:spPr>
          <a:xfrm>
            <a:off x="914400" y="2011680"/>
            <a:ext cx="4572000" cy="365760"/>
          </a:xfrm>
          <a:prstGeom prst="rect">
            <a:avLst/>
          </a:prstGeom>
          <a:noFill/>
          <a:ln/>
        </p:spPr>
        <p:txBody>
          <a:bodyPr wrap="square" rtlCol="0" anchor="ctr"/>
          <a:lstStyle/>
          <a:p>
            <a:pPr indent="0" marL="0">
              <a:buNone/>
            </a:pPr>
            <a:r>
              <a:rPr lang="en-US" sz="1500" b="1" spc="100" kern="0" dirty="0">
                <a:solidFill>
                  <a:srgbClr val="7C5CFC"/>
                </a:solidFill>
                <a:latin typeface="Calibri" pitchFamily="34" charset="0"/>
                <a:ea typeface="Calibri" pitchFamily="34" charset="-122"/>
                <a:cs typeface="Calibri" pitchFamily="34" charset="-120"/>
              </a:rPr>
              <a:t>PENTEST A</a:t>
            </a:r>
            <a:endParaRPr lang="en-US" sz="1500" dirty="0"/>
          </a:p>
        </p:txBody>
      </p:sp>
      <p:sp>
        <p:nvSpPr>
          <p:cNvPr id="6" name="Shape 4"/>
          <p:cNvSpPr/>
          <p:nvPr/>
        </p:nvSpPr>
        <p:spPr>
          <a:xfrm>
            <a:off x="914400" y="2560320"/>
            <a:ext cx="4572000" cy="896112"/>
          </a:xfrm>
          <a:prstGeom prst="roundRect">
            <a:avLst>
              <a:gd name="adj" fmla="val 6122"/>
            </a:avLst>
          </a:prstGeom>
          <a:solidFill>
            <a:srgbClr val="0E1530"/>
          </a:solidFill>
          <a:ln/>
        </p:spPr>
      </p:sp>
      <p:sp>
        <p:nvSpPr>
          <p:cNvPr id="7" name="Text 5"/>
          <p:cNvSpPr/>
          <p:nvPr/>
        </p:nvSpPr>
        <p:spPr>
          <a:xfrm>
            <a:off x="1051560" y="2560320"/>
            <a:ext cx="4297680" cy="8961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Compromise AD</a:t>
            </a:r>
            <a:endParaRPr lang="en-US" sz="1200" dirty="0"/>
          </a:p>
        </p:txBody>
      </p:sp>
      <p:sp>
        <p:nvSpPr>
          <p:cNvPr id="8" name="Shape 6"/>
          <p:cNvSpPr/>
          <p:nvPr/>
        </p:nvSpPr>
        <p:spPr>
          <a:xfrm>
            <a:off x="914400" y="3529584"/>
            <a:ext cx="4572000" cy="896112"/>
          </a:xfrm>
          <a:prstGeom prst="roundRect">
            <a:avLst>
              <a:gd name="adj" fmla="val 6122"/>
            </a:avLst>
          </a:prstGeom>
          <a:solidFill>
            <a:srgbClr val="0E1530"/>
          </a:solidFill>
          <a:ln/>
        </p:spPr>
      </p:sp>
      <p:sp>
        <p:nvSpPr>
          <p:cNvPr id="9" name="Text 7"/>
          <p:cNvSpPr/>
          <p:nvPr/>
        </p:nvSpPr>
        <p:spPr>
          <a:xfrm>
            <a:off x="1051560" y="3529584"/>
            <a:ext cx="4297680" cy="8961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Domain Admin</a:t>
            </a:r>
            <a:endParaRPr lang="en-US" sz="1200" dirty="0"/>
          </a:p>
        </p:txBody>
      </p:sp>
      <p:sp>
        <p:nvSpPr>
          <p:cNvPr id="10" name="Shape 8"/>
          <p:cNvSpPr/>
          <p:nvPr/>
        </p:nvSpPr>
        <p:spPr>
          <a:xfrm>
            <a:off x="914400" y="4498848"/>
            <a:ext cx="4572000" cy="896112"/>
          </a:xfrm>
          <a:prstGeom prst="roundRect">
            <a:avLst>
              <a:gd name="adj" fmla="val 6122"/>
            </a:avLst>
          </a:prstGeom>
          <a:solidFill>
            <a:srgbClr val="0E1530"/>
          </a:solidFill>
          <a:ln/>
        </p:spPr>
      </p:sp>
      <p:sp>
        <p:nvSpPr>
          <p:cNvPr id="11" name="Text 9"/>
          <p:cNvSpPr/>
          <p:nvPr/>
        </p:nvSpPr>
        <p:spPr>
          <a:xfrm>
            <a:off x="1051560" y="4498848"/>
            <a:ext cx="4297680" cy="8961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SUCCESS</a:t>
            </a:r>
            <a:endParaRPr lang="en-US" sz="1200" dirty="0"/>
          </a:p>
        </p:txBody>
      </p:sp>
      <p:sp>
        <p:nvSpPr>
          <p:cNvPr id="12" name="Text 10"/>
          <p:cNvSpPr/>
          <p:nvPr/>
        </p:nvSpPr>
        <p:spPr>
          <a:xfrm>
            <a:off x="914400" y="5394960"/>
            <a:ext cx="4572000" cy="411480"/>
          </a:xfrm>
          <a:prstGeom prst="rect">
            <a:avLst/>
          </a:prstGeom>
          <a:noFill/>
          <a:ln/>
        </p:spPr>
        <p:txBody>
          <a:bodyPr wrap="square" rtlCol="0" anchor="ctr"/>
          <a:lstStyle/>
          <a:p>
            <a:pPr algn="ctr" indent="0" marL="0">
              <a:buNone/>
            </a:pPr>
            <a:r>
              <a:rPr lang="en-US" sz="1700" b="1" dirty="0">
                <a:solidFill>
                  <a:srgbClr val="7C5CFC"/>
                </a:solidFill>
                <a:latin typeface="Cambria" pitchFamily="34" charset="0"/>
                <a:ea typeface="Cambria" pitchFamily="34" charset="-122"/>
                <a:cs typeface="Cambria" pitchFamily="34" charset="-120"/>
              </a:rPr>
              <a:t>Report: Critical</a:t>
            </a:r>
            <a:endParaRPr lang="en-US" sz="1700" dirty="0"/>
          </a:p>
        </p:txBody>
      </p:sp>
      <p:sp>
        <p:nvSpPr>
          <p:cNvPr id="13" name="Shape 11"/>
          <p:cNvSpPr/>
          <p:nvPr/>
        </p:nvSpPr>
        <p:spPr>
          <a:xfrm>
            <a:off x="6217920" y="1783080"/>
            <a:ext cx="5120640" cy="4114800"/>
          </a:xfrm>
          <a:prstGeom prst="roundRect">
            <a:avLst>
              <a:gd name="adj" fmla="val 2667"/>
            </a:avLst>
          </a:prstGeom>
          <a:solidFill>
            <a:srgbClr val="121A33"/>
          </a:solidFill>
          <a:ln w="15240">
            <a:solidFill>
              <a:srgbClr val="FF5C7A"/>
            </a:solidFill>
            <a:prstDash val="solid"/>
          </a:ln>
        </p:spPr>
      </p:sp>
      <p:sp>
        <p:nvSpPr>
          <p:cNvPr id="14" name="Text 12"/>
          <p:cNvSpPr/>
          <p:nvPr/>
        </p:nvSpPr>
        <p:spPr>
          <a:xfrm>
            <a:off x="6492240" y="2011680"/>
            <a:ext cx="4572000" cy="365760"/>
          </a:xfrm>
          <a:prstGeom prst="rect">
            <a:avLst/>
          </a:prstGeom>
          <a:noFill/>
          <a:ln/>
        </p:spPr>
        <p:txBody>
          <a:bodyPr wrap="square" rtlCol="0" anchor="ctr"/>
          <a:lstStyle/>
          <a:p>
            <a:pPr indent="0" marL="0">
              <a:buNone/>
            </a:pPr>
            <a:r>
              <a:rPr lang="en-US" sz="1500" b="1" spc="100" kern="0" dirty="0">
                <a:solidFill>
                  <a:srgbClr val="FF5C7A"/>
                </a:solidFill>
                <a:latin typeface="Calibri" pitchFamily="34" charset="0"/>
                <a:ea typeface="Calibri" pitchFamily="34" charset="-122"/>
                <a:cs typeface="Calibri" pitchFamily="34" charset="-120"/>
              </a:rPr>
              <a:t>PENTEST B</a:t>
            </a:r>
            <a:endParaRPr lang="en-US" sz="1500" dirty="0"/>
          </a:p>
        </p:txBody>
      </p:sp>
      <p:sp>
        <p:nvSpPr>
          <p:cNvPr id="15" name="Shape 13"/>
          <p:cNvSpPr/>
          <p:nvPr/>
        </p:nvSpPr>
        <p:spPr>
          <a:xfrm>
            <a:off x="6492240" y="2560320"/>
            <a:ext cx="4572000" cy="411480"/>
          </a:xfrm>
          <a:prstGeom prst="roundRect">
            <a:avLst>
              <a:gd name="adj" fmla="val 13333"/>
            </a:avLst>
          </a:prstGeom>
          <a:solidFill>
            <a:srgbClr val="0E1530"/>
          </a:solidFill>
          <a:ln/>
        </p:spPr>
      </p:sp>
      <p:sp>
        <p:nvSpPr>
          <p:cNvPr id="16" name="Text 14"/>
          <p:cNvSpPr/>
          <p:nvPr/>
        </p:nvSpPr>
        <p:spPr>
          <a:xfrm>
            <a:off x="6629400" y="2560320"/>
            <a:ext cx="429768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Compromise IdP</a:t>
            </a:r>
            <a:endParaRPr lang="en-US" sz="1200" dirty="0"/>
          </a:p>
        </p:txBody>
      </p:sp>
      <p:sp>
        <p:nvSpPr>
          <p:cNvPr id="17" name="Shape 15"/>
          <p:cNvSpPr/>
          <p:nvPr/>
        </p:nvSpPr>
        <p:spPr>
          <a:xfrm>
            <a:off x="6492240" y="3044952"/>
            <a:ext cx="4572000" cy="411480"/>
          </a:xfrm>
          <a:prstGeom prst="roundRect">
            <a:avLst>
              <a:gd name="adj" fmla="val 13333"/>
            </a:avLst>
          </a:prstGeom>
          <a:solidFill>
            <a:srgbClr val="0E1530"/>
          </a:solidFill>
          <a:ln/>
        </p:spPr>
      </p:sp>
      <p:sp>
        <p:nvSpPr>
          <p:cNvPr id="18" name="Text 16"/>
          <p:cNvSpPr/>
          <p:nvPr/>
        </p:nvSpPr>
        <p:spPr>
          <a:xfrm>
            <a:off x="6629400" y="3044952"/>
            <a:ext cx="429768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Trusted device</a:t>
            </a:r>
            <a:endParaRPr lang="en-US" sz="1200" dirty="0"/>
          </a:p>
        </p:txBody>
      </p:sp>
      <p:sp>
        <p:nvSpPr>
          <p:cNvPr id="19" name="Shape 17"/>
          <p:cNvSpPr/>
          <p:nvPr/>
        </p:nvSpPr>
        <p:spPr>
          <a:xfrm>
            <a:off x="6492240" y="3529584"/>
            <a:ext cx="4572000" cy="411480"/>
          </a:xfrm>
          <a:prstGeom prst="roundRect">
            <a:avLst>
              <a:gd name="adj" fmla="val 13333"/>
            </a:avLst>
          </a:prstGeom>
          <a:solidFill>
            <a:srgbClr val="0E1530"/>
          </a:solidFill>
          <a:ln/>
        </p:spPr>
      </p:sp>
      <p:sp>
        <p:nvSpPr>
          <p:cNvPr id="20" name="Text 18"/>
          <p:cNvSpPr/>
          <p:nvPr/>
        </p:nvSpPr>
        <p:spPr>
          <a:xfrm>
            <a:off x="6629400" y="3529584"/>
            <a:ext cx="429768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SaaS admin</a:t>
            </a:r>
            <a:endParaRPr lang="en-US" sz="1200" dirty="0"/>
          </a:p>
        </p:txBody>
      </p:sp>
      <p:sp>
        <p:nvSpPr>
          <p:cNvPr id="21" name="Shape 19"/>
          <p:cNvSpPr/>
          <p:nvPr/>
        </p:nvSpPr>
        <p:spPr>
          <a:xfrm>
            <a:off x="6492240" y="4014216"/>
            <a:ext cx="4572000" cy="411480"/>
          </a:xfrm>
          <a:prstGeom prst="roundRect">
            <a:avLst>
              <a:gd name="adj" fmla="val 13333"/>
            </a:avLst>
          </a:prstGeom>
          <a:solidFill>
            <a:srgbClr val="0E1530"/>
          </a:solidFill>
          <a:ln/>
        </p:spPr>
      </p:sp>
      <p:sp>
        <p:nvSpPr>
          <p:cNvPr id="22" name="Text 20"/>
          <p:cNvSpPr/>
          <p:nvPr/>
        </p:nvSpPr>
        <p:spPr>
          <a:xfrm>
            <a:off x="6629400" y="4014216"/>
            <a:ext cx="429768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OAuth grant</a:t>
            </a:r>
            <a:endParaRPr lang="en-US" sz="1200" dirty="0"/>
          </a:p>
        </p:txBody>
      </p:sp>
      <p:sp>
        <p:nvSpPr>
          <p:cNvPr id="23" name="Shape 21"/>
          <p:cNvSpPr/>
          <p:nvPr/>
        </p:nvSpPr>
        <p:spPr>
          <a:xfrm>
            <a:off x="6492240" y="4498848"/>
            <a:ext cx="4572000" cy="411480"/>
          </a:xfrm>
          <a:prstGeom prst="roundRect">
            <a:avLst>
              <a:gd name="adj" fmla="val 13333"/>
            </a:avLst>
          </a:prstGeom>
          <a:solidFill>
            <a:srgbClr val="0E1530"/>
          </a:solidFill>
          <a:ln/>
        </p:spPr>
      </p:sp>
      <p:sp>
        <p:nvSpPr>
          <p:cNvPr id="24" name="Text 22"/>
          <p:cNvSpPr/>
          <p:nvPr/>
        </p:nvSpPr>
        <p:spPr>
          <a:xfrm>
            <a:off x="6629400" y="4498848"/>
            <a:ext cx="429768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Cloud IAM</a:t>
            </a:r>
            <a:endParaRPr lang="en-US" sz="1200" dirty="0"/>
          </a:p>
        </p:txBody>
      </p:sp>
      <p:sp>
        <p:nvSpPr>
          <p:cNvPr id="25" name="Shape 23"/>
          <p:cNvSpPr/>
          <p:nvPr/>
        </p:nvSpPr>
        <p:spPr>
          <a:xfrm>
            <a:off x="6492240" y="4983480"/>
            <a:ext cx="4572000" cy="411480"/>
          </a:xfrm>
          <a:prstGeom prst="roundRect">
            <a:avLst>
              <a:gd name="adj" fmla="val 13333"/>
            </a:avLst>
          </a:prstGeom>
          <a:solidFill>
            <a:srgbClr val="0E1530"/>
          </a:solidFill>
          <a:ln/>
        </p:spPr>
      </p:sp>
      <p:sp>
        <p:nvSpPr>
          <p:cNvPr id="26" name="Text 24"/>
          <p:cNvSpPr/>
          <p:nvPr/>
        </p:nvSpPr>
        <p:spPr>
          <a:xfrm>
            <a:off x="6629400" y="4983480"/>
            <a:ext cx="429768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Business crown jewels</a:t>
            </a:r>
            <a:endParaRPr lang="en-US" sz="1200" dirty="0"/>
          </a:p>
        </p:txBody>
      </p:sp>
      <p:sp>
        <p:nvSpPr>
          <p:cNvPr id="27" name="Text 25"/>
          <p:cNvSpPr/>
          <p:nvPr/>
        </p:nvSpPr>
        <p:spPr>
          <a:xfrm>
            <a:off x="6492240" y="5394960"/>
            <a:ext cx="4572000" cy="411480"/>
          </a:xfrm>
          <a:prstGeom prst="rect">
            <a:avLst/>
          </a:prstGeom>
          <a:noFill/>
          <a:ln/>
        </p:spPr>
        <p:txBody>
          <a:bodyPr wrap="square" rtlCol="0" anchor="ctr"/>
          <a:lstStyle/>
          <a:p>
            <a:pPr algn="ctr" indent="0" marL="0">
              <a:buNone/>
            </a:pPr>
            <a:r>
              <a:rPr lang="en-US" sz="1700" b="1" dirty="0">
                <a:solidFill>
                  <a:srgbClr val="FF5C7A"/>
                </a:solidFill>
                <a:latin typeface="Cambria" pitchFamily="34" charset="0"/>
                <a:ea typeface="Cambria" pitchFamily="34" charset="-122"/>
                <a:cs typeface="Cambria" pitchFamily="34" charset="-120"/>
              </a:rPr>
              <a:t>Report: ?</a:t>
            </a:r>
            <a:endParaRPr lang="en-US" sz="1700" dirty="0"/>
          </a:p>
        </p:txBody>
      </p:sp>
      <p:sp>
        <p:nvSpPr>
          <p:cNvPr id="28"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B18"/>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THE REAL FINDING</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We have a metric problem</a:t>
            </a:r>
            <a:endParaRPr lang="en-US" sz="3200" dirty="0"/>
          </a:p>
        </p:txBody>
      </p:sp>
      <p:sp>
        <p:nvSpPr>
          <p:cNvPr id="4" name="Shape 2"/>
          <p:cNvSpPr/>
          <p:nvPr/>
        </p:nvSpPr>
        <p:spPr>
          <a:xfrm>
            <a:off x="640080" y="1554480"/>
            <a:ext cx="5120640" cy="2880360"/>
          </a:xfrm>
          <a:prstGeom prst="roundRect">
            <a:avLst>
              <a:gd name="adj" fmla="val 3810"/>
            </a:avLst>
          </a:prstGeom>
          <a:solidFill>
            <a:srgbClr val="121A33"/>
          </a:solidFill>
          <a:ln w="15240">
            <a:solidFill>
              <a:srgbClr val="8E9BC0"/>
            </a:solidFill>
            <a:prstDash val="solid"/>
          </a:ln>
        </p:spPr>
      </p:sp>
      <p:sp>
        <p:nvSpPr>
          <p:cNvPr id="5" name="Text 3"/>
          <p:cNvSpPr/>
          <p:nvPr/>
        </p:nvSpPr>
        <p:spPr>
          <a:xfrm>
            <a:off x="914400" y="1755648"/>
            <a:ext cx="4572000" cy="320040"/>
          </a:xfrm>
          <a:prstGeom prst="rect">
            <a:avLst/>
          </a:prstGeom>
          <a:noFill/>
          <a:ln/>
        </p:spPr>
        <p:txBody>
          <a:bodyPr wrap="square" rtlCol="0" anchor="ctr"/>
          <a:lstStyle/>
          <a:p>
            <a:pPr indent="0" marL="0">
              <a:buNone/>
            </a:pPr>
            <a:r>
              <a:rPr lang="en-US" sz="1400" b="1" spc="100" kern="0" dirty="0">
                <a:solidFill>
                  <a:srgbClr val="8E9BC0"/>
                </a:solidFill>
                <a:latin typeface="Calibri" pitchFamily="34" charset="0"/>
                <a:ea typeface="Calibri" pitchFamily="34" charset="-122"/>
                <a:cs typeface="Calibri" pitchFamily="34" charset="-120"/>
              </a:rPr>
              <a:t>OLD METRIC</a:t>
            </a:r>
            <a:endParaRPr lang="en-US" sz="1400" dirty="0"/>
          </a:p>
        </p:txBody>
      </p:sp>
      <p:sp>
        <p:nvSpPr>
          <p:cNvPr id="6" name="Shape 4"/>
          <p:cNvSpPr/>
          <p:nvPr/>
        </p:nvSpPr>
        <p:spPr>
          <a:xfrm>
            <a:off x="914400" y="2212848"/>
            <a:ext cx="4572000" cy="600456"/>
          </a:xfrm>
          <a:prstGeom prst="roundRect">
            <a:avLst>
              <a:gd name="adj" fmla="val 9137"/>
            </a:avLst>
          </a:prstGeom>
          <a:solidFill>
            <a:srgbClr val="0E1530"/>
          </a:solidFill>
          <a:ln/>
        </p:spPr>
      </p:sp>
      <p:sp>
        <p:nvSpPr>
          <p:cNvPr id="7" name="Text 5"/>
          <p:cNvSpPr/>
          <p:nvPr/>
        </p:nvSpPr>
        <p:spPr>
          <a:xfrm>
            <a:off x="1051560" y="2212848"/>
            <a:ext cx="4297680" cy="60045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Privilege gained</a:t>
            </a:r>
            <a:endParaRPr lang="en-US" sz="1200" dirty="0"/>
          </a:p>
        </p:txBody>
      </p:sp>
      <p:sp>
        <p:nvSpPr>
          <p:cNvPr id="8" name="Shape 6"/>
          <p:cNvSpPr/>
          <p:nvPr/>
        </p:nvSpPr>
        <p:spPr>
          <a:xfrm>
            <a:off x="914400" y="2895600"/>
            <a:ext cx="4572000" cy="600456"/>
          </a:xfrm>
          <a:prstGeom prst="roundRect">
            <a:avLst>
              <a:gd name="adj" fmla="val 9137"/>
            </a:avLst>
          </a:prstGeom>
          <a:solidFill>
            <a:srgbClr val="0E1530"/>
          </a:solidFill>
          <a:ln/>
        </p:spPr>
      </p:sp>
      <p:sp>
        <p:nvSpPr>
          <p:cNvPr id="9" name="Text 7"/>
          <p:cNvSpPr/>
          <p:nvPr/>
        </p:nvSpPr>
        <p:spPr>
          <a:xfrm>
            <a:off x="1051560" y="2895600"/>
            <a:ext cx="4297680" cy="60045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Domain Admin</a:t>
            </a:r>
            <a:endParaRPr lang="en-US" sz="1200" dirty="0"/>
          </a:p>
        </p:txBody>
      </p:sp>
      <p:sp>
        <p:nvSpPr>
          <p:cNvPr id="10" name="Shape 8"/>
          <p:cNvSpPr/>
          <p:nvPr/>
        </p:nvSpPr>
        <p:spPr>
          <a:xfrm>
            <a:off x="914400" y="3578352"/>
            <a:ext cx="4572000" cy="600456"/>
          </a:xfrm>
          <a:prstGeom prst="roundRect">
            <a:avLst>
              <a:gd name="adj" fmla="val 9137"/>
            </a:avLst>
          </a:prstGeom>
          <a:solidFill>
            <a:srgbClr val="0E1530"/>
          </a:solidFill>
          <a:ln/>
        </p:spPr>
      </p:sp>
      <p:sp>
        <p:nvSpPr>
          <p:cNvPr id="11" name="Text 9"/>
          <p:cNvSpPr/>
          <p:nvPr/>
        </p:nvSpPr>
        <p:spPr>
          <a:xfrm>
            <a:off x="1051560" y="3578352"/>
            <a:ext cx="4297680" cy="60045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10 / 10</a:t>
            </a:r>
            <a:endParaRPr lang="en-US" sz="1200" dirty="0"/>
          </a:p>
        </p:txBody>
      </p:sp>
      <p:sp>
        <p:nvSpPr>
          <p:cNvPr id="12" name="Shape 10"/>
          <p:cNvSpPr/>
          <p:nvPr/>
        </p:nvSpPr>
        <p:spPr>
          <a:xfrm>
            <a:off x="6217920" y="1554480"/>
            <a:ext cx="5120640" cy="2880360"/>
          </a:xfrm>
          <a:prstGeom prst="roundRect">
            <a:avLst>
              <a:gd name="adj" fmla="val 3810"/>
            </a:avLst>
          </a:prstGeom>
          <a:solidFill>
            <a:srgbClr val="121A33"/>
          </a:solidFill>
          <a:ln w="15240">
            <a:solidFill>
              <a:srgbClr val="00E5FF"/>
            </a:solidFill>
            <a:prstDash val="solid"/>
          </a:ln>
        </p:spPr>
      </p:sp>
      <p:sp>
        <p:nvSpPr>
          <p:cNvPr id="13" name="Text 11"/>
          <p:cNvSpPr/>
          <p:nvPr/>
        </p:nvSpPr>
        <p:spPr>
          <a:xfrm>
            <a:off x="6492240" y="1755648"/>
            <a:ext cx="4572000" cy="320040"/>
          </a:xfrm>
          <a:prstGeom prst="rect">
            <a:avLst/>
          </a:prstGeom>
          <a:noFill/>
          <a:ln/>
        </p:spPr>
        <p:txBody>
          <a:bodyPr wrap="square" rtlCol="0" anchor="ctr"/>
          <a:lstStyle/>
          <a:p>
            <a:pPr indent="0" marL="0">
              <a:buNone/>
            </a:pPr>
            <a:r>
              <a:rPr lang="en-US" sz="1400" b="1" spc="100" kern="0" dirty="0">
                <a:solidFill>
                  <a:srgbClr val="00E5FF"/>
                </a:solidFill>
                <a:latin typeface="Calibri" pitchFamily="34" charset="0"/>
                <a:ea typeface="Calibri" pitchFamily="34" charset="-122"/>
                <a:cs typeface="Calibri" pitchFamily="34" charset="-120"/>
              </a:rPr>
              <a:t>NEW METRIC</a:t>
            </a:r>
            <a:endParaRPr lang="en-US" sz="1400" dirty="0"/>
          </a:p>
        </p:txBody>
      </p:sp>
      <p:sp>
        <p:nvSpPr>
          <p:cNvPr id="14" name="Shape 12"/>
          <p:cNvSpPr/>
          <p:nvPr/>
        </p:nvSpPr>
        <p:spPr>
          <a:xfrm>
            <a:off x="6492240" y="2212848"/>
            <a:ext cx="4572000" cy="327355"/>
          </a:xfrm>
          <a:prstGeom prst="roundRect">
            <a:avLst>
              <a:gd name="adj" fmla="val 16760"/>
            </a:avLst>
          </a:prstGeom>
          <a:solidFill>
            <a:srgbClr val="0E1530"/>
          </a:solidFill>
          <a:ln/>
        </p:spPr>
      </p:sp>
      <p:sp>
        <p:nvSpPr>
          <p:cNvPr id="15" name="Text 13"/>
          <p:cNvSpPr/>
          <p:nvPr/>
        </p:nvSpPr>
        <p:spPr>
          <a:xfrm>
            <a:off x="6629400" y="2212848"/>
            <a:ext cx="4297680" cy="327355"/>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Trust traversed</a:t>
            </a:r>
            <a:endParaRPr lang="en-US" sz="1200" dirty="0"/>
          </a:p>
        </p:txBody>
      </p:sp>
      <p:sp>
        <p:nvSpPr>
          <p:cNvPr id="16" name="Shape 14"/>
          <p:cNvSpPr/>
          <p:nvPr/>
        </p:nvSpPr>
        <p:spPr>
          <a:xfrm>
            <a:off x="6492240" y="2622499"/>
            <a:ext cx="4572000" cy="327355"/>
          </a:xfrm>
          <a:prstGeom prst="roundRect">
            <a:avLst>
              <a:gd name="adj" fmla="val 16760"/>
            </a:avLst>
          </a:prstGeom>
          <a:solidFill>
            <a:srgbClr val="0E1530"/>
          </a:solidFill>
          <a:ln/>
        </p:spPr>
      </p:sp>
      <p:sp>
        <p:nvSpPr>
          <p:cNvPr id="17" name="Text 15"/>
          <p:cNvSpPr/>
          <p:nvPr/>
        </p:nvSpPr>
        <p:spPr>
          <a:xfrm>
            <a:off x="6629400" y="2622499"/>
            <a:ext cx="4297680" cy="327355"/>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Systems reached</a:t>
            </a:r>
            <a:endParaRPr lang="en-US" sz="1200" dirty="0"/>
          </a:p>
        </p:txBody>
      </p:sp>
      <p:sp>
        <p:nvSpPr>
          <p:cNvPr id="18" name="Shape 16"/>
          <p:cNvSpPr/>
          <p:nvPr/>
        </p:nvSpPr>
        <p:spPr>
          <a:xfrm>
            <a:off x="6492240" y="3032150"/>
            <a:ext cx="4572000" cy="327355"/>
          </a:xfrm>
          <a:prstGeom prst="roundRect">
            <a:avLst>
              <a:gd name="adj" fmla="val 16760"/>
            </a:avLst>
          </a:prstGeom>
          <a:solidFill>
            <a:srgbClr val="0E1530"/>
          </a:solidFill>
          <a:ln/>
        </p:spPr>
      </p:sp>
      <p:sp>
        <p:nvSpPr>
          <p:cNvPr id="19" name="Text 17"/>
          <p:cNvSpPr/>
          <p:nvPr/>
        </p:nvSpPr>
        <p:spPr>
          <a:xfrm>
            <a:off x="6629400" y="3032150"/>
            <a:ext cx="4297680" cy="327355"/>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accessed</a:t>
            </a:r>
            <a:endParaRPr lang="en-US" sz="1200" dirty="0"/>
          </a:p>
        </p:txBody>
      </p:sp>
      <p:sp>
        <p:nvSpPr>
          <p:cNvPr id="20" name="Shape 18"/>
          <p:cNvSpPr/>
          <p:nvPr/>
        </p:nvSpPr>
        <p:spPr>
          <a:xfrm>
            <a:off x="6492240" y="3441802"/>
            <a:ext cx="4572000" cy="327355"/>
          </a:xfrm>
          <a:prstGeom prst="roundRect">
            <a:avLst>
              <a:gd name="adj" fmla="val 16760"/>
            </a:avLst>
          </a:prstGeom>
          <a:solidFill>
            <a:srgbClr val="0E1530"/>
          </a:solidFill>
          <a:ln/>
        </p:spPr>
      </p:sp>
      <p:sp>
        <p:nvSpPr>
          <p:cNvPr id="21" name="Text 19"/>
          <p:cNvSpPr/>
          <p:nvPr/>
        </p:nvSpPr>
        <p:spPr>
          <a:xfrm>
            <a:off x="6629400" y="3441802"/>
            <a:ext cx="4297680" cy="327355"/>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Business impact</a:t>
            </a:r>
            <a:endParaRPr lang="en-US" sz="1200" dirty="0"/>
          </a:p>
        </p:txBody>
      </p:sp>
      <p:sp>
        <p:nvSpPr>
          <p:cNvPr id="22" name="Shape 20"/>
          <p:cNvSpPr/>
          <p:nvPr/>
        </p:nvSpPr>
        <p:spPr>
          <a:xfrm>
            <a:off x="6492240" y="3851453"/>
            <a:ext cx="4572000" cy="327355"/>
          </a:xfrm>
          <a:prstGeom prst="roundRect">
            <a:avLst>
              <a:gd name="adj" fmla="val 16760"/>
            </a:avLst>
          </a:prstGeom>
          <a:solidFill>
            <a:srgbClr val="0E1530"/>
          </a:solidFill>
          <a:ln/>
        </p:spPr>
      </p:sp>
      <p:sp>
        <p:nvSpPr>
          <p:cNvPr id="23" name="Text 21"/>
          <p:cNvSpPr/>
          <p:nvPr/>
        </p:nvSpPr>
        <p:spPr>
          <a:xfrm>
            <a:off x="6629400" y="3851453"/>
            <a:ext cx="4297680" cy="327355"/>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Blast radius</a:t>
            </a:r>
            <a:endParaRPr lang="en-US" sz="1200" dirty="0"/>
          </a:p>
        </p:txBody>
      </p:sp>
      <p:sp>
        <p:nvSpPr>
          <p:cNvPr id="24" name="Shape 22"/>
          <p:cNvSpPr/>
          <p:nvPr/>
        </p:nvSpPr>
        <p:spPr>
          <a:xfrm>
            <a:off x="640080" y="4709160"/>
            <a:ext cx="10881360" cy="1600200"/>
          </a:xfrm>
          <a:prstGeom prst="roundRect">
            <a:avLst>
              <a:gd name="adj" fmla="val 6857"/>
            </a:avLst>
          </a:prstGeom>
          <a:solidFill>
            <a:srgbClr val="1A0E22"/>
          </a:solidFill>
          <a:ln w="25400">
            <a:solidFill>
              <a:srgbClr val="FF5C7A"/>
            </a:solidFill>
            <a:prstDash val="solid"/>
          </a:ln>
        </p:spPr>
      </p:sp>
      <p:sp>
        <p:nvSpPr>
          <p:cNvPr id="25" name="Text 23"/>
          <p:cNvSpPr/>
          <p:nvPr/>
        </p:nvSpPr>
        <p:spPr>
          <a:xfrm>
            <a:off x="640080" y="4709160"/>
            <a:ext cx="10881360" cy="1600200"/>
          </a:xfrm>
          <a:prstGeom prst="rect">
            <a:avLst/>
          </a:prstGeom>
          <a:noFill/>
          <a:ln/>
        </p:spPr>
        <p:txBody>
          <a:bodyPr wrap="square" rtlCol="0" anchor="ctr"/>
          <a:lstStyle/>
          <a:p>
            <a:pPr algn="ctr" indent="0" marL="0">
              <a:buNone/>
            </a:pPr>
            <a:r>
              <a:rPr lang="en-US" sz="2700" b="1" dirty="0">
                <a:solidFill>
                  <a:srgbClr val="FF5C7A"/>
                </a:solidFill>
                <a:latin typeface="Cambria" pitchFamily="34" charset="0"/>
                <a:ea typeface="Cambria" pitchFamily="34" charset="-122"/>
                <a:cs typeface="Cambria" pitchFamily="34" charset="-120"/>
              </a:rPr>
              <a:t>STOP REPORTING THE BADGE.</a:t>
            </a:r>
            <a:endParaRPr lang="en-US" sz="2700" dirty="0"/>
          </a:p>
          <a:p>
            <a:pPr algn="ctr" indent="0" marL="0">
              <a:buNone/>
            </a:pPr>
            <a:r>
              <a:rPr lang="en-US" sz="2700" b="1" dirty="0">
                <a:solidFill>
                  <a:srgbClr val="FF5C7A"/>
                </a:solidFill>
                <a:latin typeface="Cambria" pitchFamily="34" charset="0"/>
                <a:ea typeface="Cambria" pitchFamily="34" charset="-122"/>
                <a:cs typeface="Cambria" pitchFamily="34" charset="-120"/>
              </a:rPr>
              <a:t>START REPORTING THE BLAST RADIUS.</a:t>
            </a:r>
            <a:endParaRPr lang="en-US" sz="2700" dirty="0"/>
          </a:p>
        </p:txBody>
      </p:sp>
      <p:sp>
        <p:nvSpPr>
          <p:cNvPr id="26" name="Text 2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B18"/>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BRINGING IT TOGETHER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Active Directory is one node in a larger trust graph</a:t>
            </a:r>
            <a:endParaRPr lang="en-US" sz="3200" dirty="0"/>
          </a:p>
        </p:txBody>
      </p:sp>
      <p:sp>
        <p:nvSpPr>
          <p:cNvPr id="4" name="Shape 2"/>
          <p:cNvSpPr/>
          <p:nvPr/>
        </p:nvSpPr>
        <p:spPr>
          <a:xfrm>
            <a:off x="3108960" y="3749040"/>
            <a:ext cx="1371600" cy="1371600"/>
          </a:xfrm>
          <a:prstGeom prst="ellipse">
            <a:avLst/>
          </a:prstGeom>
          <a:solidFill>
            <a:srgbClr val="7C5CFC"/>
          </a:solidFill>
          <a:ln/>
        </p:spPr>
      </p:sp>
      <p:pic>
        <p:nvPicPr>
          <p:cNvPr id="5" name="Image 0" descr="icons_server_0A0F1F.png">    </p:cNvPr>
          <p:cNvPicPr>
            <a:picLocks noChangeAspect="1"/>
          </p:cNvPicPr>
          <p:nvPr/>
        </p:nvPicPr>
        <p:blipFill>
          <a:blip r:embed="rId1"/>
          <a:stretch>
            <a:fillRect/>
          </a:stretch>
        </p:blipFill>
        <p:spPr>
          <a:xfrm>
            <a:off x="3438144" y="4078224"/>
            <a:ext cx="713232" cy="713232"/>
          </a:xfrm>
          <a:prstGeom prst="rect">
            <a:avLst/>
          </a:prstGeom>
        </p:spPr>
      </p:pic>
      <p:sp>
        <p:nvSpPr>
          <p:cNvPr id="6" name="Text 3"/>
          <p:cNvSpPr/>
          <p:nvPr/>
        </p:nvSpPr>
        <p:spPr>
          <a:xfrm>
            <a:off x="2834640" y="5212080"/>
            <a:ext cx="192024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Directory</a:t>
            </a:r>
            <a:endParaRPr lang="en-US" sz="1200" dirty="0"/>
          </a:p>
        </p:txBody>
      </p:sp>
      <p:sp>
        <p:nvSpPr>
          <p:cNvPr id="7" name="Shape 4"/>
          <p:cNvSpPr/>
          <p:nvPr/>
        </p:nvSpPr>
        <p:spPr>
          <a:xfrm flipV="1">
            <a:off x="3794760" y="1828800"/>
            <a:ext cx="3063240" cy="2606040"/>
          </a:xfrm>
          <a:prstGeom prst="line">
            <a:avLst/>
          </a:prstGeom>
          <a:noFill/>
          <a:ln w="25400">
            <a:solidFill>
              <a:srgbClr val="3E4F8C"/>
            </a:solidFill>
            <a:prstDash val="solid"/>
          </a:ln>
        </p:spPr>
      </p:sp>
      <p:sp>
        <p:nvSpPr>
          <p:cNvPr id="8" name="Shape 5"/>
          <p:cNvSpPr/>
          <p:nvPr/>
        </p:nvSpPr>
        <p:spPr>
          <a:xfrm flipV="1">
            <a:off x="3794760" y="3108960"/>
            <a:ext cx="5623560" cy="1325880"/>
          </a:xfrm>
          <a:prstGeom prst="line">
            <a:avLst/>
          </a:prstGeom>
          <a:noFill/>
          <a:ln w="25400">
            <a:solidFill>
              <a:srgbClr val="3E4F8C"/>
            </a:solidFill>
            <a:prstDash val="solid"/>
          </a:ln>
        </p:spPr>
      </p:sp>
      <p:sp>
        <p:nvSpPr>
          <p:cNvPr id="9" name="Shape 6"/>
          <p:cNvSpPr/>
          <p:nvPr/>
        </p:nvSpPr>
        <p:spPr>
          <a:xfrm>
            <a:off x="3794760" y="4434840"/>
            <a:ext cx="5623560" cy="594360"/>
          </a:xfrm>
          <a:prstGeom prst="line">
            <a:avLst/>
          </a:prstGeom>
          <a:noFill/>
          <a:ln w="25400">
            <a:solidFill>
              <a:srgbClr val="3E4F8C"/>
            </a:solidFill>
            <a:prstDash val="solid"/>
          </a:ln>
        </p:spPr>
      </p:sp>
      <p:sp>
        <p:nvSpPr>
          <p:cNvPr id="10" name="Shape 7"/>
          <p:cNvSpPr/>
          <p:nvPr/>
        </p:nvSpPr>
        <p:spPr>
          <a:xfrm>
            <a:off x="3794760" y="4434840"/>
            <a:ext cx="3063240" cy="1234440"/>
          </a:xfrm>
          <a:prstGeom prst="line">
            <a:avLst/>
          </a:prstGeom>
          <a:noFill/>
          <a:ln w="25400">
            <a:solidFill>
              <a:srgbClr val="3E4F8C"/>
            </a:solidFill>
            <a:prstDash val="solid"/>
          </a:ln>
        </p:spPr>
      </p:sp>
      <p:sp>
        <p:nvSpPr>
          <p:cNvPr id="11" name="Shape 8"/>
          <p:cNvSpPr/>
          <p:nvPr/>
        </p:nvSpPr>
        <p:spPr>
          <a:xfrm>
            <a:off x="3794760" y="4434840"/>
            <a:ext cx="1234440" cy="594360"/>
          </a:xfrm>
          <a:prstGeom prst="line">
            <a:avLst/>
          </a:prstGeom>
          <a:noFill/>
          <a:ln w="25400">
            <a:solidFill>
              <a:srgbClr val="3E4F8C"/>
            </a:solidFill>
            <a:prstDash val="solid"/>
          </a:ln>
        </p:spPr>
      </p:sp>
      <p:sp>
        <p:nvSpPr>
          <p:cNvPr id="12" name="Shape 9"/>
          <p:cNvSpPr/>
          <p:nvPr/>
        </p:nvSpPr>
        <p:spPr>
          <a:xfrm>
            <a:off x="6400800" y="1371600"/>
            <a:ext cx="914400" cy="914400"/>
          </a:xfrm>
          <a:prstGeom prst="ellipse">
            <a:avLst/>
          </a:prstGeom>
          <a:solidFill>
            <a:srgbClr val="121A33"/>
          </a:solidFill>
          <a:ln w="12700">
            <a:solidFill>
              <a:srgbClr val="00E5FF"/>
            </a:solidFill>
            <a:prstDash val="solid"/>
          </a:ln>
        </p:spPr>
      </p:sp>
      <p:pic>
        <p:nvPicPr>
          <p:cNvPr id="13" name="Image 1" descr="icons_usershield_00E5FF.png">    </p:cNvPr>
          <p:cNvPicPr>
            <a:picLocks noChangeAspect="1"/>
          </p:cNvPicPr>
          <p:nvPr/>
        </p:nvPicPr>
        <p:blipFill>
          <a:blip r:embed="rId2"/>
          <a:stretch>
            <a:fillRect/>
          </a:stretch>
        </p:blipFill>
        <p:spPr>
          <a:xfrm>
            <a:off x="6620256" y="1591056"/>
            <a:ext cx="475488" cy="475488"/>
          </a:xfrm>
          <a:prstGeom prst="rect">
            <a:avLst/>
          </a:prstGeom>
        </p:spPr>
      </p:pic>
      <p:sp>
        <p:nvSpPr>
          <p:cNvPr id="14" name="Text 10"/>
          <p:cNvSpPr/>
          <p:nvPr/>
        </p:nvSpPr>
        <p:spPr>
          <a:xfrm>
            <a:off x="6035040" y="2331720"/>
            <a:ext cx="1645920" cy="5486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Identity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Provider</a:t>
            </a:r>
            <a:endParaRPr lang="en-US" sz="1050" dirty="0"/>
          </a:p>
        </p:txBody>
      </p:sp>
      <p:sp>
        <p:nvSpPr>
          <p:cNvPr id="15" name="Shape 11"/>
          <p:cNvSpPr/>
          <p:nvPr/>
        </p:nvSpPr>
        <p:spPr>
          <a:xfrm>
            <a:off x="8961120" y="2651760"/>
            <a:ext cx="914400" cy="914400"/>
          </a:xfrm>
          <a:prstGeom prst="ellipse">
            <a:avLst/>
          </a:prstGeom>
          <a:solidFill>
            <a:srgbClr val="121A33"/>
          </a:solidFill>
          <a:ln w="12700">
            <a:solidFill>
              <a:srgbClr val="00E5FF"/>
            </a:solidFill>
            <a:prstDash val="solid"/>
          </a:ln>
        </p:spPr>
      </p:sp>
      <p:pic>
        <p:nvPicPr>
          <p:cNvPr id="16" name="Image 2" descr="icons_building_00E5FF.png">    </p:cNvPr>
          <p:cNvPicPr>
            <a:picLocks noChangeAspect="1"/>
          </p:cNvPicPr>
          <p:nvPr/>
        </p:nvPicPr>
        <p:blipFill>
          <a:blip r:embed="rId3"/>
          <a:stretch>
            <a:fillRect/>
          </a:stretch>
        </p:blipFill>
        <p:spPr>
          <a:xfrm>
            <a:off x="9180576" y="2871216"/>
            <a:ext cx="475488" cy="475488"/>
          </a:xfrm>
          <a:prstGeom prst="rect">
            <a:avLst/>
          </a:prstGeom>
        </p:spPr>
      </p:pic>
      <p:sp>
        <p:nvSpPr>
          <p:cNvPr id="17" name="Text 12"/>
          <p:cNvSpPr/>
          <p:nvPr/>
        </p:nvSpPr>
        <p:spPr>
          <a:xfrm>
            <a:off x="8595360" y="3611880"/>
            <a:ext cx="1645920" cy="5486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Platforms</a:t>
            </a:r>
            <a:endParaRPr lang="en-US" sz="1050" dirty="0"/>
          </a:p>
        </p:txBody>
      </p:sp>
      <p:sp>
        <p:nvSpPr>
          <p:cNvPr id="18" name="Shape 13"/>
          <p:cNvSpPr/>
          <p:nvPr/>
        </p:nvSpPr>
        <p:spPr>
          <a:xfrm>
            <a:off x="8961120" y="4572000"/>
            <a:ext cx="914400" cy="914400"/>
          </a:xfrm>
          <a:prstGeom prst="ellipse">
            <a:avLst/>
          </a:prstGeom>
          <a:solidFill>
            <a:srgbClr val="121A33"/>
          </a:solidFill>
          <a:ln w="12700">
            <a:solidFill>
              <a:srgbClr val="00E5FF"/>
            </a:solidFill>
            <a:prstDash val="solid"/>
          </a:ln>
        </p:spPr>
      </p:sp>
      <p:pic>
        <p:nvPicPr>
          <p:cNvPr id="19" name="Image 3" descr="icons_mobile_00E5FF.png">    </p:cNvPr>
          <p:cNvPicPr>
            <a:picLocks noChangeAspect="1"/>
          </p:cNvPicPr>
          <p:nvPr/>
        </p:nvPicPr>
        <p:blipFill>
          <a:blip r:embed="rId4"/>
          <a:stretch>
            <a:fillRect/>
          </a:stretch>
        </p:blipFill>
        <p:spPr>
          <a:xfrm>
            <a:off x="9180576" y="4791456"/>
            <a:ext cx="475488" cy="475488"/>
          </a:xfrm>
          <a:prstGeom prst="rect">
            <a:avLst/>
          </a:prstGeom>
        </p:spPr>
      </p:pic>
      <p:sp>
        <p:nvSpPr>
          <p:cNvPr id="20" name="Text 14"/>
          <p:cNvSpPr/>
          <p:nvPr/>
        </p:nvSpPr>
        <p:spPr>
          <a:xfrm>
            <a:off x="8595360" y="5532120"/>
            <a:ext cx="1645920" cy="5486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Device Mgmt</a:t>
            </a:r>
            <a:endParaRPr lang="en-US" sz="1050" dirty="0"/>
          </a:p>
        </p:txBody>
      </p:sp>
      <p:sp>
        <p:nvSpPr>
          <p:cNvPr id="21" name="Shape 15"/>
          <p:cNvSpPr/>
          <p:nvPr/>
        </p:nvSpPr>
        <p:spPr>
          <a:xfrm>
            <a:off x="6400800" y="5212080"/>
            <a:ext cx="914400" cy="914400"/>
          </a:xfrm>
          <a:prstGeom prst="ellipse">
            <a:avLst/>
          </a:prstGeom>
          <a:solidFill>
            <a:srgbClr val="121A33"/>
          </a:solidFill>
          <a:ln w="12700">
            <a:solidFill>
              <a:srgbClr val="00E5FF"/>
            </a:solidFill>
            <a:prstDash val="solid"/>
          </a:ln>
        </p:spPr>
      </p:sp>
      <p:pic>
        <p:nvPicPr>
          <p:cNvPr id="22" name="Image 4" descr="icons_cloud_00E5FF.png">    </p:cNvPr>
          <p:cNvPicPr>
            <a:picLocks noChangeAspect="1"/>
          </p:cNvPicPr>
          <p:nvPr/>
        </p:nvPicPr>
        <p:blipFill>
          <a:blip r:embed="rId5"/>
          <a:stretch>
            <a:fillRect/>
          </a:stretch>
        </p:blipFill>
        <p:spPr>
          <a:xfrm>
            <a:off x="6620256" y="5431536"/>
            <a:ext cx="475488" cy="475488"/>
          </a:xfrm>
          <a:prstGeom prst="rect">
            <a:avLst/>
          </a:prstGeom>
        </p:spPr>
      </p:pic>
      <p:sp>
        <p:nvSpPr>
          <p:cNvPr id="23" name="Text 16"/>
          <p:cNvSpPr/>
          <p:nvPr/>
        </p:nvSpPr>
        <p:spPr>
          <a:xfrm>
            <a:off x="6035040" y="6172200"/>
            <a:ext cx="1645920" cy="5486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Cloud Admin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Plane</a:t>
            </a:r>
            <a:endParaRPr lang="en-US" sz="1050" dirty="0"/>
          </a:p>
        </p:txBody>
      </p:sp>
      <p:sp>
        <p:nvSpPr>
          <p:cNvPr id="24" name="Shape 17"/>
          <p:cNvSpPr/>
          <p:nvPr/>
        </p:nvSpPr>
        <p:spPr>
          <a:xfrm>
            <a:off x="4572000" y="4572000"/>
            <a:ext cx="914400" cy="914400"/>
          </a:xfrm>
          <a:prstGeom prst="ellipse">
            <a:avLst/>
          </a:prstGeom>
          <a:solidFill>
            <a:srgbClr val="121A33"/>
          </a:solidFill>
          <a:ln w="12700">
            <a:solidFill>
              <a:srgbClr val="00E5FF"/>
            </a:solidFill>
            <a:prstDash val="solid"/>
          </a:ln>
        </p:spPr>
      </p:sp>
      <p:pic>
        <p:nvPicPr>
          <p:cNvPr id="25" name="Image 5" descr="icons_exchange_00E5FF.png">    </p:cNvPr>
          <p:cNvPicPr>
            <a:picLocks noChangeAspect="1"/>
          </p:cNvPicPr>
          <p:nvPr/>
        </p:nvPicPr>
        <p:blipFill>
          <a:blip r:embed="rId6"/>
          <a:stretch>
            <a:fillRect/>
          </a:stretch>
        </p:blipFill>
        <p:spPr>
          <a:xfrm>
            <a:off x="4791456" y="4791456"/>
            <a:ext cx="475488" cy="475488"/>
          </a:xfrm>
          <a:prstGeom prst="rect">
            <a:avLst/>
          </a:prstGeom>
        </p:spPr>
      </p:pic>
      <p:sp>
        <p:nvSpPr>
          <p:cNvPr id="26" name="Text 18"/>
          <p:cNvSpPr/>
          <p:nvPr/>
        </p:nvSpPr>
        <p:spPr>
          <a:xfrm>
            <a:off x="4206240" y="5532120"/>
            <a:ext cx="1645920" cy="5486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OAuth &amp;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Federation</a:t>
            </a:r>
            <a:endParaRPr lang="en-US" sz="1050" dirty="0"/>
          </a:p>
        </p:txBody>
      </p:sp>
      <p:sp>
        <p:nvSpPr>
          <p:cNvPr id="27" name="Text 1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B18"/>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STRESS-TESTING THE THESIS</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Let's challenge the argument</a:t>
            </a:r>
            <a:endParaRPr lang="en-US" sz="3200" dirty="0"/>
          </a:p>
        </p:txBody>
      </p:sp>
      <p:sp>
        <p:nvSpPr>
          <p:cNvPr id="4" name="Shape 2"/>
          <p:cNvSpPr/>
          <p:nvPr/>
        </p:nvSpPr>
        <p:spPr>
          <a:xfrm>
            <a:off x="640080" y="1691640"/>
            <a:ext cx="10881360" cy="914400"/>
          </a:xfrm>
          <a:prstGeom prst="roundRect">
            <a:avLst>
              <a:gd name="adj" fmla="val 10000"/>
            </a:avLst>
          </a:prstGeom>
          <a:solidFill>
            <a:srgbClr val="121A33"/>
          </a:solidFill>
          <a:ln/>
        </p:spPr>
      </p:sp>
      <p:sp>
        <p:nvSpPr>
          <p:cNvPr id="5" name="Shape 3"/>
          <p:cNvSpPr/>
          <p:nvPr/>
        </p:nvSpPr>
        <p:spPr>
          <a:xfrm>
            <a:off x="914400" y="1892808"/>
            <a:ext cx="502920" cy="502920"/>
          </a:xfrm>
          <a:prstGeom prst="ellipse">
            <a:avLst/>
          </a:prstGeom>
          <a:solidFill>
            <a:srgbClr val="0A0F1F"/>
          </a:solidFill>
          <a:ln/>
        </p:spPr>
      </p:sp>
      <p:pic>
        <p:nvPicPr>
          <p:cNvPr id="6" name="Image 0" descr="icons_check_3ED598.png">    </p:cNvPr>
          <p:cNvPicPr>
            <a:picLocks noChangeAspect="1"/>
          </p:cNvPicPr>
          <p:nvPr/>
        </p:nvPicPr>
        <p:blipFill>
          <a:blip r:embed="rId1"/>
          <a:stretch>
            <a:fillRect/>
          </a:stretch>
        </p:blipFill>
        <p:spPr>
          <a:xfrm>
            <a:off x="1035101" y="2013509"/>
            <a:ext cx="261518" cy="261518"/>
          </a:xfrm>
          <a:prstGeom prst="rect">
            <a:avLst/>
          </a:prstGeom>
        </p:spPr>
      </p:pic>
      <p:sp>
        <p:nvSpPr>
          <p:cNvPr id="7" name="Text 4"/>
          <p:cNvSpPr/>
          <p:nvPr/>
        </p:nvSpPr>
        <p:spPr>
          <a:xfrm>
            <a:off x="1874520" y="1783080"/>
            <a:ext cx="8138160" cy="347472"/>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Is this actually happening?</a:t>
            </a:r>
            <a:endParaRPr lang="en-US" sz="1550" dirty="0"/>
          </a:p>
        </p:txBody>
      </p:sp>
      <p:sp>
        <p:nvSpPr>
          <p:cNvPr id="8" name="Text 5"/>
          <p:cNvSpPr/>
          <p:nvPr/>
        </p:nvSpPr>
        <p:spPr>
          <a:xfrm>
            <a:off x="1874520" y="2148840"/>
            <a:ext cx="8138160" cy="384048"/>
          </a:xfrm>
          <a:prstGeom prst="rect">
            <a:avLst/>
          </a:prstGeom>
          <a:noFill/>
          <a:ln/>
        </p:spPr>
        <p:txBody>
          <a:bodyPr wrap="square" rtlCol="0" anchor="t"/>
          <a:lstStyle/>
          <a:p>
            <a:pPr indent="0" marL="0">
              <a:buNone/>
            </a:pPr>
            <a:r>
              <a:rPr lang="en-US" sz="1100" dirty="0">
                <a:solidFill>
                  <a:srgbClr val="8E9BC0"/>
                </a:solidFill>
                <a:latin typeface="Calibri" pitchFamily="34" charset="0"/>
                <a:ea typeface="Calibri" pitchFamily="34" charset="-122"/>
                <a:cs typeface="Calibri" pitchFamily="34" charset="-120"/>
              </a:rPr>
              <a:t>Yes - four of the five pillars have named, public breach evidence.</a:t>
            </a:r>
            <a:endParaRPr lang="en-US" sz="1100" dirty="0"/>
          </a:p>
        </p:txBody>
      </p:sp>
      <p:sp>
        <p:nvSpPr>
          <p:cNvPr id="9" name="Shape 6"/>
          <p:cNvSpPr/>
          <p:nvPr/>
        </p:nvSpPr>
        <p:spPr>
          <a:xfrm>
            <a:off x="640080" y="2724912"/>
            <a:ext cx="10881360" cy="914400"/>
          </a:xfrm>
          <a:prstGeom prst="roundRect">
            <a:avLst>
              <a:gd name="adj" fmla="val 10000"/>
            </a:avLst>
          </a:prstGeom>
          <a:solidFill>
            <a:srgbClr val="121A33"/>
          </a:solidFill>
          <a:ln/>
        </p:spPr>
      </p:sp>
      <p:sp>
        <p:nvSpPr>
          <p:cNvPr id="10" name="Shape 7"/>
          <p:cNvSpPr/>
          <p:nvPr/>
        </p:nvSpPr>
        <p:spPr>
          <a:xfrm>
            <a:off x="914400" y="2926080"/>
            <a:ext cx="502920" cy="502920"/>
          </a:xfrm>
          <a:prstGeom prst="ellipse">
            <a:avLst/>
          </a:prstGeom>
          <a:solidFill>
            <a:srgbClr val="0A0F1F"/>
          </a:solidFill>
          <a:ln/>
        </p:spPr>
      </p:sp>
      <p:pic>
        <p:nvPicPr>
          <p:cNvPr id="11" name="Image 1" descr="icons_check_3ED598.png">    </p:cNvPr>
          <p:cNvPicPr>
            <a:picLocks noChangeAspect="1"/>
          </p:cNvPicPr>
          <p:nvPr/>
        </p:nvPicPr>
        <p:blipFill>
          <a:blip r:embed="rId2"/>
          <a:stretch>
            <a:fillRect/>
          </a:stretch>
        </p:blipFill>
        <p:spPr>
          <a:xfrm>
            <a:off x="1035101" y="3046781"/>
            <a:ext cx="261518" cy="261518"/>
          </a:xfrm>
          <a:prstGeom prst="rect">
            <a:avLst/>
          </a:prstGeom>
        </p:spPr>
      </p:pic>
      <p:sp>
        <p:nvSpPr>
          <p:cNvPr id="12" name="Text 8"/>
          <p:cNvSpPr/>
          <p:nvPr/>
        </p:nvSpPr>
        <p:spPr>
          <a:xfrm>
            <a:off x="1874520" y="2816352"/>
            <a:ext cx="8138160" cy="347472"/>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Is this really different from AD?</a:t>
            </a:r>
            <a:endParaRPr lang="en-US" sz="1550" dirty="0"/>
          </a:p>
        </p:txBody>
      </p:sp>
      <p:sp>
        <p:nvSpPr>
          <p:cNvPr id="13" name="Text 9"/>
          <p:cNvSpPr/>
          <p:nvPr/>
        </p:nvSpPr>
        <p:spPr>
          <a:xfrm>
            <a:off x="1874520" y="3182112"/>
            <a:ext cx="8138160" cy="384048"/>
          </a:xfrm>
          <a:prstGeom prst="rect">
            <a:avLst/>
          </a:prstGeom>
          <a:noFill/>
          <a:ln/>
        </p:spPr>
        <p:txBody>
          <a:bodyPr wrap="square" rtlCol="0" anchor="t"/>
          <a:lstStyle/>
          <a:p>
            <a:pPr indent="0" marL="0">
              <a:buNone/>
            </a:pPr>
            <a:r>
              <a:rPr lang="en-US" sz="1100" dirty="0">
                <a:solidFill>
                  <a:srgbClr val="8E9BC0"/>
                </a:solidFill>
                <a:latin typeface="Calibri" pitchFamily="34" charset="0"/>
                <a:ea typeface="Calibri" pitchFamily="34" charset="-122"/>
                <a:cs typeface="Calibri" pitchFamily="34" charset="-120"/>
              </a:rPr>
              <a:t>Yes - the trust relationships extend well beyond the domain boundary.</a:t>
            </a:r>
            <a:endParaRPr lang="en-US" sz="1100" dirty="0"/>
          </a:p>
        </p:txBody>
      </p:sp>
      <p:sp>
        <p:nvSpPr>
          <p:cNvPr id="14" name="Shape 10"/>
          <p:cNvSpPr/>
          <p:nvPr/>
        </p:nvSpPr>
        <p:spPr>
          <a:xfrm>
            <a:off x="640080" y="3758184"/>
            <a:ext cx="10881360" cy="914400"/>
          </a:xfrm>
          <a:prstGeom prst="roundRect">
            <a:avLst>
              <a:gd name="adj" fmla="val 10000"/>
            </a:avLst>
          </a:prstGeom>
          <a:solidFill>
            <a:srgbClr val="121A33"/>
          </a:solidFill>
          <a:ln/>
        </p:spPr>
      </p:sp>
      <p:sp>
        <p:nvSpPr>
          <p:cNvPr id="15" name="Shape 11"/>
          <p:cNvSpPr/>
          <p:nvPr/>
        </p:nvSpPr>
        <p:spPr>
          <a:xfrm>
            <a:off x="914400" y="3959352"/>
            <a:ext cx="502920" cy="502920"/>
          </a:xfrm>
          <a:prstGeom prst="ellipse">
            <a:avLst/>
          </a:prstGeom>
          <a:solidFill>
            <a:srgbClr val="0A0F1F"/>
          </a:solidFill>
          <a:ln/>
        </p:spPr>
      </p:sp>
      <p:pic>
        <p:nvPicPr>
          <p:cNvPr id="16" name="Image 2" descr="icons_search_FFFFFF.png">    </p:cNvPr>
          <p:cNvPicPr>
            <a:picLocks noChangeAspect="1"/>
          </p:cNvPicPr>
          <p:nvPr/>
        </p:nvPicPr>
        <p:blipFill>
          <a:blip r:embed="rId3"/>
          <a:stretch>
            <a:fillRect/>
          </a:stretch>
        </p:blipFill>
        <p:spPr>
          <a:xfrm>
            <a:off x="1035101" y="4080053"/>
            <a:ext cx="261518" cy="261518"/>
          </a:xfrm>
          <a:prstGeom prst="rect">
            <a:avLst/>
          </a:prstGeom>
        </p:spPr>
      </p:pic>
      <p:sp>
        <p:nvSpPr>
          <p:cNvPr id="17" name="Text 12"/>
          <p:cNvSpPr/>
          <p:nvPr/>
        </p:nvSpPr>
        <p:spPr>
          <a:xfrm>
            <a:off x="1874520" y="3849624"/>
            <a:ext cx="6309360" cy="347472"/>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Is device management proven?</a:t>
            </a:r>
            <a:endParaRPr lang="en-US" sz="1550" dirty="0"/>
          </a:p>
        </p:txBody>
      </p:sp>
      <p:sp>
        <p:nvSpPr>
          <p:cNvPr id="18" name="Text 13"/>
          <p:cNvSpPr/>
          <p:nvPr/>
        </p:nvSpPr>
        <p:spPr>
          <a:xfrm>
            <a:off x="1874520" y="4215384"/>
            <a:ext cx="6309360" cy="384048"/>
          </a:xfrm>
          <a:prstGeom prst="rect">
            <a:avLst/>
          </a:prstGeom>
          <a:noFill/>
          <a:ln/>
        </p:spPr>
        <p:txBody>
          <a:bodyPr wrap="square" rtlCol="0" anchor="t"/>
          <a:lstStyle/>
          <a:p>
            <a:pPr indent="0" marL="0">
              <a:buNone/>
            </a:pPr>
            <a:r>
              <a:rPr lang="en-US" sz="1100" dirty="0">
                <a:solidFill>
                  <a:srgbClr val="8E9BC0"/>
                </a:solidFill>
                <a:latin typeface="Calibri" pitchFamily="34" charset="0"/>
                <a:ea typeface="Calibri" pitchFamily="34" charset="-122"/>
                <a:cs typeface="Calibri" pitchFamily="34" charset="-120"/>
              </a:rPr>
              <a:t>Not yet at the same level - it's an emerging, research-driven surface.</a:t>
            </a:r>
            <a:endParaRPr lang="en-US" sz="1100" dirty="0"/>
          </a:p>
        </p:txBody>
      </p:sp>
      <p:sp>
        <p:nvSpPr>
          <p:cNvPr id="19" name="Shape 14"/>
          <p:cNvSpPr/>
          <p:nvPr/>
        </p:nvSpPr>
        <p:spPr>
          <a:xfrm>
            <a:off x="8778240" y="4041648"/>
            <a:ext cx="2377440" cy="347472"/>
          </a:xfrm>
          <a:prstGeom prst="roundRect">
            <a:avLst>
              <a:gd name="adj" fmla="val 21053"/>
            </a:avLst>
          </a:prstGeom>
          <a:solidFill>
            <a:srgbClr val="3A2C0E"/>
          </a:solidFill>
          <a:ln w="12700">
            <a:solidFill>
              <a:srgbClr val="F5A623"/>
            </a:solidFill>
            <a:prstDash val="solid"/>
          </a:ln>
        </p:spPr>
      </p:sp>
      <p:sp>
        <p:nvSpPr>
          <p:cNvPr id="20" name="Text 15"/>
          <p:cNvSpPr/>
          <p:nvPr/>
        </p:nvSpPr>
        <p:spPr>
          <a:xfrm>
            <a:off x="8778240" y="4041648"/>
            <a:ext cx="2377440" cy="347472"/>
          </a:xfrm>
          <a:prstGeom prst="rect">
            <a:avLst/>
          </a:prstGeom>
          <a:noFill/>
          <a:ln/>
        </p:spPr>
        <p:txBody>
          <a:bodyPr wrap="square" rtlCol="0" anchor="ctr"/>
          <a:lstStyle/>
          <a:p>
            <a:pPr algn="ctr" indent="0" marL="0">
              <a:buNone/>
            </a:pPr>
            <a:r>
              <a:rPr lang="en-US" sz="1100" b="1" dirty="0">
                <a:solidFill>
                  <a:srgbClr val="F5A623"/>
                </a:solidFill>
                <a:latin typeface="Calibri" pitchFamily="34" charset="0"/>
                <a:ea typeface="Calibri" pitchFamily="34" charset="-122"/>
                <a:cs typeface="Calibri" pitchFamily="34" charset="-120"/>
              </a:rPr>
              <a:t>EMERGING</a:t>
            </a:r>
            <a:endParaRPr lang="en-US" sz="1100" dirty="0"/>
          </a:p>
        </p:txBody>
      </p:sp>
      <p:sp>
        <p:nvSpPr>
          <p:cNvPr id="21" name="Shape 16"/>
          <p:cNvSpPr/>
          <p:nvPr/>
        </p:nvSpPr>
        <p:spPr>
          <a:xfrm>
            <a:off x="640080" y="4791456"/>
            <a:ext cx="10881360" cy="914400"/>
          </a:xfrm>
          <a:prstGeom prst="roundRect">
            <a:avLst>
              <a:gd name="adj" fmla="val 10000"/>
            </a:avLst>
          </a:prstGeom>
          <a:solidFill>
            <a:srgbClr val="121A33"/>
          </a:solidFill>
          <a:ln/>
        </p:spPr>
      </p:sp>
      <p:sp>
        <p:nvSpPr>
          <p:cNvPr id="22" name="Shape 17"/>
          <p:cNvSpPr/>
          <p:nvPr/>
        </p:nvSpPr>
        <p:spPr>
          <a:xfrm>
            <a:off x="914400" y="4992624"/>
            <a:ext cx="502920" cy="502920"/>
          </a:xfrm>
          <a:prstGeom prst="ellipse">
            <a:avLst/>
          </a:prstGeom>
          <a:solidFill>
            <a:srgbClr val="0A0F1F"/>
          </a:solidFill>
          <a:ln/>
        </p:spPr>
      </p:sp>
      <p:pic>
        <p:nvPicPr>
          <p:cNvPr id="23" name="Image 3" descr="icons_question_FFFFFF.png">    </p:cNvPr>
          <p:cNvPicPr>
            <a:picLocks noChangeAspect="1"/>
          </p:cNvPicPr>
          <p:nvPr/>
        </p:nvPicPr>
        <p:blipFill>
          <a:blip r:embed="rId4"/>
          <a:stretch>
            <a:fillRect/>
          </a:stretch>
        </p:blipFill>
        <p:spPr>
          <a:xfrm>
            <a:off x="1035101" y="5113325"/>
            <a:ext cx="261518" cy="261518"/>
          </a:xfrm>
          <a:prstGeom prst="rect">
            <a:avLst/>
          </a:prstGeom>
        </p:spPr>
      </p:pic>
      <p:sp>
        <p:nvSpPr>
          <p:cNvPr id="24" name="Text 18"/>
          <p:cNvSpPr/>
          <p:nvPr/>
        </p:nvSpPr>
        <p:spPr>
          <a:xfrm>
            <a:off x="1874520" y="4882896"/>
            <a:ext cx="6309360" cy="347472"/>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Are those screenshots real?</a:t>
            </a:r>
            <a:endParaRPr lang="en-US" sz="1550" dirty="0"/>
          </a:p>
        </p:txBody>
      </p:sp>
      <p:sp>
        <p:nvSpPr>
          <p:cNvPr id="25" name="Text 19"/>
          <p:cNvSpPr/>
          <p:nvPr/>
        </p:nvSpPr>
        <p:spPr>
          <a:xfrm>
            <a:off x="1874520" y="5248656"/>
            <a:ext cx="6309360" cy="384048"/>
          </a:xfrm>
          <a:prstGeom prst="rect">
            <a:avLst/>
          </a:prstGeom>
          <a:noFill/>
          <a:ln/>
        </p:spPr>
        <p:txBody>
          <a:bodyPr wrap="square" rtlCol="0" anchor="t"/>
          <a:lstStyle/>
          <a:p>
            <a:pPr indent="0" marL="0">
              <a:buNone/>
            </a:pPr>
            <a:r>
              <a:rPr lang="en-US" sz="1100" dirty="0">
                <a:solidFill>
                  <a:srgbClr val="8E9BC0"/>
                </a:solidFill>
                <a:latin typeface="Calibri" pitchFamily="34" charset="0"/>
                <a:ea typeface="Calibri" pitchFamily="34" charset="-122"/>
                <a:cs typeface="Calibri" pitchFamily="34" charset="-120"/>
              </a:rPr>
              <a:t>No - they're illustrative mockups of common patterns, not a real tenant.</a:t>
            </a:r>
            <a:endParaRPr lang="en-US" sz="1100" dirty="0"/>
          </a:p>
        </p:txBody>
      </p:sp>
      <p:sp>
        <p:nvSpPr>
          <p:cNvPr id="26" name="Shape 20"/>
          <p:cNvSpPr/>
          <p:nvPr/>
        </p:nvSpPr>
        <p:spPr>
          <a:xfrm>
            <a:off x="8778240" y="5074920"/>
            <a:ext cx="2377440" cy="347472"/>
          </a:xfrm>
          <a:prstGeom prst="roundRect">
            <a:avLst>
              <a:gd name="adj" fmla="val 21053"/>
            </a:avLst>
          </a:prstGeom>
          <a:solidFill>
            <a:srgbClr val="3A2C0E"/>
          </a:solidFill>
          <a:ln w="12700">
            <a:solidFill>
              <a:srgbClr val="F5A623"/>
            </a:solidFill>
            <a:prstDash val="solid"/>
          </a:ln>
        </p:spPr>
      </p:sp>
      <p:sp>
        <p:nvSpPr>
          <p:cNvPr id="27" name="Text 21"/>
          <p:cNvSpPr/>
          <p:nvPr/>
        </p:nvSpPr>
        <p:spPr>
          <a:xfrm>
            <a:off x="8778240" y="5074920"/>
            <a:ext cx="2377440" cy="347472"/>
          </a:xfrm>
          <a:prstGeom prst="rect">
            <a:avLst/>
          </a:prstGeom>
          <a:noFill/>
          <a:ln/>
        </p:spPr>
        <p:txBody>
          <a:bodyPr wrap="square" rtlCol="0" anchor="ctr"/>
          <a:lstStyle/>
          <a:p>
            <a:pPr algn="ctr" indent="0" marL="0">
              <a:buNone/>
            </a:pPr>
            <a:r>
              <a:rPr lang="en-US" sz="1100" b="1" dirty="0">
                <a:solidFill>
                  <a:srgbClr val="F5A623"/>
                </a:solidFill>
                <a:latin typeface="Calibri" pitchFamily="34" charset="0"/>
                <a:ea typeface="Calibri" pitchFamily="34" charset="-122"/>
                <a:cs typeface="Calibri" pitchFamily="34" charset="-120"/>
              </a:rPr>
              <a:t>MOCKUP</a:t>
            </a:r>
            <a:endParaRPr lang="en-US" sz="1100" dirty="0"/>
          </a:p>
        </p:txBody>
      </p:sp>
      <p:sp>
        <p:nvSpPr>
          <p:cNvPr id="28" name="Text 22"/>
          <p:cNvSpPr/>
          <p:nvPr/>
        </p:nvSpPr>
        <p:spPr>
          <a:xfrm>
            <a:off x="640080" y="5943600"/>
            <a:ext cx="10881360" cy="365760"/>
          </a:xfrm>
          <a:prstGeom prst="rect">
            <a:avLst/>
          </a:prstGeom>
          <a:noFill/>
          <a:ln/>
        </p:spPr>
        <p:txBody>
          <a:bodyPr wrap="square" rtlCol="0" anchor="ctr"/>
          <a:lstStyle/>
          <a:p>
            <a:pPr algn="ctr" indent="0" marL="0">
              <a:buNone/>
            </a:pPr>
            <a:r>
              <a:rPr lang="en-US" sz="1300" i="1" dirty="0">
                <a:solidFill>
                  <a:srgbClr val="8E9BC0"/>
                </a:solidFill>
                <a:latin typeface="Calibri" pitchFamily="34" charset="0"/>
                <a:ea typeface="Calibri" pitchFamily="34" charset="-122"/>
                <a:cs typeface="Calibri" pitchFamily="34" charset="-120"/>
              </a:rPr>
              <a:t>I'm deliberately separating what we know from what I think is coming.</a:t>
            </a:r>
            <a:endParaRPr lang="en-US" sz="1300" dirty="0"/>
          </a:p>
        </p:txBody>
      </p:sp>
      <p:sp>
        <p:nvSpPr>
          <p:cNvPr id="29" name="Text 2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TO BE CLEAR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This isn't a talk about the death of Active Directory</a:t>
            </a:r>
            <a:endParaRPr lang="en-US" sz="3200" dirty="0"/>
          </a:p>
        </p:txBody>
      </p:sp>
      <p:sp>
        <p:nvSpPr>
          <p:cNvPr id="4" name="Shape 2"/>
          <p:cNvSpPr/>
          <p:nvPr/>
        </p:nvSpPr>
        <p:spPr>
          <a:xfrm>
            <a:off x="640080" y="2286000"/>
            <a:ext cx="10881360" cy="3017520"/>
          </a:xfrm>
          <a:prstGeom prst="roundRect">
            <a:avLst>
              <a:gd name="adj" fmla="val 3636"/>
            </a:avLst>
          </a:prstGeom>
          <a:solidFill>
            <a:srgbClr val="121A33"/>
          </a:solidFill>
          <a:ln/>
        </p:spPr>
      </p:sp>
      <p:sp>
        <p:nvSpPr>
          <p:cNvPr id="5" name="Shape 3"/>
          <p:cNvSpPr/>
          <p:nvPr/>
        </p:nvSpPr>
        <p:spPr>
          <a:xfrm>
            <a:off x="1005840" y="2651760"/>
            <a:ext cx="822960" cy="822960"/>
          </a:xfrm>
          <a:prstGeom prst="ellipse">
            <a:avLst/>
          </a:prstGeom>
          <a:solidFill>
            <a:srgbClr val="0A0F1F"/>
          </a:solidFill>
          <a:ln/>
        </p:spPr>
      </p:sp>
      <p:pic>
        <p:nvPicPr>
          <p:cNvPr id="6" name="Image 0" descr="icons_check_00E5FF.png">    </p:cNvPr>
          <p:cNvPicPr>
            <a:picLocks noChangeAspect="1"/>
          </p:cNvPicPr>
          <p:nvPr/>
        </p:nvPicPr>
        <p:blipFill>
          <a:blip r:embed="rId1"/>
          <a:stretch>
            <a:fillRect/>
          </a:stretch>
        </p:blipFill>
        <p:spPr>
          <a:xfrm>
            <a:off x="1203350" y="2849270"/>
            <a:ext cx="427939" cy="427939"/>
          </a:xfrm>
          <a:prstGeom prst="rect">
            <a:avLst/>
          </a:prstGeom>
        </p:spPr>
      </p:pic>
      <p:sp>
        <p:nvSpPr>
          <p:cNvPr id="7" name="Text 4"/>
          <p:cNvSpPr/>
          <p:nvPr/>
        </p:nvSpPr>
        <p:spPr>
          <a:xfrm>
            <a:off x="2194560" y="2651760"/>
            <a:ext cx="8961120" cy="82296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Active Directory remains a critical component of many enterprise environments.</a:t>
            </a:r>
            <a:endParaRPr lang="en-US" sz="1700" dirty="0"/>
          </a:p>
        </p:txBody>
      </p:sp>
      <p:sp>
        <p:nvSpPr>
          <p:cNvPr id="8" name="Text 5"/>
          <p:cNvSpPr/>
          <p:nvPr/>
        </p:nvSpPr>
        <p:spPr>
          <a:xfrm>
            <a:off x="2194560" y="3429000"/>
            <a:ext cx="8961120" cy="1645920"/>
          </a:xfrm>
          <a:prstGeom prst="rect">
            <a:avLst/>
          </a:prstGeom>
          <a:noFill/>
          <a:ln/>
        </p:spPr>
        <p:txBody>
          <a:bodyPr wrap="square" rtlCol="0" anchor="t"/>
          <a:lstStyle/>
          <a:p>
            <a:pPr indent="0" marL="0">
              <a:buNone/>
            </a:pPr>
            <a:r>
              <a:rPr lang="en-US" sz="1450" dirty="0">
                <a:solidFill>
                  <a:srgbClr val="8E9BC0"/>
                </a:solidFill>
                <a:latin typeface="Calibri" pitchFamily="34" charset="0"/>
                <a:ea typeface="Calibri" pitchFamily="34" charset="-122"/>
                <a:cs typeface="Calibri" pitchFamily="34" charset="-120"/>
              </a:rPr>
              <a:t>What's changing is the assumption that compromising it is the finish line. AD is increasingly just one node - often a well-defended one - in a much larger, interconnected trust graph.</a:t>
            </a:r>
            <a:endParaRPr lang="en-US" sz="14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SO WHAT DO WE DO ABOUT IT</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practical framework for modern internal assessments</a:t>
            </a:r>
            <a:endParaRPr lang="en-US" sz="3200" dirty="0"/>
          </a:p>
        </p:txBody>
      </p:sp>
      <p:sp>
        <p:nvSpPr>
          <p:cNvPr id="4" name="Shape 2"/>
          <p:cNvSpPr/>
          <p:nvPr/>
        </p:nvSpPr>
        <p:spPr>
          <a:xfrm>
            <a:off x="640080" y="2286000"/>
            <a:ext cx="731520" cy="731520"/>
          </a:xfrm>
          <a:prstGeom prst="ellipse">
            <a:avLst/>
          </a:prstGeom>
          <a:solidFill>
            <a:srgbClr val="121A33"/>
          </a:solidFill>
          <a:ln/>
        </p:spPr>
      </p:sp>
      <p:pic>
        <p:nvPicPr>
          <p:cNvPr id="5" name="Image 0" descr="icons_map_00E5FF.png">    </p:cNvPr>
          <p:cNvPicPr>
            <a:picLocks noChangeAspect="1"/>
          </p:cNvPicPr>
          <p:nvPr/>
        </p:nvPicPr>
        <p:blipFill>
          <a:blip r:embed="rId1"/>
          <a:stretch>
            <a:fillRect/>
          </a:stretch>
        </p:blipFill>
        <p:spPr>
          <a:xfrm>
            <a:off x="815645" y="2461565"/>
            <a:ext cx="380390" cy="380390"/>
          </a:xfrm>
          <a:prstGeom prst="rect">
            <a:avLst/>
          </a:prstGeom>
        </p:spPr>
      </p:pic>
      <p:sp>
        <p:nvSpPr>
          <p:cNvPr id="6" name="Text 3"/>
          <p:cNvSpPr/>
          <p:nvPr/>
        </p:nvSpPr>
        <p:spPr>
          <a:xfrm>
            <a:off x="640080" y="2011680"/>
            <a:ext cx="731520" cy="274320"/>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1645920" y="2267712"/>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Map the full trust graph</a:t>
            </a:r>
            <a:endParaRPr lang="en-US" sz="1600" dirty="0"/>
          </a:p>
        </p:txBody>
      </p:sp>
      <p:sp>
        <p:nvSpPr>
          <p:cNvPr id="8" name="Text 5"/>
          <p:cNvSpPr/>
          <p:nvPr/>
        </p:nvSpPr>
        <p:spPr>
          <a:xfrm>
            <a:off x="5669280" y="2267712"/>
            <a:ext cx="5669280" cy="640080"/>
          </a:xfrm>
          <a:prstGeom prst="rect">
            <a:avLst/>
          </a:prstGeom>
          <a:noFill/>
          <a:ln/>
        </p:spPr>
        <p:txBody>
          <a:bodyPr wrap="square" rtlCol="0" anchor="t"/>
          <a:lstStyle/>
          <a:p>
            <a:pPr indent="0" marL="0">
              <a:buNone/>
            </a:pPr>
            <a:r>
              <a:rPr lang="en-US" sz="1300" dirty="0">
                <a:solidFill>
                  <a:srgbClr val="8E9BC0"/>
                </a:solidFill>
                <a:latin typeface="Calibri" pitchFamily="34" charset="0"/>
                <a:ea typeface="Calibri" pitchFamily="34" charset="-122"/>
                <a:cs typeface="Calibri" pitchFamily="34" charset="-120"/>
              </a:rPr>
              <a:t>Not just the domain - IdP, SaaS, devices, cloud, federation</a:t>
            </a:r>
            <a:endParaRPr lang="en-US" sz="1300" dirty="0"/>
          </a:p>
        </p:txBody>
      </p:sp>
      <p:sp>
        <p:nvSpPr>
          <p:cNvPr id="9" name="Shape 6"/>
          <p:cNvSpPr/>
          <p:nvPr/>
        </p:nvSpPr>
        <p:spPr>
          <a:xfrm>
            <a:off x="640080" y="3246120"/>
            <a:ext cx="731520" cy="731520"/>
          </a:xfrm>
          <a:prstGeom prst="ellipse">
            <a:avLst/>
          </a:prstGeom>
          <a:solidFill>
            <a:srgbClr val="121A33"/>
          </a:solidFill>
          <a:ln/>
        </p:spPr>
      </p:sp>
      <p:pic>
        <p:nvPicPr>
          <p:cNvPr id="10" name="Image 1" descr="icons_search_00E5FF.png">    </p:cNvPr>
          <p:cNvPicPr>
            <a:picLocks noChangeAspect="1"/>
          </p:cNvPicPr>
          <p:nvPr/>
        </p:nvPicPr>
        <p:blipFill>
          <a:blip r:embed="rId2"/>
          <a:stretch>
            <a:fillRect/>
          </a:stretch>
        </p:blipFill>
        <p:spPr>
          <a:xfrm>
            <a:off x="815645" y="3421685"/>
            <a:ext cx="380390" cy="380390"/>
          </a:xfrm>
          <a:prstGeom prst="rect">
            <a:avLst/>
          </a:prstGeom>
        </p:spPr>
      </p:pic>
      <p:sp>
        <p:nvSpPr>
          <p:cNvPr id="11" name="Text 7"/>
          <p:cNvSpPr/>
          <p:nvPr/>
        </p:nvSpPr>
        <p:spPr>
          <a:xfrm>
            <a:off x="640080" y="2971800"/>
            <a:ext cx="731520" cy="274320"/>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2</a:t>
            </a:r>
            <a:endParaRPr lang="en-US" sz="1100" dirty="0"/>
          </a:p>
        </p:txBody>
      </p:sp>
      <p:sp>
        <p:nvSpPr>
          <p:cNvPr id="12" name="Text 8"/>
          <p:cNvSpPr/>
          <p:nvPr/>
        </p:nvSpPr>
        <p:spPr>
          <a:xfrm>
            <a:off x="1645920" y="3227832"/>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Enumerate each pillar</a:t>
            </a:r>
            <a:endParaRPr lang="en-US" sz="1600" dirty="0"/>
          </a:p>
        </p:txBody>
      </p:sp>
      <p:sp>
        <p:nvSpPr>
          <p:cNvPr id="13" name="Text 9"/>
          <p:cNvSpPr/>
          <p:nvPr/>
        </p:nvSpPr>
        <p:spPr>
          <a:xfrm>
            <a:off x="5669280" y="3227832"/>
            <a:ext cx="5669280" cy="640080"/>
          </a:xfrm>
          <a:prstGeom prst="rect">
            <a:avLst/>
          </a:prstGeom>
          <a:noFill/>
          <a:ln/>
        </p:spPr>
        <p:txBody>
          <a:bodyPr wrap="square" rtlCol="0" anchor="t"/>
          <a:lstStyle/>
          <a:p>
            <a:pPr indent="0" marL="0">
              <a:buNone/>
            </a:pPr>
            <a:r>
              <a:rPr lang="en-US" sz="1300" dirty="0">
                <a:solidFill>
                  <a:srgbClr val="8E9BC0"/>
                </a:solidFill>
                <a:latin typeface="Calibri" pitchFamily="34" charset="0"/>
                <a:ea typeface="Calibri" pitchFamily="34" charset="-122"/>
                <a:cs typeface="Calibri" pitchFamily="34" charset="-120"/>
              </a:rPr>
              <a:t>Conditional access, app consents, IAM policies, MDM enrollment</a:t>
            </a:r>
            <a:endParaRPr lang="en-US" sz="1300" dirty="0"/>
          </a:p>
        </p:txBody>
      </p:sp>
      <p:sp>
        <p:nvSpPr>
          <p:cNvPr id="14" name="Shape 10"/>
          <p:cNvSpPr/>
          <p:nvPr/>
        </p:nvSpPr>
        <p:spPr>
          <a:xfrm>
            <a:off x="640080" y="4206240"/>
            <a:ext cx="731520" cy="731520"/>
          </a:xfrm>
          <a:prstGeom prst="ellipse">
            <a:avLst/>
          </a:prstGeom>
          <a:solidFill>
            <a:srgbClr val="121A33"/>
          </a:solidFill>
          <a:ln/>
        </p:spPr>
      </p:sp>
      <p:pic>
        <p:nvPicPr>
          <p:cNvPr id="15" name="Image 2" descr="icons_route_00E5FF.png">    </p:cNvPr>
          <p:cNvPicPr>
            <a:picLocks noChangeAspect="1"/>
          </p:cNvPicPr>
          <p:nvPr/>
        </p:nvPicPr>
        <p:blipFill>
          <a:blip r:embed="rId3"/>
          <a:stretch>
            <a:fillRect/>
          </a:stretch>
        </p:blipFill>
        <p:spPr>
          <a:xfrm>
            <a:off x="815645" y="4381805"/>
            <a:ext cx="380390" cy="380390"/>
          </a:xfrm>
          <a:prstGeom prst="rect">
            <a:avLst/>
          </a:prstGeom>
        </p:spPr>
      </p:pic>
      <p:sp>
        <p:nvSpPr>
          <p:cNvPr id="16" name="Text 11"/>
          <p:cNvSpPr/>
          <p:nvPr/>
        </p:nvSpPr>
        <p:spPr>
          <a:xfrm>
            <a:off x="640080" y="3931920"/>
            <a:ext cx="731520" cy="274320"/>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3</a:t>
            </a:r>
            <a:endParaRPr lang="en-US" sz="1100" dirty="0"/>
          </a:p>
        </p:txBody>
      </p:sp>
      <p:sp>
        <p:nvSpPr>
          <p:cNvPr id="17" name="Text 12"/>
          <p:cNvSpPr/>
          <p:nvPr/>
        </p:nvSpPr>
        <p:spPr>
          <a:xfrm>
            <a:off x="1645920" y="4187952"/>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Chain across boundaries</a:t>
            </a:r>
            <a:endParaRPr lang="en-US" sz="1600" dirty="0"/>
          </a:p>
        </p:txBody>
      </p:sp>
      <p:sp>
        <p:nvSpPr>
          <p:cNvPr id="18" name="Text 13"/>
          <p:cNvSpPr/>
          <p:nvPr/>
        </p:nvSpPr>
        <p:spPr>
          <a:xfrm>
            <a:off x="5669280" y="4187952"/>
            <a:ext cx="5669280" cy="640080"/>
          </a:xfrm>
          <a:prstGeom prst="rect">
            <a:avLst/>
          </a:prstGeom>
          <a:noFill/>
          <a:ln/>
        </p:spPr>
        <p:txBody>
          <a:bodyPr wrap="square" rtlCol="0" anchor="t"/>
          <a:lstStyle/>
          <a:p>
            <a:pPr indent="0" marL="0">
              <a:buNone/>
            </a:pPr>
            <a:r>
              <a:rPr lang="en-US" sz="1300" dirty="0">
                <a:solidFill>
                  <a:srgbClr val="8E9BC0"/>
                </a:solidFill>
                <a:latin typeface="Calibri" pitchFamily="34" charset="0"/>
                <a:ea typeface="Calibri" pitchFamily="34" charset="-122"/>
                <a:cs typeface="Calibri" pitchFamily="34" charset="-120"/>
              </a:rPr>
              <a:t>Look for privilege that crosses from one system into another</a:t>
            </a:r>
            <a:endParaRPr lang="en-US" sz="1300" dirty="0"/>
          </a:p>
        </p:txBody>
      </p:sp>
      <p:sp>
        <p:nvSpPr>
          <p:cNvPr id="19" name="Shape 14"/>
          <p:cNvSpPr/>
          <p:nvPr/>
        </p:nvSpPr>
        <p:spPr>
          <a:xfrm>
            <a:off x="640080" y="5166360"/>
            <a:ext cx="731520" cy="731520"/>
          </a:xfrm>
          <a:prstGeom prst="ellipse">
            <a:avLst/>
          </a:prstGeom>
          <a:solidFill>
            <a:srgbClr val="121A33"/>
          </a:solidFill>
          <a:ln/>
        </p:spPr>
      </p:sp>
      <p:pic>
        <p:nvPicPr>
          <p:cNvPr id="20" name="Image 3" descr="icons_flag_00E5FF.png">    </p:cNvPr>
          <p:cNvPicPr>
            <a:picLocks noChangeAspect="1"/>
          </p:cNvPicPr>
          <p:nvPr/>
        </p:nvPicPr>
        <p:blipFill>
          <a:blip r:embed="rId4"/>
          <a:stretch>
            <a:fillRect/>
          </a:stretch>
        </p:blipFill>
        <p:spPr>
          <a:xfrm>
            <a:off x="815645" y="5341925"/>
            <a:ext cx="380390" cy="380390"/>
          </a:xfrm>
          <a:prstGeom prst="rect">
            <a:avLst/>
          </a:prstGeom>
        </p:spPr>
      </p:pic>
      <p:sp>
        <p:nvSpPr>
          <p:cNvPr id="21" name="Text 15"/>
          <p:cNvSpPr/>
          <p:nvPr/>
        </p:nvSpPr>
        <p:spPr>
          <a:xfrm>
            <a:off x="640080" y="4892040"/>
            <a:ext cx="731520" cy="274320"/>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4</a:t>
            </a:r>
            <a:endParaRPr lang="en-US" sz="1100" dirty="0"/>
          </a:p>
        </p:txBody>
      </p:sp>
      <p:sp>
        <p:nvSpPr>
          <p:cNvPr id="22" name="Text 16"/>
          <p:cNvSpPr/>
          <p:nvPr/>
        </p:nvSpPr>
        <p:spPr>
          <a:xfrm>
            <a:off x="1645920" y="5148072"/>
            <a:ext cx="39319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Redefine “game over”</a:t>
            </a:r>
            <a:endParaRPr lang="en-US" sz="1600" dirty="0"/>
          </a:p>
        </p:txBody>
      </p:sp>
      <p:sp>
        <p:nvSpPr>
          <p:cNvPr id="23" name="Text 17"/>
          <p:cNvSpPr/>
          <p:nvPr/>
        </p:nvSpPr>
        <p:spPr>
          <a:xfrm>
            <a:off x="5669280" y="5148072"/>
            <a:ext cx="5669280" cy="640080"/>
          </a:xfrm>
          <a:prstGeom prst="rect">
            <a:avLst/>
          </a:prstGeom>
          <a:noFill/>
          <a:ln/>
        </p:spPr>
        <p:txBody>
          <a:bodyPr wrap="square" rtlCol="0" anchor="t"/>
          <a:lstStyle/>
          <a:p>
            <a:pPr indent="0" marL="0">
              <a:buNone/>
            </a:pPr>
            <a:r>
              <a:rPr lang="en-US" sz="1300" dirty="0">
                <a:solidFill>
                  <a:srgbClr val="8E9BC0"/>
                </a:solidFill>
                <a:latin typeface="Calibri" pitchFamily="34" charset="0"/>
                <a:ea typeface="Calibri" pitchFamily="34" charset="-122"/>
                <a:cs typeface="Calibri" pitchFamily="34" charset="-120"/>
              </a:rPr>
              <a:t>You already know this one - blast radius, not badges</a:t>
            </a:r>
            <a:endParaRPr lang="en-US" sz="1300" dirty="0"/>
          </a:p>
        </p:txBody>
      </p:sp>
      <p:sp>
        <p:nvSpPr>
          <p:cNvPr id="24" name="Text 1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WHO THIS IS FOR</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new perspective, whichever seat you're in</a:t>
            </a:r>
            <a:endParaRPr lang="en-US" sz="3200" dirty="0"/>
          </a:p>
        </p:txBody>
      </p:sp>
      <p:sp>
        <p:nvSpPr>
          <p:cNvPr id="4" name="Shape 2"/>
          <p:cNvSpPr/>
          <p:nvPr/>
        </p:nvSpPr>
        <p:spPr>
          <a:xfrm>
            <a:off x="640080" y="2286000"/>
            <a:ext cx="5212080" cy="1554480"/>
          </a:xfrm>
          <a:prstGeom prst="roundRect">
            <a:avLst>
              <a:gd name="adj" fmla="val 5882"/>
            </a:avLst>
          </a:prstGeom>
          <a:solidFill>
            <a:srgbClr val="121A33"/>
          </a:solidFill>
          <a:ln/>
        </p:spPr>
      </p:sp>
      <p:sp>
        <p:nvSpPr>
          <p:cNvPr id="5" name="Shape 3"/>
          <p:cNvSpPr/>
          <p:nvPr/>
        </p:nvSpPr>
        <p:spPr>
          <a:xfrm>
            <a:off x="914400" y="2651760"/>
            <a:ext cx="822960" cy="822960"/>
          </a:xfrm>
          <a:prstGeom prst="ellipse">
            <a:avLst/>
          </a:prstGeom>
          <a:solidFill>
            <a:srgbClr val="0A0F1F"/>
          </a:solidFill>
          <a:ln/>
        </p:spPr>
      </p:sp>
      <p:pic>
        <p:nvPicPr>
          <p:cNvPr id="6" name="Image 0" descr="icons_usershield_00E5FF.png">    </p:cNvPr>
          <p:cNvPicPr>
            <a:picLocks noChangeAspect="1"/>
          </p:cNvPicPr>
          <p:nvPr/>
        </p:nvPicPr>
        <p:blipFill>
          <a:blip r:embed="rId1"/>
          <a:stretch>
            <a:fillRect/>
          </a:stretch>
        </p:blipFill>
        <p:spPr>
          <a:xfrm>
            <a:off x="1111910" y="2849270"/>
            <a:ext cx="427939" cy="427939"/>
          </a:xfrm>
          <a:prstGeom prst="rect">
            <a:avLst/>
          </a:prstGeom>
        </p:spPr>
      </p:pic>
      <p:sp>
        <p:nvSpPr>
          <p:cNvPr id="7" name="Text 4"/>
          <p:cNvSpPr/>
          <p:nvPr/>
        </p:nvSpPr>
        <p:spPr>
          <a:xfrm>
            <a:off x="1920240" y="2514600"/>
            <a:ext cx="37490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Penetration Testers</a:t>
            </a:r>
            <a:endParaRPr lang="en-US" sz="1500" dirty="0"/>
          </a:p>
        </p:txBody>
      </p:sp>
      <p:sp>
        <p:nvSpPr>
          <p:cNvPr id="8" name="Text 5"/>
          <p:cNvSpPr/>
          <p:nvPr/>
        </p:nvSpPr>
        <p:spPr>
          <a:xfrm>
            <a:off x="1920240" y="2926080"/>
            <a:ext cx="3749040" cy="73152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Scope assessments beyond the domain boundary</a:t>
            </a:r>
            <a:endParaRPr lang="en-US" sz="1250" dirty="0"/>
          </a:p>
        </p:txBody>
      </p:sp>
      <p:sp>
        <p:nvSpPr>
          <p:cNvPr id="9" name="Shape 6"/>
          <p:cNvSpPr/>
          <p:nvPr/>
        </p:nvSpPr>
        <p:spPr>
          <a:xfrm>
            <a:off x="6309360" y="2286000"/>
            <a:ext cx="5212080" cy="1554480"/>
          </a:xfrm>
          <a:prstGeom prst="roundRect">
            <a:avLst>
              <a:gd name="adj" fmla="val 5882"/>
            </a:avLst>
          </a:prstGeom>
          <a:solidFill>
            <a:srgbClr val="121A33"/>
          </a:solidFill>
          <a:ln/>
        </p:spPr>
      </p:sp>
      <p:sp>
        <p:nvSpPr>
          <p:cNvPr id="10" name="Shape 7"/>
          <p:cNvSpPr/>
          <p:nvPr/>
        </p:nvSpPr>
        <p:spPr>
          <a:xfrm>
            <a:off x="6583680" y="2651760"/>
            <a:ext cx="822960" cy="822960"/>
          </a:xfrm>
          <a:prstGeom prst="ellipse">
            <a:avLst/>
          </a:prstGeom>
          <a:solidFill>
            <a:srgbClr val="0A0F1F"/>
          </a:solidFill>
          <a:ln/>
        </p:spPr>
      </p:sp>
      <p:pic>
        <p:nvPicPr>
          <p:cNvPr id="11" name="Image 1" descr="icons_shield_00E5FF.png">    </p:cNvPr>
          <p:cNvPicPr>
            <a:picLocks noChangeAspect="1"/>
          </p:cNvPicPr>
          <p:nvPr/>
        </p:nvPicPr>
        <p:blipFill>
          <a:blip r:embed="rId2"/>
          <a:stretch>
            <a:fillRect/>
          </a:stretch>
        </p:blipFill>
        <p:spPr>
          <a:xfrm>
            <a:off x="6781190" y="2849270"/>
            <a:ext cx="427939" cy="427939"/>
          </a:xfrm>
          <a:prstGeom prst="rect">
            <a:avLst/>
          </a:prstGeom>
        </p:spPr>
      </p:pic>
      <p:sp>
        <p:nvSpPr>
          <p:cNvPr id="12" name="Text 8"/>
          <p:cNvSpPr/>
          <p:nvPr/>
        </p:nvSpPr>
        <p:spPr>
          <a:xfrm>
            <a:off x="7589520" y="2514600"/>
            <a:ext cx="37490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Red Teamers</a:t>
            </a:r>
            <a:endParaRPr lang="en-US" sz="1500" dirty="0"/>
          </a:p>
        </p:txBody>
      </p:sp>
      <p:sp>
        <p:nvSpPr>
          <p:cNvPr id="13" name="Text 9"/>
          <p:cNvSpPr/>
          <p:nvPr/>
        </p:nvSpPr>
        <p:spPr>
          <a:xfrm>
            <a:off x="7589520" y="2926080"/>
            <a:ext cx="3749040" cy="73152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Chain identity, cloud and SaaS into real objectives</a:t>
            </a:r>
            <a:endParaRPr lang="en-US" sz="1250" dirty="0"/>
          </a:p>
        </p:txBody>
      </p:sp>
      <p:sp>
        <p:nvSpPr>
          <p:cNvPr id="14" name="Shape 10"/>
          <p:cNvSpPr/>
          <p:nvPr/>
        </p:nvSpPr>
        <p:spPr>
          <a:xfrm>
            <a:off x="640080" y="4160520"/>
            <a:ext cx="5212080" cy="1554480"/>
          </a:xfrm>
          <a:prstGeom prst="roundRect">
            <a:avLst>
              <a:gd name="adj" fmla="val 5882"/>
            </a:avLst>
          </a:prstGeom>
          <a:solidFill>
            <a:srgbClr val="121A33"/>
          </a:solidFill>
          <a:ln/>
        </p:spPr>
      </p:sp>
      <p:sp>
        <p:nvSpPr>
          <p:cNvPr id="15" name="Shape 11"/>
          <p:cNvSpPr/>
          <p:nvPr/>
        </p:nvSpPr>
        <p:spPr>
          <a:xfrm>
            <a:off x="914400" y="4526280"/>
            <a:ext cx="822960" cy="822960"/>
          </a:xfrm>
          <a:prstGeom prst="ellipse">
            <a:avLst/>
          </a:prstGeom>
          <a:solidFill>
            <a:srgbClr val="0A0F1F"/>
          </a:solidFill>
          <a:ln/>
        </p:spPr>
      </p:sp>
      <p:pic>
        <p:nvPicPr>
          <p:cNvPr id="16" name="Image 2" descr="icons_check_00E5FF.png">    </p:cNvPr>
          <p:cNvPicPr>
            <a:picLocks noChangeAspect="1"/>
          </p:cNvPicPr>
          <p:nvPr/>
        </p:nvPicPr>
        <p:blipFill>
          <a:blip r:embed="rId3"/>
          <a:stretch>
            <a:fillRect/>
          </a:stretch>
        </p:blipFill>
        <p:spPr>
          <a:xfrm>
            <a:off x="1111910" y="4723790"/>
            <a:ext cx="427939" cy="427939"/>
          </a:xfrm>
          <a:prstGeom prst="rect">
            <a:avLst/>
          </a:prstGeom>
        </p:spPr>
      </p:pic>
      <p:sp>
        <p:nvSpPr>
          <p:cNvPr id="17" name="Text 12"/>
          <p:cNvSpPr/>
          <p:nvPr/>
        </p:nvSpPr>
        <p:spPr>
          <a:xfrm>
            <a:off x="1920240" y="4389120"/>
            <a:ext cx="37490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Blue Teamers</a:t>
            </a:r>
            <a:endParaRPr lang="en-US" sz="1500" dirty="0"/>
          </a:p>
        </p:txBody>
      </p:sp>
      <p:sp>
        <p:nvSpPr>
          <p:cNvPr id="18" name="Text 13"/>
          <p:cNvSpPr/>
          <p:nvPr/>
        </p:nvSpPr>
        <p:spPr>
          <a:xfrm>
            <a:off x="1920240" y="4800600"/>
            <a:ext cx="3749040" cy="73152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Extend detection to IdP, SaaS and device management</a:t>
            </a:r>
            <a:endParaRPr lang="en-US" sz="1250" dirty="0"/>
          </a:p>
        </p:txBody>
      </p:sp>
      <p:sp>
        <p:nvSpPr>
          <p:cNvPr id="19" name="Shape 14"/>
          <p:cNvSpPr/>
          <p:nvPr/>
        </p:nvSpPr>
        <p:spPr>
          <a:xfrm>
            <a:off x="6309360" y="4160520"/>
            <a:ext cx="5212080" cy="1554480"/>
          </a:xfrm>
          <a:prstGeom prst="roundRect">
            <a:avLst>
              <a:gd name="adj" fmla="val 5882"/>
            </a:avLst>
          </a:prstGeom>
          <a:solidFill>
            <a:srgbClr val="121A33"/>
          </a:solidFill>
          <a:ln/>
        </p:spPr>
      </p:sp>
      <p:sp>
        <p:nvSpPr>
          <p:cNvPr id="20" name="Shape 15"/>
          <p:cNvSpPr/>
          <p:nvPr/>
        </p:nvSpPr>
        <p:spPr>
          <a:xfrm>
            <a:off x="6583680" y="4526280"/>
            <a:ext cx="822960" cy="822960"/>
          </a:xfrm>
          <a:prstGeom prst="ellipse">
            <a:avLst/>
          </a:prstGeom>
          <a:solidFill>
            <a:srgbClr val="0A0F1F"/>
          </a:solidFill>
          <a:ln/>
        </p:spPr>
      </p:sp>
      <p:pic>
        <p:nvPicPr>
          <p:cNvPr id="21" name="Image 3" descr="icons_building_00E5FF.png">    </p:cNvPr>
          <p:cNvPicPr>
            <a:picLocks noChangeAspect="1"/>
          </p:cNvPicPr>
          <p:nvPr/>
        </p:nvPicPr>
        <p:blipFill>
          <a:blip r:embed="rId4"/>
          <a:stretch>
            <a:fillRect/>
          </a:stretch>
        </p:blipFill>
        <p:spPr>
          <a:xfrm>
            <a:off x="6781190" y="4723790"/>
            <a:ext cx="427939" cy="427939"/>
          </a:xfrm>
          <a:prstGeom prst="rect">
            <a:avLst/>
          </a:prstGeom>
        </p:spPr>
      </p:pic>
      <p:sp>
        <p:nvSpPr>
          <p:cNvPr id="22" name="Text 16"/>
          <p:cNvSpPr/>
          <p:nvPr/>
        </p:nvSpPr>
        <p:spPr>
          <a:xfrm>
            <a:off x="7589520" y="4389120"/>
            <a:ext cx="37490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Security Leaders</a:t>
            </a:r>
            <a:endParaRPr lang="en-US" sz="1500" dirty="0"/>
          </a:p>
        </p:txBody>
      </p:sp>
      <p:sp>
        <p:nvSpPr>
          <p:cNvPr id="23" name="Text 17"/>
          <p:cNvSpPr/>
          <p:nvPr/>
        </p:nvSpPr>
        <p:spPr>
          <a:xfrm>
            <a:off x="7589520" y="4800600"/>
            <a:ext cx="3749040" cy="73152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Rethink where enterprise trust actually lives</a:t>
            </a:r>
            <a:endParaRPr lang="en-US" sz="1250" dirty="0"/>
          </a:p>
        </p:txBody>
      </p:sp>
      <p:sp>
        <p:nvSpPr>
          <p:cNvPr id="24" name="Text 1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0B18"/>
        </a:solidFill>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indent="0" marL="0">
              <a:buNone/>
            </a:pPr>
            <a:r>
              <a:rPr lang="en-US" sz="1300" b="1" spc="200" kern="0" dirty="0">
                <a:solidFill>
                  <a:srgbClr val="00E5FF"/>
                </a:solidFill>
                <a:latin typeface="Calibri" pitchFamily="34" charset="0"/>
                <a:ea typeface="Calibri" pitchFamily="34" charset="-122"/>
                <a:cs typeface="Calibri" pitchFamily="34" charset="-120"/>
              </a:rPr>
              <a:t>KEY TAKEAWAYS</a:t>
            </a:r>
            <a:endParaRPr lang="en-US" sz="13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to carry back to your next engagement</a:t>
            </a:r>
            <a:endParaRPr lang="en-US" sz="3200" dirty="0"/>
          </a:p>
        </p:txBody>
      </p:sp>
      <p:sp>
        <p:nvSpPr>
          <p:cNvPr id="4" name="Shape 2"/>
          <p:cNvSpPr/>
          <p:nvPr/>
        </p:nvSpPr>
        <p:spPr>
          <a:xfrm>
            <a:off x="640080" y="2377440"/>
            <a:ext cx="502920" cy="502920"/>
          </a:xfrm>
          <a:prstGeom prst="ellipse">
            <a:avLst/>
          </a:prstGeom>
          <a:solidFill>
            <a:srgbClr val="7C5CFC"/>
          </a:solidFill>
          <a:ln/>
        </p:spPr>
      </p:sp>
      <p:sp>
        <p:nvSpPr>
          <p:cNvPr id="5" name="Text 3"/>
          <p:cNvSpPr/>
          <p:nvPr/>
        </p:nvSpPr>
        <p:spPr>
          <a:xfrm>
            <a:off x="640080" y="23774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71600" y="2331720"/>
            <a:ext cx="10058400" cy="1005840"/>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The definition of the "internal network" has already changed - assessments need to catch up</a:t>
            </a:r>
            <a:endParaRPr lang="en-US" sz="1600" dirty="0"/>
          </a:p>
        </p:txBody>
      </p:sp>
      <p:sp>
        <p:nvSpPr>
          <p:cNvPr id="7" name="Shape 5"/>
          <p:cNvSpPr/>
          <p:nvPr/>
        </p:nvSpPr>
        <p:spPr>
          <a:xfrm>
            <a:off x="640080" y="3657600"/>
            <a:ext cx="502920" cy="502920"/>
          </a:xfrm>
          <a:prstGeom prst="ellipse">
            <a:avLst/>
          </a:prstGeom>
          <a:solidFill>
            <a:srgbClr val="7C5CFC"/>
          </a:solidFill>
          <a:ln/>
        </p:spPr>
      </p:sp>
      <p:sp>
        <p:nvSpPr>
          <p:cNvPr id="8" name="Text 6"/>
          <p:cNvSpPr/>
          <p:nvPr/>
        </p:nvSpPr>
        <p:spPr>
          <a:xfrm>
            <a:off x="640080" y="365760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371600" y="3611880"/>
            <a:ext cx="10058400" cy="1005840"/>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Domain Admin is a milestone, not always the objective - trace paths through IdP, SaaS, cloud and device management too</a:t>
            </a:r>
            <a:endParaRPr lang="en-US" sz="1600" dirty="0"/>
          </a:p>
        </p:txBody>
      </p:sp>
      <p:sp>
        <p:nvSpPr>
          <p:cNvPr id="10" name="Shape 8"/>
          <p:cNvSpPr/>
          <p:nvPr/>
        </p:nvSpPr>
        <p:spPr>
          <a:xfrm>
            <a:off x="640080" y="4937760"/>
            <a:ext cx="502920" cy="502920"/>
          </a:xfrm>
          <a:prstGeom prst="ellipse">
            <a:avLst/>
          </a:prstGeom>
          <a:solidFill>
            <a:srgbClr val="7C5CFC"/>
          </a:solidFill>
          <a:ln/>
        </p:spPr>
      </p:sp>
      <p:sp>
        <p:nvSpPr>
          <p:cNvPr id="11" name="Text 9"/>
          <p:cNvSpPr/>
          <p:nvPr/>
        </p:nvSpPr>
        <p:spPr>
          <a:xfrm>
            <a:off x="640080" y="49377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371600" y="4892040"/>
            <a:ext cx="10058400" cy="1005840"/>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Privilege is no longer the unit of compromise. Reach is - trust is how you get there, and a chain across a graph beats a single escalation</a:t>
            </a:r>
            <a:endParaRPr lang="en-US" sz="1600" dirty="0"/>
          </a:p>
        </p:txBody>
      </p:sp>
      <p:sp>
        <p:nvSpPr>
          <p:cNvPr id="13" name="Text 11"/>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F1F"/>
        </a:solidFill>
      </p:bgPr>
    </p:bg>
    <p:spTree>
      <p:nvGrpSpPr>
        <p:cNvPr id="1" name=""/>
        <p:cNvGrpSpPr/>
        <p:nvPr/>
      </p:nvGrpSpPr>
      <p:grpSpPr>
        <a:xfrm>
          <a:off x="0" y="0"/>
          <a:ext cx="0" cy="0"/>
          <a:chOff x="0" y="0"/>
          <a:chExt cx="0" cy="0"/>
        </a:xfrm>
      </p:grpSpPr>
      <p:sp>
        <p:nvSpPr>
          <p:cNvPr id="2" name="Shape 0"/>
          <p:cNvSpPr/>
          <p:nvPr/>
        </p:nvSpPr>
        <p:spPr>
          <a:xfrm>
            <a:off x="822960" y="1005840"/>
            <a:ext cx="822960" cy="1371600"/>
          </a:xfrm>
          <a:prstGeom prst="line">
            <a:avLst/>
          </a:prstGeom>
          <a:noFill/>
          <a:ln w="15240">
            <a:solidFill>
              <a:srgbClr val="16204A"/>
            </a:solidFill>
            <a:prstDash val="solid"/>
          </a:ln>
        </p:spPr>
      </p:sp>
      <p:sp>
        <p:nvSpPr>
          <p:cNvPr id="3" name="Shape 1"/>
          <p:cNvSpPr/>
          <p:nvPr/>
        </p:nvSpPr>
        <p:spPr>
          <a:xfrm>
            <a:off x="1097280" y="2377440"/>
            <a:ext cx="548640" cy="2011680"/>
          </a:xfrm>
          <a:prstGeom prst="line">
            <a:avLst/>
          </a:prstGeom>
          <a:noFill/>
          <a:ln w="15240">
            <a:solidFill>
              <a:srgbClr val="16204A"/>
            </a:solidFill>
            <a:prstDash val="solid"/>
          </a:ln>
        </p:spPr>
      </p:sp>
      <p:sp>
        <p:nvSpPr>
          <p:cNvPr id="4" name="Shape 2"/>
          <p:cNvSpPr/>
          <p:nvPr/>
        </p:nvSpPr>
        <p:spPr>
          <a:xfrm>
            <a:off x="1097280" y="4389120"/>
            <a:ext cx="1280160" cy="1005840"/>
          </a:xfrm>
          <a:prstGeom prst="line">
            <a:avLst/>
          </a:prstGeom>
          <a:noFill/>
          <a:ln w="15240">
            <a:solidFill>
              <a:srgbClr val="16204A"/>
            </a:solidFill>
            <a:prstDash val="solid"/>
          </a:ln>
        </p:spPr>
      </p:sp>
      <p:sp>
        <p:nvSpPr>
          <p:cNvPr id="5" name="Shape 3"/>
          <p:cNvSpPr/>
          <p:nvPr/>
        </p:nvSpPr>
        <p:spPr>
          <a:xfrm>
            <a:off x="548640" y="1005840"/>
            <a:ext cx="274320" cy="2103120"/>
          </a:xfrm>
          <a:prstGeom prst="line">
            <a:avLst/>
          </a:prstGeom>
          <a:noFill/>
          <a:ln w="15240">
            <a:solidFill>
              <a:srgbClr val="16204A"/>
            </a:solidFill>
            <a:prstDash val="solid"/>
          </a:ln>
        </p:spPr>
      </p:sp>
      <p:sp>
        <p:nvSpPr>
          <p:cNvPr id="6" name="Shape 4"/>
          <p:cNvSpPr/>
          <p:nvPr/>
        </p:nvSpPr>
        <p:spPr>
          <a:xfrm>
            <a:off x="548640" y="2377440"/>
            <a:ext cx="1097280" cy="731520"/>
          </a:xfrm>
          <a:prstGeom prst="line">
            <a:avLst/>
          </a:prstGeom>
          <a:noFill/>
          <a:ln w="15240">
            <a:solidFill>
              <a:srgbClr val="16204A"/>
            </a:solidFill>
            <a:prstDash val="solid"/>
          </a:ln>
        </p:spPr>
      </p:sp>
      <p:sp>
        <p:nvSpPr>
          <p:cNvPr id="7" name="Shape 5"/>
          <p:cNvSpPr/>
          <p:nvPr/>
        </p:nvSpPr>
        <p:spPr>
          <a:xfrm>
            <a:off x="10607040" y="1188720"/>
            <a:ext cx="640080" cy="1463040"/>
          </a:xfrm>
          <a:prstGeom prst="line">
            <a:avLst/>
          </a:prstGeom>
          <a:noFill/>
          <a:ln w="15240">
            <a:solidFill>
              <a:srgbClr val="16204A"/>
            </a:solidFill>
            <a:prstDash val="solid"/>
          </a:ln>
        </p:spPr>
      </p:sp>
      <p:sp>
        <p:nvSpPr>
          <p:cNvPr id="8" name="Shape 6"/>
          <p:cNvSpPr/>
          <p:nvPr/>
        </p:nvSpPr>
        <p:spPr>
          <a:xfrm>
            <a:off x="10607040" y="2651760"/>
            <a:ext cx="914400" cy="1554480"/>
          </a:xfrm>
          <a:prstGeom prst="line">
            <a:avLst/>
          </a:prstGeom>
          <a:noFill/>
          <a:ln w="15240">
            <a:solidFill>
              <a:srgbClr val="16204A"/>
            </a:solidFill>
            <a:prstDash val="solid"/>
          </a:ln>
        </p:spPr>
      </p:sp>
      <p:sp>
        <p:nvSpPr>
          <p:cNvPr id="9" name="Shape 7"/>
          <p:cNvSpPr/>
          <p:nvPr/>
        </p:nvSpPr>
        <p:spPr>
          <a:xfrm>
            <a:off x="10332720" y="4206240"/>
            <a:ext cx="1188720" cy="1097280"/>
          </a:xfrm>
          <a:prstGeom prst="line">
            <a:avLst/>
          </a:prstGeom>
          <a:noFill/>
          <a:ln w="15240">
            <a:solidFill>
              <a:srgbClr val="16204A"/>
            </a:solidFill>
            <a:prstDash val="solid"/>
          </a:ln>
        </p:spPr>
      </p:sp>
      <p:sp>
        <p:nvSpPr>
          <p:cNvPr id="10" name="Shape 8"/>
          <p:cNvSpPr/>
          <p:nvPr/>
        </p:nvSpPr>
        <p:spPr>
          <a:xfrm>
            <a:off x="10332720" y="5303520"/>
            <a:ext cx="640080" cy="822960"/>
          </a:xfrm>
          <a:prstGeom prst="line">
            <a:avLst/>
          </a:prstGeom>
          <a:noFill/>
          <a:ln w="15240">
            <a:solidFill>
              <a:srgbClr val="16204A"/>
            </a:solidFill>
            <a:prstDash val="solid"/>
          </a:ln>
        </p:spPr>
      </p:sp>
      <p:sp>
        <p:nvSpPr>
          <p:cNvPr id="11" name="Shape 9"/>
          <p:cNvSpPr/>
          <p:nvPr/>
        </p:nvSpPr>
        <p:spPr>
          <a:xfrm>
            <a:off x="10972800" y="1188720"/>
            <a:ext cx="274320" cy="4937760"/>
          </a:xfrm>
          <a:prstGeom prst="line">
            <a:avLst/>
          </a:prstGeom>
          <a:noFill/>
          <a:ln w="15240">
            <a:solidFill>
              <a:srgbClr val="16204A"/>
            </a:solidFill>
            <a:prstDash val="solid"/>
          </a:ln>
        </p:spPr>
      </p:sp>
      <p:sp>
        <p:nvSpPr>
          <p:cNvPr id="12" name="Shape 10"/>
          <p:cNvSpPr/>
          <p:nvPr/>
        </p:nvSpPr>
        <p:spPr>
          <a:xfrm>
            <a:off x="768096" y="950976"/>
            <a:ext cx="109728" cy="109728"/>
          </a:xfrm>
          <a:prstGeom prst="ellipse">
            <a:avLst/>
          </a:prstGeom>
          <a:solidFill>
            <a:srgbClr val="00E5FF"/>
          </a:solidFill>
          <a:ln/>
        </p:spPr>
      </p:sp>
      <p:sp>
        <p:nvSpPr>
          <p:cNvPr id="13" name="Shape 11"/>
          <p:cNvSpPr/>
          <p:nvPr/>
        </p:nvSpPr>
        <p:spPr>
          <a:xfrm>
            <a:off x="1591056" y="2322576"/>
            <a:ext cx="109728" cy="109728"/>
          </a:xfrm>
          <a:prstGeom prst="ellipse">
            <a:avLst/>
          </a:prstGeom>
          <a:solidFill>
            <a:srgbClr val="7C5CFC"/>
          </a:solidFill>
          <a:ln/>
        </p:spPr>
      </p:sp>
      <p:sp>
        <p:nvSpPr>
          <p:cNvPr id="14" name="Shape 12"/>
          <p:cNvSpPr/>
          <p:nvPr/>
        </p:nvSpPr>
        <p:spPr>
          <a:xfrm>
            <a:off x="1042416" y="4334256"/>
            <a:ext cx="109728" cy="109728"/>
          </a:xfrm>
          <a:prstGeom prst="ellipse">
            <a:avLst/>
          </a:prstGeom>
          <a:solidFill>
            <a:srgbClr val="7C5CFC"/>
          </a:solidFill>
          <a:ln/>
        </p:spPr>
      </p:sp>
      <p:sp>
        <p:nvSpPr>
          <p:cNvPr id="15" name="Shape 13"/>
          <p:cNvSpPr/>
          <p:nvPr/>
        </p:nvSpPr>
        <p:spPr>
          <a:xfrm>
            <a:off x="2322576" y="5340096"/>
            <a:ext cx="109728" cy="109728"/>
          </a:xfrm>
          <a:prstGeom prst="ellipse">
            <a:avLst/>
          </a:prstGeom>
          <a:solidFill>
            <a:srgbClr val="00E5FF"/>
          </a:solidFill>
          <a:ln/>
        </p:spPr>
      </p:sp>
      <p:sp>
        <p:nvSpPr>
          <p:cNvPr id="16" name="Shape 14"/>
          <p:cNvSpPr/>
          <p:nvPr/>
        </p:nvSpPr>
        <p:spPr>
          <a:xfrm>
            <a:off x="493776" y="3054096"/>
            <a:ext cx="109728" cy="109728"/>
          </a:xfrm>
          <a:prstGeom prst="ellipse">
            <a:avLst/>
          </a:prstGeom>
          <a:solidFill>
            <a:srgbClr val="7C5CFC"/>
          </a:solidFill>
          <a:ln/>
        </p:spPr>
      </p:sp>
      <p:sp>
        <p:nvSpPr>
          <p:cNvPr id="17" name="Shape 15"/>
          <p:cNvSpPr/>
          <p:nvPr/>
        </p:nvSpPr>
        <p:spPr>
          <a:xfrm>
            <a:off x="11192256" y="1133856"/>
            <a:ext cx="109728" cy="109728"/>
          </a:xfrm>
          <a:prstGeom prst="ellipse">
            <a:avLst/>
          </a:prstGeom>
          <a:solidFill>
            <a:srgbClr val="7C5CFC"/>
          </a:solidFill>
          <a:ln/>
        </p:spPr>
      </p:sp>
      <p:sp>
        <p:nvSpPr>
          <p:cNvPr id="18" name="Shape 16"/>
          <p:cNvSpPr/>
          <p:nvPr/>
        </p:nvSpPr>
        <p:spPr>
          <a:xfrm>
            <a:off x="10552176" y="2596896"/>
            <a:ext cx="109728" cy="109728"/>
          </a:xfrm>
          <a:prstGeom prst="ellipse">
            <a:avLst/>
          </a:prstGeom>
          <a:solidFill>
            <a:srgbClr val="00E5FF"/>
          </a:solidFill>
          <a:ln/>
        </p:spPr>
      </p:sp>
      <p:sp>
        <p:nvSpPr>
          <p:cNvPr id="19" name="Shape 17"/>
          <p:cNvSpPr/>
          <p:nvPr/>
        </p:nvSpPr>
        <p:spPr>
          <a:xfrm>
            <a:off x="11466576" y="4151376"/>
            <a:ext cx="109728" cy="109728"/>
          </a:xfrm>
          <a:prstGeom prst="ellipse">
            <a:avLst/>
          </a:prstGeom>
          <a:solidFill>
            <a:srgbClr val="7C5CFC"/>
          </a:solidFill>
          <a:ln/>
        </p:spPr>
      </p:sp>
      <p:sp>
        <p:nvSpPr>
          <p:cNvPr id="20" name="Shape 18"/>
          <p:cNvSpPr/>
          <p:nvPr/>
        </p:nvSpPr>
        <p:spPr>
          <a:xfrm>
            <a:off x="10277856" y="5248656"/>
            <a:ext cx="109728" cy="109728"/>
          </a:xfrm>
          <a:prstGeom prst="ellipse">
            <a:avLst/>
          </a:prstGeom>
          <a:solidFill>
            <a:srgbClr val="7C5CFC"/>
          </a:solidFill>
          <a:ln/>
        </p:spPr>
      </p:sp>
      <p:sp>
        <p:nvSpPr>
          <p:cNvPr id="21" name="Shape 19"/>
          <p:cNvSpPr/>
          <p:nvPr/>
        </p:nvSpPr>
        <p:spPr>
          <a:xfrm>
            <a:off x="10917936" y="6071616"/>
            <a:ext cx="109728" cy="109728"/>
          </a:xfrm>
          <a:prstGeom prst="ellipse">
            <a:avLst/>
          </a:prstGeom>
          <a:solidFill>
            <a:srgbClr val="00E5FF"/>
          </a:solidFill>
          <a:ln/>
        </p:spPr>
      </p:sp>
      <p:sp>
        <p:nvSpPr>
          <p:cNvPr id="22" name="Text 20"/>
          <p:cNvSpPr/>
          <p:nvPr/>
        </p:nvSpPr>
        <p:spPr>
          <a:xfrm>
            <a:off x="822960" y="2194560"/>
            <a:ext cx="91440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23" name="Text 21"/>
          <p:cNvSpPr/>
          <p:nvPr/>
        </p:nvSpPr>
        <p:spPr>
          <a:xfrm>
            <a:off x="822960" y="3108960"/>
            <a:ext cx="9144000" cy="640080"/>
          </a:xfrm>
          <a:prstGeom prst="rect">
            <a:avLst/>
          </a:prstGeom>
          <a:noFill/>
          <a:ln/>
        </p:spPr>
        <p:txBody>
          <a:bodyPr wrap="square" rtlCol="0" anchor="ctr"/>
          <a:lstStyle/>
          <a:p>
            <a:pPr indent="0" marL="0">
              <a:buNone/>
            </a:pPr>
            <a:r>
              <a:rPr lang="en-US" sz="2200" i="1" dirty="0">
                <a:solidFill>
                  <a:srgbClr val="00E5FF"/>
                </a:solidFill>
                <a:latin typeface="Cambria" pitchFamily="34" charset="0"/>
                <a:ea typeface="Cambria" pitchFamily="34" charset="-122"/>
                <a:cs typeface="Cambria" pitchFamily="34" charset="-120"/>
              </a:rPr>
              <a:t>Questions?</a:t>
            </a:r>
            <a:endParaRPr lang="en-US" sz="2200" dirty="0"/>
          </a:p>
        </p:txBody>
      </p:sp>
      <p:sp>
        <p:nvSpPr>
          <p:cNvPr id="24" name="Shape 22"/>
          <p:cNvSpPr/>
          <p:nvPr/>
        </p:nvSpPr>
        <p:spPr>
          <a:xfrm>
            <a:off x="822960" y="3977640"/>
            <a:ext cx="2011680" cy="0"/>
          </a:xfrm>
          <a:prstGeom prst="line">
            <a:avLst/>
          </a:prstGeom>
          <a:noFill/>
          <a:ln w="25400">
            <a:solidFill>
              <a:srgbClr val="00E5FF"/>
            </a:solidFill>
            <a:prstDash val="solid"/>
          </a:ln>
        </p:spPr>
      </p:sp>
      <p:sp>
        <p:nvSpPr>
          <p:cNvPr id="25" name="Text 23"/>
          <p:cNvSpPr/>
          <p:nvPr/>
        </p:nvSpPr>
        <p:spPr>
          <a:xfrm>
            <a:off x="822960" y="4206240"/>
            <a:ext cx="91440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Dumisani Masimini (Dumi)  |  Offensive Security Consultant, WorkNest Secure</a:t>
            </a:r>
            <a:endParaRPr lang="en-US" sz="1400" dirty="0"/>
          </a:p>
        </p:txBody>
      </p:sp>
      <p:sp>
        <p:nvSpPr>
          <p:cNvPr id="26" name="Text 24"/>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100" b="1" spc="200" kern="0" dirty="0">
                <a:solidFill>
                  <a:srgbClr val="8E9BC0"/>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Evidence detail, pillar by pillar</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3794760"/>
        </p:xfrm>
        <a:graphic>
          <a:graphicData uri="http://schemas.openxmlformats.org/drawingml/2006/table">
            <a:tbl>
              <a:tblPr/>
              <a:tblGrid>
                <a:gridCol w="1463040"/>
                <a:gridCol w="1051560"/>
                <a:gridCol w="5166360"/>
                <a:gridCol w="3200400"/>
              </a:tblGrid>
              <a:tr h="632460">
                <a:tc>
                  <a:txBody>
                    <a:bodyPr/>
                    <a:lstStyle/>
                    <a:p>
                      <a:pPr indent="0" marL="0">
                        <a:buNone/>
                      </a:pPr>
                      <a:r>
                        <a:rPr lang="en-US" sz="1200" b="1" dirty="0">
                          <a:solidFill>
                            <a:srgbClr val="00E5FF"/>
                          </a:solidFill>
                        </a:rPr>
                        <a:t>Pillar</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c>
                  <a:txBody>
                    <a:bodyPr/>
                    <a:lstStyle/>
                    <a:p>
                      <a:pPr indent="0" marL="0">
                        <a:buNone/>
                      </a:pPr>
                      <a:r>
                        <a:rPr lang="en-US" sz="1200" b="1" dirty="0">
                          <a:solidFill>
                            <a:srgbClr val="00E5FF"/>
                          </a:solidFill>
                        </a:rPr>
                        <a:t>Evidence</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c>
                  <a:txBody>
                    <a:bodyPr/>
                    <a:lstStyle/>
                    <a:p>
                      <a:pPr indent="0" marL="0">
                        <a:buNone/>
                      </a:pPr>
                      <a:r>
                        <a:rPr lang="en-US" sz="1200" b="1" dirty="0">
                          <a:solidFill>
                            <a:srgbClr val="00E5FF"/>
                          </a:solidFill>
                        </a:rPr>
                        <a:t>Real-world anchor</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c>
                  <a:txBody>
                    <a:bodyPr/>
                    <a:lstStyle/>
                    <a:p>
                      <a:pPr indent="0" marL="0">
                        <a:buNone/>
                      </a:pPr>
                      <a:r>
                        <a:rPr lang="en-US" sz="1200" b="1" dirty="0">
                          <a:solidFill>
                            <a:srgbClr val="00E5FF"/>
                          </a:solidFill>
                        </a:rPr>
                        <a:t>Likely challenge</a:t>
                      </a:r>
                      <a:endParaRPr lang="en-US" sz="120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6204A"/>
                    </a:solidFill>
                  </a:tcPr>
                </a:tc>
              </a:tr>
              <a:tr h="632460">
                <a:tc>
                  <a:txBody>
                    <a:bodyPr/>
                    <a:lstStyle/>
                    <a:p>
                      <a:pPr indent="0" marL="0">
                        <a:buNone/>
                      </a:pPr>
                      <a:r>
                        <a:rPr lang="en-US" sz="1150" b="1" dirty="0">
                          <a:solidFill>
                            <a:srgbClr val="FFFFFF"/>
                          </a:solidFill>
                        </a:rPr>
                        <a:t>Identity</a:t>
                      </a:r>
                      <a:endParaRPr lang="en-US" sz="1150" dirty="0"/>
                    </a:p>
                    <a:p>
                      <a:pPr indent="0" marL="0">
                        <a:buNone/>
                      </a:pPr>
                      <a:r>
                        <a:rPr lang="en-US" sz="1150" b="1" dirty="0">
                          <a:solidFill>
                            <a:srgbClr val="FFFFFF"/>
                          </a:solidFill>
                        </a:rPr>
                        <a:t>Providers</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150" b="1" dirty="0">
                          <a:solidFill>
                            <a:srgbClr val="3ED598"/>
                          </a:solidFill>
                        </a:rPr>
                        <a:t>Strong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050" dirty="0">
                          <a:solidFill>
                            <a:srgbClr val="8E9BC0"/>
                          </a:solidFill>
                        </a:rPr>
                        <a:t>MGM Resorts / Caesars, Sept 2023 (Scattered Spider) - help-desk vishing into Okta, $100M+ impact</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050" i="1" dirty="0">
                          <a:solidFill>
                            <a:srgbClr val="8E9BC0"/>
                          </a:solidFill>
                        </a:rPr>
                        <a:t>“Doesn't hybrid sync tie this back to AD anyway?”</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r>
              <a:tr h="632460">
                <a:tc>
                  <a:txBody>
                    <a:bodyPr/>
                    <a:lstStyle/>
                    <a:p>
                      <a:pPr indent="0" marL="0">
                        <a:buNone/>
                      </a:pPr>
                      <a:r>
                        <a:rPr lang="en-US" sz="1150" b="1" dirty="0">
                          <a:solidFill>
                            <a:srgbClr val="FFFFFF"/>
                          </a:solidFill>
                        </a:rPr>
                        <a:t>Device</a:t>
                      </a:r>
                      <a:endParaRPr lang="en-US" sz="1150" dirty="0"/>
                    </a:p>
                    <a:p>
                      <a:pPr indent="0" marL="0">
                        <a:buNone/>
                      </a:pPr>
                      <a:r>
                        <a:rPr lang="en-US" sz="1150" b="1" dirty="0">
                          <a:solidFill>
                            <a:srgbClr val="FFFFFF"/>
                          </a:solidFill>
                        </a:rPr>
                        <a:t>Management</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indent="0" marL="0">
                        <a:buNone/>
                      </a:pPr>
                      <a:r>
                        <a:rPr lang="en-US" sz="1150" b="1" dirty="0">
                          <a:solidFill>
                            <a:srgbClr val="F5A623"/>
                          </a:solidFill>
                        </a:rPr>
                        <a:t>Emerging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indent="0" marL="0">
                        <a:buNone/>
                      </a:pPr>
                      <a:r>
                        <a:rPr lang="en-US" sz="1050" dirty="0">
                          <a:solidFill>
                            <a:srgbClr val="8E9BC0"/>
                          </a:solidFill>
                        </a:rPr>
                        <a:t>Research-driven (Intune/Jamf misconfig talks) - no named headline breach yet</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indent="0" marL="0">
                        <a:buNone/>
                      </a:pPr>
                      <a:r>
                        <a:rPr lang="en-US" sz="1050" i="1" dirty="0">
                          <a:solidFill>
                            <a:srgbClr val="8E9BC0"/>
                          </a:solidFill>
                        </a:rPr>
                        <a:t>“Has this actually happened in the wild?”</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r>
              <a:tr h="632460">
                <a:tc>
                  <a:txBody>
                    <a:bodyPr/>
                    <a:lstStyle/>
                    <a:p>
                      <a:pPr indent="0" marL="0">
                        <a:buNone/>
                      </a:pPr>
                      <a:r>
                        <a:rPr lang="en-US" sz="1150" b="1" dirty="0">
                          <a:solidFill>
                            <a:srgbClr val="FFFFFF"/>
                          </a:solidFill>
                        </a:rPr>
                        <a:t>SaaS</a:t>
                      </a:r>
                      <a:endParaRPr lang="en-US" sz="1150" dirty="0"/>
                    </a:p>
                    <a:p>
                      <a:pPr indent="0" marL="0">
                        <a:buNone/>
                      </a:pPr>
                      <a:r>
                        <a:rPr lang="en-US" sz="1150" b="1" dirty="0">
                          <a:solidFill>
                            <a:srgbClr val="FFFFFF"/>
                          </a:solidFill>
                        </a:rPr>
                        <a:t>Platforms</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150" b="1" dirty="0">
                          <a:solidFill>
                            <a:srgbClr val="3ED598"/>
                          </a:solidFill>
                        </a:rPr>
                        <a:t>Strong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050" dirty="0">
                          <a:solidFill>
                            <a:srgbClr val="8E9BC0"/>
                          </a:solidFill>
                        </a:rPr>
                        <a:t>Snowflake customer breach, 2024 (UNC5537) - ~165 orgs, stolen creds, no MFA</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050" i="1" dirty="0">
                          <a:solidFill>
                            <a:srgbClr val="8E9BC0"/>
                          </a:solidFill>
                        </a:rPr>
                        <a:t>“Isn't this just a credential/MFA problem, not a new pillar?”</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r>
              <a:tr h="632460">
                <a:tc>
                  <a:txBody>
                    <a:bodyPr/>
                    <a:lstStyle/>
                    <a:p>
                      <a:pPr indent="0" marL="0">
                        <a:buNone/>
                      </a:pPr>
                      <a:r>
                        <a:rPr lang="en-US" sz="1150" b="1" dirty="0">
                          <a:solidFill>
                            <a:srgbClr val="FFFFFF"/>
                          </a:solidFill>
                        </a:rPr>
                        <a:t>OAuth &amp;</a:t>
                      </a:r>
                      <a:endParaRPr lang="en-US" sz="1150" dirty="0"/>
                    </a:p>
                    <a:p>
                      <a:pPr indent="0" marL="0">
                        <a:buNone/>
                      </a:pPr>
                      <a:r>
                        <a:rPr lang="en-US" sz="1150" b="1" dirty="0">
                          <a:solidFill>
                            <a:srgbClr val="FFFFFF"/>
                          </a:solidFill>
                        </a:rPr>
                        <a:t>Federation</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indent="0" marL="0">
                        <a:buNone/>
                      </a:pPr>
                      <a:r>
                        <a:rPr lang="en-US" sz="1150" b="1" dirty="0">
                          <a:solidFill>
                            <a:srgbClr val="3ED598"/>
                          </a:solidFill>
                        </a:rPr>
                        <a:t>Strong</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indent="0" marL="0">
                        <a:buNone/>
                      </a:pPr>
                      <a:r>
                        <a:rPr lang="en-US" sz="1050" dirty="0">
                          <a:solidFill>
                            <a:srgbClr val="8E9BC0"/>
                          </a:solidFill>
                        </a:rPr>
                        <a:t>Microsoft corporate breach, Jan 2024 (Midnight Blizzard/APT29) - malicious OAuth apps</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c>
                  <a:txBody>
                    <a:bodyPr/>
                    <a:lstStyle/>
                    <a:p>
                      <a:pPr indent="0" marL="0">
                        <a:buNone/>
                      </a:pPr>
                      <a:r>
                        <a:rPr lang="en-US" sz="1050" i="1" dirty="0">
                          <a:solidFill>
                            <a:srgbClr val="8E9BC0"/>
                          </a:solidFill>
                        </a:rPr>
                        <a:t>“How common is this outside nation-state actors?”</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0E1530"/>
                    </a:solidFill>
                  </a:tcPr>
                </a:tc>
              </a:tr>
              <a:tr h="632460">
                <a:tc>
                  <a:txBody>
                    <a:bodyPr/>
                    <a:lstStyle/>
                    <a:p>
                      <a:pPr indent="0" marL="0">
                        <a:buNone/>
                      </a:pPr>
                      <a:r>
                        <a:rPr lang="en-US" sz="1150" b="1" dirty="0">
                          <a:solidFill>
                            <a:srgbClr val="FFFFFF"/>
                          </a:solidFill>
                        </a:rPr>
                        <a:t>Cloud Admin</a:t>
                      </a:r>
                      <a:endParaRPr lang="en-US" sz="1150" dirty="0"/>
                    </a:p>
                    <a:p>
                      <a:pPr indent="0" marL="0">
                        <a:buNone/>
                      </a:pPr>
                      <a:r>
                        <a:rPr lang="en-US" sz="1150" b="1" dirty="0">
                          <a:solidFill>
                            <a:srgbClr val="FFFFFF"/>
                          </a:solidFill>
                        </a:rPr>
                        <a:t>Planes</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150" b="1" dirty="0">
                          <a:solidFill>
                            <a:srgbClr val="3ED598"/>
                          </a:solidFill>
                        </a:rPr>
                        <a:t>Mature</a:t>
                      </a:r>
                      <a:endParaRPr lang="en-US" sz="11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050" dirty="0">
                          <a:solidFill>
                            <a:srgbClr val="8E9BC0"/>
                          </a:solidFill>
                        </a:rPr>
                        <a:t>Recurring root cause across cloud breach research for years (Pacu, ScoutSuite exist because of this)</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c>
                  <a:txBody>
                    <a:bodyPr/>
                    <a:lstStyle/>
                    <a:p>
                      <a:pPr indent="0" marL="0">
                        <a:buNone/>
                      </a:pPr>
                      <a:r>
                        <a:rPr lang="en-US" sz="1050" i="1" dirty="0">
                          <a:solidFill>
                            <a:srgbClr val="8E9BC0"/>
                          </a:solidFill>
                        </a:rPr>
                        <a:t>“Isn't cloud IAM misconfig old news - what's new here?”</a:t>
                      </a:r>
                      <a:endParaRPr lang="en-US" sz="1050" dirty="0"/>
                    </a:p>
                  </a:txBody>
                  <a:tcPr marL="101600" marR="101600" marT="76200" marB="76200" anchor="ctr">
                    <a:lnL w="0" cap="flat" cmpd="sng" algn="ctr">
                      <a:noFill/>
                    </a:lnL>
                    <a:lnR w="0" cap="flat" cmpd="sng" algn="ctr">
                      <a:noFill/>
                    </a:lnR>
                    <a:lnT w="0" cap="flat" cmpd="sng" algn="ctr">
                      <a:noFill/>
                    </a:lnT>
                    <a:lnB w="0" cap="flat" cmpd="sng" algn="ctr">
                      <a:noFill/>
                    </a:lnB>
                    <a:solidFill>
                      <a:srgbClr val="121A33"/>
                    </a:solidFill>
                  </a:tcPr>
                </a:tc>
              </a:tr>
            </a:tbl>
          </a:graphicData>
        </a:graphic>
      </p:graphicFrame>
      <p:sp>
        <p:nvSpPr>
          <p:cNvPr id="5" name="Text 2"/>
          <p:cNvSpPr/>
          <p:nvPr/>
        </p:nvSpPr>
        <p:spPr>
          <a:xfrm>
            <a:off x="640080" y="5715000"/>
            <a:ext cx="10881360" cy="457200"/>
          </a:xfrm>
          <a:prstGeom prst="rect">
            <a:avLst/>
          </a:prstGeom>
          <a:noFill/>
          <a:ln/>
        </p:spPr>
        <p:txBody>
          <a:bodyPr wrap="square" rtlCol="0" anchor="ctr"/>
          <a:lstStyle/>
          <a:p>
            <a:pPr algn="ctr" indent="0" marL="0">
              <a:buNone/>
            </a:pPr>
            <a:r>
              <a:rPr lang="en-US" sz="1200" i="1" dirty="0">
                <a:solidFill>
                  <a:srgbClr val="8E9BC0"/>
                </a:solidFill>
                <a:latin typeface="Calibri" pitchFamily="34" charset="0"/>
                <a:ea typeface="Calibri" pitchFamily="34" charset="-122"/>
                <a:cs typeface="Calibri" pitchFamily="34" charset="-120"/>
              </a:rPr>
              <a:t>Not for the main talk - pull this up only if someone in Q&amp;A pushes on a specific pillar's evidence.</a:t>
            </a:r>
            <a:endParaRPr lang="en-US" sz="1200" dirty="0"/>
          </a:p>
        </p:txBody>
      </p:sp>
      <p:sp>
        <p:nvSpPr>
          <p:cNvPr id="6" name="Text 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100" b="1" spc="200" kern="0" dirty="0">
                <a:solidFill>
                  <a:srgbClr val="8E9BC0"/>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Resources &amp; links - scan to read the source</a:t>
            </a:r>
            <a:endParaRPr lang="en-US" sz="2800" dirty="0"/>
          </a:p>
        </p:txBody>
      </p:sp>
      <p:sp>
        <p:nvSpPr>
          <p:cNvPr id="4" name="Shape 2"/>
          <p:cNvSpPr/>
          <p:nvPr/>
        </p:nvSpPr>
        <p:spPr>
          <a:xfrm>
            <a:off x="640080" y="1691640"/>
            <a:ext cx="3429000" cy="2148840"/>
          </a:xfrm>
          <a:prstGeom prst="roundRect">
            <a:avLst>
              <a:gd name="adj" fmla="val 4255"/>
            </a:avLst>
          </a:prstGeom>
          <a:solidFill>
            <a:srgbClr val="121A33"/>
          </a:solidFill>
          <a:ln/>
        </p:spPr>
      </p:sp>
      <p:sp>
        <p:nvSpPr>
          <p:cNvPr id="5" name="Shape 3"/>
          <p:cNvSpPr/>
          <p:nvPr/>
        </p:nvSpPr>
        <p:spPr>
          <a:xfrm>
            <a:off x="1874520" y="1856232"/>
            <a:ext cx="960120" cy="960120"/>
          </a:xfrm>
          <a:prstGeom prst="roundRect">
            <a:avLst>
              <a:gd name="adj" fmla="val 5714"/>
            </a:avLst>
          </a:prstGeom>
          <a:solidFill>
            <a:srgbClr val="FFFFFF"/>
          </a:solidFill>
          <a:ln/>
        </p:spPr>
      </p:sp>
      <p:pic>
        <p:nvPicPr>
          <p:cNvPr id="6" name="Image 0" descr="qr_bloodhound.png">    </p:cNvPr>
          <p:cNvPicPr>
            <a:picLocks noChangeAspect="1"/>
          </p:cNvPicPr>
          <p:nvPr/>
        </p:nvPicPr>
        <p:blipFill>
          <a:blip r:embed="rId1"/>
          <a:stretch>
            <a:fillRect/>
          </a:stretch>
        </p:blipFill>
        <p:spPr>
          <a:xfrm>
            <a:off x="1929384" y="1911096"/>
            <a:ext cx="850392" cy="850392"/>
          </a:xfrm>
          <a:prstGeom prst="rect">
            <a:avLst/>
          </a:prstGeom>
        </p:spPr>
      </p:pic>
      <p:sp>
        <p:nvSpPr>
          <p:cNvPr id="7" name="Text 4"/>
          <p:cNvSpPr/>
          <p:nvPr/>
        </p:nvSpPr>
        <p:spPr>
          <a:xfrm>
            <a:off x="777240" y="2898648"/>
            <a:ext cx="315468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BloodHound Docs</a:t>
            </a:r>
            <a:endParaRPr lang="en-US" sz="1150" dirty="0"/>
          </a:p>
        </p:txBody>
      </p:sp>
      <p:sp>
        <p:nvSpPr>
          <p:cNvPr id="8" name="Text 5"/>
          <p:cNvSpPr/>
          <p:nvPr/>
        </p:nvSpPr>
        <p:spPr>
          <a:xfrm>
            <a:off x="777240" y="3383280"/>
            <a:ext cx="3154680" cy="365760"/>
          </a:xfrm>
          <a:prstGeom prst="rect">
            <a:avLst/>
          </a:prstGeom>
          <a:noFill/>
          <a:ln/>
        </p:spPr>
        <p:txBody>
          <a:bodyPr wrap="square" rtlCol="0" anchor="ctr"/>
          <a:lstStyle/>
          <a:p>
            <a:pPr algn="ctr" indent="0" marL="0">
              <a:buNone/>
            </a:pPr>
            <a:r>
              <a:rPr lang="en-US" sz="900" dirty="0">
                <a:solidFill>
                  <a:srgbClr val="8E9BC0"/>
                </a:solidFill>
                <a:latin typeface="Calibri" pitchFamily="34" charset="0"/>
                <a:ea typeface="Calibri" pitchFamily="34" charset="-122"/>
                <a:cs typeface="Calibri" pitchFamily="34" charset="-120"/>
              </a:rPr>
              <a:t>bloodhound.specterops.io</a:t>
            </a:r>
            <a:endParaRPr lang="en-US" sz="900" dirty="0"/>
          </a:p>
        </p:txBody>
      </p:sp>
      <p:sp>
        <p:nvSpPr>
          <p:cNvPr id="9" name="Shape 6"/>
          <p:cNvSpPr/>
          <p:nvPr/>
        </p:nvSpPr>
        <p:spPr>
          <a:xfrm>
            <a:off x="4361688" y="1691640"/>
            <a:ext cx="3429000" cy="2148840"/>
          </a:xfrm>
          <a:prstGeom prst="roundRect">
            <a:avLst>
              <a:gd name="adj" fmla="val 4255"/>
            </a:avLst>
          </a:prstGeom>
          <a:solidFill>
            <a:srgbClr val="121A33"/>
          </a:solidFill>
          <a:ln/>
        </p:spPr>
      </p:sp>
      <p:sp>
        <p:nvSpPr>
          <p:cNvPr id="10" name="Shape 7"/>
          <p:cNvSpPr/>
          <p:nvPr/>
        </p:nvSpPr>
        <p:spPr>
          <a:xfrm>
            <a:off x="5596128" y="1856232"/>
            <a:ext cx="960120" cy="960120"/>
          </a:xfrm>
          <a:prstGeom prst="roundRect">
            <a:avLst>
              <a:gd name="adj" fmla="val 5714"/>
            </a:avLst>
          </a:prstGeom>
          <a:solidFill>
            <a:srgbClr val="FFFFFF"/>
          </a:solidFill>
          <a:ln/>
        </p:spPr>
      </p:sp>
      <p:pic>
        <p:nvPicPr>
          <p:cNvPr id="11" name="Image 1" descr="qr_roadtools.png">    </p:cNvPr>
          <p:cNvPicPr>
            <a:picLocks noChangeAspect="1"/>
          </p:cNvPicPr>
          <p:nvPr/>
        </p:nvPicPr>
        <p:blipFill>
          <a:blip r:embed="rId2"/>
          <a:stretch>
            <a:fillRect/>
          </a:stretch>
        </p:blipFill>
        <p:spPr>
          <a:xfrm>
            <a:off x="5650992" y="1911096"/>
            <a:ext cx="850392" cy="850392"/>
          </a:xfrm>
          <a:prstGeom prst="rect">
            <a:avLst/>
          </a:prstGeom>
        </p:spPr>
      </p:pic>
      <p:sp>
        <p:nvSpPr>
          <p:cNvPr id="12" name="Text 8"/>
          <p:cNvSpPr/>
          <p:nvPr/>
        </p:nvSpPr>
        <p:spPr>
          <a:xfrm>
            <a:off x="4498848" y="2898648"/>
            <a:ext cx="315468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ROADtools (Entra recon)</a:t>
            </a:r>
            <a:endParaRPr lang="en-US" sz="1150" dirty="0"/>
          </a:p>
        </p:txBody>
      </p:sp>
      <p:sp>
        <p:nvSpPr>
          <p:cNvPr id="13" name="Text 9"/>
          <p:cNvSpPr/>
          <p:nvPr/>
        </p:nvSpPr>
        <p:spPr>
          <a:xfrm>
            <a:off x="4498848" y="3383280"/>
            <a:ext cx="3154680" cy="365760"/>
          </a:xfrm>
          <a:prstGeom prst="rect">
            <a:avLst/>
          </a:prstGeom>
          <a:noFill/>
          <a:ln/>
        </p:spPr>
        <p:txBody>
          <a:bodyPr wrap="square" rtlCol="0" anchor="ctr"/>
          <a:lstStyle/>
          <a:p>
            <a:pPr algn="ctr" indent="0" marL="0">
              <a:buNone/>
            </a:pPr>
            <a:r>
              <a:rPr lang="en-US" sz="900" dirty="0">
                <a:solidFill>
                  <a:srgbClr val="8E9BC0"/>
                </a:solidFill>
                <a:latin typeface="Calibri" pitchFamily="34" charset="0"/>
                <a:ea typeface="Calibri" pitchFamily="34" charset="-122"/>
                <a:cs typeface="Calibri" pitchFamily="34" charset="-120"/>
              </a:rPr>
              <a:t>github.com/dirkjanm/ROADtools</a:t>
            </a:r>
            <a:endParaRPr lang="en-US" sz="900" dirty="0"/>
          </a:p>
        </p:txBody>
      </p:sp>
      <p:sp>
        <p:nvSpPr>
          <p:cNvPr id="14" name="Shape 10"/>
          <p:cNvSpPr/>
          <p:nvPr/>
        </p:nvSpPr>
        <p:spPr>
          <a:xfrm>
            <a:off x="8083296" y="1691640"/>
            <a:ext cx="3429000" cy="2148840"/>
          </a:xfrm>
          <a:prstGeom prst="roundRect">
            <a:avLst>
              <a:gd name="adj" fmla="val 4255"/>
            </a:avLst>
          </a:prstGeom>
          <a:solidFill>
            <a:srgbClr val="121A33"/>
          </a:solidFill>
          <a:ln/>
        </p:spPr>
      </p:sp>
      <p:sp>
        <p:nvSpPr>
          <p:cNvPr id="15" name="Shape 11"/>
          <p:cNvSpPr/>
          <p:nvPr/>
        </p:nvSpPr>
        <p:spPr>
          <a:xfrm>
            <a:off x="9317736" y="1856232"/>
            <a:ext cx="960120" cy="960120"/>
          </a:xfrm>
          <a:prstGeom prst="roundRect">
            <a:avLst>
              <a:gd name="adj" fmla="val 5714"/>
            </a:avLst>
          </a:prstGeom>
          <a:solidFill>
            <a:srgbClr val="FFFFFF"/>
          </a:solidFill>
          <a:ln/>
        </p:spPr>
      </p:sp>
      <p:pic>
        <p:nvPicPr>
          <p:cNvPr id="16" name="Image 2" descr="qr_attack.png">    </p:cNvPr>
          <p:cNvPicPr>
            <a:picLocks noChangeAspect="1"/>
          </p:cNvPicPr>
          <p:nvPr/>
        </p:nvPicPr>
        <p:blipFill>
          <a:blip r:embed="rId3"/>
          <a:stretch>
            <a:fillRect/>
          </a:stretch>
        </p:blipFill>
        <p:spPr>
          <a:xfrm>
            <a:off x="9372600" y="1911096"/>
            <a:ext cx="850392" cy="850392"/>
          </a:xfrm>
          <a:prstGeom prst="rect">
            <a:avLst/>
          </a:prstGeom>
        </p:spPr>
      </p:pic>
      <p:sp>
        <p:nvSpPr>
          <p:cNvPr id="17" name="Text 12"/>
          <p:cNvSpPr/>
          <p:nvPr/>
        </p:nvSpPr>
        <p:spPr>
          <a:xfrm>
            <a:off x="8220456" y="2898648"/>
            <a:ext cx="315468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MITRE ATT&amp;CK</a:t>
            </a:r>
            <a:endParaRPr lang="en-US" sz="1150" dirty="0"/>
          </a:p>
        </p:txBody>
      </p:sp>
      <p:sp>
        <p:nvSpPr>
          <p:cNvPr id="18" name="Text 13"/>
          <p:cNvSpPr/>
          <p:nvPr/>
        </p:nvSpPr>
        <p:spPr>
          <a:xfrm>
            <a:off x="8220456" y="3383280"/>
            <a:ext cx="3154680" cy="365760"/>
          </a:xfrm>
          <a:prstGeom prst="rect">
            <a:avLst/>
          </a:prstGeom>
          <a:noFill/>
          <a:ln/>
        </p:spPr>
        <p:txBody>
          <a:bodyPr wrap="square" rtlCol="0" anchor="ctr"/>
          <a:lstStyle/>
          <a:p>
            <a:pPr algn="ctr" indent="0" marL="0">
              <a:buNone/>
            </a:pPr>
            <a:r>
              <a:rPr lang="en-US" sz="900" dirty="0">
                <a:solidFill>
                  <a:srgbClr val="8E9BC0"/>
                </a:solidFill>
                <a:latin typeface="Calibri" pitchFamily="34" charset="0"/>
                <a:ea typeface="Calibri" pitchFamily="34" charset="-122"/>
                <a:cs typeface="Calibri" pitchFamily="34" charset="-120"/>
              </a:rPr>
              <a:t>attack.mitre.org</a:t>
            </a:r>
            <a:endParaRPr lang="en-US" sz="900" dirty="0"/>
          </a:p>
        </p:txBody>
      </p:sp>
      <p:sp>
        <p:nvSpPr>
          <p:cNvPr id="19" name="Shape 14"/>
          <p:cNvSpPr/>
          <p:nvPr/>
        </p:nvSpPr>
        <p:spPr>
          <a:xfrm>
            <a:off x="640080" y="4023360"/>
            <a:ext cx="3429000" cy="2148840"/>
          </a:xfrm>
          <a:prstGeom prst="roundRect">
            <a:avLst>
              <a:gd name="adj" fmla="val 4255"/>
            </a:avLst>
          </a:prstGeom>
          <a:solidFill>
            <a:srgbClr val="121A33"/>
          </a:solidFill>
          <a:ln/>
        </p:spPr>
      </p:sp>
      <p:sp>
        <p:nvSpPr>
          <p:cNvPr id="20" name="Shape 15"/>
          <p:cNvSpPr/>
          <p:nvPr/>
        </p:nvSpPr>
        <p:spPr>
          <a:xfrm>
            <a:off x="1874520" y="4187952"/>
            <a:ext cx="960120" cy="960120"/>
          </a:xfrm>
          <a:prstGeom prst="roundRect">
            <a:avLst>
              <a:gd name="adj" fmla="val 5714"/>
            </a:avLst>
          </a:prstGeom>
          <a:solidFill>
            <a:srgbClr val="FFFFFF"/>
          </a:solidFill>
          <a:ln/>
        </p:spPr>
      </p:sp>
      <p:pic>
        <p:nvPicPr>
          <p:cNvPr id="21" name="Image 3" descr="qr_scatteredspider.png">    </p:cNvPr>
          <p:cNvPicPr>
            <a:picLocks noChangeAspect="1"/>
          </p:cNvPicPr>
          <p:nvPr/>
        </p:nvPicPr>
        <p:blipFill>
          <a:blip r:embed="rId4"/>
          <a:stretch>
            <a:fillRect/>
          </a:stretch>
        </p:blipFill>
        <p:spPr>
          <a:xfrm>
            <a:off x="1929384" y="4242816"/>
            <a:ext cx="850392" cy="850392"/>
          </a:xfrm>
          <a:prstGeom prst="rect">
            <a:avLst/>
          </a:prstGeom>
        </p:spPr>
      </p:pic>
      <p:sp>
        <p:nvSpPr>
          <p:cNvPr id="22" name="Text 16"/>
          <p:cNvSpPr/>
          <p:nvPr/>
        </p:nvSpPr>
        <p:spPr>
          <a:xfrm>
            <a:off x="777240" y="5230368"/>
            <a:ext cx="315468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Mandiant: UNC3944 / Scattered Spider</a:t>
            </a:r>
            <a:endParaRPr lang="en-US" sz="1150" dirty="0"/>
          </a:p>
        </p:txBody>
      </p:sp>
      <p:sp>
        <p:nvSpPr>
          <p:cNvPr id="23" name="Text 17"/>
          <p:cNvSpPr/>
          <p:nvPr/>
        </p:nvSpPr>
        <p:spPr>
          <a:xfrm>
            <a:off x="777240" y="5715000"/>
            <a:ext cx="3154680" cy="365760"/>
          </a:xfrm>
          <a:prstGeom prst="rect">
            <a:avLst/>
          </a:prstGeom>
          <a:noFill/>
          <a:ln/>
        </p:spPr>
        <p:txBody>
          <a:bodyPr wrap="square" rtlCol="0" anchor="ctr"/>
          <a:lstStyle/>
          <a:p>
            <a:pPr algn="ctr" indent="0" marL="0">
              <a:buNone/>
            </a:pPr>
            <a:r>
              <a:rPr lang="en-US" sz="900" dirty="0">
                <a:solidFill>
                  <a:srgbClr val="8E9BC0"/>
                </a:solidFill>
                <a:latin typeface="Calibri" pitchFamily="34" charset="0"/>
                <a:ea typeface="Calibri" pitchFamily="34" charset="-122"/>
                <a:cs typeface="Calibri" pitchFamily="34" charset="-120"/>
              </a:rPr>
              <a:t>cloud.google.com/blog (Mandiant)</a:t>
            </a:r>
            <a:endParaRPr lang="en-US" sz="900" dirty="0"/>
          </a:p>
        </p:txBody>
      </p:sp>
      <p:sp>
        <p:nvSpPr>
          <p:cNvPr id="24" name="Shape 18"/>
          <p:cNvSpPr/>
          <p:nvPr/>
        </p:nvSpPr>
        <p:spPr>
          <a:xfrm>
            <a:off x="4361688" y="4023360"/>
            <a:ext cx="3429000" cy="2148840"/>
          </a:xfrm>
          <a:prstGeom prst="roundRect">
            <a:avLst>
              <a:gd name="adj" fmla="val 4255"/>
            </a:avLst>
          </a:prstGeom>
          <a:solidFill>
            <a:srgbClr val="121A33"/>
          </a:solidFill>
          <a:ln/>
        </p:spPr>
      </p:sp>
      <p:sp>
        <p:nvSpPr>
          <p:cNvPr id="25" name="Shape 19"/>
          <p:cNvSpPr/>
          <p:nvPr/>
        </p:nvSpPr>
        <p:spPr>
          <a:xfrm>
            <a:off x="5596128" y="4187952"/>
            <a:ext cx="960120" cy="960120"/>
          </a:xfrm>
          <a:prstGeom prst="roundRect">
            <a:avLst>
              <a:gd name="adj" fmla="val 5714"/>
            </a:avLst>
          </a:prstGeom>
          <a:solidFill>
            <a:srgbClr val="FFFFFF"/>
          </a:solidFill>
          <a:ln/>
        </p:spPr>
      </p:sp>
      <p:pic>
        <p:nvPicPr>
          <p:cNvPr id="26" name="Image 4" descr="qr_snowflake.png">    </p:cNvPr>
          <p:cNvPicPr>
            <a:picLocks noChangeAspect="1"/>
          </p:cNvPicPr>
          <p:nvPr/>
        </p:nvPicPr>
        <p:blipFill>
          <a:blip r:embed="rId5"/>
          <a:stretch>
            <a:fillRect/>
          </a:stretch>
        </p:blipFill>
        <p:spPr>
          <a:xfrm>
            <a:off x="5650992" y="4242816"/>
            <a:ext cx="850392" cy="850392"/>
          </a:xfrm>
          <a:prstGeom prst="rect">
            <a:avLst/>
          </a:prstGeom>
        </p:spPr>
      </p:pic>
      <p:sp>
        <p:nvSpPr>
          <p:cNvPr id="27" name="Text 20"/>
          <p:cNvSpPr/>
          <p:nvPr/>
        </p:nvSpPr>
        <p:spPr>
          <a:xfrm>
            <a:off x="4498848" y="5230368"/>
            <a:ext cx="315468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Mandiant: UNC5537 Snowflake breach</a:t>
            </a:r>
            <a:endParaRPr lang="en-US" sz="1150" dirty="0"/>
          </a:p>
        </p:txBody>
      </p:sp>
      <p:sp>
        <p:nvSpPr>
          <p:cNvPr id="28" name="Text 21"/>
          <p:cNvSpPr/>
          <p:nvPr/>
        </p:nvSpPr>
        <p:spPr>
          <a:xfrm>
            <a:off x="4498848" y="5715000"/>
            <a:ext cx="3154680" cy="365760"/>
          </a:xfrm>
          <a:prstGeom prst="rect">
            <a:avLst/>
          </a:prstGeom>
          <a:noFill/>
          <a:ln/>
        </p:spPr>
        <p:txBody>
          <a:bodyPr wrap="square" rtlCol="0" anchor="ctr"/>
          <a:lstStyle/>
          <a:p>
            <a:pPr algn="ctr" indent="0" marL="0">
              <a:buNone/>
            </a:pPr>
            <a:r>
              <a:rPr lang="en-US" sz="900" dirty="0">
                <a:solidFill>
                  <a:srgbClr val="8E9BC0"/>
                </a:solidFill>
                <a:latin typeface="Calibri" pitchFamily="34" charset="0"/>
                <a:ea typeface="Calibri" pitchFamily="34" charset="-122"/>
                <a:cs typeface="Calibri" pitchFamily="34" charset="-120"/>
              </a:rPr>
              <a:t>cloud.google.com/blog (Mandiant)</a:t>
            </a:r>
            <a:endParaRPr lang="en-US" sz="900" dirty="0"/>
          </a:p>
        </p:txBody>
      </p:sp>
      <p:sp>
        <p:nvSpPr>
          <p:cNvPr id="29" name="Shape 22"/>
          <p:cNvSpPr/>
          <p:nvPr/>
        </p:nvSpPr>
        <p:spPr>
          <a:xfrm>
            <a:off x="8083296" y="4023360"/>
            <a:ext cx="3429000" cy="2148840"/>
          </a:xfrm>
          <a:prstGeom prst="roundRect">
            <a:avLst>
              <a:gd name="adj" fmla="val 4255"/>
            </a:avLst>
          </a:prstGeom>
          <a:solidFill>
            <a:srgbClr val="121A33"/>
          </a:solidFill>
          <a:ln/>
        </p:spPr>
      </p:sp>
      <p:sp>
        <p:nvSpPr>
          <p:cNvPr id="30" name="Shape 23"/>
          <p:cNvSpPr/>
          <p:nvPr/>
        </p:nvSpPr>
        <p:spPr>
          <a:xfrm>
            <a:off x="9317736" y="4187952"/>
            <a:ext cx="960120" cy="960120"/>
          </a:xfrm>
          <a:prstGeom prst="roundRect">
            <a:avLst>
              <a:gd name="adj" fmla="val 5714"/>
            </a:avLst>
          </a:prstGeom>
          <a:solidFill>
            <a:srgbClr val="FFFFFF"/>
          </a:solidFill>
          <a:ln/>
        </p:spPr>
      </p:sp>
      <p:pic>
        <p:nvPicPr>
          <p:cNvPr id="31" name="Image 5" descr="qr_midnightblizzard.png">    </p:cNvPr>
          <p:cNvPicPr>
            <a:picLocks noChangeAspect="1"/>
          </p:cNvPicPr>
          <p:nvPr/>
        </p:nvPicPr>
        <p:blipFill>
          <a:blip r:embed="rId6"/>
          <a:stretch>
            <a:fillRect/>
          </a:stretch>
        </p:blipFill>
        <p:spPr>
          <a:xfrm>
            <a:off x="9372600" y="4242816"/>
            <a:ext cx="850392" cy="850392"/>
          </a:xfrm>
          <a:prstGeom prst="rect">
            <a:avLst/>
          </a:prstGeom>
        </p:spPr>
      </p:pic>
      <p:sp>
        <p:nvSpPr>
          <p:cNvPr id="32" name="Text 24"/>
          <p:cNvSpPr/>
          <p:nvPr/>
        </p:nvSpPr>
        <p:spPr>
          <a:xfrm>
            <a:off x="8220456" y="5230368"/>
            <a:ext cx="315468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Microsoft MSRC: Midnight Blizzard</a:t>
            </a:r>
            <a:endParaRPr lang="en-US" sz="1150" dirty="0"/>
          </a:p>
        </p:txBody>
      </p:sp>
      <p:sp>
        <p:nvSpPr>
          <p:cNvPr id="33" name="Text 25"/>
          <p:cNvSpPr/>
          <p:nvPr/>
        </p:nvSpPr>
        <p:spPr>
          <a:xfrm>
            <a:off x="8220456" y="5715000"/>
            <a:ext cx="3154680" cy="365760"/>
          </a:xfrm>
          <a:prstGeom prst="rect">
            <a:avLst/>
          </a:prstGeom>
          <a:noFill/>
          <a:ln/>
        </p:spPr>
        <p:txBody>
          <a:bodyPr wrap="square" rtlCol="0" anchor="ctr"/>
          <a:lstStyle/>
          <a:p>
            <a:pPr algn="ctr" indent="0" marL="0">
              <a:buNone/>
            </a:pPr>
            <a:r>
              <a:rPr lang="en-US" sz="900" dirty="0">
                <a:solidFill>
                  <a:srgbClr val="8E9BC0"/>
                </a:solidFill>
                <a:latin typeface="Calibri" pitchFamily="34" charset="0"/>
                <a:ea typeface="Calibri" pitchFamily="34" charset="-122"/>
                <a:cs typeface="Calibri" pitchFamily="34" charset="-120"/>
              </a:rPr>
              <a:t>microsoft.com/msrc/blog</a:t>
            </a:r>
            <a:endParaRPr lang="en-US" sz="900" dirty="0"/>
          </a:p>
        </p:txBody>
      </p:sp>
      <p:sp>
        <p:nvSpPr>
          <p:cNvPr id="34"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100" b="1" spc="200" kern="0" dirty="0">
                <a:solidFill>
                  <a:srgbClr val="8E9BC0"/>
                </a:solidFill>
                <a:latin typeface="Calibri" pitchFamily="34" charset="0"/>
                <a:ea typeface="Calibri" pitchFamily="34" charset="-122"/>
                <a:cs typeface="Calibri" pitchFamily="34" charset="-120"/>
              </a:rPr>
              <a:t>APPENDIX - QUICK REFERENCE</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Glossary</a:t>
            </a:r>
            <a:endParaRPr lang="en-US" sz="3200" dirty="0"/>
          </a:p>
        </p:txBody>
      </p:sp>
      <p:sp>
        <p:nvSpPr>
          <p:cNvPr id="4" name="Shape 2"/>
          <p:cNvSpPr/>
          <p:nvPr/>
        </p:nvSpPr>
        <p:spPr>
          <a:xfrm>
            <a:off x="640080" y="1783080"/>
            <a:ext cx="3447288" cy="1234440"/>
          </a:xfrm>
          <a:prstGeom prst="roundRect">
            <a:avLst>
              <a:gd name="adj" fmla="val 7407"/>
            </a:avLst>
          </a:prstGeom>
          <a:solidFill>
            <a:srgbClr val="121A33"/>
          </a:solidFill>
          <a:ln/>
        </p:spPr>
      </p:sp>
      <p:sp>
        <p:nvSpPr>
          <p:cNvPr id="5" name="Text 3"/>
          <p:cNvSpPr/>
          <p:nvPr/>
        </p:nvSpPr>
        <p:spPr>
          <a:xfrm>
            <a:off x="822960" y="189280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IdP</a:t>
            </a:r>
            <a:endParaRPr lang="en-US" sz="1350" dirty="0"/>
          </a:p>
        </p:txBody>
      </p:sp>
      <p:sp>
        <p:nvSpPr>
          <p:cNvPr id="6" name="Text 4"/>
          <p:cNvSpPr/>
          <p:nvPr/>
        </p:nvSpPr>
        <p:spPr>
          <a:xfrm>
            <a:off x="822960" y="222199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Identity Provider - the system that authenticates users and issues the tokens everything else trusts</a:t>
            </a:r>
            <a:endParaRPr lang="en-US" sz="1000" dirty="0"/>
          </a:p>
        </p:txBody>
      </p:sp>
      <p:sp>
        <p:nvSpPr>
          <p:cNvPr id="7" name="Shape 5"/>
          <p:cNvSpPr/>
          <p:nvPr/>
        </p:nvSpPr>
        <p:spPr>
          <a:xfrm>
            <a:off x="4343400" y="1783080"/>
            <a:ext cx="3447288" cy="1234440"/>
          </a:xfrm>
          <a:prstGeom prst="roundRect">
            <a:avLst>
              <a:gd name="adj" fmla="val 7407"/>
            </a:avLst>
          </a:prstGeom>
          <a:solidFill>
            <a:srgbClr val="121A33"/>
          </a:solidFill>
          <a:ln/>
        </p:spPr>
      </p:sp>
      <p:sp>
        <p:nvSpPr>
          <p:cNvPr id="8" name="Text 6"/>
          <p:cNvSpPr/>
          <p:nvPr/>
        </p:nvSpPr>
        <p:spPr>
          <a:xfrm>
            <a:off x="4526280" y="189280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Entra ID</a:t>
            </a:r>
            <a:endParaRPr lang="en-US" sz="1350" dirty="0"/>
          </a:p>
        </p:txBody>
      </p:sp>
      <p:sp>
        <p:nvSpPr>
          <p:cNvPr id="9" name="Text 7"/>
          <p:cNvSpPr/>
          <p:nvPr/>
        </p:nvSpPr>
        <p:spPr>
          <a:xfrm>
            <a:off x="4526280" y="222199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Microsoft's cloud identity platform (formerly Azure AD) - identity for M365 and beyond</a:t>
            </a:r>
            <a:endParaRPr lang="en-US" sz="1000" dirty="0"/>
          </a:p>
        </p:txBody>
      </p:sp>
      <p:sp>
        <p:nvSpPr>
          <p:cNvPr id="10" name="Shape 8"/>
          <p:cNvSpPr/>
          <p:nvPr/>
        </p:nvSpPr>
        <p:spPr>
          <a:xfrm>
            <a:off x="8046720" y="1783080"/>
            <a:ext cx="3447288" cy="1234440"/>
          </a:xfrm>
          <a:prstGeom prst="roundRect">
            <a:avLst>
              <a:gd name="adj" fmla="val 7407"/>
            </a:avLst>
          </a:prstGeom>
          <a:solidFill>
            <a:srgbClr val="121A33"/>
          </a:solidFill>
          <a:ln/>
        </p:spPr>
      </p:sp>
      <p:sp>
        <p:nvSpPr>
          <p:cNvPr id="11" name="Text 9"/>
          <p:cNvSpPr/>
          <p:nvPr/>
        </p:nvSpPr>
        <p:spPr>
          <a:xfrm>
            <a:off x="8229600" y="189280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SaaS</a:t>
            </a:r>
            <a:endParaRPr lang="en-US" sz="1350" dirty="0"/>
          </a:p>
        </p:txBody>
      </p:sp>
      <p:sp>
        <p:nvSpPr>
          <p:cNvPr id="12" name="Text 10"/>
          <p:cNvSpPr/>
          <p:nvPr/>
        </p:nvSpPr>
        <p:spPr>
          <a:xfrm>
            <a:off x="8229600" y="222199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Software-as-a-Service - hosted applications you access over the web, not run on your own servers</a:t>
            </a:r>
            <a:endParaRPr lang="en-US" sz="1000" dirty="0"/>
          </a:p>
        </p:txBody>
      </p:sp>
      <p:sp>
        <p:nvSpPr>
          <p:cNvPr id="13" name="Shape 11"/>
          <p:cNvSpPr/>
          <p:nvPr/>
        </p:nvSpPr>
        <p:spPr>
          <a:xfrm>
            <a:off x="640080" y="3200400"/>
            <a:ext cx="3447288" cy="1234440"/>
          </a:xfrm>
          <a:prstGeom prst="roundRect">
            <a:avLst>
              <a:gd name="adj" fmla="val 7407"/>
            </a:avLst>
          </a:prstGeom>
          <a:solidFill>
            <a:srgbClr val="121A33"/>
          </a:solidFill>
          <a:ln/>
        </p:spPr>
      </p:sp>
      <p:sp>
        <p:nvSpPr>
          <p:cNvPr id="14" name="Text 12"/>
          <p:cNvSpPr/>
          <p:nvPr/>
        </p:nvSpPr>
        <p:spPr>
          <a:xfrm>
            <a:off x="822960" y="331012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MDM / UEM</a:t>
            </a:r>
            <a:endParaRPr lang="en-US" sz="1350" dirty="0"/>
          </a:p>
        </p:txBody>
      </p:sp>
      <p:sp>
        <p:nvSpPr>
          <p:cNvPr id="15" name="Text 13"/>
          <p:cNvSpPr/>
          <p:nvPr/>
        </p:nvSpPr>
        <p:spPr>
          <a:xfrm>
            <a:off x="822960" y="363931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Mobile / Unified Endpoint Management - platforms that enroll and enforce policy on devices</a:t>
            </a:r>
            <a:endParaRPr lang="en-US" sz="1000" dirty="0"/>
          </a:p>
        </p:txBody>
      </p:sp>
      <p:sp>
        <p:nvSpPr>
          <p:cNvPr id="16" name="Shape 14"/>
          <p:cNvSpPr/>
          <p:nvPr/>
        </p:nvSpPr>
        <p:spPr>
          <a:xfrm>
            <a:off x="4343400" y="3200400"/>
            <a:ext cx="3447288" cy="1234440"/>
          </a:xfrm>
          <a:prstGeom prst="roundRect">
            <a:avLst>
              <a:gd name="adj" fmla="val 7407"/>
            </a:avLst>
          </a:prstGeom>
          <a:solidFill>
            <a:srgbClr val="121A33"/>
          </a:solidFill>
          <a:ln/>
        </p:spPr>
      </p:sp>
      <p:sp>
        <p:nvSpPr>
          <p:cNvPr id="17" name="Text 15"/>
          <p:cNvSpPr/>
          <p:nvPr/>
        </p:nvSpPr>
        <p:spPr>
          <a:xfrm>
            <a:off x="4526280" y="331012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Intune</a:t>
            </a:r>
            <a:endParaRPr lang="en-US" sz="1350" dirty="0"/>
          </a:p>
        </p:txBody>
      </p:sp>
      <p:sp>
        <p:nvSpPr>
          <p:cNvPr id="18" name="Text 16"/>
          <p:cNvSpPr/>
          <p:nvPr/>
        </p:nvSpPr>
        <p:spPr>
          <a:xfrm>
            <a:off x="4526280" y="363931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Microsoft's MDM/UEM platform for managing and securing devices</a:t>
            </a:r>
            <a:endParaRPr lang="en-US" sz="1000" dirty="0"/>
          </a:p>
        </p:txBody>
      </p:sp>
      <p:sp>
        <p:nvSpPr>
          <p:cNvPr id="19" name="Shape 17"/>
          <p:cNvSpPr/>
          <p:nvPr/>
        </p:nvSpPr>
        <p:spPr>
          <a:xfrm>
            <a:off x="8046720" y="3200400"/>
            <a:ext cx="3447288" cy="1234440"/>
          </a:xfrm>
          <a:prstGeom prst="roundRect">
            <a:avLst>
              <a:gd name="adj" fmla="val 7407"/>
            </a:avLst>
          </a:prstGeom>
          <a:solidFill>
            <a:srgbClr val="121A33"/>
          </a:solidFill>
          <a:ln/>
        </p:spPr>
      </p:sp>
      <p:sp>
        <p:nvSpPr>
          <p:cNvPr id="20" name="Text 18"/>
          <p:cNvSpPr/>
          <p:nvPr/>
        </p:nvSpPr>
        <p:spPr>
          <a:xfrm>
            <a:off x="8229600" y="331012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Jamf</a:t>
            </a:r>
            <a:endParaRPr lang="en-US" sz="1350" dirty="0"/>
          </a:p>
        </p:txBody>
      </p:sp>
      <p:sp>
        <p:nvSpPr>
          <p:cNvPr id="21" name="Text 19"/>
          <p:cNvSpPr/>
          <p:nvPr/>
        </p:nvSpPr>
        <p:spPr>
          <a:xfrm>
            <a:off x="8229600" y="363931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A leading MDM platform built specifically for managing Apple devices</a:t>
            </a:r>
            <a:endParaRPr lang="en-US" sz="1000" dirty="0"/>
          </a:p>
        </p:txBody>
      </p:sp>
      <p:sp>
        <p:nvSpPr>
          <p:cNvPr id="22" name="Shape 20"/>
          <p:cNvSpPr/>
          <p:nvPr/>
        </p:nvSpPr>
        <p:spPr>
          <a:xfrm>
            <a:off x="640080" y="4617720"/>
            <a:ext cx="3447288" cy="1234440"/>
          </a:xfrm>
          <a:prstGeom prst="roundRect">
            <a:avLst>
              <a:gd name="adj" fmla="val 7407"/>
            </a:avLst>
          </a:prstGeom>
          <a:solidFill>
            <a:srgbClr val="121A33"/>
          </a:solidFill>
          <a:ln/>
        </p:spPr>
      </p:sp>
      <p:sp>
        <p:nvSpPr>
          <p:cNvPr id="23" name="Text 21"/>
          <p:cNvSpPr/>
          <p:nvPr/>
        </p:nvSpPr>
        <p:spPr>
          <a:xfrm>
            <a:off x="822960" y="472744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OAuth</a:t>
            </a:r>
            <a:endParaRPr lang="en-US" sz="1350" dirty="0"/>
          </a:p>
        </p:txBody>
      </p:sp>
      <p:sp>
        <p:nvSpPr>
          <p:cNvPr id="24" name="Text 22"/>
          <p:cNvSpPr/>
          <p:nvPr/>
        </p:nvSpPr>
        <p:spPr>
          <a:xfrm>
            <a:off x="822960" y="505663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An authorisation framework - lets an app act on a user's behalf without their password</a:t>
            </a:r>
            <a:endParaRPr lang="en-US" sz="1000" dirty="0"/>
          </a:p>
        </p:txBody>
      </p:sp>
      <p:sp>
        <p:nvSpPr>
          <p:cNvPr id="25" name="Shape 23"/>
          <p:cNvSpPr/>
          <p:nvPr/>
        </p:nvSpPr>
        <p:spPr>
          <a:xfrm>
            <a:off x="4343400" y="4617720"/>
            <a:ext cx="3447288" cy="1234440"/>
          </a:xfrm>
          <a:prstGeom prst="roundRect">
            <a:avLst>
              <a:gd name="adj" fmla="val 7407"/>
            </a:avLst>
          </a:prstGeom>
          <a:solidFill>
            <a:srgbClr val="121A33"/>
          </a:solidFill>
          <a:ln/>
        </p:spPr>
      </p:sp>
      <p:sp>
        <p:nvSpPr>
          <p:cNvPr id="26" name="Text 24"/>
          <p:cNvSpPr/>
          <p:nvPr/>
        </p:nvSpPr>
        <p:spPr>
          <a:xfrm>
            <a:off x="4526280" y="472744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full_access_as_app</a:t>
            </a:r>
            <a:endParaRPr lang="en-US" sz="1350" dirty="0"/>
          </a:p>
        </p:txBody>
      </p:sp>
      <p:sp>
        <p:nvSpPr>
          <p:cNvPr id="27" name="Text 25"/>
          <p:cNvSpPr/>
          <p:nvPr/>
        </p:nvSpPr>
        <p:spPr>
          <a:xfrm>
            <a:off x="4526280" y="505663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An Exchange Online permission granting an app full mailbox access as itself, not as a user</a:t>
            </a:r>
            <a:endParaRPr lang="en-US" sz="1000" dirty="0"/>
          </a:p>
        </p:txBody>
      </p:sp>
      <p:sp>
        <p:nvSpPr>
          <p:cNvPr id="28" name="Shape 26"/>
          <p:cNvSpPr/>
          <p:nvPr/>
        </p:nvSpPr>
        <p:spPr>
          <a:xfrm>
            <a:off x="8046720" y="4617720"/>
            <a:ext cx="3447288" cy="1234440"/>
          </a:xfrm>
          <a:prstGeom prst="roundRect">
            <a:avLst>
              <a:gd name="adj" fmla="val 7407"/>
            </a:avLst>
          </a:prstGeom>
          <a:solidFill>
            <a:srgbClr val="121A33"/>
          </a:solidFill>
          <a:ln/>
        </p:spPr>
      </p:sp>
      <p:sp>
        <p:nvSpPr>
          <p:cNvPr id="29" name="Text 27"/>
          <p:cNvSpPr/>
          <p:nvPr/>
        </p:nvSpPr>
        <p:spPr>
          <a:xfrm>
            <a:off x="8229600" y="4727448"/>
            <a:ext cx="3081528" cy="320040"/>
          </a:xfrm>
          <a:prstGeom prst="rect">
            <a:avLst/>
          </a:prstGeom>
          <a:noFill/>
          <a:ln/>
        </p:spPr>
        <p:txBody>
          <a:bodyPr wrap="square" rtlCol="0" anchor="ctr"/>
          <a:lstStyle/>
          <a:p>
            <a:pPr indent="0" marL="0">
              <a:buNone/>
            </a:pPr>
            <a:r>
              <a:rPr lang="en-US" sz="1350" b="1" dirty="0">
                <a:solidFill>
                  <a:srgbClr val="00E5FF"/>
                </a:solidFill>
                <a:latin typeface="Calibri" pitchFamily="34" charset="0"/>
                <a:ea typeface="Calibri" pitchFamily="34" charset="-122"/>
                <a:cs typeface="Calibri" pitchFamily="34" charset="-120"/>
              </a:rPr>
              <a:t>IAM</a:t>
            </a:r>
            <a:endParaRPr lang="en-US" sz="1350" dirty="0"/>
          </a:p>
        </p:txBody>
      </p:sp>
      <p:sp>
        <p:nvSpPr>
          <p:cNvPr id="30" name="Text 28"/>
          <p:cNvSpPr/>
          <p:nvPr/>
        </p:nvSpPr>
        <p:spPr>
          <a:xfrm>
            <a:off x="8229600" y="5056632"/>
            <a:ext cx="3081528" cy="749808"/>
          </a:xfrm>
          <a:prstGeom prst="rect">
            <a:avLst/>
          </a:prstGeom>
          <a:noFill/>
          <a:ln/>
        </p:spPr>
        <p:txBody>
          <a:bodyPr wrap="square" rtlCol="0" anchor="t"/>
          <a:lstStyle/>
          <a:p>
            <a:pPr indent="0" marL="0">
              <a:buNone/>
            </a:pPr>
            <a:r>
              <a:rPr lang="en-US" sz="1000" dirty="0">
                <a:solidFill>
                  <a:srgbClr val="8E9BC0"/>
                </a:solidFill>
                <a:latin typeface="Calibri" pitchFamily="34" charset="0"/>
                <a:ea typeface="Calibri" pitchFamily="34" charset="-122"/>
                <a:cs typeface="Calibri" pitchFamily="34" charset="-120"/>
              </a:rPr>
              <a:t>Identity and Access Management - the roles and policies deciding who can do what to cloud resources</a:t>
            </a:r>
            <a:endParaRPr lang="en-US" sz="1000" dirty="0"/>
          </a:p>
        </p:txBody>
      </p:sp>
      <p:sp>
        <p:nvSpPr>
          <p:cNvPr id="31" name="Text 2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0F1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100" b="1" spc="200" kern="0" dirty="0">
                <a:solidFill>
                  <a:srgbClr val="8E9BC0"/>
                </a:solidFill>
                <a:latin typeface="Calibri" pitchFamily="34" charset="0"/>
                <a:ea typeface="Calibri" pitchFamily="34" charset="-122"/>
                <a:cs typeface="Calibri" pitchFamily="34" charset="-120"/>
              </a:rPr>
              <a:t>APPENDIX - ROADMAP</a:t>
            </a:r>
            <a:endParaRPr lang="en-US" sz="1100" dirty="0"/>
          </a:p>
        </p:txBody>
      </p:sp>
      <p:sp>
        <p:nvSpPr>
          <p:cNvPr id="3" name="Text 1"/>
          <p:cNvSpPr/>
          <p:nvPr/>
        </p:nvSpPr>
        <p:spPr>
          <a:xfrm>
            <a:off x="640080" y="822960"/>
            <a:ext cx="10515600" cy="9144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Talk structure, if anyone asks</a:t>
            </a:r>
            <a:endParaRPr lang="en-US" sz="3200" dirty="0"/>
          </a:p>
        </p:txBody>
      </p:sp>
      <p:sp>
        <p:nvSpPr>
          <p:cNvPr id="4" name="Shape 2"/>
          <p:cNvSpPr/>
          <p:nvPr/>
        </p:nvSpPr>
        <p:spPr>
          <a:xfrm>
            <a:off x="640080" y="1828800"/>
            <a:ext cx="640080" cy="640080"/>
          </a:xfrm>
          <a:prstGeom prst="ellipse">
            <a:avLst/>
          </a:prstGeom>
          <a:solidFill>
            <a:srgbClr val="121A33"/>
          </a:solidFill>
          <a:ln/>
        </p:spPr>
      </p:sp>
      <p:pic>
        <p:nvPicPr>
          <p:cNvPr id="5" name="Image 0" descr="icons_history_00E5FF.png">    </p:cNvPr>
          <p:cNvPicPr>
            <a:picLocks noChangeAspect="1"/>
          </p:cNvPicPr>
          <p:nvPr/>
        </p:nvPicPr>
        <p:blipFill>
          <a:blip r:embed="rId1"/>
          <a:stretch>
            <a:fillRect/>
          </a:stretch>
        </p:blipFill>
        <p:spPr>
          <a:xfrm>
            <a:off x="793699" y="1982419"/>
            <a:ext cx="332842" cy="332842"/>
          </a:xfrm>
          <a:prstGeom prst="rect">
            <a:avLst/>
          </a:prstGeom>
        </p:spPr>
      </p:pic>
      <p:sp>
        <p:nvSpPr>
          <p:cNvPr id="6" name="Text 3"/>
          <p:cNvSpPr/>
          <p:nvPr/>
        </p:nvSpPr>
        <p:spPr>
          <a:xfrm>
            <a:off x="640080" y="1591056"/>
            <a:ext cx="640080" cy="256032"/>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1554480" y="1810512"/>
            <a:ext cx="40233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game we've always played</a:t>
            </a:r>
            <a:endParaRPr lang="en-US" sz="1500" dirty="0"/>
          </a:p>
        </p:txBody>
      </p:sp>
      <p:sp>
        <p:nvSpPr>
          <p:cNvPr id="8" name="Text 5"/>
          <p:cNvSpPr/>
          <p:nvPr/>
        </p:nvSpPr>
        <p:spPr>
          <a:xfrm>
            <a:off x="5669280" y="1810512"/>
            <a:ext cx="5760720" cy="54864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Two decades of Active Directory-centric pentesting</a:t>
            </a:r>
            <a:endParaRPr lang="en-US" sz="1250" dirty="0"/>
          </a:p>
        </p:txBody>
      </p:sp>
      <p:sp>
        <p:nvSpPr>
          <p:cNvPr id="9" name="Shape 6"/>
          <p:cNvSpPr/>
          <p:nvPr/>
        </p:nvSpPr>
        <p:spPr>
          <a:xfrm>
            <a:off x="640080" y="2670048"/>
            <a:ext cx="640080" cy="640080"/>
          </a:xfrm>
          <a:prstGeom prst="ellipse">
            <a:avLst/>
          </a:prstGeom>
          <a:solidFill>
            <a:srgbClr val="121A33"/>
          </a:solidFill>
          <a:ln/>
        </p:spPr>
      </p:sp>
      <p:pic>
        <p:nvPicPr>
          <p:cNvPr id="10" name="Image 1" descr="icons_bulb_00E5FF.png">    </p:cNvPr>
          <p:cNvPicPr>
            <a:picLocks noChangeAspect="1"/>
          </p:cNvPicPr>
          <p:nvPr/>
        </p:nvPicPr>
        <p:blipFill>
          <a:blip r:embed="rId2"/>
          <a:stretch>
            <a:fillRect/>
          </a:stretch>
        </p:blipFill>
        <p:spPr>
          <a:xfrm>
            <a:off x="793699" y="2823667"/>
            <a:ext cx="332842" cy="332842"/>
          </a:xfrm>
          <a:prstGeom prst="rect">
            <a:avLst/>
          </a:prstGeom>
        </p:spPr>
      </p:pic>
      <p:sp>
        <p:nvSpPr>
          <p:cNvPr id="11" name="Text 7"/>
          <p:cNvSpPr/>
          <p:nvPr/>
        </p:nvSpPr>
        <p:spPr>
          <a:xfrm>
            <a:off x="640080" y="2432304"/>
            <a:ext cx="640080" cy="256032"/>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2</a:t>
            </a:r>
            <a:endParaRPr lang="en-US" sz="1100" dirty="0"/>
          </a:p>
        </p:txBody>
      </p:sp>
      <p:sp>
        <p:nvSpPr>
          <p:cNvPr id="12" name="Text 8"/>
          <p:cNvSpPr/>
          <p:nvPr/>
        </p:nvSpPr>
        <p:spPr>
          <a:xfrm>
            <a:off x="1554480" y="2651760"/>
            <a:ext cx="40233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Why that game might be wrong</a:t>
            </a:r>
            <a:endParaRPr lang="en-US" sz="1500" dirty="0"/>
          </a:p>
        </p:txBody>
      </p:sp>
      <p:sp>
        <p:nvSpPr>
          <p:cNvPr id="13" name="Text 9"/>
          <p:cNvSpPr/>
          <p:nvPr/>
        </p:nvSpPr>
        <p:spPr>
          <a:xfrm>
            <a:off x="5669280" y="2651760"/>
            <a:ext cx="5760720" cy="54864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A question that changes how you measure success</a:t>
            </a:r>
            <a:endParaRPr lang="en-US" sz="1250" dirty="0"/>
          </a:p>
        </p:txBody>
      </p:sp>
      <p:sp>
        <p:nvSpPr>
          <p:cNvPr id="14" name="Shape 10"/>
          <p:cNvSpPr/>
          <p:nvPr/>
        </p:nvSpPr>
        <p:spPr>
          <a:xfrm>
            <a:off x="640080" y="3511296"/>
            <a:ext cx="640080" cy="640080"/>
          </a:xfrm>
          <a:prstGeom prst="ellipse">
            <a:avLst/>
          </a:prstGeom>
          <a:solidFill>
            <a:srgbClr val="121A33"/>
          </a:solidFill>
          <a:ln/>
        </p:spPr>
      </p:sp>
      <p:pic>
        <p:nvPicPr>
          <p:cNvPr id="15" name="Image 2" descr="icons_route_00E5FF.png">    </p:cNvPr>
          <p:cNvPicPr>
            <a:picLocks noChangeAspect="1"/>
          </p:cNvPicPr>
          <p:nvPr/>
        </p:nvPicPr>
        <p:blipFill>
          <a:blip r:embed="rId3"/>
          <a:stretch>
            <a:fillRect/>
          </a:stretch>
        </p:blipFill>
        <p:spPr>
          <a:xfrm>
            <a:off x="793699" y="3664915"/>
            <a:ext cx="332842" cy="332842"/>
          </a:xfrm>
          <a:prstGeom prst="rect">
            <a:avLst/>
          </a:prstGeom>
        </p:spPr>
      </p:pic>
      <p:sp>
        <p:nvSpPr>
          <p:cNvPr id="16" name="Text 11"/>
          <p:cNvSpPr/>
          <p:nvPr/>
        </p:nvSpPr>
        <p:spPr>
          <a:xfrm>
            <a:off x="640080" y="3273552"/>
            <a:ext cx="640080" cy="256032"/>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3</a:t>
            </a:r>
            <a:endParaRPr lang="en-US" sz="1100" dirty="0"/>
          </a:p>
        </p:txBody>
      </p:sp>
      <p:sp>
        <p:nvSpPr>
          <p:cNvPr id="17" name="Text 12"/>
          <p:cNvSpPr/>
          <p:nvPr/>
        </p:nvSpPr>
        <p:spPr>
          <a:xfrm>
            <a:off x="1554480" y="3493008"/>
            <a:ext cx="40233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Follow the trust</a:t>
            </a:r>
            <a:endParaRPr lang="en-US" sz="1500" dirty="0"/>
          </a:p>
        </p:txBody>
      </p:sp>
      <p:sp>
        <p:nvSpPr>
          <p:cNvPr id="18" name="Text 13"/>
          <p:cNvSpPr/>
          <p:nvPr/>
        </p:nvSpPr>
        <p:spPr>
          <a:xfrm>
            <a:off x="5669280" y="3493008"/>
            <a:ext cx="5760720" cy="54864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Real attack chains across the modern enterprise</a:t>
            </a:r>
            <a:endParaRPr lang="en-US" sz="1250" dirty="0"/>
          </a:p>
        </p:txBody>
      </p:sp>
      <p:sp>
        <p:nvSpPr>
          <p:cNvPr id="19" name="Shape 14"/>
          <p:cNvSpPr/>
          <p:nvPr/>
        </p:nvSpPr>
        <p:spPr>
          <a:xfrm>
            <a:off x="640080" y="4352544"/>
            <a:ext cx="640080" cy="640080"/>
          </a:xfrm>
          <a:prstGeom prst="ellipse">
            <a:avLst/>
          </a:prstGeom>
          <a:solidFill>
            <a:srgbClr val="121A33"/>
          </a:solidFill>
          <a:ln/>
        </p:spPr>
      </p:sp>
      <p:pic>
        <p:nvPicPr>
          <p:cNvPr id="20" name="Image 3" descr="icons_layers_00E5FF.png">    </p:cNvPr>
          <p:cNvPicPr>
            <a:picLocks noChangeAspect="1"/>
          </p:cNvPicPr>
          <p:nvPr/>
        </p:nvPicPr>
        <p:blipFill>
          <a:blip r:embed="rId4"/>
          <a:stretch>
            <a:fillRect/>
          </a:stretch>
        </p:blipFill>
        <p:spPr>
          <a:xfrm>
            <a:off x="793699" y="4506163"/>
            <a:ext cx="332842" cy="332842"/>
          </a:xfrm>
          <a:prstGeom prst="rect">
            <a:avLst/>
          </a:prstGeom>
        </p:spPr>
      </p:pic>
      <p:sp>
        <p:nvSpPr>
          <p:cNvPr id="21" name="Text 15"/>
          <p:cNvSpPr/>
          <p:nvPr/>
        </p:nvSpPr>
        <p:spPr>
          <a:xfrm>
            <a:off x="640080" y="4114800"/>
            <a:ext cx="640080" cy="256032"/>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4</a:t>
            </a:r>
            <a:endParaRPr lang="en-US" sz="1100" dirty="0"/>
          </a:p>
        </p:txBody>
      </p:sp>
      <p:sp>
        <p:nvSpPr>
          <p:cNvPr id="22" name="Text 16"/>
          <p:cNvSpPr/>
          <p:nvPr/>
        </p:nvSpPr>
        <p:spPr>
          <a:xfrm>
            <a:off x="1554480" y="4334256"/>
            <a:ext cx="40233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happens when you follow it</a:t>
            </a:r>
            <a:endParaRPr lang="en-US" sz="1500" dirty="0"/>
          </a:p>
        </p:txBody>
      </p:sp>
      <p:sp>
        <p:nvSpPr>
          <p:cNvPr id="23" name="Text 17"/>
          <p:cNvSpPr/>
          <p:nvPr/>
        </p:nvSpPr>
        <p:spPr>
          <a:xfrm>
            <a:off x="5669280" y="4334256"/>
            <a:ext cx="5760720" cy="54864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A composite compromise that never touches AD</a:t>
            </a:r>
            <a:endParaRPr lang="en-US" sz="1250" dirty="0"/>
          </a:p>
        </p:txBody>
      </p:sp>
      <p:sp>
        <p:nvSpPr>
          <p:cNvPr id="24" name="Shape 18"/>
          <p:cNvSpPr/>
          <p:nvPr/>
        </p:nvSpPr>
        <p:spPr>
          <a:xfrm>
            <a:off x="640080" y="5193792"/>
            <a:ext cx="640080" cy="640080"/>
          </a:xfrm>
          <a:prstGeom prst="ellipse">
            <a:avLst/>
          </a:prstGeom>
          <a:solidFill>
            <a:srgbClr val="121A33"/>
          </a:solidFill>
          <a:ln/>
        </p:spPr>
      </p:sp>
      <p:pic>
        <p:nvPicPr>
          <p:cNvPr id="25" name="Image 4" descr="icons_tools_00E5FF.png">    </p:cNvPr>
          <p:cNvPicPr>
            <a:picLocks noChangeAspect="1"/>
          </p:cNvPicPr>
          <p:nvPr/>
        </p:nvPicPr>
        <p:blipFill>
          <a:blip r:embed="rId5"/>
          <a:stretch>
            <a:fillRect/>
          </a:stretch>
        </p:blipFill>
        <p:spPr>
          <a:xfrm>
            <a:off x="793699" y="5347411"/>
            <a:ext cx="332842" cy="332842"/>
          </a:xfrm>
          <a:prstGeom prst="rect">
            <a:avLst/>
          </a:prstGeom>
        </p:spPr>
      </p:pic>
      <p:sp>
        <p:nvSpPr>
          <p:cNvPr id="26" name="Text 19"/>
          <p:cNvSpPr/>
          <p:nvPr/>
        </p:nvSpPr>
        <p:spPr>
          <a:xfrm>
            <a:off x="640080" y="4956048"/>
            <a:ext cx="640080" cy="256032"/>
          </a:xfrm>
          <a:prstGeom prst="rect">
            <a:avLst/>
          </a:prstGeom>
          <a:noFill/>
          <a:ln/>
        </p:spPr>
        <p:txBody>
          <a:bodyPr wrap="square" rtlCol="0" anchor="ctr"/>
          <a:lstStyle/>
          <a:p>
            <a:pPr algn="ctr" indent="0" marL="0">
              <a:buNone/>
            </a:pPr>
            <a:r>
              <a:rPr lang="en-US" sz="1100" dirty="0">
                <a:solidFill>
                  <a:srgbClr val="8E9BC0"/>
                </a:solidFill>
                <a:latin typeface="Calibri" pitchFamily="34" charset="0"/>
                <a:ea typeface="Calibri" pitchFamily="34" charset="-122"/>
                <a:cs typeface="Calibri" pitchFamily="34" charset="-120"/>
              </a:rPr>
              <a:t>5</a:t>
            </a:r>
            <a:endParaRPr lang="en-US" sz="1100" dirty="0"/>
          </a:p>
        </p:txBody>
      </p:sp>
      <p:sp>
        <p:nvSpPr>
          <p:cNvPr id="27" name="Text 20"/>
          <p:cNvSpPr/>
          <p:nvPr/>
        </p:nvSpPr>
        <p:spPr>
          <a:xfrm>
            <a:off x="1554480" y="5175504"/>
            <a:ext cx="40233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new way to measure compromise</a:t>
            </a:r>
            <a:endParaRPr lang="en-US" sz="1500" dirty="0"/>
          </a:p>
        </p:txBody>
      </p:sp>
      <p:sp>
        <p:nvSpPr>
          <p:cNvPr id="28" name="Text 21"/>
          <p:cNvSpPr/>
          <p:nvPr/>
        </p:nvSpPr>
        <p:spPr>
          <a:xfrm>
            <a:off x="5669280" y="5175504"/>
            <a:ext cx="5760720" cy="548640"/>
          </a:xfrm>
          <a:prstGeom prst="rect">
            <a:avLst/>
          </a:prstGeom>
          <a:noFill/>
          <a:ln/>
        </p:spPr>
        <p:txBody>
          <a:bodyPr wrap="square" rtlCol="0" anchor="t"/>
          <a:lstStyle/>
          <a:p>
            <a:pPr indent="0" marL="0">
              <a:buNone/>
            </a:pPr>
            <a:r>
              <a:rPr lang="en-US" sz="1250" dirty="0">
                <a:solidFill>
                  <a:srgbClr val="8E9BC0"/>
                </a:solidFill>
                <a:latin typeface="Calibri" pitchFamily="34" charset="0"/>
                <a:ea typeface="Calibri" pitchFamily="34" charset="-122"/>
                <a:cs typeface="Calibri" pitchFamily="34" charset="-120"/>
              </a:rPr>
              <a:t>Reach, blast radius, and a practical framework</a:t>
            </a:r>
            <a:endParaRPr lang="en-US" sz="1250" dirty="0"/>
          </a:p>
        </p:txBody>
      </p:sp>
      <p:sp>
        <p:nvSpPr>
          <p:cNvPr id="29" name="Text 2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8E9BC0"/>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2026-08-20T21:47:42Z</dcterms:created>
  <dcterms:modified xsi:type="dcterms:W3CDTF">2026-08-20T21:47:42Z</dcterms:modified>
</cp:coreProperties>
</file>