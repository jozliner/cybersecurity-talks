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301" r:id="rId6"/>
    <p:sldId id="305" r:id="rId7"/>
    <p:sldId id="261"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9" r:id="rId22"/>
    <p:sldId id="280" r:id="rId23"/>
    <p:sldId id="281" r:id="rId24"/>
    <p:sldId id="282" r:id="rId25"/>
    <p:sldId id="283" r:id="rId26"/>
    <p:sldId id="302" r:id="rId27"/>
    <p:sldId id="285" r:id="rId28"/>
    <p:sldId id="286" r:id="rId29"/>
    <p:sldId id="287" r:id="rId30"/>
    <p:sldId id="288" r:id="rId31"/>
    <p:sldId id="303" r:id="rId32"/>
    <p:sldId id="290" r:id="rId33"/>
    <p:sldId id="291" r:id="rId34"/>
    <p:sldId id="292" r:id="rId35"/>
    <p:sldId id="293" r:id="rId36"/>
    <p:sldId id="294" r:id="rId37"/>
    <p:sldId id="304" r:id="rId38"/>
    <p:sldId id="296" r:id="rId39"/>
    <p:sldId id="297" r:id="rId40"/>
    <p:sldId id="298" r:id="rId41"/>
    <p:sldId id="300"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7048" autoAdjust="0"/>
  </p:normalViewPr>
  <p:slideViewPr>
    <p:cSldViewPr snapToGrid="0" snapToObjects="1">
      <p:cViewPr varScale="1">
        <p:scale>
          <a:sx n="57" d="100"/>
          <a:sy n="57" d="100"/>
        </p:scale>
        <p:origin x="165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4203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everyone. I'm Dumi.</a:t>
            </a:r>
            <a:endParaRPr lang="en-US" dirty="0"/>
          </a:p>
          <a:p>
            <a:endParaRPr lang="en-US" dirty="0"/>
          </a:p>
          <a:p>
            <a:r>
              <a:rPr dirty="0"/>
              <a:t>Thank you for having me at </a:t>
            </a:r>
            <a:r>
              <a:rPr dirty="0" err="1"/>
              <a:t>CrestCon</a:t>
            </a:r>
            <a:r>
              <a:rPr dirty="0"/>
              <a:t>. </a:t>
            </a:r>
            <a:endParaRPr lang="en-US" dirty="0"/>
          </a:p>
          <a:p>
            <a:endParaRPr lang="en-US" dirty="0"/>
          </a:p>
          <a:p>
            <a:r>
              <a:rPr dirty="0"/>
              <a:t>I've been thinking about internal penetration testing for quite a while now</a:t>
            </a:r>
            <a:endParaRPr lang="en-US" dirty="0"/>
          </a:p>
          <a:p>
            <a:endParaRPr lang="en-US" dirty="0"/>
          </a:p>
          <a:p>
            <a:r>
              <a:rPr dirty="0"/>
              <a:t>and I want to start with a question rather than an introduction</a:t>
            </a:r>
            <a:r>
              <a:rPr lang="en-US" dirty="0"/>
              <a:t>.</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Congratulations. Pause. You've just compromised Active Directory. Pause. You've got Domain Admin. Pause. So... [click to next slide, let the silence do the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a:p>
            <a:r>
              <a:rPr lang="en-US" dirty="0"/>
              <a:t>'Let's make that concrete.'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on each option - genuinely pause and count.
Some people choose Domain Admin, some Global Admin, someone will say crown jewels.
Then: 'Good. Because that's where this talk starts.'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Quick roadmap so the room knows the shape of the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This is the game we've been playing for twenty years.</a:t>
            </a:r>
          </a:p>
        </p:txBody>
      </p:sp>
    </p:spTree>
    <p:extLst>
      <p:ext uri="{BB962C8B-B14F-4D97-AF65-F5344CB8AC3E}">
        <p14:creationId xmlns:p14="http://schemas.microsoft.com/office/powerpoint/2010/main" val="633018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we're very, very good at this game. You've all drawn something like this. </a:t>
            </a:r>
          </a:p>
          <a:p>
            <a:endParaRPr lang="en-US" dirty="0"/>
          </a:p>
          <a:p>
            <a:r>
              <a:rPr lang="en-US" dirty="0"/>
              <a:t>Low-</a:t>
            </a:r>
            <a:r>
              <a:rPr lang="en-US" dirty="0" err="1"/>
              <a:t>priv</a:t>
            </a:r>
            <a:r>
              <a:rPr lang="en-US" dirty="0"/>
              <a:t> user, local admin through a GPP password or cached creds, unconstrained delegation,</a:t>
            </a:r>
          </a:p>
          <a:p>
            <a:endParaRPr lang="en-US" dirty="0"/>
          </a:p>
          <a:p>
            <a:r>
              <a:rPr lang="en-US" dirty="0"/>
              <a:t> DCSync, Domain Admin. Five hops, textbook methodology. </a:t>
            </a:r>
          </a:p>
          <a:p>
            <a:endParaRPr lang="en-US" dirty="0"/>
          </a:p>
          <a:p>
            <a:r>
              <a:rPr lang="en-US" dirty="0"/>
              <a:t>Everyone in this room could draw this from memory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bomb.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We got Domain Admin.
Most people would probably call that a successful internal pentest.
But the thing the company actually cared about wasn't in Active Directory.
[Read the quote slowly.]
And there's a genuinely uncomfortable question hidden inside it: if we compromise the domain, but never touch the system holding the thing the business actually cares about - did we really compromise the organisation?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what we thought. Here's what actually moved underneath 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controversial.
M365 and Entra ID are the default identity backbone almost everywhere now. </a:t>
            </a:r>
          </a:p>
          <a:p>
            <a:endParaRPr lang="en-US" dirty="0"/>
          </a:p>
          <a:p>
            <a:r>
              <a:rPr lang="en-US" dirty="0"/>
              <a:t>Every org runs dozens of SaaS apps, each with its own admin plane. </a:t>
            </a:r>
          </a:p>
          <a:p>
            <a:endParaRPr lang="en-US" dirty="0"/>
          </a:p>
          <a:p>
            <a:r>
              <a:rPr lang="en-US" dirty="0"/>
              <a:t>Multi-cloud is the norm, not the exception. </a:t>
            </a:r>
          </a:p>
          <a:p>
            <a:endParaRPr lang="en-US" dirty="0"/>
          </a:p>
          <a:p>
            <a:r>
              <a:rPr lang="en-US" dirty="0"/>
              <a:t>And every endpoint is managed by an MDM or UEM platform that decides what's allowed to connect at all.
The enterprise perimeter isn't a domain boundary anymore - it's a mesh of these four things.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privilege isn't the unit anymore... what 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find out.
Five places trust actually lives in a modern enterprise:</a:t>
            </a:r>
          </a:p>
          <a:p>
            <a:endParaRPr lang="en-US" dirty="0"/>
          </a:p>
          <a:p>
            <a:r>
              <a:rPr lang="en-US" dirty="0"/>
              <a:t>identity providers, SaaS platforms, device management, cloud admin planes, and OAuth and federation.
I'm not going to tell you the answer up front - each one is a clue.
Four of these five have named, public breach evidence. The fifth - device management - is different, and I'll be honest about that when we get there.
Watch what each example gives away.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pillar: identity providers. This is the one I'd argue matters most right now, because it's where MFA, conditional access, and federation all converge.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own the IdP, you often inherit trust everywhere that federation reaches - Azure, SaaS apps, VPNs, everything.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check this in your own environment tonight: pull up your conditional access policies and see which ones are still sitting in report-only mode.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chain isn't hypothetical. In September 2023, Scattered Spider phoned the IT help desk at MGM Resorts</a:t>
            </a:r>
          </a:p>
          <a:p>
            <a:endParaRPr lang="en-US" dirty="0"/>
          </a:p>
          <a:p>
            <a:r>
              <a:rPr lang="en-US" dirty="0"/>
              <a:t>social-engineered a password reset, and got into MGM's Okta super-admin console. </a:t>
            </a:r>
          </a:p>
          <a:p>
            <a:endParaRPr lang="en-US" dirty="0"/>
          </a:p>
          <a:p>
            <a:r>
              <a:rPr lang="en-US" dirty="0"/>
              <a:t>From there they pivoted into MGM's Azure Global Admin role - and the casino floor was offline for ten days. </a:t>
            </a:r>
          </a:p>
          <a:p>
            <a:endParaRPr lang="en-US" dirty="0"/>
          </a:p>
          <a:p>
            <a:r>
              <a:rPr lang="en-US" dirty="0"/>
              <a:t>Caesars was hit with the same technique the same month and paid a fifteen-million-dollar ransom. </a:t>
            </a:r>
          </a:p>
          <a:p>
            <a:endParaRPr lang="en-US" dirty="0"/>
          </a:p>
          <a:p>
            <a:r>
              <a:rPr lang="en-US" dirty="0"/>
              <a:t>No domain controller was involved in the initial compromise - a phone call to a help desk was enough. </a:t>
            </a:r>
          </a:p>
          <a:p>
            <a:endParaRPr lang="en-US" dirty="0"/>
          </a:p>
          <a:p>
            <a:r>
              <a:rPr lang="en-US" dirty="0"/>
              <a:t>So what should a pentester actually do differently? </a:t>
            </a:r>
          </a:p>
          <a:p>
            <a:endParaRPr lang="en-US" dirty="0"/>
          </a:p>
          <a:p>
            <a:r>
              <a:rPr lang="en-US" dirty="0"/>
              <a:t>Don't just ask what happens if I compromise a domain account. Ask what happens if I compromise an identity administrator.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mockup, not a real tenant - built to make the MGM chain concrete rather than abstract.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 at 'Require MFA - All Users', set to Off. Sitting right above it, 'Block Legacy Authentication' is enabled, and 'Require Compliant Device - Admins' is only in report-only.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paper, this org looks like it takes conditional access seriously.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that one row - MFA, off, for everyone - is the entire difference between a hardened identity provider and a ten-minute phone call to a help desk.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pillar one down - four to go.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pillar: device management. MDM and UEM platforms decide which endpoints get trusted,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policy they receive, sometimes even what certificates get issued to them.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caveat - this is the pillar with the least public breach case-study material of the five.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check this in your own environment tonight: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pull up your MDM enrollment policy and ask what actually stops a non-compliant device from claiming compliance.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chain is more research-driven than breach-driven today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grounded in published research on MDM and UEM misconfiguration rather than a single headline breach.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what should a pentester actually do differently?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just test whether a device can authenticate. Test why the organisation believes that device should be trusted.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pillars down, three to go.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Third pillar: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SaaS platforms. </a:t>
            </a:r>
            <a:r>
              <a:rPr lang="en-US" dirty="0" err="1"/>
              <a:t>reCall</a:t>
            </a:r>
            <a:r>
              <a:rPr lang="en-US" dirty="0"/>
              <a:t> to the quote at the start of the talk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crown jewels weren't in AD, they were in a SaaS platform.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where that pattern shows up hardest, and it's had one of the biggest breach years on record.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check this in your own environment tonight: pull up your SaaS admin console and see which accounts don't have MFA enforced.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2024, the Snowflake customer breach hit roughly 165 </a:t>
            </a:r>
            <a:r>
              <a:rPr lang="en-US" dirty="0" err="1"/>
              <a:t>organisations</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nothing more than credentials stolen years earlier by infostealer malware, against accounts that had no MFA enforced.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Snowflake itself wasn't breached. It was entirely a SaaS credential 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AT&amp;T, Ticketmaster, Santander were among the companies hit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what should a pentester actually do differently? Don't stop at the corporate domain. Ask where the actual business data lives.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down, two to go.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Fourth pillar: OAuth and federation.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tends to be the least familiar pillar for most audiences, so let me ground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you consent to an app, you're granting it a scoped token that can outlive the login session and sometimes outlive MFA entirely.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check this in your own environment tonight: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pull up your enterprise applications list and look for anything with high-privilege scopes that hasn't been used in months.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one's uncomfortable because it happened to Microsoft, not a random SME.</a:t>
            </a:r>
          </a:p>
          <a:p>
            <a:endParaRPr lang="en-US" dirty="0"/>
          </a:p>
          <a:p>
            <a:r>
              <a:rPr lang="en-US" dirty="0"/>
              <a:t>Between November 2023 and January 2024, the Russian state actor Midnight Blizzard </a:t>
            </a:r>
          </a:p>
          <a:p>
            <a:endParaRPr lang="en-US" dirty="0"/>
          </a:p>
          <a:p>
            <a:r>
              <a:rPr lang="en-US" dirty="0"/>
              <a:t>compromised a legacy, non-production test tenant that had no MFA. </a:t>
            </a:r>
          </a:p>
          <a:p>
            <a:endParaRPr lang="en-US" dirty="0"/>
          </a:p>
          <a:p>
            <a:r>
              <a:rPr lang="en-US" dirty="0"/>
              <a:t>They found an over-permissioned test OAuth app, used it to pivot into Microsoft's actual corporate tenant, </a:t>
            </a:r>
          </a:p>
          <a:p>
            <a:endParaRPr lang="en-US" dirty="0"/>
          </a:p>
          <a:p>
            <a:r>
              <a:rPr lang="en-US" dirty="0"/>
              <a:t>created new admin accounts, and granted their own malicious OAuth apps the full_access_as_app Exchange role</a:t>
            </a:r>
          </a:p>
          <a:p>
            <a:endParaRPr lang="en-US" dirty="0"/>
          </a:p>
          <a:p>
            <a:r>
              <a:rPr lang="en-US" dirty="0"/>
              <a:t>meaning full read access to any mailbox in the tenant, including senior leadership. </a:t>
            </a:r>
          </a:p>
          <a:p>
            <a:endParaRPr lang="en-US" dirty="0"/>
          </a:p>
          <a:p>
            <a:r>
              <a:rPr lang="en-US" dirty="0"/>
              <a:t>They were in for over a month before detection. So what should a pentester actually do differently? </a:t>
            </a:r>
          </a:p>
          <a:p>
            <a:endParaRPr lang="en-US" dirty="0"/>
          </a:p>
          <a:p>
            <a:r>
              <a:rPr lang="en-US" dirty="0"/>
              <a:t>Don't just test passwords and MFA. Test what applications have been granted the authority to act on behalf of users.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closest mockup to the actual Microsoft incident.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 down the list: an approved HR portal, active today - nothing unusual.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a legacy reporting connector - full_access_as_app, last used 214 days ago.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an expenses tool, active this week. It's the middle one that matters.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permission alone isn't unusual; it's the combination of high privilege and zero ongoing scrutiny that makes forgotten OAuth apps such a good target.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 down, one to go.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Fifth and final pillar: cloud admin planes.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probably the most well known and heavily researched of the five in terms of security research.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IAM misconfiguration in AWS, Azure and GCP has been a top cloud breach root cause for years.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novelty in this talk isn't that cloud IAM misconfig exists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that it now sits in the same trust graph as your domain, and most internal engagements still don't touch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want to check this in your own environment tonight: pull up your IAM policies and ask which identities from your internal environment can assume a cloud admin role.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privilege escalation paths in AWS and Azure are extremely well documented </a:t>
            </a:r>
          </a:p>
          <a:p>
            <a:endParaRPr lang="en-US" dirty="0"/>
          </a:p>
          <a:p>
            <a:r>
              <a:rPr lang="en-US" dirty="0"/>
              <a:t>projects like Pacu and ScoutSuite exist specifically because this attack surface is so mature. </a:t>
            </a:r>
          </a:p>
          <a:p>
            <a:endParaRPr lang="en-US" dirty="0"/>
          </a:p>
          <a:p>
            <a:r>
              <a:rPr lang="en-US" dirty="0"/>
              <a:t>What's genuinely new isn't the technique, it's the scope: </a:t>
            </a:r>
          </a:p>
          <a:p>
            <a:endParaRPr lang="en-US" dirty="0"/>
          </a:p>
          <a:p>
            <a:r>
              <a:rPr lang="en-US" dirty="0"/>
              <a:t>this is now one stop in a five-pillar chain rather than a standalone cloud pentest finding. </a:t>
            </a:r>
          </a:p>
          <a:p>
            <a:endParaRPr lang="en-US" dirty="0"/>
          </a:p>
          <a:p>
            <a:r>
              <a:rPr lang="en-US" dirty="0"/>
              <a:t>So what should a pentester actually do differently?</a:t>
            </a:r>
          </a:p>
          <a:p>
            <a:endParaRPr lang="en-US" dirty="0"/>
          </a:p>
          <a:p>
            <a:r>
              <a:rPr lang="en-US" dirty="0"/>
              <a:t>Don't treat cloud as a separate assessment. Ask what identities from the internal environment can become cloud administrators.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all five pillars.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Quick OPSEC note before the composite demo, since half this room is thinking about detection while I talk.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 one of these five pillars leaves a trail. Conditional access changes and MFA method changes show up in Entra sign-in and audit logs. Device registration shows up in Intune and Entra device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logs. A new session from an unfamiliar ASN shows up in SaaS admin and CASB logs. Consent grants show up in the enterprise applications audit log. IAM policy changes and AssumeRole activity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up in CloudTrail or the equivalent activity log.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None of this is a secret - it's exactly what a mature blue team is already watching for. The point isn't 'this is undetectable.' The point is: if you're chaining across five systems, you now have five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different logging surfaces to think about, not one domain's Security event log.</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watch what happens when I actually follow trust instead of chasing privilege.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composite - built from the pattern of all five real incidents just shown, not one real client engagement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every hop has happened, publicly, in the last three years.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compromise an identity - a single set of credentials, nothing more. What does this identity trust?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device trusts this identity, so now, as far as the environment is concerned, I am a trusted device.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does that device give me? SaaS trusts that identity and that device together, so I walk straight into a SaaS admin console.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does SaaS trust me with? An OAuth grant - into a partner tenant, not even our 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does that application trust? Cloud trusts the identity behind it, so I assume an IAM role.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what does the cloud let me do? Everything it governs.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domain controller was ever touched. No BloodHound edge was ever walked.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Privilege tells you what I am. Reach tells you what I can affect.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that's the difference between getting Domain Admin... and actually understanding compromise.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of hands - who in this room has actually tested beyond AD on an internal engagement?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You already know this one. This isn't me introducing a new methodology </a:t>
            </a:r>
            <a:r>
              <a:rPr lang="en-US" dirty="0"/>
              <a:t>–</a:t>
            </a:r>
            <a:r>
              <a:rPr dirty="0"/>
              <a:t> </a:t>
            </a:r>
            <a:endParaRPr lang="en-US" dirty="0"/>
          </a:p>
          <a:p>
            <a:endParaRPr lang="en-US" dirty="0"/>
          </a:p>
          <a:p>
            <a:r>
              <a:rPr dirty="0"/>
              <a:t>it's already how STAR is scoped. A defined objective, a realistic threat scenario, </a:t>
            </a:r>
            <a:endParaRPr lang="en-US" dirty="0"/>
          </a:p>
          <a:p>
            <a:endParaRPr lang="en-US" dirty="0"/>
          </a:p>
          <a:p>
            <a:r>
              <a:rPr dirty="0"/>
              <a:t>success measured by what was reached, not which privilege you obtained.</a:t>
            </a:r>
          </a:p>
          <a:p>
            <a:endParaRPr dirty="0"/>
          </a:p>
          <a:p>
            <a:r>
              <a:rPr dirty="0"/>
              <a:t>So why does day-to-day internal testing - still default to the old finish line? </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underneath everything else in this talk.
The old metric is privilege gained – it asks…did you get Domain Admin, yes or no, ten out of ten.</a:t>
            </a:r>
          </a:p>
          <a:p>
            <a:endParaRPr lang="en-US" dirty="0"/>
          </a:p>
          <a:p>
            <a:r>
              <a:rPr lang="en-US" dirty="0"/>
              <a:t>The new metric has to be trust traversed - how many systems did you reach, what data did you access, what's the actual business impact, what's the blast radius.
Stop reporting the badge. Start reporting the blast radius.
[Say this slowly - this is the line I want people photographing.]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know what reach actually means - here's the network it happens across.
Active Directory hasn't disappeared. It's still important. But it's one node. Identity is another. SaaS is another. Cloud is another. Devices are another. OAuth connects organisations together.
The modern internal network is the relationships between these systems.
And it runs both ways - a lot of these nodes connect back into AD through hybrid identity, sync accounts and pass-through authentication. </a:t>
            </a:r>
          </a:p>
          <a:p>
            <a:endParaRPr lang="en-US" dirty="0"/>
          </a:p>
          <a:p>
            <a:r>
              <a:rPr lang="en-US" dirty="0"/>
              <a:t>This graph isn't just AD radiating outward, it's bidirectional.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challenge the argument for a second.
Is this actually happening? Yes - four of the five pillars have named, public breach evidence, which I've just shown you.
Is this really different from AD? Yes - the trust relationships extend well beyond the domain boundary, that's the whole point.
Is device management proven? Not yet at the same level - it's an emerging, research-driven surface.
Are those screenshots real? No. They're illustrative mockups built to make the pattern concrete, not a real client's tenant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really clear about something before we go further - I don't want anyone thinking I've just spent thirty minutes declaring Active Directory dead.
No. Absolutely not. AD is still incredibly important.
If anything, the point is that it's now part of a bigger graph. Sometimes the attacker starts in AD. Sometimes they start outside it. Sometimes they move back and forth between the two.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actually do differently on our next assessment/scoping call? Four things.
One - map the full trust graph before you scope, not just the domain.
Two - enumerate each pillar properly: conditional access policy, app consent grants, IAM policies, MDM enrollment rules.
Three - chain across boundaries, actively look for privilege that crosses from one system into another.
Four - redefine what game over means. You already know this one.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Different takeaway depending on your seat.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Pentesters - push your scoping conversations wider.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 teamers - you're probably already doing some of this, keep chaining across boundaries.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Blue teamers - your detection engineering needs to extend past the domain into IdP, SaaS and device management logs.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Security leaders - the strategic question is where your organisation's trust actually concentrates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if your testing programme still looks exactly like it did ten years ago, your testing programme may now be the legacy system.</a:t>
            </a:r>
          </a:p>
          <a:p>
            <a:endParaRPr lang="en-US" dirty="0"/>
          </a:p>
        </p:txBody>
      </p:sp>
    </p:spTree>
    <p:extLst>
      <p:ext uri="{BB962C8B-B14F-4D97-AF65-F5344CB8AC3E}">
        <p14:creationId xmlns:p14="http://schemas.microsoft.com/office/powerpoint/2010/main" val="21932358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That's all I want you to leave with.
One - the internal network has already changed.
Two - Domain Admin is a milestone. It isn't always the objective.
Three - privilege is no longer the unit of compromise. Reach is. Trust is how you get there. Real compromise today is a chain across a trust graph, not a single privilege escalation.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next time you get asked to scope an internal penetration test, I want you to ask one question.
Where does the organisation actually trust?
Because that... is your internal network. Thank you.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part of the spoken talk - only pull it up if a specific Q&amp;A question needs the detail. If someone asks 'what's your evidence for X pillar,' jump here and read the relevant row's real-world anchor directly.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spoken talk. Pull this up only if someone in the room looks lost on a term, or a Q&amp;A question needs a definition on screen.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9.png"/><Relationship Id="rId7"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822960" y="1005840"/>
            <a:ext cx="822960" cy="1371600"/>
          </a:xfrm>
          <a:prstGeom prst="line">
            <a:avLst/>
          </a:prstGeom>
          <a:noFill/>
          <a:ln w="15240">
            <a:solidFill>
              <a:srgbClr val="16204A"/>
            </a:solidFill>
            <a:prstDash val="solid"/>
          </a:ln>
        </p:spPr>
        <p:txBody>
          <a:bodyPr/>
          <a:lstStyle/>
          <a:p>
            <a:endParaRPr/>
          </a:p>
        </p:txBody>
      </p:sp>
      <p:sp>
        <p:nvSpPr>
          <p:cNvPr id="3" name="Shape 1"/>
          <p:cNvSpPr/>
          <p:nvPr/>
        </p:nvSpPr>
        <p:spPr>
          <a:xfrm>
            <a:off x="1097280" y="2377440"/>
            <a:ext cx="548640" cy="2011680"/>
          </a:xfrm>
          <a:prstGeom prst="line">
            <a:avLst/>
          </a:prstGeom>
          <a:noFill/>
          <a:ln w="15240">
            <a:solidFill>
              <a:srgbClr val="16204A"/>
            </a:solidFill>
            <a:prstDash val="solid"/>
          </a:ln>
        </p:spPr>
        <p:txBody>
          <a:bodyPr/>
          <a:lstStyle/>
          <a:p>
            <a:endParaRPr/>
          </a:p>
        </p:txBody>
      </p:sp>
      <p:sp>
        <p:nvSpPr>
          <p:cNvPr id="4" name="Shape 2"/>
          <p:cNvSpPr/>
          <p:nvPr/>
        </p:nvSpPr>
        <p:spPr>
          <a:xfrm>
            <a:off x="1097280" y="4389120"/>
            <a:ext cx="1280160" cy="1005840"/>
          </a:xfrm>
          <a:prstGeom prst="line">
            <a:avLst/>
          </a:prstGeom>
          <a:noFill/>
          <a:ln w="15240">
            <a:solidFill>
              <a:srgbClr val="16204A"/>
            </a:solidFill>
            <a:prstDash val="solid"/>
          </a:ln>
        </p:spPr>
        <p:txBody>
          <a:bodyPr/>
          <a:lstStyle/>
          <a:p>
            <a:endParaRPr/>
          </a:p>
        </p:txBody>
      </p:sp>
      <p:sp>
        <p:nvSpPr>
          <p:cNvPr id="5" name="Shape 3"/>
          <p:cNvSpPr/>
          <p:nvPr/>
        </p:nvSpPr>
        <p:spPr>
          <a:xfrm>
            <a:off x="548640" y="1005840"/>
            <a:ext cx="274320" cy="2103120"/>
          </a:xfrm>
          <a:prstGeom prst="line">
            <a:avLst/>
          </a:prstGeom>
          <a:noFill/>
          <a:ln w="15240">
            <a:solidFill>
              <a:srgbClr val="16204A"/>
            </a:solidFill>
            <a:prstDash val="solid"/>
          </a:ln>
        </p:spPr>
        <p:txBody>
          <a:bodyPr/>
          <a:lstStyle/>
          <a:p>
            <a:endParaRPr/>
          </a:p>
        </p:txBody>
      </p:sp>
      <p:sp>
        <p:nvSpPr>
          <p:cNvPr id="6" name="Shape 4"/>
          <p:cNvSpPr/>
          <p:nvPr/>
        </p:nvSpPr>
        <p:spPr>
          <a:xfrm>
            <a:off x="548640" y="2377440"/>
            <a:ext cx="1097280" cy="731520"/>
          </a:xfrm>
          <a:prstGeom prst="line">
            <a:avLst/>
          </a:prstGeom>
          <a:noFill/>
          <a:ln w="15240">
            <a:solidFill>
              <a:srgbClr val="16204A"/>
            </a:solidFill>
            <a:prstDash val="solid"/>
          </a:ln>
        </p:spPr>
        <p:txBody>
          <a:bodyPr/>
          <a:lstStyle/>
          <a:p>
            <a:endParaRPr/>
          </a:p>
        </p:txBody>
      </p:sp>
      <p:sp>
        <p:nvSpPr>
          <p:cNvPr id="7" name="Shape 5"/>
          <p:cNvSpPr/>
          <p:nvPr/>
        </p:nvSpPr>
        <p:spPr>
          <a:xfrm>
            <a:off x="822960" y="914400"/>
            <a:ext cx="2468880" cy="91440"/>
          </a:xfrm>
          <a:prstGeom prst="line">
            <a:avLst/>
          </a:prstGeom>
          <a:noFill/>
          <a:ln w="15240">
            <a:solidFill>
              <a:srgbClr val="16204A"/>
            </a:solidFill>
            <a:prstDash val="solid"/>
          </a:ln>
        </p:spPr>
        <p:txBody>
          <a:bodyPr/>
          <a:lstStyle/>
          <a:p>
            <a:endParaRPr/>
          </a:p>
        </p:txBody>
      </p:sp>
      <p:sp>
        <p:nvSpPr>
          <p:cNvPr id="8" name="Shape 6"/>
          <p:cNvSpPr/>
          <p:nvPr/>
        </p:nvSpPr>
        <p:spPr>
          <a:xfrm>
            <a:off x="10607040" y="1188720"/>
            <a:ext cx="640080" cy="1463040"/>
          </a:xfrm>
          <a:prstGeom prst="line">
            <a:avLst/>
          </a:prstGeom>
          <a:noFill/>
          <a:ln w="15240">
            <a:solidFill>
              <a:srgbClr val="16204A"/>
            </a:solidFill>
            <a:prstDash val="solid"/>
          </a:ln>
        </p:spPr>
        <p:txBody>
          <a:bodyPr/>
          <a:lstStyle/>
          <a:p>
            <a:endParaRPr/>
          </a:p>
        </p:txBody>
      </p:sp>
      <p:sp>
        <p:nvSpPr>
          <p:cNvPr id="9" name="Shape 7"/>
          <p:cNvSpPr/>
          <p:nvPr/>
        </p:nvSpPr>
        <p:spPr>
          <a:xfrm>
            <a:off x="10607040" y="2651760"/>
            <a:ext cx="914400" cy="1554480"/>
          </a:xfrm>
          <a:prstGeom prst="line">
            <a:avLst/>
          </a:prstGeom>
          <a:noFill/>
          <a:ln w="15240">
            <a:solidFill>
              <a:srgbClr val="16204A"/>
            </a:solidFill>
            <a:prstDash val="solid"/>
          </a:ln>
        </p:spPr>
        <p:txBody>
          <a:bodyPr/>
          <a:lstStyle/>
          <a:p>
            <a:endParaRPr/>
          </a:p>
        </p:txBody>
      </p:sp>
      <p:sp>
        <p:nvSpPr>
          <p:cNvPr id="10" name="Shape 8"/>
          <p:cNvSpPr/>
          <p:nvPr/>
        </p:nvSpPr>
        <p:spPr>
          <a:xfrm>
            <a:off x="10332720" y="4206240"/>
            <a:ext cx="1188720" cy="1097280"/>
          </a:xfrm>
          <a:prstGeom prst="line">
            <a:avLst/>
          </a:prstGeom>
          <a:noFill/>
          <a:ln w="15240">
            <a:solidFill>
              <a:srgbClr val="16204A"/>
            </a:solidFill>
            <a:prstDash val="solid"/>
          </a:ln>
        </p:spPr>
        <p:txBody>
          <a:bodyPr/>
          <a:lstStyle/>
          <a:p>
            <a:endParaRPr/>
          </a:p>
        </p:txBody>
      </p:sp>
      <p:sp>
        <p:nvSpPr>
          <p:cNvPr id="11" name="Shape 9"/>
          <p:cNvSpPr/>
          <p:nvPr/>
        </p:nvSpPr>
        <p:spPr>
          <a:xfrm>
            <a:off x="10332720" y="5303520"/>
            <a:ext cx="640080" cy="822960"/>
          </a:xfrm>
          <a:prstGeom prst="line">
            <a:avLst/>
          </a:prstGeom>
          <a:noFill/>
          <a:ln w="15240">
            <a:solidFill>
              <a:srgbClr val="16204A"/>
            </a:solidFill>
            <a:prstDash val="solid"/>
          </a:ln>
        </p:spPr>
        <p:txBody>
          <a:bodyPr/>
          <a:lstStyle/>
          <a:p>
            <a:endParaRPr/>
          </a:p>
        </p:txBody>
      </p:sp>
      <p:sp>
        <p:nvSpPr>
          <p:cNvPr id="12" name="Shape 10"/>
          <p:cNvSpPr/>
          <p:nvPr/>
        </p:nvSpPr>
        <p:spPr>
          <a:xfrm flipV="1">
            <a:off x="9509760" y="914400"/>
            <a:ext cx="1737360" cy="274320"/>
          </a:xfrm>
          <a:prstGeom prst="line">
            <a:avLst/>
          </a:prstGeom>
          <a:noFill/>
          <a:ln w="15240">
            <a:solidFill>
              <a:srgbClr val="16204A"/>
            </a:solidFill>
            <a:prstDash val="solid"/>
          </a:ln>
        </p:spPr>
        <p:txBody>
          <a:bodyPr/>
          <a:lstStyle/>
          <a:p>
            <a:endParaRPr/>
          </a:p>
        </p:txBody>
      </p:sp>
      <p:sp>
        <p:nvSpPr>
          <p:cNvPr id="13" name="Shape 11"/>
          <p:cNvSpPr/>
          <p:nvPr/>
        </p:nvSpPr>
        <p:spPr>
          <a:xfrm flipV="1">
            <a:off x="9509760" y="914400"/>
            <a:ext cx="1463040" cy="5212080"/>
          </a:xfrm>
          <a:prstGeom prst="line">
            <a:avLst/>
          </a:prstGeom>
          <a:noFill/>
          <a:ln w="15240">
            <a:solidFill>
              <a:srgbClr val="16204A"/>
            </a:solidFill>
            <a:prstDash val="solid"/>
          </a:ln>
        </p:spPr>
        <p:txBody>
          <a:bodyPr/>
          <a:lstStyle/>
          <a:p>
            <a:endParaRPr/>
          </a:p>
        </p:txBody>
      </p:sp>
      <p:sp>
        <p:nvSpPr>
          <p:cNvPr id="14" name="Shape 12"/>
          <p:cNvSpPr/>
          <p:nvPr/>
        </p:nvSpPr>
        <p:spPr>
          <a:xfrm>
            <a:off x="768096" y="950976"/>
            <a:ext cx="109728" cy="109728"/>
          </a:xfrm>
          <a:prstGeom prst="ellipse">
            <a:avLst/>
          </a:prstGeom>
          <a:solidFill>
            <a:srgbClr val="00E5FF"/>
          </a:solidFill>
          <a:ln/>
        </p:spPr>
        <p:txBody>
          <a:bodyPr/>
          <a:lstStyle/>
          <a:p>
            <a:endParaRPr/>
          </a:p>
        </p:txBody>
      </p:sp>
      <p:sp>
        <p:nvSpPr>
          <p:cNvPr id="15" name="Shape 13"/>
          <p:cNvSpPr/>
          <p:nvPr/>
        </p:nvSpPr>
        <p:spPr>
          <a:xfrm>
            <a:off x="1591056" y="2322576"/>
            <a:ext cx="109728" cy="109728"/>
          </a:xfrm>
          <a:prstGeom prst="ellipse">
            <a:avLst/>
          </a:prstGeom>
          <a:solidFill>
            <a:srgbClr val="7C5CFC"/>
          </a:solidFill>
          <a:ln/>
        </p:spPr>
        <p:txBody>
          <a:bodyPr/>
          <a:lstStyle/>
          <a:p>
            <a:endParaRPr/>
          </a:p>
        </p:txBody>
      </p:sp>
      <p:sp>
        <p:nvSpPr>
          <p:cNvPr id="16" name="Shape 14"/>
          <p:cNvSpPr/>
          <p:nvPr/>
        </p:nvSpPr>
        <p:spPr>
          <a:xfrm>
            <a:off x="1042416" y="4334256"/>
            <a:ext cx="109728" cy="109728"/>
          </a:xfrm>
          <a:prstGeom prst="ellipse">
            <a:avLst/>
          </a:prstGeom>
          <a:solidFill>
            <a:srgbClr val="7C5CFC"/>
          </a:solidFill>
          <a:ln/>
        </p:spPr>
        <p:txBody>
          <a:bodyPr/>
          <a:lstStyle/>
          <a:p>
            <a:endParaRPr/>
          </a:p>
        </p:txBody>
      </p:sp>
      <p:sp>
        <p:nvSpPr>
          <p:cNvPr id="17" name="Shape 15"/>
          <p:cNvSpPr/>
          <p:nvPr/>
        </p:nvSpPr>
        <p:spPr>
          <a:xfrm>
            <a:off x="2322576" y="5340096"/>
            <a:ext cx="109728" cy="109728"/>
          </a:xfrm>
          <a:prstGeom prst="ellipse">
            <a:avLst/>
          </a:prstGeom>
          <a:solidFill>
            <a:srgbClr val="00E5FF"/>
          </a:solidFill>
          <a:ln/>
        </p:spPr>
        <p:txBody>
          <a:bodyPr/>
          <a:lstStyle/>
          <a:p>
            <a:endParaRPr/>
          </a:p>
        </p:txBody>
      </p:sp>
      <p:sp>
        <p:nvSpPr>
          <p:cNvPr id="18" name="Shape 16"/>
          <p:cNvSpPr/>
          <p:nvPr/>
        </p:nvSpPr>
        <p:spPr>
          <a:xfrm>
            <a:off x="493776" y="3054096"/>
            <a:ext cx="109728" cy="109728"/>
          </a:xfrm>
          <a:prstGeom prst="ellipse">
            <a:avLst/>
          </a:prstGeom>
          <a:solidFill>
            <a:srgbClr val="7C5CFC"/>
          </a:solidFill>
          <a:ln/>
        </p:spPr>
        <p:txBody>
          <a:bodyPr/>
          <a:lstStyle/>
          <a:p>
            <a:endParaRPr/>
          </a:p>
        </p:txBody>
      </p:sp>
      <p:sp>
        <p:nvSpPr>
          <p:cNvPr id="19" name="Shape 17"/>
          <p:cNvSpPr/>
          <p:nvPr/>
        </p:nvSpPr>
        <p:spPr>
          <a:xfrm>
            <a:off x="3236976" y="859536"/>
            <a:ext cx="109728" cy="109728"/>
          </a:xfrm>
          <a:prstGeom prst="ellipse">
            <a:avLst/>
          </a:prstGeom>
          <a:solidFill>
            <a:srgbClr val="7C5CFC"/>
          </a:solidFill>
          <a:ln/>
        </p:spPr>
        <p:txBody>
          <a:bodyPr/>
          <a:lstStyle/>
          <a:p>
            <a:endParaRPr/>
          </a:p>
        </p:txBody>
      </p:sp>
      <p:sp>
        <p:nvSpPr>
          <p:cNvPr id="20" name="Shape 18"/>
          <p:cNvSpPr/>
          <p:nvPr/>
        </p:nvSpPr>
        <p:spPr>
          <a:xfrm>
            <a:off x="11192256" y="1133856"/>
            <a:ext cx="109728" cy="109728"/>
          </a:xfrm>
          <a:prstGeom prst="ellipse">
            <a:avLst/>
          </a:prstGeom>
          <a:solidFill>
            <a:srgbClr val="00E5FF"/>
          </a:solidFill>
          <a:ln/>
        </p:spPr>
        <p:txBody>
          <a:bodyPr/>
          <a:lstStyle/>
          <a:p>
            <a:endParaRPr/>
          </a:p>
        </p:txBody>
      </p:sp>
      <p:sp>
        <p:nvSpPr>
          <p:cNvPr id="21" name="Shape 19"/>
          <p:cNvSpPr/>
          <p:nvPr/>
        </p:nvSpPr>
        <p:spPr>
          <a:xfrm>
            <a:off x="10552176" y="2596896"/>
            <a:ext cx="109728" cy="109728"/>
          </a:xfrm>
          <a:prstGeom prst="ellipse">
            <a:avLst/>
          </a:prstGeom>
          <a:solidFill>
            <a:srgbClr val="7C5CFC"/>
          </a:solidFill>
          <a:ln/>
        </p:spPr>
        <p:txBody>
          <a:bodyPr/>
          <a:lstStyle/>
          <a:p>
            <a:endParaRPr/>
          </a:p>
        </p:txBody>
      </p:sp>
      <p:sp>
        <p:nvSpPr>
          <p:cNvPr id="22" name="Shape 20"/>
          <p:cNvSpPr/>
          <p:nvPr/>
        </p:nvSpPr>
        <p:spPr>
          <a:xfrm>
            <a:off x="11466576" y="4151376"/>
            <a:ext cx="109728" cy="109728"/>
          </a:xfrm>
          <a:prstGeom prst="ellipse">
            <a:avLst/>
          </a:prstGeom>
          <a:solidFill>
            <a:srgbClr val="7C5CFC"/>
          </a:solidFill>
          <a:ln/>
        </p:spPr>
        <p:txBody>
          <a:bodyPr/>
          <a:lstStyle/>
          <a:p>
            <a:endParaRPr/>
          </a:p>
        </p:txBody>
      </p:sp>
      <p:sp>
        <p:nvSpPr>
          <p:cNvPr id="23" name="Shape 21"/>
          <p:cNvSpPr/>
          <p:nvPr/>
        </p:nvSpPr>
        <p:spPr>
          <a:xfrm>
            <a:off x="10277856" y="5248656"/>
            <a:ext cx="109728" cy="109728"/>
          </a:xfrm>
          <a:prstGeom prst="ellipse">
            <a:avLst/>
          </a:prstGeom>
          <a:solidFill>
            <a:srgbClr val="00E5FF"/>
          </a:solidFill>
          <a:ln/>
        </p:spPr>
        <p:txBody>
          <a:bodyPr/>
          <a:lstStyle/>
          <a:p>
            <a:endParaRPr/>
          </a:p>
        </p:txBody>
      </p:sp>
      <p:sp>
        <p:nvSpPr>
          <p:cNvPr id="24" name="Shape 22"/>
          <p:cNvSpPr/>
          <p:nvPr/>
        </p:nvSpPr>
        <p:spPr>
          <a:xfrm>
            <a:off x="10917936" y="6071616"/>
            <a:ext cx="109728" cy="109728"/>
          </a:xfrm>
          <a:prstGeom prst="ellipse">
            <a:avLst/>
          </a:prstGeom>
          <a:solidFill>
            <a:srgbClr val="7C5CFC"/>
          </a:solidFill>
          <a:ln/>
        </p:spPr>
        <p:txBody>
          <a:bodyPr/>
          <a:lstStyle/>
          <a:p>
            <a:endParaRPr/>
          </a:p>
        </p:txBody>
      </p:sp>
      <p:sp>
        <p:nvSpPr>
          <p:cNvPr id="25" name="Shape 23"/>
          <p:cNvSpPr/>
          <p:nvPr/>
        </p:nvSpPr>
        <p:spPr>
          <a:xfrm>
            <a:off x="9454896" y="859536"/>
            <a:ext cx="109728" cy="109728"/>
          </a:xfrm>
          <a:prstGeom prst="ellipse">
            <a:avLst/>
          </a:prstGeom>
          <a:solidFill>
            <a:srgbClr val="7C5CFC"/>
          </a:solidFill>
          <a:ln/>
        </p:spPr>
        <p:txBody>
          <a:bodyPr/>
          <a:lstStyle/>
          <a:p>
            <a:endParaRPr/>
          </a:p>
        </p:txBody>
      </p:sp>
      <p:sp>
        <p:nvSpPr>
          <p:cNvPr id="26" name="Text 24"/>
          <p:cNvSpPr/>
          <p:nvPr/>
        </p:nvSpPr>
        <p:spPr>
          <a:xfrm>
            <a:off x="822960" y="1371600"/>
            <a:ext cx="5486400" cy="365760"/>
          </a:xfrm>
          <a:prstGeom prst="rect">
            <a:avLst/>
          </a:prstGeom>
          <a:noFill/>
          <a:ln/>
        </p:spPr>
        <p:txBody>
          <a:bodyPr wrap="square" rtlCol="0" anchor="ctr"/>
          <a:lstStyle/>
          <a:p>
            <a:pPr marL="0" indent="0">
              <a:buNone/>
            </a:pPr>
            <a:r>
              <a:rPr lang="en-US" sz="1400" b="1" kern="0" spc="300" dirty="0">
                <a:solidFill>
                  <a:srgbClr val="00E5FF"/>
                </a:solidFill>
                <a:latin typeface="Calibri" pitchFamily="34" charset="0"/>
                <a:ea typeface="Calibri" pitchFamily="34" charset="-122"/>
                <a:cs typeface="Calibri" pitchFamily="34" charset="-120"/>
              </a:rPr>
              <a:t>CRESTCON - RED TEAM COMMUNITY DAY</a:t>
            </a:r>
            <a:endParaRPr lang="en-US" sz="1400" dirty="0"/>
          </a:p>
        </p:txBody>
      </p:sp>
      <p:sp>
        <p:nvSpPr>
          <p:cNvPr id="27" name="Text 25"/>
          <p:cNvSpPr/>
          <p:nvPr/>
        </p:nvSpPr>
        <p:spPr>
          <a:xfrm>
            <a:off x="777240" y="1783080"/>
            <a:ext cx="10515600" cy="13716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The Next Internal Network</a:t>
            </a:r>
            <a:endParaRPr lang="en-US" sz="4800" dirty="0"/>
          </a:p>
        </p:txBody>
      </p:sp>
      <p:sp>
        <p:nvSpPr>
          <p:cNvPr id="28" name="Text 26"/>
          <p:cNvSpPr/>
          <p:nvPr/>
        </p:nvSpPr>
        <p:spPr>
          <a:xfrm>
            <a:off x="822960" y="2880360"/>
            <a:ext cx="10058400" cy="822960"/>
          </a:xfrm>
          <a:prstGeom prst="rect">
            <a:avLst/>
          </a:prstGeom>
          <a:noFill/>
          <a:ln/>
        </p:spPr>
        <p:txBody>
          <a:bodyPr wrap="square" rtlCol="0" anchor="ctr"/>
          <a:lstStyle/>
          <a:p>
            <a:pPr marL="0" indent="0">
              <a:buNone/>
            </a:pPr>
            <a:r>
              <a:rPr lang="en-US" sz="2400" i="1" dirty="0">
                <a:solidFill>
                  <a:srgbClr val="7C5CFC"/>
                </a:solidFill>
                <a:latin typeface="Cambria" pitchFamily="34" charset="0"/>
                <a:ea typeface="Cambria" pitchFamily="34" charset="-122"/>
                <a:cs typeface="Cambria" pitchFamily="34" charset="-120"/>
              </a:rPr>
              <a:t>Why Domain Admin Is No Longer the Finish Line</a:t>
            </a:r>
            <a:endParaRPr lang="en-US" sz="2400" dirty="0"/>
          </a:p>
        </p:txBody>
      </p:sp>
      <p:sp>
        <p:nvSpPr>
          <p:cNvPr id="29" name="Shape 27"/>
          <p:cNvSpPr/>
          <p:nvPr/>
        </p:nvSpPr>
        <p:spPr>
          <a:xfrm>
            <a:off x="822960" y="3794760"/>
            <a:ext cx="2011680" cy="0"/>
          </a:xfrm>
          <a:prstGeom prst="line">
            <a:avLst/>
          </a:prstGeom>
          <a:noFill/>
          <a:ln w="25400">
            <a:solidFill>
              <a:srgbClr val="00E5FF"/>
            </a:solidFill>
            <a:prstDash val="solid"/>
          </a:ln>
        </p:spPr>
        <p:txBody>
          <a:bodyPr/>
          <a:lstStyle/>
          <a:p>
            <a:endParaRPr/>
          </a:p>
        </p:txBody>
      </p:sp>
      <p:sp>
        <p:nvSpPr>
          <p:cNvPr id="30" name="Text 28"/>
          <p:cNvSpPr/>
          <p:nvPr/>
        </p:nvSpPr>
        <p:spPr>
          <a:xfrm>
            <a:off x="822960" y="3977640"/>
            <a:ext cx="8686800" cy="548640"/>
          </a:xfrm>
          <a:prstGeom prst="rect">
            <a:avLst/>
          </a:prstGeom>
          <a:noFill/>
          <a:ln/>
        </p:spPr>
        <p:txBody>
          <a:bodyPr wrap="square" rtlCol="0" anchor="ctr"/>
          <a:lstStyle/>
          <a:p>
            <a:pPr marL="0" indent="0">
              <a:buNone/>
            </a:pPr>
            <a:r>
              <a:rPr lang="en-US" sz="1500" dirty="0">
                <a:solidFill>
                  <a:srgbClr val="8E9BC0"/>
                </a:solidFill>
                <a:latin typeface="Calibri" pitchFamily="34" charset="0"/>
                <a:ea typeface="Calibri" pitchFamily="34" charset="-122"/>
                <a:cs typeface="Calibri" pitchFamily="34" charset="-120"/>
              </a:rPr>
              <a:t>Rethinking what successful compromise looks like in the modern enterprise</a:t>
            </a:r>
            <a:endParaRPr lang="en-US" sz="1500" dirty="0"/>
          </a:p>
        </p:txBody>
      </p:sp>
      <p:sp>
        <p:nvSpPr>
          <p:cNvPr id="31" name="Text 29"/>
          <p:cNvSpPr/>
          <p:nvPr/>
        </p:nvSpPr>
        <p:spPr>
          <a:xfrm>
            <a:off x="822960" y="6035040"/>
            <a:ext cx="914400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Dumisani Masimini (Dumi)  |  Offensive Security Consultant, WorkNest Secure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219456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YOU GOT</a:t>
            </a:r>
            <a:endParaRPr lang="en-US" sz="5400" dirty="0"/>
          </a:p>
          <a:p>
            <a:pPr marL="0" indent="0" algn="ctr">
              <a:buNone/>
            </a:pPr>
            <a:r>
              <a:rPr lang="en-US" sz="5400" b="1" dirty="0">
                <a:solidFill>
                  <a:srgbClr val="FFFFFF"/>
                </a:solidFill>
                <a:latin typeface="Cambria" pitchFamily="34" charset="0"/>
                <a:ea typeface="Cambria" pitchFamily="34" charset="-122"/>
                <a:cs typeface="Cambria" pitchFamily="34" charset="-120"/>
              </a:rPr>
              <a:t>DOMAIN ADMIN.</a:t>
            </a:r>
            <a:endParaRPr lang="en-US" sz="5400" dirty="0"/>
          </a:p>
        </p:txBody>
      </p:sp>
      <p:sp>
        <p:nvSpPr>
          <p:cNvPr id="3" name="Text 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2011680"/>
          </a:xfrm>
          <a:prstGeom prst="rect">
            <a:avLst/>
          </a:prstGeom>
          <a:noFill/>
          <a:ln/>
        </p:spPr>
        <p:txBody>
          <a:bodyPr wrap="square" rtlCol="0" anchor="ctr"/>
          <a:lstStyle/>
          <a:p>
            <a:pPr marL="0" indent="0" algn="ctr">
              <a:buNone/>
            </a:pPr>
            <a:r>
              <a:rPr lang="en-US" sz="4400" b="1" dirty="0">
                <a:solidFill>
                  <a:srgbClr val="00E5FF"/>
                </a:solidFill>
                <a:latin typeface="Cambria" pitchFamily="34" charset="0"/>
                <a:ea typeface="Cambria" pitchFamily="34" charset="-122"/>
                <a:cs typeface="Cambria" pitchFamily="34" charset="-120"/>
              </a:rPr>
              <a:t>HOW MUCH OF THE</a:t>
            </a:r>
            <a:endParaRPr lang="en-US" sz="4400" dirty="0"/>
          </a:p>
          <a:p>
            <a:pPr marL="0" indent="0" algn="ctr">
              <a:buNone/>
            </a:pPr>
            <a:r>
              <a:rPr lang="en-US" sz="4400" b="1" dirty="0">
                <a:solidFill>
                  <a:srgbClr val="00E5FF"/>
                </a:solidFill>
                <a:latin typeface="Cambria" pitchFamily="34" charset="0"/>
                <a:ea typeface="Cambria" pitchFamily="34" charset="-122"/>
                <a:cs typeface="Cambria" pitchFamily="34" charset="-120"/>
              </a:rPr>
              <a:t>COMPANY DO YOU OWN?</a:t>
            </a:r>
            <a:endParaRPr lang="en-US" sz="4400" dirty="0"/>
          </a:p>
        </p:txBody>
      </p:sp>
      <p:sp>
        <p:nvSpPr>
          <p:cNvPr id="3" name="Text 1"/>
          <p:cNvSpPr/>
          <p:nvPr/>
        </p:nvSpPr>
        <p:spPr>
          <a:xfrm>
            <a:off x="1280160" y="4434840"/>
            <a:ext cx="9601200" cy="548640"/>
          </a:xfrm>
          <a:prstGeom prst="rect">
            <a:avLst/>
          </a:prstGeom>
          <a:noFill/>
          <a:ln/>
        </p:spPr>
        <p:txBody>
          <a:bodyPr wrap="square" rtlCol="0" anchor="ctr"/>
          <a:lstStyle/>
          <a:p>
            <a:pPr marL="0" indent="0" algn="ctr">
              <a:buNone/>
            </a:pPr>
            <a:r>
              <a:rPr lang="en-US" sz="1500" i="1" dirty="0">
                <a:solidFill>
                  <a:srgbClr val="8E9BC0"/>
                </a:solidFill>
                <a:latin typeface="Calibri" pitchFamily="34" charset="0"/>
                <a:ea typeface="Calibri" pitchFamily="34" charset="-122"/>
                <a:cs typeface="Calibri" pitchFamily="34" charset="-120"/>
              </a:rPr>
              <a:t>Let's find out what "owning it" actually means.</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LET'S MAKE THAT CONCRETE</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What do you want?</a:t>
            </a:r>
            <a:endParaRPr lang="en-US" sz="3600" dirty="0"/>
          </a:p>
        </p:txBody>
      </p:sp>
      <p:sp>
        <p:nvSpPr>
          <p:cNvPr id="4" name="Text 2"/>
          <p:cNvSpPr/>
          <p:nvPr/>
        </p:nvSpPr>
        <p:spPr>
          <a:xfrm>
            <a:off x="640080" y="1508760"/>
            <a:ext cx="10881360" cy="548640"/>
          </a:xfrm>
          <a:prstGeom prst="rect">
            <a:avLst/>
          </a:prstGeom>
          <a:noFill/>
          <a:ln/>
        </p:spPr>
        <p:txBody>
          <a:bodyPr wrap="square" rtlCol="0" anchor="ctr"/>
          <a:lstStyle/>
          <a:p>
            <a:pPr marL="0" indent="0">
              <a:buNone/>
            </a:pPr>
            <a:r>
              <a:rPr lang="en-US" sz="1500" i="1" dirty="0">
                <a:solidFill>
                  <a:srgbClr val="8E9BC0"/>
                </a:solidFill>
                <a:latin typeface="Calibri" pitchFamily="34" charset="0"/>
                <a:ea typeface="Calibri" pitchFamily="34" charset="-122"/>
                <a:cs typeface="Calibri" pitchFamily="34" charset="-120"/>
              </a:rPr>
              <a:t>If "owning the company" is the goal, pick your target. Which of these three would you actually choose for your next internal penetration test?</a:t>
            </a:r>
            <a:endParaRPr lang="en-US" sz="1500" dirty="0"/>
          </a:p>
        </p:txBody>
      </p:sp>
      <p:sp>
        <p:nvSpPr>
          <p:cNvPr id="5" name="Shape 3"/>
          <p:cNvSpPr/>
          <p:nvPr/>
        </p:nvSpPr>
        <p:spPr>
          <a:xfrm>
            <a:off x="640080" y="2468880"/>
            <a:ext cx="3429000" cy="2743200"/>
          </a:xfrm>
          <a:prstGeom prst="roundRect">
            <a:avLst>
              <a:gd name="adj" fmla="val 4000"/>
            </a:avLst>
          </a:prstGeom>
          <a:solidFill>
            <a:srgbClr val="121A33"/>
          </a:solidFill>
          <a:ln w="12700">
            <a:solidFill>
              <a:srgbClr val="16204A"/>
            </a:solidFill>
            <a:prstDash val="solid"/>
          </a:ln>
        </p:spPr>
        <p:txBody>
          <a:bodyPr/>
          <a:lstStyle/>
          <a:p>
            <a:endParaRPr/>
          </a:p>
        </p:txBody>
      </p:sp>
      <p:sp>
        <p:nvSpPr>
          <p:cNvPr id="6" name="Shape 4"/>
          <p:cNvSpPr/>
          <p:nvPr/>
        </p:nvSpPr>
        <p:spPr>
          <a:xfrm>
            <a:off x="1943100" y="2834640"/>
            <a:ext cx="822960" cy="822960"/>
          </a:xfrm>
          <a:prstGeom prst="ellipse">
            <a:avLst/>
          </a:prstGeom>
          <a:solidFill>
            <a:srgbClr val="0A0F1F"/>
          </a:solidFill>
          <a:ln/>
        </p:spPr>
        <p:txBody>
          <a:bodyPr/>
          <a:lstStyle/>
          <a:p>
            <a:endParaRPr/>
          </a:p>
        </p:txBody>
      </p:sp>
      <p:pic>
        <p:nvPicPr>
          <p:cNvPr id="7" name="Image 0" descr="icons_crown_00E5FF.png"/>
          <p:cNvPicPr>
            <a:picLocks noChangeAspect="1"/>
          </p:cNvPicPr>
          <p:nvPr/>
        </p:nvPicPr>
        <p:blipFill>
          <a:blip r:embed="rId3"/>
          <a:stretch>
            <a:fillRect/>
          </a:stretch>
        </p:blipFill>
        <p:spPr>
          <a:xfrm>
            <a:off x="2140610" y="3032150"/>
            <a:ext cx="427939" cy="427939"/>
          </a:xfrm>
          <a:prstGeom prst="rect">
            <a:avLst/>
          </a:prstGeom>
        </p:spPr>
      </p:pic>
      <p:sp>
        <p:nvSpPr>
          <p:cNvPr id="8" name="Text 5"/>
          <p:cNvSpPr/>
          <p:nvPr/>
        </p:nvSpPr>
        <p:spPr>
          <a:xfrm>
            <a:off x="777240" y="3840480"/>
            <a:ext cx="3154680" cy="548640"/>
          </a:xfrm>
          <a:prstGeom prst="rect">
            <a:avLst/>
          </a:prstGeom>
          <a:noFill/>
          <a:ln/>
        </p:spPr>
        <p:txBody>
          <a:bodyPr wrap="square" rtlCol="0" anchor="t"/>
          <a:lstStyle/>
          <a:p>
            <a:pPr marL="0" indent="0" algn="ctr">
              <a:buNone/>
            </a:pPr>
            <a:r>
              <a:rPr lang="en-US" sz="1700" b="1" dirty="0">
                <a:solidFill>
                  <a:srgbClr val="FFFFFF"/>
                </a:solidFill>
                <a:latin typeface="Cambria" pitchFamily="34" charset="0"/>
                <a:ea typeface="Cambria" pitchFamily="34" charset="-122"/>
                <a:cs typeface="Cambria" pitchFamily="34" charset="-120"/>
              </a:rPr>
              <a:t>Domain Admin</a:t>
            </a:r>
            <a:endParaRPr lang="en-US" sz="1700" dirty="0"/>
          </a:p>
        </p:txBody>
      </p:sp>
      <p:sp>
        <p:nvSpPr>
          <p:cNvPr id="9" name="Text 6"/>
          <p:cNvSpPr/>
          <p:nvPr/>
        </p:nvSpPr>
        <p:spPr>
          <a:xfrm>
            <a:off x="777240" y="4434840"/>
            <a:ext cx="3154680" cy="64008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The classic finish line</a:t>
            </a:r>
            <a:endParaRPr lang="en-US" sz="1150" dirty="0"/>
          </a:p>
        </p:txBody>
      </p:sp>
      <p:sp>
        <p:nvSpPr>
          <p:cNvPr id="10" name="Shape 7"/>
          <p:cNvSpPr/>
          <p:nvPr/>
        </p:nvSpPr>
        <p:spPr>
          <a:xfrm>
            <a:off x="4389120" y="2468880"/>
            <a:ext cx="3429000" cy="2743200"/>
          </a:xfrm>
          <a:prstGeom prst="roundRect">
            <a:avLst>
              <a:gd name="adj" fmla="val 4000"/>
            </a:avLst>
          </a:prstGeom>
          <a:solidFill>
            <a:srgbClr val="121A33"/>
          </a:solidFill>
          <a:ln w="12700">
            <a:solidFill>
              <a:srgbClr val="16204A"/>
            </a:solidFill>
            <a:prstDash val="solid"/>
          </a:ln>
        </p:spPr>
        <p:txBody>
          <a:bodyPr/>
          <a:lstStyle/>
          <a:p>
            <a:endParaRPr/>
          </a:p>
        </p:txBody>
      </p:sp>
      <p:sp>
        <p:nvSpPr>
          <p:cNvPr id="11" name="Shape 8"/>
          <p:cNvSpPr/>
          <p:nvPr/>
        </p:nvSpPr>
        <p:spPr>
          <a:xfrm>
            <a:off x="5692140" y="2834640"/>
            <a:ext cx="822960" cy="822960"/>
          </a:xfrm>
          <a:prstGeom prst="ellipse">
            <a:avLst/>
          </a:prstGeom>
          <a:solidFill>
            <a:srgbClr val="0A0F1F"/>
          </a:solidFill>
          <a:ln/>
        </p:spPr>
        <p:txBody>
          <a:bodyPr/>
          <a:lstStyle/>
          <a:p>
            <a:endParaRPr/>
          </a:p>
        </p:txBody>
      </p:sp>
      <p:pic>
        <p:nvPicPr>
          <p:cNvPr id="12" name="Image 1" descr="icons_cloud_00E5FF.png"/>
          <p:cNvPicPr>
            <a:picLocks noChangeAspect="1"/>
          </p:cNvPicPr>
          <p:nvPr/>
        </p:nvPicPr>
        <p:blipFill>
          <a:blip r:embed="rId4"/>
          <a:stretch>
            <a:fillRect/>
          </a:stretch>
        </p:blipFill>
        <p:spPr>
          <a:xfrm>
            <a:off x="5889650" y="3032150"/>
            <a:ext cx="427939" cy="427939"/>
          </a:xfrm>
          <a:prstGeom prst="rect">
            <a:avLst/>
          </a:prstGeom>
        </p:spPr>
      </p:pic>
      <p:sp>
        <p:nvSpPr>
          <p:cNvPr id="13" name="Text 9"/>
          <p:cNvSpPr/>
          <p:nvPr/>
        </p:nvSpPr>
        <p:spPr>
          <a:xfrm>
            <a:off x="4526280" y="3840480"/>
            <a:ext cx="3154680" cy="548640"/>
          </a:xfrm>
          <a:prstGeom prst="rect">
            <a:avLst/>
          </a:prstGeom>
          <a:noFill/>
          <a:ln/>
        </p:spPr>
        <p:txBody>
          <a:bodyPr wrap="square" rtlCol="0" anchor="t"/>
          <a:lstStyle/>
          <a:p>
            <a:pPr marL="0" indent="0" algn="ctr">
              <a:buNone/>
            </a:pPr>
            <a:r>
              <a:rPr lang="en-US" sz="1700" b="1" dirty="0">
                <a:solidFill>
                  <a:srgbClr val="FFFFFF"/>
                </a:solidFill>
                <a:latin typeface="Cambria" pitchFamily="34" charset="0"/>
                <a:ea typeface="Cambria" pitchFamily="34" charset="-122"/>
                <a:cs typeface="Cambria" pitchFamily="34" charset="-120"/>
              </a:rPr>
              <a:t>Global Admin</a:t>
            </a:r>
            <a:endParaRPr lang="en-US" sz="1700" dirty="0"/>
          </a:p>
        </p:txBody>
      </p:sp>
      <p:sp>
        <p:nvSpPr>
          <p:cNvPr id="14" name="Text 10"/>
          <p:cNvSpPr/>
          <p:nvPr/>
        </p:nvSpPr>
        <p:spPr>
          <a:xfrm>
            <a:off x="4526280" y="4434840"/>
            <a:ext cx="3154680" cy="64008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The cloud-era equivalent</a:t>
            </a:r>
            <a:endParaRPr lang="en-US" sz="1150" dirty="0"/>
          </a:p>
        </p:txBody>
      </p:sp>
      <p:sp>
        <p:nvSpPr>
          <p:cNvPr id="15" name="Shape 11"/>
          <p:cNvSpPr/>
          <p:nvPr/>
        </p:nvSpPr>
        <p:spPr>
          <a:xfrm>
            <a:off x="8138160" y="2468880"/>
            <a:ext cx="3429000" cy="2743200"/>
          </a:xfrm>
          <a:prstGeom prst="roundRect">
            <a:avLst>
              <a:gd name="adj" fmla="val 4000"/>
            </a:avLst>
          </a:prstGeom>
          <a:solidFill>
            <a:srgbClr val="121A33"/>
          </a:solidFill>
          <a:ln w="12700">
            <a:solidFill>
              <a:srgbClr val="16204A"/>
            </a:solidFill>
            <a:prstDash val="solid"/>
          </a:ln>
        </p:spPr>
        <p:txBody>
          <a:bodyPr/>
          <a:lstStyle/>
          <a:p>
            <a:endParaRPr/>
          </a:p>
        </p:txBody>
      </p:sp>
      <p:sp>
        <p:nvSpPr>
          <p:cNvPr id="16" name="Shape 12"/>
          <p:cNvSpPr/>
          <p:nvPr/>
        </p:nvSpPr>
        <p:spPr>
          <a:xfrm>
            <a:off x="9441180" y="2834640"/>
            <a:ext cx="822960" cy="822960"/>
          </a:xfrm>
          <a:prstGeom prst="ellipse">
            <a:avLst/>
          </a:prstGeom>
          <a:solidFill>
            <a:srgbClr val="0A0F1F"/>
          </a:solidFill>
          <a:ln/>
        </p:spPr>
        <p:txBody>
          <a:bodyPr/>
          <a:lstStyle/>
          <a:p>
            <a:endParaRPr/>
          </a:p>
        </p:txBody>
      </p:sp>
      <p:pic>
        <p:nvPicPr>
          <p:cNvPr id="17" name="Image 2" descr="icons_building_00E5FF.png"/>
          <p:cNvPicPr>
            <a:picLocks noChangeAspect="1"/>
          </p:cNvPicPr>
          <p:nvPr/>
        </p:nvPicPr>
        <p:blipFill>
          <a:blip r:embed="rId5"/>
          <a:stretch>
            <a:fillRect/>
          </a:stretch>
        </p:blipFill>
        <p:spPr>
          <a:xfrm>
            <a:off x="9638690" y="3032150"/>
            <a:ext cx="427939" cy="427939"/>
          </a:xfrm>
          <a:prstGeom prst="rect">
            <a:avLst/>
          </a:prstGeom>
        </p:spPr>
      </p:pic>
      <p:sp>
        <p:nvSpPr>
          <p:cNvPr id="18" name="Text 13"/>
          <p:cNvSpPr/>
          <p:nvPr/>
        </p:nvSpPr>
        <p:spPr>
          <a:xfrm>
            <a:off x="8275320" y="3840480"/>
            <a:ext cx="3154680" cy="548640"/>
          </a:xfrm>
          <a:prstGeom prst="rect">
            <a:avLst/>
          </a:prstGeom>
          <a:noFill/>
          <a:ln/>
        </p:spPr>
        <p:txBody>
          <a:bodyPr wrap="square" rtlCol="0" anchor="t"/>
          <a:lstStyle/>
          <a:p>
            <a:pPr marL="0" indent="0" algn="ctr">
              <a:buNone/>
            </a:pPr>
            <a:r>
              <a:rPr lang="en-US" sz="1700" b="1" dirty="0">
                <a:solidFill>
                  <a:srgbClr val="FFFFFF"/>
                </a:solidFill>
                <a:latin typeface="Cambria" pitchFamily="34" charset="0"/>
                <a:ea typeface="Cambria" pitchFamily="34" charset="-122"/>
                <a:cs typeface="Cambria" pitchFamily="34" charset="-120"/>
              </a:rPr>
              <a:t>The Crown Jewels</a:t>
            </a:r>
            <a:endParaRPr lang="en-US" sz="1700" dirty="0"/>
          </a:p>
        </p:txBody>
      </p:sp>
      <p:sp>
        <p:nvSpPr>
          <p:cNvPr id="19" name="Text 14"/>
          <p:cNvSpPr/>
          <p:nvPr/>
        </p:nvSpPr>
        <p:spPr>
          <a:xfrm>
            <a:off x="8275320" y="4434840"/>
            <a:ext cx="3154680" cy="64008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Whatever the business actually cares about</a:t>
            </a:r>
            <a:endParaRPr lang="en-US" sz="1150" dirty="0"/>
          </a:p>
        </p:txBody>
      </p:sp>
      <p:sp>
        <p:nvSpPr>
          <p:cNvPr id="20" name="Text 1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6">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100" b="1" kern="0" spc="200" dirty="0">
                <a:solidFill>
                  <a:srgbClr val="8E9BC0"/>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640080" y="1828800"/>
            <a:ext cx="640080" cy="640080"/>
          </a:xfrm>
          <a:prstGeom prst="ellipse">
            <a:avLst/>
          </a:prstGeom>
          <a:solidFill>
            <a:srgbClr val="121A33"/>
          </a:solidFill>
          <a:ln/>
        </p:spPr>
        <p:txBody>
          <a:bodyPr/>
          <a:lstStyle/>
          <a:p>
            <a:endParaRPr/>
          </a:p>
        </p:txBody>
      </p:sp>
      <p:pic>
        <p:nvPicPr>
          <p:cNvPr id="5" name="Image 0" descr="icons_history_00E5FF.png"/>
          <p:cNvPicPr>
            <a:picLocks noChangeAspect="1"/>
          </p:cNvPicPr>
          <p:nvPr/>
        </p:nvPicPr>
        <p:blipFill>
          <a:blip r:embed="rId3"/>
          <a:stretch>
            <a:fillRect/>
          </a:stretch>
        </p:blipFill>
        <p:spPr>
          <a:xfrm>
            <a:off x="793699" y="1982419"/>
            <a:ext cx="332842" cy="332842"/>
          </a:xfrm>
          <a:prstGeom prst="rect">
            <a:avLst/>
          </a:prstGeom>
        </p:spPr>
      </p:pic>
      <p:sp>
        <p:nvSpPr>
          <p:cNvPr id="6" name="Text 3"/>
          <p:cNvSpPr/>
          <p:nvPr/>
        </p:nvSpPr>
        <p:spPr>
          <a:xfrm>
            <a:off x="640080" y="1591056"/>
            <a:ext cx="640080" cy="256032"/>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1554480" y="1810512"/>
            <a:ext cx="4023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game we've always played</a:t>
            </a:r>
            <a:endParaRPr lang="en-US" sz="1500" dirty="0"/>
          </a:p>
        </p:txBody>
      </p:sp>
      <p:sp>
        <p:nvSpPr>
          <p:cNvPr id="8" name="Text 5"/>
          <p:cNvSpPr/>
          <p:nvPr/>
        </p:nvSpPr>
        <p:spPr>
          <a:xfrm>
            <a:off x="5669280" y="1810512"/>
            <a:ext cx="5760720" cy="54864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Two decades of Active Directory-centric pentesting</a:t>
            </a:r>
            <a:endParaRPr lang="en-US" sz="1250" dirty="0"/>
          </a:p>
        </p:txBody>
      </p:sp>
      <p:sp>
        <p:nvSpPr>
          <p:cNvPr id="9" name="Shape 6"/>
          <p:cNvSpPr/>
          <p:nvPr/>
        </p:nvSpPr>
        <p:spPr>
          <a:xfrm>
            <a:off x="640080" y="2670048"/>
            <a:ext cx="640080" cy="640080"/>
          </a:xfrm>
          <a:prstGeom prst="ellipse">
            <a:avLst/>
          </a:prstGeom>
          <a:solidFill>
            <a:srgbClr val="121A33"/>
          </a:solidFill>
          <a:ln/>
        </p:spPr>
        <p:txBody>
          <a:bodyPr/>
          <a:lstStyle/>
          <a:p>
            <a:endParaRPr/>
          </a:p>
        </p:txBody>
      </p:sp>
      <p:pic>
        <p:nvPicPr>
          <p:cNvPr id="10" name="Image 1" descr="icons_bulb_00E5FF.png"/>
          <p:cNvPicPr>
            <a:picLocks noChangeAspect="1"/>
          </p:cNvPicPr>
          <p:nvPr/>
        </p:nvPicPr>
        <p:blipFill>
          <a:blip r:embed="rId4"/>
          <a:stretch>
            <a:fillRect/>
          </a:stretch>
        </p:blipFill>
        <p:spPr>
          <a:xfrm>
            <a:off x="793699" y="2823667"/>
            <a:ext cx="332842" cy="332842"/>
          </a:xfrm>
          <a:prstGeom prst="rect">
            <a:avLst/>
          </a:prstGeom>
        </p:spPr>
      </p:pic>
      <p:sp>
        <p:nvSpPr>
          <p:cNvPr id="11" name="Text 7"/>
          <p:cNvSpPr/>
          <p:nvPr/>
        </p:nvSpPr>
        <p:spPr>
          <a:xfrm>
            <a:off x="640080" y="2432304"/>
            <a:ext cx="640080" cy="256032"/>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2</a:t>
            </a:r>
            <a:endParaRPr lang="en-US" sz="1100" dirty="0"/>
          </a:p>
        </p:txBody>
      </p:sp>
      <p:sp>
        <p:nvSpPr>
          <p:cNvPr id="12" name="Text 8"/>
          <p:cNvSpPr/>
          <p:nvPr/>
        </p:nvSpPr>
        <p:spPr>
          <a:xfrm>
            <a:off x="1554480" y="2651760"/>
            <a:ext cx="4023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that game might be wrong</a:t>
            </a:r>
            <a:endParaRPr lang="en-US" sz="1500" dirty="0"/>
          </a:p>
        </p:txBody>
      </p:sp>
      <p:sp>
        <p:nvSpPr>
          <p:cNvPr id="13" name="Text 9"/>
          <p:cNvSpPr/>
          <p:nvPr/>
        </p:nvSpPr>
        <p:spPr>
          <a:xfrm>
            <a:off x="5669280" y="2651760"/>
            <a:ext cx="5760720" cy="54864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A question that changes how you measure success</a:t>
            </a:r>
            <a:endParaRPr lang="en-US" sz="1250" dirty="0"/>
          </a:p>
        </p:txBody>
      </p:sp>
      <p:sp>
        <p:nvSpPr>
          <p:cNvPr id="14" name="Shape 10"/>
          <p:cNvSpPr/>
          <p:nvPr/>
        </p:nvSpPr>
        <p:spPr>
          <a:xfrm>
            <a:off x="640080" y="3511296"/>
            <a:ext cx="640080" cy="640080"/>
          </a:xfrm>
          <a:prstGeom prst="ellipse">
            <a:avLst/>
          </a:prstGeom>
          <a:solidFill>
            <a:srgbClr val="121A33"/>
          </a:solidFill>
          <a:ln/>
        </p:spPr>
        <p:txBody>
          <a:bodyPr/>
          <a:lstStyle/>
          <a:p>
            <a:endParaRPr/>
          </a:p>
        </p:txBody>
      </p:sp>
      <p:pic>
        <p:nvPicPr>
          <p:cNvPr id="15" name="Image 2" descr="icons_route_00E5FF.png"/>
          <p:cNvPicPr>
            <a:picLocks noChangeAspect="1"/>
          </p:cNvPicPr>
          <p:nvPr/>
        </p:nvPicPr>
        <p:blipFill>
          <a:blip r:embed="rId5"/>
          <a:stretch>
            <a:fillRect/>
          </a:stretch>
        </p:blipFill>
        <p:spPr>
          <a:xfrm>
            <a:off x="793699" y="3664915"/>
            <a:ext cx="332842" cy="332842"/>
          </a:xfrm>
          <a:prstGeom prst="rect">
            <a:avLst/>
          </a:prstGeom>
        </p:spPr>
      </p:pic>
      <p:sp>
        <p:nvSpPr>
          <p:cNvPr id="16" name="Text 11"/>
          <p:cNvSpPr/>
          <p:nvPr/>
        </p:nvSpPr>
        <p:spPr>
          <a:xfrm>
            <a:off x="640080" y="3273552"/>
            <a:ext cx="640080" cy="256032"/>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3</a:t>
            </a:r>
            <a:endParaRPr lang="en-US" sz="1100" dirty="0"/>
          </a:p>
        </p:txBody>
      </p:sp>
      <p:sp>
        <p:nvSpPr>
          <p:cNvPr id="17" name="Text 12"/>
          <p:cNvSpPr/>
          <p:nvPr/>
        </p:nvSpPr>
        <p:spPr>
          <a:xfrm>
            <a:off x="1554480" y="3493008"/>
            <a:ext cx="4023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Follow the trust</a:t>
            </a:r>
            <a:endParaRPr lang="en-US" sz="1500" dirty="0"/>
          </a:p>
        </p:txBody>
      </p:sp>
      <p:sp>
        <p:nvSpPr>
          <p:cNvPr id="18" name="Text 13"/>
          <p:cNvSpPr/>
          <p:nvPr/>
        </p:nvSpPr>
        <p:spPr>
          <a:xfrm>
            <a:off x="5669280" y="3493008"/>
            <a:ext cx="5760720" cy="54864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Real attack chains across the modern enterprise</a:t>
            </a:r>
            <a:endParaRPr lang="en-US" sz="1250" dirty="0"/>
          </a:p>
        </p:txBody>
      </p:sp>
      <p:sp>
        <p:nvSpPr>
          <p:cNvPr id="19" name="Shape 14"/>
          <p:cNvSpPr/>
          <p:nvPr/>
        </p:nvSpPr>
        <p:spPr>
          <a:xfrm>
            <a:off x="640080" y="4352544"/>
            <a:ext cx="640080" cy="640080"/>
          </a:xfrm>
          <a:prstGeom prst="ellipse">
            <a:avLst/>
          </a:prstGeom>
          <a:solidFill>
            <a:srgbClr val="121A33"/>
          </a:solidFill>
          <a:ln/>
        </p:spPr>
        <p:txBody>
          <a:bodyPr/>
          <a:lstStyle/>
          <a:p>
            <a:endParaRPr/>
          </a:p>
        </p:txBody>
      </p:sp>
      <p:pic>
        <p:nvPicPr>
          <p:cNvPr id="20" name="Image 3" descr="icons_layers_00E5FF.png"/>
          <p:cNvPicPr>
            <a:picLocks noChangeAspect="1"/>
          </p:cNvPicPr>
          <p:nvPr/>
        </p:nvPicPr>
        <p:blipFill>
          <a:blip r:embed="rId6"/>
          <a:stretch>
            <a:fillRect/>
          </a:stretch>
        </p:blipFill>
        <p:spPr>
          <a:xfrm>
            <a:off x="793699" y="4506163"/>
            <a:ext cx="332842" cy="332842"/>
          </a:xfrm>
          <a:prstGeom prst="rect">
            <a:avLst/>
          </a:prstGeom>
        </p:spPr>
      </p:pic>
      <p:sp>
        <p:nvSpPr>
          <p:cNvPr id="21" name="Text 15"/>
          <p:cNvSpPr/>
          <p:nvPr/>
        </p:nvSpPr>
        <p:spPr>
          <a:xfrm>
            <a:off x="640080" y="4114800"/>
            <a:ext cx="640080" cy="256032"/>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4</a:t>
            </a:r>
            <a:endParaRPr lang="en-US" sz="1100" dirty="0"/>
          </a:p>
        </p:txBody>
      </p:sp>
      <p:sp>
        <p:nvSpPr>
          <p:cNvPr id="22" name="Text 16"/>
          <p:cNvSpPr/>
          <p:nvPr/>
        </p:nvSpPr>
        <p:spPr>
          <a:xfrm>
            <a:off x="1554480" y="4334256"/>
            <a:ext cx="4023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happens when you follow it</a:t>
            </a:r>
            <a:endParaRPr lang="en-US" sz="1500" dirty="0"/>
          </a:p>
        </p:txBody>
      </p:sp>
      <p:sp>
        <p:nvSpPr>
          <p:cNvPr id="23" name="Text 17"/>
          <p:cNvSpPr/>
          <p:nvPr/>
        </p:nvSpPr>
        <p:spPr>
          <a:xfrm>
            <a:off x="5669280" y="4334256"/>
            <a:ext cx="5760720" cy="54864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A composite compromise that never touches AD</a:t>
            </a:r>
            <a:endParaRPr lang="en-US" sz="1250" dirty="0"/>
          </a:p>
        </p:txBody>
      </p:sp>
      <p:sp>
        <p:nvSpPr>
          <p:cNvPr id="24" name="Shape 18"/>
          <p:cNvSpPr/>
          <p:nvPr/>
        </p:nvSpPr>
        <p:spPr>
          <a:xfrm>
            <a:off x="640080" y="5193792"/>
            <a:ext cx="640080" cy="640080"/>
          </a:xfrm>
          <a:prstGeom prst="ellipse">
            <a:avLst/>
          </a:prstGeom>
          <a:solidFill>
            <a:srgbClr val="121A33"/>
          </a:solidFill>
          <a:ln/>
        </p:spPr>
        <p:txBody>
          <a:bodyPr/>
          <a:lstStyle/>
          <a:p>
            <a:endParaRPr/>
          </a:p>
        </p:txBody>
      </p:sp>
      <p:pic>
        <p:nvPicPr>
          <p:cNvPr id="25" name="Image 4" descr="icons_tools_00E5FF.png"/>
          <p:cNvPicPr>
            <a:picLocks noChangeAspect="1"/>
          </p:cNvPicPr>
          <p:nvPr/>
        </p:nvPicPr>
        <p:blipFill>
          <a:blip r:embed="rId7"/>
          <a:stretch>
            <a:fillRect/>
          </a:stretch>
        </p:blipFill>
        <p:spPr>
          <a:xfrm>
            <a:off x="793699" y="5347411"/>
            <a:ext cx="332842" cy="332842"/>
          </a:xfrm>
          <a:prstGeom prst="rect">
            <a:avLst/>
          </a:prstGeom>
        </p:spPr>
      </p:pic>
      <p:sp>
        <p:nvSpPr>
          <p:cNvPr id="26" name="Text 19"/>
          <p:cNvSpPr/>
          <p:nvPr/>
        </p:nvSpPr>
        <p:spPr>
          <a:xfrm>
            <a:off x="640080" y="4956048"/>
            <a:ext cx="640080" cy="256032"/>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5</a:t>
            </a:r>
            <a:endParaRPr lang="en-US" sz="1100" dirty="0"/>
          </a:p>
        </p:txBody>
      </p:sp>
      <p:sp>
        <p:nvSpPr>
          <p:cNvPr id="27" name="Text 20"/>
          <p:cNvSpPr/>
          <p:nvPr/>
        </p:nvSpPr>
        <p:spPr>
          <a:xfrm>
            <a:off x="1554480" y="5175504"/>
            <a:ext cx="4023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new way to measure compromise</a:t>
            </a:r>
            <a:endParaRPr lang="en-US" sz="1500" dirty="0"/>
          </a:p>
        </p:txBody>
      </p:sp>
      <p:sp>
        <p:nvSpPr>
          <p:cNvPr id="28" name="Text 21"/>
          <p:cNvSpPr/>
          <p:nvPr/>
        </p:nvSpPr>
        <p:spPr>
          <a:xfrm>
            <a:off x="5669280" y="5175504"/>
            <a:ext cx="5760720" cy="54864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Reach, blast radius, and a practical framework</a:t>
            </a:r>
            <a:endParaRPr lang="en-US" sz="1250" dirty="0"/>
          </a:p>
        </p:txBody>
      </p:sp>
      <p:sp>
        <p:nvSpPr>
          <p:cNvPr id="29" name="Text 2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57E7341-E24D-4BC7-B8CF-4F7712D40D42}"/>
              </a:ext>
            </a:extLst>
          </p:cNvPr>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FOR TWENTY YEARS</a:t>
            </a:r>
            <a:endParaRPr lang="en-US" sz="1300" dirty="0"/>
          </a:p>
        </p:txBody>
      </p:sp>
      <p:sp>
        <p:nvSpPr>
          <p:cNvPr id="3" name="Text 1">
            <a:extLst>
              <a:ext uri="{FF2B5EF4-FFF2-40B4-BE49-F238E27FC236}">
                <a16:creationId xmlns:a16="http://schemas.microsoft.com/office/drawing/2014/main" id="{A3E54585-A6DC-4293-82B7-3F2CB2567ADB}"/>
              </a:ext>
            </a:extLst>
          </p:cNvPr>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pentester's finish line</a:t>
            </a:r>
            <a:endParaRPr lang="en-US" sz="3200" dirty="0"/>
          </a:p>
        </p:txBody>
      </p:sp>
      <p:sp>
        <p:nvSpPr>
          <p:cNvPr id="4" name="Shape 2">
            <a:extLst>
              <a:ext uri="{FF2B5EF4-FFF2-40B4-BE49-F238E27FC236}">
                <a16:creationId xmlns:a16="http://schemas.microsoft.com/office/drawing/2014/main" id="{5B855765-E08F-4412-A6C4-939708C02EE4}"/>
              </a:ext>
            </a:extLst>
          </p:cNvPr>
          <p:cNvSpPr/>
          <p:nvPr/>
        </p:nvSpPr>
        <p:spPr>
          <a:xfrm>
            <a:off x="3261208" y="1965960"/>
            <a:ext cx="5669280" cy="658368"/>
          </a:xfrm>
          <a:prstGeom prst="roundRect">
            <a:avLst>
              <a:gd name="adj" fmla="val 13889"/>
            </a:avLst>
          </a:prstGeom>
          <a:solidFill>
            <a:srgbClr val="121A33"/>
          </a:solidFill>
          <a:ln w="12700">
            <a:solidFill>
              <a:srgbClr val="16204A"/>
            </a:solidFill>
            <a:prstDash val="solid"/>
          </a:ln>
        </p:spPr>
      </p:sp>
      <p:sp>
        <p:nvSpPr>
          <p:cNvPr id="5" name="Text 3">
            <a:extLst>
              <a:ext uri="{FF2B5EF4-FFF2-40B4-BE49-F238E27FC236}">
                <a16:creationId xmlns:a16="http://schemas.microsoft.com/office/drawing/2014/main" id="{49442AC0-E5BF-40FF-ADF7-8EFAA7EA2895}"/>
              </a:ext>
            </a:extLst>
          </p:cNvPr>
          <p:cNvSpPr/>
          <p:nvPr/>
        </p:nvSpPr>
        <p:spPr>
          <a:xfrm>
            <a:off x="3261208" y="1965960"/>
            <a:ext cx="566928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LOW PRIVILEGE</a:t>
            </a:r>
            <a:endParaRPr lang="en-US" sz="1600" dirty="0"/>
          </a:p>
        </p:txBody>
      </p:sp>
      <p:sp>
        <p:nvSpPr>
          <p:cNvPr id="6" name="Shape 4">
            <a:extLst>
              <a:ext uri="{FF2B5EF4-FFF2-40B4-BE49-F238E27FC236}">
                <a16:creationId xmlns:a16="http://schemas.microsoft.com/office/drawing/2014/main" id="{1405946F-AFF4-4F3F-B0B7-76EA6A18A0FC}"/>
              </a:ext>
            </a:extLst>
          </p:cNvPr>
          <p:cNvSpPr/>
          <p:nvPr/>
        </p:nvSpPr>
        <p:spPr>
          <a:xfrm>
            <a:off x="5976976" y="2651760"/>
            <a:ext cx="237744" cy="265176"/>
          </a:xfrm>
          <a:prstGeom prst="downArrow">
            <a:avLst/>
          </a:prstGeom>
          <a:solidFill>
            <a:srgbClr val="7C5CFC"/>
          </a:solidFill>
          <a:ln/>
        </p:spPr>
      </p:sp>
      <p:sp>
        <p:nvSpPr>
          <p:cNvPr id="7" name="Shape 5">
            <a:extLst>
              <a:ext uri="{FF2B5EF4-FFF2-40B4-BE49-F238E27FC236}">
                <a16:creationId xmlns:a16="http://schemas.microsoft.com/office/drawing/2014/main" id="{BE6E85FE-9A2D-4557-AE02-23545A0844C0}"/>
              </a:ext>
            </a:extLst>
          </p:cNvPr>
          <p:cNvSpPr/>
          <p:nvPr/>
        </p:nvSpPr>
        <p:spPr>
          <a:xfrm>
            <a:off x="3261208" y="2944368"/>
            <a:ext cx="5669280" cy="658368"/>
          </a:xfrm>
          <a:prstGeom prst="roundRect">
            <a:avLst>
              <a:gd name="adj" fmla="val 13889"/>
            </a:avLst>
          </a:prstGeom>
          <a:solidFill>
            <a:srgbClr val="121A33"/>
          </a:solidFill>
          <a:ln w="12700">
            <a:solidFill>
              <a:srgbClr val="16204A"/>
            </a:solidFill>
            <a:prstDash val="solid"/>
          </a:ln>
        </p:spPr>
      </p:sp>
      <p:sp>
        <p:nvSpPr>
          <p:cNvPr id="8" name="Text 6">
            <a:extLst>
              <a:ext uri="{FF2B5EF4-FFF2-40B4-BE49-F238E27FC236}">
                <a16:creationId xmlns:a16="http://schemas.microsoft.com/office/drawing/2014/main" id="{A7F244BC-5668-485D-BC48-22CA77CAACA6}"/>
              </a:ext>
            </a:extLst>
          </p:cNvPr>
          <p:cNvSpPr/>
          <p:nvPr/>
        </p:nvSpPr>
        <p:spPr>
          <a:xfrm>
            <a:off x="3261208" y="2944368"/>
            <a:ext cx="566928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LOCAL ADMIN</a:t>
            </a:r>
            <a:endParaRPr lang="en-US" sz="1600" dirty="0"/>
          </a:p>
        </p:txBody>
      </p:sp>
      <p:sp>
        <p:nvSpPr>
          <p:cNvPr id="9" name="Shape 7">
            <a:extLst>
              <a:ext uri="{FF2B5EF4-FFF2-40B4-BE49-F238E27FC236}">
                <a16:creationId xmlns:a16="http://schemas.microsoft.com/office/drawing/2014/main" id="{2EEE5B8C-8822-4E5A-8ECE-4B0A74CCE5BA}"/>
              </a:ext>
            </a:extLst>
          </p:cNvPr>
          <p:cNvSpPr/>
          <p:nvPr/>
        </p:nvSpPr>
        <p:spPr>
          <a:xfrm>
            <a:off x="5976976" y="3630168"/>
            <a:ext cx="237744" cy="265176"/>
          </a:xfrm>
          <a:prstGeom prst="downArrow">
            <a:avLst/>
          </a:prstGeom>
          <a:solidFill>
            <a:srgbClr val="7C5CFC"/>
          </a:solidFill>
          <a:ln/>
        </p:spPr>
      </p:sp>
      <p:sp>
        <p:nvSpPr>
          <p:cNvPr id="10" name="Shape 8">
            <a:extLst>
              <a:ext uri="{FF2B5EF4-FFF2-40B4-BE49-F238E27FC236}">
                <a16:creationId xmlns:a16="http://schemas.microsoft.com/office/drawing/2014/main" id="{0FE58ECD-81AE-4FEE-B470-4064288AF7D2}"/>
              </a:ext>
            </a:extLst>
          </p:cNvPr>
          <p:cNvSpPr/>
          <p:nvPr/>
        </p:nvSpPr>
        <p:spPr>
          <a:xfrm>
            <a:off x="3261208" y="3922776"/>
            <a:ext cx="5669280" cy="658368"/>
          </a:xfrm>
          <a:prstGeom prst="roundRect">
            <a:avLst>
              <a:gd name="adj" fmla="val 13889"/>
            </a:avLst>
          </a:prstGeom>
          <a:solidFill>
            <a:srgbClr val="121A33"/>
          </a:solidFill>
          <a:ln w="12700">
            <a:solidFill>
              <a:srgbClr val="16204A"/>
            </a:solidFill>
            <a:prstDash val="solid"/>
          </a:ln>
        </p:spPr>
      </p:sp>
      <p:sp>
        <p:nvSpPr>
          <p:cNvPr id="11" name="Text 9">
            <a:extLst>
              <a:ext uri="{FF2B5EF4-FFF2-40B4-BE49-F238E27FC236}">
                <a16:creationId xmlns:a16="http://schemas.microsoft.com/office/drawing/2014/main" id="{302AC96D-0333-49DA-ADA3-09DB8140862D}"/>
              </a:ext>
            </a:extLst>
          </p:cNvPr>
          <p:cNvSpPr/>
          <p:nvPr/>
        </p:nvSpPr>
        <p:spPr>
          <a:xfrm>
            <a:off x="3261208" y="3922776"/>
            <a:ext cx="566928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DOMAIN ADMIN</a:t>
            </a:r>
            <a:endParaRPr lang="en-US" sz="1600" dirty="0"/>
          </a:p>
        </p:txBody>
      </p:sp>
      <p:sp>
        <p:nvSpPr>
          <p:cNvPr id="12" name="Shape 10">
            <a:extLst>
              <a:ext uri="{FF2B5EF4-FFF2-40B4-BE49-F238E27FC236}">
                <a16:creationId xmlns:a16="http://schemas.microsoft.com/office/drawing/2014/main" id="{C91AB735-3864-4C3E-9572-8C287A8E8F8D}"/>
              </a:ext>
            </a:extLst>
          </p:cNvPr>
          <p:cNvSpPr/>
          <p:nvPr/>
        </p:nvSpPr>
        <p:spPr>
          <a:xfrm>
            <a:off x="5976976" y="4608576"/>
            <a:ext cx="237744" cy="265176"/>
          </a:xfrm>
          <a:prstGeom prst="downArrow">
            <a:avLst/>
          </a:prstGeom>
          <a:solidFill>
            <a:srgbClr val="7C5CFC"/>
          </a:solidFill>
          <a:ln/>
        </p:spPr>
      </p:sp>
      <p:sp>
        <p:nvSpPr>
          <p:cNvPr id="13" name="Shape 11">
            <a:extLst>
              <a:ext uri="{FF2B5EF4-FFF2-40B4-BE49-F238E27FC236}">
                <a16:creationId xmlns:a16="http://schemas.microsoft.com/office/drawing/2014/main" id="{6979C401-71D7-44AC-B5DF-98D501D3C07C}"/>
              </a:ext>
            </a:extLst>
          </p:cNvPr>
          <p:cNvSpPr/>
          <p:nvPr/>
        </p:nvSpPr>
        <p:spPr>
          <a:xfrm>
            <a:off x="3261208" y="4901184"/>
            <a:ext cx="5669280" cy="658368"/>
          </a:xfrm>
          <a:prstGeom prst="roundRect">
            <a:avLst>
              <a:gd name="adj" fmla="val 13889"/>
            </a:avLst>
          </a:prstGeom>
          <a:solidFill>
            <a:srgbClr val="FF5C7A"/>
          </a:solidFill>
          <a:ln w="19050">
            <a:solidFill>
              <a:srgbClr val="FF5C7A"/>
            </a:solidFill>
            <a:prstDash val="solid"/>
          </a:ln>
        </p:spPr>
      </p:sp>
      <p:sp>
        <p:nvSpPr>
          <p:cNvPr id="14" name="Text 12">
            <a:extLst>
              <a:ext uri="{FF2B5EF4-FFF2-40B4-BE49-F238E27FC236}">
                <a16:creationId xmlns:a16="http://schemas.microsoft.com/office/drawing/2014/main" id="{86EB7CAF-E23A-4059-95F3-480C59346827}"/>
              </a:ext>
            </a:extLst>
          </p:cNvPr>
          <p:cNvSpPr/>
          <p:nvPr/>
        </p:nvSpPr>
        <p:spPr>
          <a:xfrm>
            <a:off x="3261208" y="4901184"/>
            <a:ext cx="566928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GAME OVER</a:t>
            </a:r>
            <a:endParaRPr lang="en-US" sz="1600" dirty="0"/>
          </a:p>
        </p:txBody>
      </p:sp>
      <p:sp>
        <p:nvSpPr>
          <p:cNvPr id="15" name="Text 13">
            <a:extLst>
              <a:ext uri="{FF2B5EF4-FFF2-40B4-BE49-F238E27FC236}">
                <a16:creationId xmlns:a16="http://schemas.microsoft.com/office/drawing/2014/main" id="{93A13F14-9FFF-4B4E-89B3-C057701BAE77}"/>
              </a:ext>
            </a:extLst>
          </p:cNvPr>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05</a:t>
            </a:r>
            <a:endParaRPr lang="en-US" sz="1000" dirty="0"/>
          </a:p>
        </p:txBody>
      </p:sp>
    </p:spTree>
    <p:extLst>
      <p:ext uri="{BB962C8B-B14F-4D97-AF65-F5344CB8AC3E}">
        <p14:creationId xmlns:p14="http://schemas.microsoft.com/office/powerpoint/2010/main" val="4258860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SOUND FAMILIAR?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path we've all drawn in BloodHound</a:t>
            </a:r>
            <a:endParaRPr lang="en-US" sz="3200" dirty="0"/>
          </a:p>
        </p:txBody>
      </p:sp>
      <p:sp>
        <p:nvSpPr>
          <p:cNvPr id="4" name="Shape 2"/>
          <p:cNvSpPr/>
          <p:nvPr/>
        </p:nvSpPr>
        <p:spPr>
          <a:xfrm flipV="1">
            <a:off x="1691640" y="3520440"/>
            <a:ext cx="2377440" cy="1188720"/>
          </a:xfrm>
          <a:prstGeom prst="line">
            <a:avLst/>
          </a:prstGeom>
          <a:noFill/>
          <a:ln w="25400">
            <a:solidFill>
              <a:srgbClr val="7C5CFC"/>
            </a:solidFill>
            <a:prstDash val="solid"/>
          </a:ln>
        </p:spPr>
        <p:txBody>
          <a:bodyPr/>
          <a:lstStyle/>
          <a:p>
            <a:endParaRPr/>
          </a:p>
        </p:txBody>
      </p:sp>
      <p:sp>
        <p:nvSpPr>
          <p:cNvPr id="5" name="Shape 3"/>
          <p:cNvSpPr/>
          <p:nvPr/>
        </p:nvSpPr>
        <p:spPr>
          <a:xfrm>
            <a:off x="4069080" y="3520440"/>
            <a:ext cx="2377440" cy="1188720"/>
          </a:xfrm>
          <a:prstGeom prst="line">
            <a:avLst/>
          </a:prstGeom>
          <a:noFill/>
          <a:ln w="25400">
            <a:solidFill>
              <a:srgbClr val="7C5CFC"/>
            </a:solidFill>
            <a:prstDash val="solid"/>
          </a:ln>
        </p:spPr>
        <p:txBody>
          <a:bodyPr/>
          <a:lstStyle/>
          <a:p>
            <a:endParaRPr/>
          </a:p>
        </p:txBody>
      </p:sp>
      <p:sp>
        <p:nvSpPr>
          <p:cNvPr id="6" name="Shape 4"/>
          <p:cNvSpPr/>
          <p:nvPr/>
        </p:nvSpPr>
        <p:spPr>
          <a:xfrm flipV="1">
            <a:off x="6446520" y="3520440"/>
            <a:ext cx="2377440" cy="1188720"/>
          </a:xfrm>
          <a:prstGeom prst="line">
            <a:avLst/>
          </a:prstGeom>
          <a:noFill/>
          <a:ln w="25400">
            <a:solidFill>
              <a:srgbClr val="7C5CFC"/>
            </a:solidFill>
            <a:prstDash val="solid"/>
          </a:ln>
        </p:spPr>
        <p:txBody>
          <a:bodyPr/>
          <a:lstStyle/>
          <a:p>
            <a:endParaRPr/>
          </a:p>
        </p:txBody>
      </p:sp>
      <p:sp>
        <p:nvSpPr>
          <p:cNvPr id="7" name="Shape 5"/>
          <p:cNvSpPr/>
          <p:nvPr/>
        </p:nvSpPr>
        <p:spPr>
          <a:xfrm>
            <a:off x="8823960" y="3520440"/>
            <a:ext cx="2194560" cy="1188720"/>
          </a:xfrm>
          <a:prstGeom prst="line">
            <a:avLst/>
          </a:prstGeom>
          <a:noFill/>
          <a:ln w="25400">
            <a:solidFill>
              <a:srgbClr val="7C5CFC"/>
            </a:solidFill>
            <a:prstDash val="solid"/>
          </a:ln>
        </p:spPr>
        <p:txBody>
          <a:bodyPr/>
          <a:lstStyle/>
          <a:p>
            <a:endParaRPr/>
          </a:p>
        </p:txBody>
      </p:sp>
      <p:sp>
        <p:nvSpPr>
          <p:cNvPr id="8" name="Shape 6"/>
          <p:cNvSpPr/>
          <p:nvPr/>
        </p:nvSpPr>
        <p:spPr>
          <a:xfrm>
            <a:off x="1188720" y="4206240"/>
            <a:ext cx="1005840" cy="1005840"/>
          </a:xfrm>
          <a:prstGeom prst="ellipse">
            <a:avLst/>
          </a:prstGeom>
          <a:solidFill>
            <a:srgbClr val="121A33"/>
          </a:solidFill>
          <a:ln w="15240">
            <a:solidFill>
              <a:srgbClr val="00E5FF"/>
            </a:solidFill>
            <a:prstDash val="solid"/>
          </a:ln>
        </p:spPr>
        <p:txBody>
          <a:bodyPr/>
          <a:lstStyle/>
          <a:p>
            <a:endParaRPr/>
          </a:p>
        </p:txBody>
      </p:sp>
      <p:pic>
        <p:nvPicPr>
          <p:cNvPr id="9" name="Image 0" descr="icons_usershield_00E5FF.png"/>
          <p:cNvPicPr>
            <a:picLocks noChangeAspect="1"/>
          </p:cNvPicPr>
          <p:nvPr/>
        </p:nvPicPr>
        <p:blipFill>
          <a:blip r:embed="rId3"/>
          <a:stretch>
            <a:fillRect/>
          </a:stretch>
        </p:blipFill>
        <p:spPr>
          <a:xfrm>
            <a:off x="1435608" y="4453128"/>
            <a:ext cx="512064" cy="512064"/>
          </a:xfrm>
          <a:prstGeom prst="rect">
            <a:avLst/>
          </a:prstGeom>
        </p:spPr>
      </p:pic>
      <p:sp>
        <p:nvSpPr>
          <p:cNvPr id="10" name="Text 7"/>
          <p:cNvSpPr/>
          <p:nvPr/>
        </p:nvSpPr>
        <p:spPr>
          <a:xfrm>
            <a:off x="777240" y="5257800"/>
            <a:ext cx="182880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Low-priv</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11" name="Shape 8"/>
          <p:cNvSpPr/>
          <p:nvPr/>
        </p:nvSpPr>
        <p:spPr>
          <a:xfrm>
            <a:off x="3566160" y="3017520"/>
            <a:ext cx="1005840" cy="1005840"/>
          </a:xfrm>
          <a:prstGeom prst="ellipse">
            <a:avLst/>
          </a:prstGeom>
          <a:solidFill>
            <a:srgbClr val="121A33"/>
          </a:solidFill>
          <a:ln w="15240">
            <a:solidFill>
              <a:srgbClr val="00E5FF"/>
            </a:solidFill>
            <a:prstDash val="solid"/>
          </a:ln>
        </p:spPr>
        <p:txBody>
          <a:bodyPr/>
          <a:lstStyle/>
          <a:p>
            <a:endParaRPr/>
          </a:p>
        </p:txBody>
      </p:sp>
      <p:pic>
        <p:nvPicPr>
          <p:cNvPr id="12" name="Image 1" descr="icons_laptop_00E5FF.png"/>
          <p:cNvPicPr>
            <a:picLocks noChangeAspect="1"/>
          </p:cNvPicPr>
          <p:nvPr/>
        </p:nvPicPr>
        <p:blipFill>
          <a:blip r:embed="rId4"/>
          <a:stretch>
            <a:fillRect/>
          </a:stretch>
        </p:blipFill>
        <p:spPr>
          <a:xfrm>
            <a:off x="3813048" y="3264408"/>
            <a:ext cx="512064" cy="512064"/>
          </a:xfrm>
          <a:prstGeom prst="rect">
            <a:avLst/>
          </a:prstGeom>
        </p:spPr>
      </p:pic>
      <p:sp>
        <p:nvSpPr>
          <p:cNvPr id="13" name="Text 9"/>
          <p:cNvSpPr/>
          <p:nvPr/>
        </p:nvSpPr>
        <p:spPr>
          <a:xfrm>
            <a:off x="3154680" y="4069080"/>
            <a:ext cx="182880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Local admin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via GPP/creds</a:t>
            </a:r>
            <a:endParaRPr lang="en-US" sz="1100" dirty="0"/>
          </a:p>
        </p:txBody>
      </p:sp>
      <p:sp>
        <p:nvSpPr>
          <p:cNvPr id="14" name="Shape 10"/>
          <p:cNvSpPr/>
          <p:nvPr/>
        </p:nvSpPr>
        <p:spPr>
          <a:xfrm>
            <a:off x="5943600" y="4206240"/>
            <a:ext cx="1005840" cy="1005840"/>
          </a:xfrm>
          <a:prstGeom prst="ellipse">
            <a:avLst/>
          </a:prstGeom>
          <a:solidFill>
            <a:srgbClr val="121A33"/>
          </a:solidFill>
          <a:ln w="15240">
            <a:solidFill>
              <a:srgbClr val="00E5FF"/>
            </a:solidFill>
            <a:prstDash val="solid"/>
          </a:ln>
        </p:spPr>
        <p:txBody>
          <a:bodyPr/>
          <a:lstStyle/>
          <a:p>
            <a:endParaRPr/>
          </a:p>
        </p:txBody>
      </p:sp>
      <p:pic>
        <p:nvPicPr>
          <p:cNvPr id="15" name="Image 2" descr="icons_exchange_00E5FF.png"/>
          <p:cNvPicPr>
            <a:picLocks noChangeAspect="1"/>
          </p:cNvPicPr>
          <p:nvPr/>
        </p:nvPicPr>
        <p:blipFill>
          <a:blip r:embed="rId5"/>
          <a:stretch>
            <a:fillRect/>
          </a:stretch>
        </p:blipFill>
        <p:spPr>
          <a:xfrm>
            <a:off x="6190488" y="4453128"/>
            <a:ext cx="512064" cy="512064"/>
          </a:xfrm>
          <a:prstGeom prst="rect">
            <a:avLst/>
          </a:prstGeom>
        </p:spPr>
      </p:pic>
      <p:sp>
        <p:nvSpPr>
          <p:cNvPr id="16" name="Text 11"/>
          <p:cNvSpPr/>
          <p:nvPr/>
        </p:nvSpPr>
        <p:spPr>
          <a:xfrm>
            <a:off x="5532120" y="5257800"/>
            <a:ext cx="182880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Unconstrained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delegation</a:t>
            </a:r>
            <a:endParaRPr lang="en-US" sz="1100" dirty="0"/>
          </a:p>
        </p:txBody>
      </p:sp>
      <p:sp>
        <p:nvSpPr>
          <p:cNvPr id="17" name="Shape 12"/>
          <p:cNvSpPr/>
          <p:nvPr/>
        </p:nvSpPr>
        <p:spPr>
          <a:xfrm>
            <a:off x="8321040" y="3017520"/>
            <a:ext cx="1005840" cy="1005840"/>
          </a:xfrm>
          <a:prstGeom prst="ellipse">
            <a:avLst/>
          </a:prstGeom>
          <a:solidFill>
            <a:srgbClr val="121A33"/>
          </a:solidFill>
          <a:ln w="15240">
            <a:solidFill>
              <a:srgbClr val="00E5FF"/>
            </a:solidFill>
            <a:prstDash val="solid"/>
          </a:ln>
        </p:spPr>
        <p:txBody>
          <a:bodyPr/>
          <a:lstStyle/>
          <a:p>
            <a:endParaRPr/>
          </a:p>
        </p:txBody>
      </p:sp>
      <p:pic>
        <p:nvPicPr>
          <p:cNvPr id="18" name="Image 3" descr="icons_server_00E5FF.png"/>
          <p:cNvPicPr>
            <a:picLocks noChangeAspect="1"/>
          </p:cNvPicPr>
          <p:nvPr/>
        </p:nvPicPr>
        <p:blipFill>
          <a:blip r:embed="rId6"/>
          <a:stretch>
            <a:fillRect/>
          </a:stretch>
        </p:blipFill>
        <p:spPr>
          <a:xfrm>
            <a:off x="8567928" y="3264408"/>
            <a:ext cx="512064" cy="512064"/>
          </a:xfrm>
          <a:prstGeom prst="rect">
            <a:avLst/>
          </a:prstGeom>
        </p:spPr>
      </p:pic>
      <p:sp>
        <p:nvSpPr>
          <p:cNvPr id="19" name="Text 13"/>
          <p:cNvSpPr/>
          <p:nvPr/>
        </p:nvSpPr>
        <p:spPr>
          <a:xfrm>
            <a:off x="7909560" y="4069080"/>
            <a:ext cx="182880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DCSync</a:t>
            </a:r>
            <a:endParaRPr lang="en-US" sz="1100" dirty="0"/>
          </a:p>
        </p:txBody>
      </p:sp>
      <p:sp>
        <p:nvSpPr>
          <p:cNvPr id="20" name="Shape 14"/>
          <p:cNvSpPr/>
          <p:nvPr/>
        </p:nvSpPr>
        <p:spPr>
          <a:xfrm>
            <a:off x="10515600" y="4206240"/>
            <a:ext cx="1005840" cy="1005840"/>
          </a:xfrm>
          <a:prstGeom prst="ellipse">
            <a:avLst/>
          </a:prstGeom>
          <a:solidFill>
            <a:srgbClr val="FF5C7A"/>
          </a:solidFill>
          <a:ln w="15240">
            <a:solidFill>
              <a:srgbClr val="FF5C7A"/>
            </a:solidFill>
            <a:prstDash val="solid"/>
          </a:ln>
        </p:spPr>
        <p:txBody>
          <a:bodyPr/>
          <a:lstStyle/>
          <a:p>
            <a:endParaRPr/>
          </a:p>
        </p:txBody>
      </p:sp>
      <p:pic>
        <p:nvPicPr>
          <p:cNvPr id="21" name="Image 4" descr="icons_skull_FFFFFF.png"/>
          <p:cNvPicPr>
            <a:picLocks noChangeAspect="1"/>
          </p:cNvPicPr>
          <p:nvPr/>
        </p:nvPicPr>
        <p:blipFill>
          <a:blip r:embed="rId7"/>
          <a:stretch>
            <a:fillRect/>
          </a:stretch>
        </p:blipFill>
        <p:spPr>
          <a:xfrm>
            <a:off x="10762488" y="4453128"/>
            <a:ext cx="512064" cy="512064"/>
          </a:xfrm>
          <a:prstGeom prst="rect">
            <a:avLst/>
          </a:prstGeom>
        </p:spPr>
      </p:pic>
      <p:sp>
        <p:nvSpPr>
          <p:cNvPr id="22" name="Text 15"/>
          <p:cNvSpPr/>
          <p:nvPr/>
        </p:nvSpPr>
        <p:spPr>
          <a:xfrm>
            <a:off x="10104120" y="5257800"/>
            <a:ext cx="182880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23" name="Text 16"/>
          <p:cNvSpPr/>
          <p:nvPr/>
        </p:nvSpPr>
        <p:spPr>
          <a:xfrm>
            <a:off x="640080" y="5760720"/>
            <a:ext cx="10881360" cy="457200"/>
          </a:xfrm>
          <a:prstGeom prst="rect">
            <a:avLst/>
          </a:prstGeom>
          <a:noFill/>
          <a:ln/>
        </p:spPr>
        <p:txBody>
          <a:bodyPr wrap="square" rtlCol="0" anchor="ctr"/>
          <a:lstStyle/>
          <a:p>
            <a:pPr marL="0" indent="0" algn="ctr">
              <a:buNone/>
            </a:pPr>
            <a:r>
              <a:rPr lang="en-US" sz="1450" i="1" dirty="0">
                <a:solidFill>
                  <a:srgbClr val="8E9BC0"/>
                </a:solidFill>
                <a:latin typeface="Calibri" pitchFamily="34" charset="0"/>
                <a:ea typeface="Calibri" pitchFamily="34" charset="-122"/>
                <a:cs typeface="Calibri" pitchFamily="34" charset="-120"/>
              </a:rPr>
              <a:t>Five hops. One well-worn methodology. A predictable, defensible objective.</a:t>
            </a:r>
            <a:endParaRPr lang="en-US" sz="1450" dirty="0"/>
          </a:p>
        </p:txBody>
      </p:sp>
      <p:sp>
        <p:nvSpPr>
          <p:cNvPr id="24"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377440"/>
            <a:ext cx="10515600" cy="2011680"/>
          </a:xfrm>
          <a:prstGeom prst="rect">
            <a:avLst/>
          </a:prstGeom>
          <a:noFill/>
          <a:ln/>
        </p:spPr>
        <p:txBody>
          <a:bodyPr wrap="square" rtlCol="0" anchor="ctr"/>
          <a:lstStyle/>
          <a:p>
            <a:pPr marL="0" indent="0" algn="ctr">
              <a:buNone/>
            </a:pPr>
            <a:r>
              <a:rPr lang="en-US" sz="4600" b="1" dirty="0">
                <a:solidFill>
                  <a:srgbClr val="FF5C7A"/>
                </a:solidFill>
                <a:latin typeface="Cambria" pitchFamily="34" charset="0"/>
                <a:ea typeface="Cambria" pitchFamily="34" charset="-122"/>
                <a:cs typeface="Cambria" pitchFamily="34" charset="-120"/>
              </a:rPr>
              <a:t>BUT WHAT IF</a:t>
            </a:r>
            <a:endParaRPr lang="en-US" sz="4600" dirty="0"/>
          </a:p>
          <a:p>
            <a:pPr marL="0" indent="0" algn="ctr">
              <a:buNone/>
            </a:pPr>
            <a:r>
              <a:rPr lang="en-US" sz="4600" b="1" dirty="0">
                <a:solidFill>
                  <a:srgbClr val="FF5C7A"/>
                </a:solidFill>
                <a:latin typeface="Cambria" pitchFamily="34" charset="0"/>
                <a:ea typeface="Cambria" pitchFamily="34" charset="-122"/>
                <a:cs typeface="Cambria" pitchFamily="34" charset="-120"/>
              </a:rPr>
              <a:t>THE GAME IS WRONG?</a:t>
            </a:r>
            <a:endParaRPr lang="en-US" sz="4600" dirty="0"/>
          </a:p>
        </p:txBody>
      </p:sp>
      <p:sp>
        <p:nvSpPr>
          <p:cNvPr id="3" name="Text 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Shape 10"/>
          <p:cNvSpPr/>
          <p:nvPr/>
        </p:nvSpPr>
        <p:spPr>
          <a:xfrm>
            <a:off x="822960" y="1463040"/>
            <a:ext cx="822960" cy="822960"/>
          </a:xfrm>
          <a:prstGeom prst="ellipse">
            <a:avLst/>
          </a:prstGeom>
          <a:solidFill>
            <a:srgbClr val="0A0F1F"/>
          </a:solidFill>
          <a:ln/>
        </p:spPr>
        <p:txBody>
          <a:bodyPr/>
          <a:lstStyle/>
          <a:p>
            <a:endParaRPr/>
          </a:p>
        </p:txBody>
      </p:sp>
      <p:pic>
        <p:nvPicPr>
          <p:cNvPr id="13" name="Image 0" descr="icons_quote_7C5CFC.png"/>
          <p:cNvPicPr>
            <a:picLocks noChangeAspect="1"/>
          </p:cNvPicPr>
          <p:nvPr/>
        </p:nvPicPr>
        <p:blipFill>
          <a:blip r:embed="rId3"/>
          <a:stretch>
            <a:fillRect/>
          </a:stretch>
        </p:blipFill>
        <p:spPr>
          <a:xfrm>
            <a:off x="1020470" y="1660550"/>
            <a:ext cx="427939" cy="427939"/>
          </a:xfrm>
          <a:prstGeom prst="rect">
            <a:avLst/>
          </a:prstGeom>
        </p:spPr>
      </p:pic>
      <p:sp>
        <p:nvSpPr>
          <p:cNvPr id="14" name="Text 11"/>
          <p:cNvSpPr/>
          <p:nvPr/>
        </p:nvSpPr>
        <p:spPr>
          <a:xfrm>
            <a:off x="1097280" y="2468880"/>
            <a:ext cx="9966960" cy="1828800"/>
          </a:xfrm>
          <a:prstGeom prst="rect">
            <a:avLst/>
          </a:prstGeom>
          <a:noFill/>
          <a:ln/>
        </p:spPr>
        <p:txBody>
          <a:bodyPr wrap="square" rtlCol="0" anchor="ctr"/>
          <a:lstStyle/>
          <a:p>
            <a:pPr marL="0" indent="0" algn="l">
              <a:buNone/>
            </a:pPr>
            <a:r>
              <a:rPr lang="en-US" sz="2700" b="1" i="1" dirty="0">
                <a:solidFill>
                  <a:srgbClr val="FFFFFF"/>
                </a:solidFill>
                <a:latin typeface="Cambria" pitchFamily="34" charset="0"/>
                <a:ea typeface="Cambria" pitchFamily="34" charset="-122"/>
                <a:cs typeface="Cambria" pitchFamily="34" charset="-120"/>
              </a:rPr>
              <a:t>“We got Domain Admin in four hours...</a:t>
            </a:r>
            <a:endParaRPr lang="en-US" sz="2700" dirty="0"/>
          </a:p>
          <a:p>
            <a:pPr marL="0" indent="0" algn="l">
              <a:buNone/>
            </a:pPr>
            <a:r>
              <a:rPr lang="en-US" sz="2700" b="1" i="1" dirty="0">
                <a:solidFill>
                  <a:srgbClr val="FFFFFF"/>
                </a:solidFill>
                <a:latin typeface="Cambria" pitchFamily="34" charset="0"/>
                <a:ea typeface="Cambria" pitchFamily="34" charset="-122"/>
                <a:cs typeface="Cambria" pitchFamily="34" charset="-120"/>
              </a:rPr>
              <a:t>but the client's actual crown jewels lived</a:t>
            </a:r>
            <a:endParaRPr lang="en-US" sz="2700" dirty="0"/>
          </a:p>
          <a:p>
            <a:pPr marL="0" indent="0" algn="l">
              <a:buNone/>
            </a:pPr>
            <a:r>
              <a:rPr lang="en-US" sz="2700" b="1" i="1" dirty="0">
                <a:solidFill>
                  <a:srgbClr val="FFFFFF"/>
                </a:solidFill>
                <a:latin typeface="Cambria" pitchFamily="34" charset="0"/>
                <a:ea typeface="Cambria" pitchFamily="34" charset="-122"/>
                <a:cs typeface="Cambria" pitchFamily="34" charset="-120"/>
              </a:rPr>
              <a:t>in a SaaS platform we never touched.”</a:t>
            </a:r>
            <a:endParaRPr lang="en-US" sz="2700" dirty="0"/>
          </a:p>
        </p:txBody>
      </p:sp>
      <p:sp>
        <p:nvSpPr>
          <p:cNvPr id="15" name="Text 12"/>
          <p:cNvSpPr/>
          <p:nvPr/>
        </p:nvSpPr>
        <p:spPr>
          <a:xfrm>
            <a:off x="1097280" y="4434840"/>
            <a:ext cx="9144000" cy="548640"/>
          </a:xfrm>
          <a:prstGeom prst="rect">
            <a:avLst/>
          </a:prstGeom>
          <a:noFill/>
          <a:ln/>
        </p:spPr>
        <p:txBody>
          <a:bodyPr wrap="square" rtlCol="0" anchor="ctr"/>
          <a:lstStyle/>
          <a:p>
            <a:pPr marL="0" indent="0">
              <a:buNone/>
            </a:pPr>
            <a:r>
              <a:rPr lang="en-US" sz="1450" dirty="0">
                <a:solidFill>
                  <a:srgbClr val="8E9BC0"/>
                </a:solidFill>
                <a:latin typeface="Calibri" pitchFamily="34" charset="0"/>
                <a:ea typeface="Calibri" pitchFamily="34" charset="-122"/>
                <a:cs typeface="Calibri" pitchFamily="34" charset="-120"/>
              </a:rPr>
              <a:t>A sentence every pentester has quietly thought - and one every report should reckon with.</a:t>
            </a:r>
            <a:endParaRPr lang="en-US" sz="1450" dirty="0"/>
          </a:p>
        </p:txBody>
      </p:sp>
      <p:sp>
        <p:nvSpPr>
          <p:cNvPr id="16" name="Text 13"/>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201168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SO WHAT DID WE</a:t>
            </a:r>
            <a:endParaRPr lang="en-US" sz="4400" dirty="0"/>
          </a:p>
          <a:p>
            <a:pPr marL="0" indent="0" algn="ctr">
              <a:buNone/>
            </a:pPr>
            <a:r>
              <a:rPr lang="en-US" sz="4400" b="1" dirty="0">
                <a:solidFill>
                  <a:srgbClr val="FFFFFF"/>
                </a:solidFill>
                <a:latin typeface="Cambria" pitchFamily="34" charset="0"/>
                <a:ea typeface="Cambria" pitchFamily="34" charset="-122"/>
                <a:cs typeface="Cambria" pitchFamily="34" charset="-120"/>
              </a:rPr>
              <a:t>ACTUALLY PROVE?</a:t>
            </a:r>
            <a:endParaRPr lang="en-US" sz="4400" dirty="0"/>
          </a:p>
        </p:txBody>
      </p:sp>
      <p:sp>
        <p:nvSpPr>
          <p:cNvPr id="3" name="Text 1"/>
          <p:cNvSpPr/>
          <p:nvPr/>
        </p:nvSpPr>
        <p:spPr>
          <a:xfrm>
            <a:off x="1280160" y="4434840"/>
            <a:ext cx="9601200" cy="548640"/>
          </a:xfrm>
          <a:prstGeom prst="rect">
            <a:avLst/>
          </a:prstGeom>
          <a:noFill/>
          <a:ln/>
        </p:spPr>
        <p:txBody>
          <a:bodyPr wrap="square" rtlCol="0" anchor="ctr"/>
          <a:lstStyle/>
          <a:p>
            <a:pPr marL="0" indent="0" algn="ctr">
              <a:buNone/>
            </a:pPr>
            <a:r>
              <a:rPr lang="en-US" sz="1500" i="1" dirty="0">
                <a:solidFill>
                  <a:srgbClr val="8E9BC0"/>
                </a:solidFill>
                <a:latin typeface="Calibri" pitchFamily="34" charset="0"/>
                <a:ea typeface="Calibri" pitchFamily="34" charset="-122"/>
                <a:cs typeface="Calibri" pitchFamily="34" charset="-120"/>
              </a:rPr>
              <a:t>Not what we thought. The enterprise underneath us has moved.</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HERE'S WHAT MOVED</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architecture nobody re-scoped for</a:t>
            </a:r>
            <a:endParaRPr lang="en-US" sz="3200" dirty="0"/>
          </a:p>
        </p:txBody>
      </p:sp>
      <p:sp>
        <p:nvSpPr>
          <p:cNvPr id="4" name="Shape 2"/>
          <p:cNvSpPr/>
          <p:nvPr/>
        </p:nvSpPr>
        <p:spPr>
          <a:xfrm>
            <a:off x="640080" y="2331720"/>
            <a:ext cx="2514600" cy="3108960"/>
          </a:xfrm>
          <a:prstGeom prst="roundRect">
            <a:avLst>
              <a:gd name="adj" fmla="val 4364"/>
            </a:avLst>
          </a:prstGeom>
          <a:solidFill>
            <a:srgbClr val="121A33"/>
          </a:solidFill>
          <a:ln/>
        </p:spPr>
        <p:txBody>
          <a:bodyPr/>
          <a:lstStyle/>
          <a:p>
            <a:endParaRPr/>
          </a:p>
        </p:txBody>
      </p:sp>
      <p:sp>
        <p:nvSpPr>
          <p:cNvPr id="5" name="Shape 3"/>
          <p:cNvSpPr/>
          <p:nvPr/>
        </p:nvSpPr>
        <p:spPr>
          <a:xfrm>
            <a:off x="1508760" y="2651760"/>
            <a:ext cx="777240" cy="777240"/>
          </a:xfrm>
          <a:prstGeom prst="ellipse">
            <a:avLst/>
          </a:prstGeom>
          <a:solidFill>
            <a:srgbClr val="16204A"/>
          </a:solidFill>
          <a:ln/>
        </p:spPr>
        <p:txBody>
          <a:bodyPr/>
          <a:lstStyle/>
          <a:p>
            <a:endParaRPr/>
          </a:p>
        </p:txBody>
      </p:sp>
      <p:pic>
        <p:nvPicPr>
          <p:cNvPr id="6" name="Image 0" descr="icons_chart_00E5FF.png"/>
          <p:cNvPicPr>
            <a:picLocks noChangeAspect="1"/>
          </p:cNvPicPr>
          <p:nvPr/>
        </p:nvPicPr>
        <p:blipFill>
          <a:blip r:embed="rId3"/>
          <a:stretch>
            <a:fillRect/>
          </a:stretch>
        </p:blipFill>
        <p:spPr>
          <a:xfrm>
            <a:off x="1695298" y="2838298"/>
            <a:ext cx="404165" cy="404165"/>
          </a:xfrm>
          <a:prstGeom prst="rect">
            <a:avLst/>
          </a:prstGeom>
        </p:spPr>
      </p:pic>
      <p:sp>
        <p:nvSpPr>
          <p:cNvPr id="7" name="Text 4"/>
          <p:cNvSpPr/>
          <p:nvPr/>
        </p:nvSpPr>
        <p:spPr>
          <a:xfrm>
            <a:off x="777240" y="3611880"/>
            <a:ext cx="2240280" cy="64008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M365 / Entra ID</a:t>
            </a:r>
            <a:endParaRPr lang="en-US" sz="1400" dirty="0"/>
          </a:p>
        </p:txBody>
      </p:sp>
      <p:sp>
        <p:nvSpPr>
          <p:cNvPr id="8" name="Text 5"/>
          <p:cNvSpPr/>
          <p:nvPr/>
        </p:nvSpPr>
        <p:spPr>
          <a:xfrm>
            <a:off x="777240" y="4251960"/>
            <a:ext cx="2240280" cy="100584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The default identity backbone for most enterprises today</a:t>
            </a:r>
            <a:endParaRPr lang="en-US" sz="1150" dirty="0"/>
          </a:p>
        </p:txBody>
      </p:sp>
      <p:sp>
        <p:nvSpPr>
          <p:cNvPr id="9" name="Shape 6"/>
          <p:cNvSpPr/>
          <p:nvPr/>
        </p:nvSpPr>
        <p:spPr>
          <a:xfrm>
            <a:off x="3429000" y="2331720"/>
            <a:ext cx="2514600" cy="3108960"/>
          </a:xfrm>
          <a:prstGeom prst="roundRect">
            <a:avLst>
              <a:gd name="adj" fmla="val 4364"/>
            </a:avLst>
          </a:prstGeom>
          <a:solidFill>
            <a:srgbClr val="121A33"/>
          </a:solidFill>
          <a:ln/>
        </p:spPr>
        <p:txBody>
          <a:bodyPr/>
          <a:lstStyle/>
          <a:p>
            <a:endParaRPr/>
          </a:p>
        </p:txBody>
      </p:sp>
      <p:sp>
        <p:nvSpPr>
          <p:cNvPr id="10" name="Shape 7"/>
          <p:cNvSpPr/>
          <p:nvPr/>
        </p:nvSpPr>
        <p:spPr>
          <a:xfrm>
            <a:off x="4297680" y="2651760"/>
            <a:ext cx="777240" cy="777240"/>
          </a:xfrm>
          <a:prstGeom prst="ellipse">
            <a:avLst/>
          </a:prstGeom>
          <a:solidFill>
            <a:srgbClr val="16204A"/>
          </a:solidFill>
          <a:ln/>
        </p:spPr>
        <p:txBody>
          <a:bodyPr/>
          <a:lstStyle/>
          <a:p>
            <a:endParaRPr/>
          </a:p>
        </p:txBody>
      </p:sp>
      <p:pic>
        <p:nvPicPr>
          <p:cNvPr id="11" name="Image 1" descr="icons_layers_00E5FF.png"/>
          <p:cNvPicPr>
            <a:picLocks noChangeAspect="1"/>
          </p:cNvPicPr>
          <p:nvPr/>
        </p:nvPicPr>
        <p:blipFill>
          <a:blip r:embed="rId4"/>
          <a:stretch>
            <a:fillRect/>
          </a:stretch>
        </p:blipFill>
        <p:spPr>
          <a:xfrm>
            <a:off x="4484218" y="2838298"/>
            <a:ext cx="404165" cy="404165"/>
          </a:xfrm>
          <a:prstGeom prst="rect">
            <a:avLst/>
          </a:prstGeom>
        </p:spPr>
      </p:pic>
      <p:sp>
        <p:nvSpPr>
          <p:cNvPr id="12" name="Text 8"/>
          <p:cNvSpPr/>
          <p:nvPr/>
        </p:nvSpPr>
        <p:spPr>
          <a:xfrm>
            <a:off x="3566160" y="3611880"/>
            <a:ext cx="2240280" cy="64008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Dozens of SaaS apps</a:t>
            </a:r>
            <a:endParaRPr lang="en-US" sz="1400" dirty="0"/>
          </a:p>
        </p:txBody>
      </p:sp>
      <p:sp>
        <p:nvSpPr>
          <p:cNvPr id="13" name="Text 9"/>
          <p:cNvSpPr/>
          <p:nvPr/>
        </p:nvSpPr>
        <p:spPr>
          <a:xfrm>
            <a:off x="3566160" y="4251960"/>
            <a:ext cx="2240280" cy="100584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Per organisation, each with its own admin plane and data</a:t>
            </a:r>
            <a:endParaRPr lang="en-US" sz="1150" dirty="0"/>
          </a:p>
        </p:txBody>
      </p:sp>
      <p:sp>
        <p:nvSpPr>
          <p:cNvPr id="14" name="Shape 10"/>
          <p:cNvSpPr/>
          <p:nvPr/>
        </p:nvSpPr>
        <p:spPr>
          <a:xfrm>
            <a:off x="6217920" y="2331720"/>
            <a:ext cx="2514600" cy="3108960"/>
          </a:xfrm>
          <a:prstGeom prst="roundRect">
            <a:avLst>
              <a:gd name="adj" fmla="val 4364"/>
            </a:avLst>
          </a:prstGeom>
          <a:solidFill>
            <a:srgbClr val="121A33"/>
          </a:solidFill>
          <a:ln/>
        </p:spPr>
        <p:txBody>
          <a:bodyPr/>
          <a:lstStyle/>
          <a:p>
            <a:endParaRPr/>
          </a:p>
        </p:txBody>
      </p:sp>
      <p:sp>
        <p:nvSpPr>
          <p:cNvPr id="15" name="Shape 11"/>
          <p:cNvSpPr/>
          <p:nvPr/>
        </p:nvSpPr>
        <p:spPr>
          <a:xfrm>
            <a:off x="7086600" y="2651760"/>
            <a:ext cx="777240" cy="777240"/>
          </a:xfrm>
          <a:prstGeom prst="ellipse">
            <a:avLst/>
          </a:prstGeom>
          <a:solidFill>
            <a:srgbClr val="16204A"/>
          </a:solidFill>
          <a:ln/>
        </p:spPr>
        <p:txBody>
          <a:bodyPr/>
          <a:lstStyle/>
          <a:p>
            <a:endParaRPr/>
          </a:p>
        </p:txBody>
      </p:sp>
      <p:pic>
        <p:nvPicPr>
          <p:cNvPr id="16" name="Image 2" descr="icons_cloud_00E5FF.png"/>
          <p:cNvPicPr>
            <a:picLocks noChangeAspect="1"/>
          </p:cNvPicPr>
          <p:nvPr/>
        </p:nvPicPr>
        <p:blipFill>
          <a:blip r:embed="rId5"/>
          <a:stretch>
            <a:fillRect/>
          </a:stretch>
        </p:blipFill>
        <p:spPr>
          <a:xfrm>
            <a:off x="7273138" y="2838298"/>
            <a:ext cx="404165" cy="404165"/>
          </a:xfrm>
          <a:prstGeom prst="rect">
            <a:avLst/>
          </a:prstGeom>
        </p:spPr>
      </p:pic>
      <p:sp>
        <p:nvSpPr>
          <p:cNvPr id="17" name="Text 12"/>
          <p:cNvSpPr/>
          <p:nvPr/>
        </p:nvSpPr>
        <p:spPr>
          <a:xfrm>
            <a:off x="6355080" y="3611880"/>
            <a:ext cx="2240280" cy="64008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Multi-cloud by default</a:t>
            </a:r>
            <a:endParaRPr lang="en-US" sz="1400" dirty="0"/>
          </a:p>
        </p:txBody>
      </p:sp>
      <p:sp>
        <p:nvSpPr>
          <p:cNvPr id="18" name="Text 13"/>
          <p:cNvSpPr/>
          <p:nvPr/>
        </p:nvSpPr>
        <p:spPr>
          <a:xfrm>
            <a:off x="6355080" y="4251960"/>
            <a:ext cx="2240280" cy="100584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AWS, Azure and GCP control planes running in parallel</a:t>
            </a:r>
            <a:endParaRPr lang="en-US" sz="1150" dirty="0"/>
          </a:p>
        </p:txBody>
      </p:sp>
      <p:sp>
        <p:nvSpPr>
          <p:cNvPr id="19" name="Shape 14"/>
          <p:cNvSpPr/>
          <p:nvPr/>
        </p:nvSpPr>
        <p:spPr>
          <a:xfrm>
            <a:off x="9006840" y="2331720"/>
            <a:ext cx="2514600" cy="3108960"/>
          </a:xfrm>
          <a:prstGeom prst="roundRect">
            <a:avLst>
              <a:gd name="adj" fmla="val 4364"/>
            </a:avLst>
          </a:prstGeom>
          <a:solidFill>
            <a:srgbClr val="121A33"/>
          </a:solidFill>
          <a:ln/>
        </p:spPr>
        <p:txBody>
          <a:bodyPr/>
          <a:lstStyle/>
          <a:p>
            <a:endParaRPr/>
          </a:p>
        </p:txBody>
      </p:sp>
      <p:sp>
        <p:nvSpPr>
          <p:cNvPr id="20" name="Shape 15"/>
          <p:cNvSpPr/>
          <p:nvPr/>
        </p:nvSpPr>
        <p:spPr>
          <a:xfrm>
            <a:off x="9875520" y="2651760"/>
            <a:ext cx="777240" cy="777240"/>
          </a:xfrm>
          <a:prstGeom prst="ellipse">
            <a:avLst/>
          </a:prstGeom>
          <a:solidFill>
            <a:srgbClr val="16204A"/>
          </a:solidFill>
          <a:ln/>
        </p:spPr>
        <p:txBody>
          <a:bodyPr/>
          <a:lstStyle/>
          <a:p>
            <a:endParaRPr/>
          </a:p>
        </p:txBody>
      </p:sp>
      <p:pic>
        <p:nvPicPr>
          <p:cNvPr id="21" name="Image 3" descr="icons_mobile_00E5FF.png"/>
          <p:cNvPicPr>
            <a:picLocks noChangeAspect="1"/>
          </p:cNvPicPr>
          <p:nvPr/>
        </p:nvPicPr>
        <p:blipFill>
          <a:blip r:embed="rId6"/>
          <a:stretch>
            <a:fillRect/>
          </a:stretch>
        </p:blipFill>
        <p:spPr>
          <a:xfrm>
            <a:off x="10062058" y="2838298"/>
            <a:ext cx="404165" cy="404165"/>
          </a:xfrm>
          <a:prstGeom prst="rect">
            <a:avLst/>
          </a:prstGeom>
        </p:spPr>
      </p:pic>
      <p:sp>
        <p:nvSpPr>
          <p:cNvPr id="22" name="Text 16"/>
          <p:cNvSpPr/>
          <p:nvPr/>
        </p:nvSpPr>
        <p:spPr>
          <a:xfrm>
            <a:off x="9144000" y="3611880"/>
            <a:ext cx="2240280" cy="64008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Fully managed endpoints</a:t>
            </a:r>
            <a:endParaRPr lang="en-US" sz="1400" dirty="0"/>
          </a:p>
        </p:txBody>
      </p:sp>
      <p:sp>
        <p:nvSpPr>
          <p:cNvPr id="23" name="Text 17"/>
          <p:cNvSpPr/>
          <p:nvPr/>
        </p:nvSpPr>
        <p:spPr>
          <a:xfrm>
            <a:off x="9144000" y="4251960"/>
            <a:ext cx="2240280" cy="1005840"/>
          </a:xfrm>
          <a:prstGeom prst="rect">
            <a:avLst/>
          </a:prstGeom>
          <a:noFill/>
          <a:ln/>
        </p:spPr>
        <p:txBody>
          <a:bodyPr wrap="square" rtlCol="0" anchor="t"/>
          <a:lstStyle/>
          <a:p>
            <a:pPr marL="0" indent="0" algn="ctr">
              <a:buNone/>
            </a:pPr>
            <a:r>
              <a:rPr lang="en-US" sz="1150" dirty="0">
                <a:solidFill>
                  <a:srgbClr val="8E9BC0"/>
                </a:solidFill>
                <a:latin typeface="Calibri" pitchFamily="34" charset="0"/>
                <a:ea typeface="Calibri" pitchFamily="34" charset="-122"/>
                <a:cs typeface="Calibri" pitchFamily="34" charset="-120"/>
              </a:rPr>
              <a:t>MDM/UEM platforms deciding what gets to connect at all</a:t>
            </a:r>
            <a:endParaRPr lang="en-US" sz="1150" dirty="0"/>
          </a:p>
        </p:txBody>
      </p:sp>
      <p:sp>
        <p:nvSpPr>
          <p:cNvPr id="24"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468880"/>
            <a:ext cx="10515600" cy="1828800"/>
          </a:xfrm>
          <a:prstGeom prst="rect">
            <a:avLst/>
          </a:prstGeom>
          <a:noFill/>
          <a:ln/>
        </p:spPr>
        <p:txBody>
          <a:bodyPr wrap="square"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PRIVILEGE IS NO LONGER</a:t>
            </a:r>
            <a:endParaRPr lang="en-US" sz="3800" dirty="0"/>
          </a:p>
          <a:p>
            <a:pPr marL="0" indent="0" algn="ctr">
              <a:buNone/>
            </a:pPr>
            <a:r>
              <a:rPr lang="en-US" sz="3800" b="1" dirty="0">
                <a:solidFill>
                  <a:srgbClr val="FFFFFF"/>
                </a:solidFill>
                <a:latin typeface="Cambria" pitchFamily="34" charset="0"/>
                <a:ea typeface="Cambria" pitchFamily="34" charset="-122"/>
                <a:cs typeface="Cambria" pitchFamily="34" charset="-120"/>
              </a:rPr>
              <a:t>THE UNIT OF COMPROMISE.</a:t>
            </a:r>
            <a:endParaRPr lang="en-US" sz="3800" dirty="0"/>
          </a:p>
        </p:txBody>
      </p:sp>
      <p:sp>
        <p:nvSpPr>
          <p:cNvPr id="3" name="Text 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LET'S FIND OUT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Follow the trust</a:t>
            </a:r>
            <a:endParaRPr lang="en-US" sz="3200" dirty="0"/>
          </a:p>
        </p:txBody>
      </p:sp>
      <p:sp>
        <p:nvSpPr>
          <p:cNvPr id="4" name="Shape 2"/>
          <p:cNvSpPr/>
          <p:nvPr/>
        </p:nvSpPr>
        <p:spPr>
          <a:xfrm>
            <a:off x="640080" y="2331720"/>
            <a:ext cx="1965960" cy="2743200"/>
          </a:xfrm>
          <a:prstGeom prst="roundRect">
            <a:avLst>
              <a:gd name="adj" fmla="val 5581"/>
            </a:avLst>
          </a:prstGeom>
          <a:solidFill>
            <a:srgbClr val="121A33"/>
          </a:solidFill>
          <a:ln/>
        </p:spPr>
        <p:txBody>
          <a:bodyPr/>
          <a:lstStyle/>
          <a:p>
            <a:endParaRPr/>
          </a:p>
        </p:txBody>
      </p:sp>
      <p:sp>
        <p:nvSpPr>
          <p:cNvPr id="5" name="Shape 3"/>
          <p:cNvSpPr/>
          <p:nvPr/>
        </p:nvSpPr>
        <p:spPr>
          <a:xfrm>
            <a:off x="1257300" y="2651760"/>
            <a:ext cx="731520" cy="731520"/>
          </a:xfrm>
          <a:prstGeom prst="ellipse">
            <a:avLst/>
          </a:prstGeom>
          <a:solidFill>
            <a:srgbClr val="0A0F1F"/>
          </a:solidFill>
          <a:ln/>
        </p:spPr>
        <p:txBody>
          <a:bodyPr/>
          <a:lstStyle/>
          <a:p>
            <a:endParaRPr/>
          </a:p>
        </p:txBody>
      </p:sp>
      <p:pic>
        <p:nvPicPr>
          <p:cNvPr id="6" name="Image 0" descr="icons_usershield_00E5FF.png"/>
          <p:cNvPicPr>
            <a:picLocks noChangeAspect="1"/>
          </p:cNvPicPr>
          <p:nvPr/>
        </p:nvPicPr>
        <p:blipFill>
          <a:blip r:embed="rId3"/>
          <a:stretch>
            <a:fillRect/>
          </a:stretch>
        </p:blipFill>
        <p:spPr>
          <a:xfrm>
            <a:off x="1432865" y="2827325"/>
            <a:ext cx="380390" cy="380390"/>
          </a:xfrm>
          <a:prstGeom prst="rect">
            <a:avLst/>
          </a:prstGeom>
        </p:spPr>
      </p:pic>
      <p:sp>
        <p:nvSpPr>
          <p:cNvPr id="7" name="Text 4"/>
          <p:cNvSpPr/>
          <p:nvPr/>
        </p:nvSpPr>
        <p:spPr>
          <a:xfrm>
            <a:off x="731520" y="3566160"/>
            <a:ext cx="1783080" cy="640080"/>
          </a:xfrm>
          <a:prstGeom prst="rect">
            <a:avLst/>
          </a:prstGeom>
          <a:noFill/>
          <a:ln/>
        </p:spPr>
        <p:txBody>
          <a:bodyPr wrap="square"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Identity Providers</a:t>
            </a:r>
            <a:endParaRPr lang="en-US" sz="1350" dirty="0"/>
          </a:p>
        </p:txBody>
      </p:sp>
      <p:sp>
        <p:nvSpPr>
          <p:cNvPr id="8" name="Text 5"/>
          <p:cNvSpPr/>
          <p:nvPr/>
        </p:nvSpPr>
        <p:spPr>
          <a:xfrm>
            <a:off x="731520" y="4206240"/>
            <a:ext cx="1783080" cy="777240"/>
          </a:xfrm>
          <a:prstGeom prst="rect">
            <a:avLst/>
          </a:prstGeom>
          <a:noFill/>
          <a:ln/>
        </p:spPr>
        <p:txBody>
          <a:bodyPr wrap="square" rtlCol="0" anchor="t"/>
          <a:lstStyle/>
          <a:p>
            <a:pPr marL="0" indent="0" algn="ctr">
              <a:buNone/>
            </a:pPr>
            <a:r>
              <a:rPr lang="en-US" sz="1050" dirty="0">
                <a:solidFill>
                  <a:srgbClr val="8E9BC0"/>
                </a:solidFill>
                <a:latin typeface="Calibri" pitchFamily="34" charset="0"/>
                <a:ea typeface="Calibri" pitchFamily="34" charset="-122"/>
                <a:cs typeface="Calibri" pitchFamily="34" charset="-120"/>
              </a:rPr>
              <a:t>Entra ID, Okta, Google Workspace</a:t>
            </a:r>
            <a:endParaRPr lang="en-US" sz="1050" dirty="0"/>
          </a:p>
        </p:txBody>
      </p:sp>
      <p:sp>
        <p:nvSpPr>
          <p:cNvPr id="9" name="Shape 6"/>
          <p:cNvSpPr/>
          <p:nvPr/>
        </p:nvSpPr>
        <p:spPr>
          <a:xfrm>
            <a:off x="2834640" y="2331720"/>
            <a:ext cx="1965960" cy="2743200"/>
          </a:xfrm>
          <a:prstGeom prst="roundRect">
            <a:avLst>
              <a:gd name="adj" fmla="val 5581"/>
            </a:avLst>
          </a:prstGeom>
          <a:solidFill>
            <a:srgbClr val="121A33"/>
          </a:solidFill>
          <a:ln/>
        </p:spPr>
        <p:txBody>
          <a:bodyPr/>
          <a:lstStyle/>
          <a:p>
            <a:endParaRPr/>
          </a:p>
        </p:txBody>
      </p:sp>
      <p:sp>
        <p:nvSpPr>
          <p:cNvPr id="10" name="Shape 7"/>
          <p:cNvSpPr/>
          <p:nvPr/>
        </p:nvSpPr>
        <p:spPr>
          <a:xfrm>
            <a:off x="3451860" y="2651760"/>
            <a:ext cx="731520" cy="731520"/>
          </a:xfrm>
          <a:prstGeom prst="ellipse">
            <a:avLst/>
          </a:prstGeom>
          <a:solidFill>
            <a:srgbClr val="0A0F1F"/>
          </a:solidFill>
          <a:ln/>
        </p:spPr>
        <p:txBody>
          <a:bodyPr/>
          <a:lstStyle/>
          <a:p>
            <a:endParaRPr/>
          </a:p>
        </p:txBody>
      </p:sp>
      <p:pic>
        <p:nvPicPr>
          <p:cNvPr id="11" name="Image 1" descr="icons_building_00E5FF.png"/>
          <p:cNvPicPr>
            <a:picLocks noChangeAspect="1"/>
          </p:cNvPicPr>
          <p:nvPr/>
        </p:nvPicPr>
        <p:blipFill>
          <a:blip r:embed="rId4"/>
          <a:stretch>
            <a:fillRect/>
          </a:stretch>
        </p:blipFill>
        <p:spPr>
          <a:xfrm>
            <a:off x="3627425" y="2827325"/>
            <a:ext cx="380390" cy="380390"/>
          </a:xfrm>
          <a:prstGeom prst="rect">
            <a:avLst/>
          </a:prstGeom>
        </p:spPr>
      </p:pic>
      <p:sp>
        <p:nvSpPr>
          <p:cNvPr id="12" name="Text 8"/>
          <p:cNvSpPr/>
          <p:nvPr/>
        </p:nvSpPr>
        <p:spPr>
          <a:xfrm>
            <a:off x="2926080" y="3566160"/>
            <a:ext cx="1783080" cy="640080"/>
          </a:xfrm>
          <a:prstGeom prst="rect">
            <a:avLst/>
          </a:prstGeom>
          <a:noFill/>
          <a:ln/>
        </p:spPr>
        <p:txBody>
          <a:bodyPr wrap="square"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SaaS Platforms</a:t>
            </a:r>
            <a:endParaRPr lang="en-US" sz="1350" dirty="0"/>
          </a:p>
        </p:txBody>
      </p:sp>
      <p:sp>
        <p:nvSpPr>
          <p:cNvPr id="13" name="Text 9"/>
          <p:cNvSpPr/>
          <p:nvPr/>
        </p:nvSpPr>
        <p:spPr>
          <a:xfrm>
            <a:off x="2926080" y="4206240"/>
            <a:ext cx="1783080" cy="777240"/>
          </a:xfrm>
          <a:prstGeom prst="rect">
            <a:avLst/>
          </a:prstGeom>
          <a:noFill/>
          <a:ln/>
        </p:spPr>
        <p:txBody>
          <a:bodyPr wrap="square" rtlCol="0" anchor="t"/>
          <a:lstStyle/>
          <a:p>
            <a:pPr marL="0" indent="0" algn="ctr">
              <a:buNone/>
            </a:pPr>
            <a:r>
              <a:rPr lang="en-US" sz="1050" dirty="0">
                <a:solidFill>
                  <a:srgbClr val="8E9BC0"/>
                </a:solidFill>
                <a:latin typeface="Calibri" pitchFamily="34" charset="0"/>
                <a:ea typeface="Calibri" pitchFamily="34" charset="-122"/>
                <a:cs typeface="Calibri" pitchFamily="34" charset="-120"/>
              </a:rPr>
              <a:t>Sensitive data &amp; admin control</a:t>
            </a:r>
            <a:endParaRPr lang="en-US" sz="1050" dirty="0"/>
          </a:p>
        </p:txBody>
      </p:sp>
      <p:sp>
        <p:nvSpPr>
          <p:cNvPr id="14" name="Shape 10"/>
          <p:cNvSpPr/>
          <p:nvPr/>
        </p:nvSpPr>
        <p:spPr>
          <a:xfrm>
            <a:off x="5029200" y="2331720"/>
            <a:ext cx="1965960" cy="2743200"/>
          </a:xfrm>
          <a:prstGeom prst="roundRect">
            <a:avLst>
              <a:gd name="adj" fmla="val 5581"/>
            </a:avLst>
          </a:prstGeom>
          <a:solidFill>
            <a:srgbClr val="16204A"/>
          </a:solidFill>
          <a:ln/>
        </p:spPr>
        <p:txBody>
          <a:bodyPr/>
          <a:lstStyle/>
          <a:p>
            <a:endParaRPr/>
          </a:p>
        </p:txBody>
      </p:sp>
      <p:sp>
        <p:nvSpPr>
          <p:cNvPr id="15" name="Shape 11"/>
          <p:cNvSpPr/>
          <p:nvPr/>
        </p:nvSpPr>
        <p:spPr>
          <a:xfrm>
            <a:off x="5646420" y="2651760"/>
            <a:ext cx="731520" cy="731520"/>
          </a:xfrm>
          <a:prstGeom prst="ellipse">
            <a:avLst/>
          </a:prstGeom>
          <a:solidFill>
            <a:srgbClr val="0A0F1F"/>
          </a:solidFill>
          <a:ln/>
        </p:spPr>
        <p:txBody>
          <a:bodyPr/>
          <a:lstStyle/>
          <a:p>
            <a:endParaRPr/>
          </a:p>
        </p:txBody>
      </p:sp>
      <p:pic>
        <p:nvPicPr>
          <p:cNvPr id="16" name="Image 2" descr="icons_mobile_00E5FF.png"/>
          <p:cNvPicPr>
            <a:picLocks noChangeAspect="1"/>
          </p:cNvPicPr>
          <p:nvPr/>
        </p:nvPicPr>
        <p:blipFill>
          <a:blip r:embed="rId5"/>
          <a:stretch>
            <a:fillRect/>
          </a:stretch>
        </p:blipFill>
        <p:spPr>
          <a:xfrm>
            <a:off x="5821985" y="2827325"/>
            <a:ext cx="380390" cy="380390"/>
          </a:xfrm>
          <a:prstGeom prst="rect">
            <a:avLst/>
          </a:prstGeom>
        </p:spPr>
      </p:pic>
      <p:sp>
        <p:nvSpPr>
          <p:cNvPr id="17" name="Text 12"/>
          <p:cNvSpPr/>
          <p:nvPr/>
        </p:nvSpPr>
        <p:spPr>
          <a:xfrm>
            <a:off x="5120640" y="3566160"/>
            <a:ext cx="1783080" cy="640080"/>
          </a:xfrm>
          <a:prstGeom prst="rect">
            <a:avLst/>
          </a:prstGeom>
          <a:noFill/>
          <a:ln/>
        </p:spPr>
        <p:txBody>
          <a:bodyPr wrap="square"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Device Management</a:t>
            </a:r>
            <a:endParaRPr lang="en-US" sz="1350" dirty="0"/>
          </a:p>
        </p:txBody>
      </p:sp>
      <p:sp>
        <p:nvSpPr>
          <p:cNvPr id="18" name="Text 13"/>
          <p:cNvSpPr/>
          <p:nvPr/>
        </p:nvSpPr>
        <p:spPr>
          <a:xfrm>
            <a:off x="5120640" y="4206240"/>
            <a:ext cx="1783080" cy="777240"/>
          </a:xfrm>
          <a:prstGeom prst="rect">
            <a:avLst/>
          </a:prstGeom>
          <a:noFill/>
          <a:ln/>
        </p:spPr>
        <p:txBody>
          <a:bodyPr wrap="square" rtlCol="0" anchor="t"/>
          <a:lstStyle/>
          <a:p>
            <a:pPr marL="0" indent="0" algn="ctr">
              <a:buNone/>
            </a:pPr>
            <a:r>
              <a:rPr lang="en-US" sz="1050" dirty="0">
                <a:solidFill>
                  <a:srgbClr val="8E9BC0"/>
                </a:solidFill>
                <a:latin typeface="Calibri" pitchFamily="34" charset="0"/>
                <a:ea typeface="Calibri" pitchFamily="34" charset="-122"/>
                <a:cs typeface="Calibri" pitchFamily="34" charset="-120"/>
              </a:rPr>
              <a:t>Intune, Jamf, endpoint trust</a:t>
            </a:r>
            <a:endParaRPr lang="en-US" sz="1050" dirty="0"/>
          </a:p>
        </p:txBody>
      </p:sp>
      <p:sp>
        <p:nvSpPr>
          <p:cNvPr id="19" name="Shape 14"/>
          <p:cNvSpPr/>
          <p:nvPr/>
        </p:nvSpPr>
        <p:spPr>
          <a:xfrm>
            <a:off x="7223760" y="2331720"/>
            <a:ext cx="1965960" cy="2743200"/>
          </a:xfrm>
          <a:prstGeom prst="roundRect">
            <a:avLst>
              <a:gd name="adj" fmla="val 5581"/>
            </a:avLst>
          </a:prstGeom>
          <a:solidFill>
            <a:srgbClr val="121A33"/>
          </a:solidFill>
          <a:ln/>
        </p:spPr>
        <p:txBody>
          <a:bodyPr/>
          <a:lstStyle/>
          <a:p>
            <a:endParaRPr/>
          </a:p>
        </p:txBody>
      </p:sp>
      <p:sp>
        <p:nvSpPr>
          <p:cNvPr id="20" name="Shape 15"/>
          <p:cNvSpPr/>
          <p:nvPr/>
        </p:nvSpPr>
        <p:spPr>
          <a:xfrm>
            <a:off x="7840980" y="2651760"/>
            <a:ext cx="731520" cy="731520"/>
          </a:xfrm>
          <a:prstGeom prst="ellipse">
            <a:avLst/>
          </a:prstGeom>
          <a:solidFill>
            <a:srgbClr val="0A0F1F"/>
          </a:solidFill>
          <a:ln/>
        </p:spPr>
        <p:txBody>
          <a:bodyPr/>
          <a:lstStyle/>
          <a:p>
            <a:endParaRPr/>
          </a:p>
        </p:txBody>
      </p:sp>
      <p:pic>
        <p:nvPicPr>
          <p:cNvPr id="21" name="Image 3" descr="icons_cloud_00E5FF.png"/>
          <p:cNvPicPr>
            <a:picLocks noChangeAspect="1"/>
          </p:cNvPicPr>
          <p:nvPr/>
        </p:nvPicPr>
        <p:blipFill>
          <a:blip r:embed="rId6"/>
          <a:stretch>
            <a:fillRect/>
          </a:stretch>
        </p:blipFill>
        <p:spPr>
          <a:xfrm>
            <a:off x="8016545" y="2827325"/>
            <a:ext cx="380390" cy="380390"/>
          </a:xfrm>
          <a:prstGeom prst="rect">
            <a:avLst/>
          </a:prstGeom>
        </p:spPr>
      </p:pic>
      <p:sp>
        <p:nvSpPr>
          <p:cNvPr id="22" name="Text 16"/>
          <p:cNvSpPr/>
          <p:nvPr/>
        </p:nvSpPr>
        <p:spPr>
          <a:xfrm>
            <a:off x="7315200" y="3566160"/>
            <a:ext cx="1783080" cy="640080"/>
          </a:xfrm>
          <a:prstGeom prst="rect">
            <a:avLst/>
          </a:prstGeom>
          <a:noFill/>
          <a:ln/>
        </p:spPr>
        <p:txBody>
          <a:bodyPr wrap="square"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Cloud Admin Planes</a:t>
            </a:r>
            <a:endParaRPr lang="en-US" sz="1350" dirty="0"/>
          </a:p>
        </p:txBody>
      </p:sp>
      <p:sp>
        <p:nvSpPr>
          <p:cNvPr id="23" name="Text 17"/>
          <p:cNvSpPr/>
          <p:nvPr/>
        </p:nvSpPr>
        <p:spPr>
          <a:xfrm>
            <a:off x="7315200" y="4206240"/>
            <a:ext cx="1783080" cy="777240"/>
          </a:xfrm>
          <a:prstGeom prst="rect">
            <a:avLst/>
          </a:prstGeom>
          <a:noFill/>
          <a:ln/>
        </p:spPr>
        <p:txBody>
          <a:bodyPr wrap="square" rtlCol="0" anchor="t"/>
          <a:lstStyle/>
          <a:p>
            <a:pPr marL="0" indent="0" algn="ctr">
              <a:buNone/>
            </a:pPr>
            <a:r>
              <a:rPr lang="en-US" sz="1050" dirty="0">
                <a:solidFill>
                  <a:srgbClr val="8E9BC0"/>
                </a:solidFill>
                <a:latin typeface="Calibri" pitchFamily="34" charset="0"/>
                <a:ea typeface="Calibri" pitchFamily="34" charset="-122"/>
                <a:cs typeface="Calibri" pitchFamily="34" charset="-120"/>
              </a:rPr>
              <a:t>AWS, Azure, GCP control planes</a:t>
            </a:r>
            <a:endParaRPr lang="en-US" sz="1050" dirty="0"/>
          </a:p>
        </p:txBody>
      </p:sp>
      <p:sp>
        <p:nvSpPr>
          <p:cNvPr id="24" name="Shape 18"/>
          <p:cNvSpPr/>
          <p:nvPr/>
        </p:nvSpPr>
        <p:spPr>
          <a:xfrm>
            <a:off x="9418320" y="2331720"/>
            <a:ext cx="1965960" cy="2743200"/>
          </a:xfrm>
          <a:prstGeom prst="roundRect">
            <a:avLst>
              <a:gd name="adj" fmla="val 5581"/>
            </a:avLst>
          </a:prstGeom>
          <a:solidFill>
            <a:srgbClr val="121A33"/>
          </a:solidFill>
          <a:ln/>
        </p:spPr>
        <p:txBody>
          <a:bodyPr/>
          <a:lstStyle/>
          <a:p>
            <a:endParaRPr/>
          </a:p>
        </p:txBody>
      </p:sp>
      <p:sp>
        <p:nvSpPr>
          <p:cNvPr id="25" name="Shape 19"/>
          <p:cNvSpPr/>
          <p:nvPr/>
        </p:nvSpPr>
        <p:spPr>
          <a:xfrm>
            <a:off x="10035540" y="2651760"/>
            <a:ext cx="731520" cy="731520"/>
          </a:xfrm>
          <a:prstGeom prst="ellipse">
            <a:avLst/>
          </a:prstGeom>
          <a:solidFill>
            <a:srgbClr val="0A0F1F"/>
          </a:solidFill>
          <a:ln/>
        </p:spPr>
        <p:txBody>
          <a:bodyPr/>
          <a:lstStyle/>
          <a:p>
            <a:endParaRPr/>
          </a:p>
        </p:txBody>
      </p:sp>
      <p:pic>
        <p:nvPicPr>
          <p:cNvPr id="26" name="Image 4" descr="icons_exchange_00E5FF.png"/>
          <p:cNvPicPr>
            <a:picLocks noChangeAspect="1"/>
          </p:cNvPicPr>
          <p:nvPr/>
        </p:nvPicPr>
        <p:blipFill>
          <a:blip r:embed="rId7"/>
          <a:stretch>
            <a:fillRect/>
          </a:stretch>
        </p:blipFill>
        <p:spPr>
          <a:xfrm>
            <a:off x="10211105" y="2827325"/>
            <a:ext cx="380390" cy="380390"/>
          </a:xfrm>
          <a:prstGeom prst="rect">
            <a:avLst/>
          </a:prstGeom>
        </p:spPr>
      </p:pic>
      <p:sp>
        <p:nvSpPr>
          <p:cNvPr id="27" name="Text 20"/>
          <p:cNvSpPr/>
          <p:nvPr/>
        </p:nvSpPr>
        <p:spPr>
          <a:xfrm>
            <a:off x="9509760" y="3566160"/>
            <a:ext cx="1783080" cy="640080"/>
          </a:xfrm>
          <a:prstGeom prst="rect">
            <a:avLst/>
          </a:prstGeom>
          <a:noFill/>
          <a:ln/>
        </p:spPr>
        <p:txBody>
          <a:bodyPr wrap="square"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OAuth &amp; Federation</a:t>
            </a:r>
            <a:endParaRPr lang="en-US" sz="1350" dirty="0"/>
          </a:p>
        </p:txBody>
      </p:sp>
      <p:sp>
        <p:nvSpPr>
          <p:cNvPr id="28" name="Text 21"/>
          <p:cNvSpPr/>
          <p:nvPr/>
        </p:nvSpPr>
        <p:spPr>
          <a:xfrm>
            <a:off x="9509760" y="4206240"/>
            <a:ext cx="1783080" cy="777240"/>
          </a:xfrm>
          <a:prstGeom prst="rect">
            <a:avLst/>
          </a:prstGeom>
          <a:noFill/>
          <a:ln/>
        </p:spPr>
        <p:txBody>
          <a:bodyPr wrap="square" rtlCol="0" anchor="t"/>
          <a:lstStyle/>
          <a:p>
            <a:pPr marL="0" indent="0" algn="ctr">
              <a:buNone/>
            </a:pPr>
            <a:r>
              <a:rPr lang="en-US" sz="1050" dirty="0">
                <a:solidFill>
                  <a:srgbClr val="8E9BC0"/>
                </a:solidFill>
                <a:latin typeface="Calibri" pitchFamily="34" charset="0"/>
                <a:ea typeface="Calibri" pitchFamily="34" charset="-122"/>
                <a:cs typeface="Calibri" pitchFamily="34" charset="-120"/>
              </a:rPr>
              <a:t>Cross-org trust relationships</a:t>
            </a:r>
            <a:endParaRPr lang="en-US" sz="1050" dirty="0"/>
          </a:p>
        </p:txBody>
      </p:sp>
      <p:sp>
        <p:nvSpPr>
          <p:cNvPr id="29" name="Text 2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Text 1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PILLAR 1 OF 5</a:t>
            </a:r>
            <a:endParaRPr lang="en-US" sz="1300" dirty="0"/>
          </a:p>
        </p:txBody>
      </p:sp>
      <p:sp>
        <p:nvSpPr>
          <p:cNvPr id="13" name="Shape 11"/>
          <p:cNvSpPr/>
          <p:nvPr/>
        </p:nvSpPr>
        <p:spPr>
          <a:xfrm>
            <a:off x="822960" y="1828800"/>
            <a:ext cx="1188720" cy="1188720"/>
          </a:xfrm>
          <a:prstGeom prst="ellipse">
            <a:avLst/>
          </a:prstGeom>
          <a:solidFill>
            <a:srgbClr val="121A33"/>
          </a:solidFill>
          <a:ln/>
        </p:spPr>
        <p:txBody>
          <a:bodyPr/>
          <a:lstStyle/>
          <a:p>
            <a:endParaRPr/>
          </a:p>
        </p:txBody>
      </p:sp>
      <p:pic>
        <p:nvPicPr>
          <p:cNvPr id="14" name="Image 0" descr="icons_usershield_00E5FF.png"/>
          <p:cNvPicPr>
            <a:picLocks noChangeAspect="1"/>
          </p:cNvPicPr>
          <p:nvPr/>
        </p:nvPicPr>
        <p:blipFill>
          <a:blip r:embed="rId3"/>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Identity Providers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marL="0" indent="0">
              <a:buNone/>
            </a:pPr>
            <a:r>
              <a:rPr lang="en-US" sz="1700" i="1" dirty="0">
                <a:solidFill>
                  <a:srgbClr val="7C5CFC"/>
                </a:solidFill>
                <a:latin typeface="Cambria" pitchFamily="34" charset="0"/>
                <a:ea typeface="Cambria" pitchFamily="34" charset="-122"/>
                <a:cs typeface="Cambria" pitchFamily="34" charset="-120"/>
              </a:rPr>
              <a:t>What trusts my identity?</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txBody>
          <a:bodyPr/>
          <a:lstStyle/>
          <a:p>
            <a:endParaRPr/>
          </a:p>
        </p:txBody>
      </p:sp>
      <p:sp>
        <p:nvSpPr>
          <p:cNvPr id="18" name="Text 15"/>
          <p:cNvSpPr/>
          <p:nvPr/>
        </p:nvSpPr>
        <p:spPr>
          <a:xfrm>
            <a:off x="1188720" y="3886200"/>
            <a:ext cx="9784080" cy="457200"/>
          </a:xfrm>
          <a:prstGeom prst="rect">
            <a:avLst/>
          </a:prstGeom>
          <a:noFill/>
          <a:ln/>
        </p:spPr>
        <p:txBody>
          <a:bodyPr wrap="square" rtlCol="0" anchor="ctr"/>
          <a:lstStyle/>
          <a:p>
            <a:pPr marL="0" indent="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marL="0" indent="0">
              <a:buNone/>
            </a:pPr>
            <a:r>
              <a:rPr lang="en-US" sz="1400" dirty="0">
                <a:solidFill>
                  <a:srgbClr val="8E9BC0"/>
                </a:solidFill>
                <a:latin typeface="Calibri" pitchFamily="34" charset="0"/>
                <a:ea typeface="Calibri" pitchFamily="34" charset="-122"/>
                <a:cs typeface="Calibri" pitchFamily="34" charset="-120"/>
              </a:rPr>
              <a:t>The identity provider is where authentication, MFA policy and conditional access converge for almost every downstream system. Compromise it and you often inherit trust everywhere federation reaches.</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CHAIN EXAMPLE 1</a:t>
            </a:r>
            <a:endParaRPr lang="en-US" sz="1300" dirty="0"/>
          </a:p>
        </p:txBody>
      </p:sp>
      <p:sp>
        <p:nvSpPr>
          <p:cNvPr id="3" name="Text 1"/>
          <p:cNvSpPr/>
          <p:nvPr/>
        </p:nvSpPr>
        <p:spPr>
          <a:xfrm>
            <a:off x="4327855" y="530352"/>
            <a:ext cx="7223760" cy="320040"/>
          </a:xfrm>
          <a:prstGeom prst="rect">
            <a:avLst/>
          </a:prstGeom>
          <a:noFill/>
          <a:ln/>
        </p:spPr>
        <p:txBody>
          <a:bodyPr wrap="square" rtlCol="0" anchor="ctr"/>
          <a:lstStyle/>
          <a:p>
            <a:pPr marL="0" indent="0" algn="r">
              <a:buNone/>
            </a:pPr>
            <a:r>
              <a:rPr lang="en-US" sz="1050" i="1" dirty="0">
                <a:solidFill>
                  <a:srgbClr val="8E9BC0"/>
                </a:solidFill>
                <a:latin typeface="Calibri" pitchFamily="34" charset="0"/>
                <a:ea typeface="Calibri" pitchFamily="34" charset="-122"/>
                <a:cs typeface="Calibri" pitchFamily="34" charset="-120"/>
              </a:rPr>
              <a:t>Case study: MGM/Caesars, Sept 2023 (Scattered Spider)  |  ATT&amp;CK: T1621, T1556.006</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Identity provider as the new domain controller</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6" name="Shape 4"/>
          <p:cNvSpPr/>
          <p:nvPr/>
        </p:nvSpPr>
        <p:spPr>
          <a:xfrm>
            <a:off x="1531620" y="2926080"/>
            <a:ext cx="502920" cy="502920"/>
          </a:xfrm>
          <a:prstGeom prst="ellipse">
            <a:avLst/>
          </a:prstGeom>
          <a:solidFill>
            <a:srgbClr val="0A0F1F"/>
          </a:solidFill>
          <a:ln/>
        </p:spPr>
        <p:txBody>
          <a:bodyPr/>
          <a:lstStyle/>
          <a:p>
            <a:endParaRPr/>
          </a:p>
        </p:txBody>
      </p:sp>
      <p:pic>
        <p:nvPicPr>
          <p:cNvPr id="7" name="Image 0" descr="icons_usershield_00E5FF.png"/>
          <p:cNvPicPr>
            <a:picLocks noChangeAspect="1"/>
          </p:cNvPicPr>
          <p:nvPr/>
        </p:nvPicPr>
        <p:blipFill>
          <a:blip r:embed="rId3"/>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Weak MFA / conditional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access gap in the IdP</a:t>
            </a:r>
            <a:endParaRPr lang="en-US" sz="1150" dirty="0"/>
          </a:p>
        </p:txBody>
      </p:sp>
      <p:sp>
        <p:nvSpPr>
          <p:cNvPr id="9" name="Shape 6"/>
          <p:cNvSpPr/>
          <p:nvPr/>
        </p:nvSpPr>
        <p:spPr>
          <a:xfrm>
            <a:off x="2926080" y="3319272"/>
            <a:ext cx="579120" cy="219456"/>
          </a:xfrm>
          <a:prstGeom prst="rightArrow">
            <a:avLst/>
          </a:prstGeom>
          <a:solidFill>
            <a:srgbClr val="7C5CFC"/>
          </a:solidFill>
          <a:ln/>
        </p:spPr>
        <p:txBody>
          <a:bodyPr/>
          <a:lstStyle/>
          <a:p>
            <a:endParaRPr/>
          </a:p>
        </p:txBody>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1" name="Shape 8"/>
          <p:cNvSpPr/>
          <p:nvPr/>
        </p:nvSpPr>
        <p:spPr>
          <a:xfrm>
            <a:off x="4396740" y="2926080"/>
            <a:ext cx="502920" cy="502920"/>
          </a:xfrm>
          <a:prstGeom prst="ellipse">
            <a:avLst/>
          </a:prstGeom>
          <a:solidFill>
            <a:srgbClr val="0A0F1F"/>
          </a:solidFill>
          <a:ln/>
        </p:spPr>
        <p:txBody>
          <a:bodyPr/>
          <a:lstStyle/>
          <a:p>
            <a:endParaRPr/>
          </a:p>
        </p:txBody>
      </p:sp>
      <p:pic>
        <p:nvPicPr>
          <p:cNvPr id="12" name="Image 1" descr="icons_key_00E5FF.png"/>
          <p:cNvPicPr>
            <a:picLocks noChangeAspect="1"/>
          </p:cNvPicPr>
          <p:nvPr/>
        </p:nvPicPr>
        <p:blipFill>
          <a:blip r:embed="rId4"/>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Token or session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compromise</a:t>
            </a:r>
            <a:endParaRPr lang="en-US" sz="1150" dirty="0"/>
          </a:p>
        </p:txBody>
      </p:sp>
      <p:sp>
        <p:nvSpPr>
          <p:cNvPr id="14" name="Shape 10"/>
          <p:cNvSpPr/>
          <p:nvPr/>
        </p:nvSpPr>
        <p:spPr>
          <a:xfrm>
            <a:off x="5791200" y="3319272"/>
            <a:ext cx="579120" cy="219456"/>
          </a:xfrm>
          <a:prstGeom prst="rightArrow">
            <a:avLst/>
          </a:prstGeom>
          <a:solidFill>
            <a:srgbClr val="7C5CFC"/>
          </a:solidFill>
          <a:ln/>
        </p:spPr>
        <p:txBody>
          <a:bodyPr/>
          <a:lstStyle/>
          <a:p>
            <a:endParaRPr/>
          </a:p>
        </p:txBody>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6" name="Shape 12"/>
          <p:cNvSpPr/>
          <p:nvPr/>
        </p:nvSpPr>
        <p:spPr>
          <a:xfrm>
            <a:off x="7261860" y="2926080"/>
            <a:ext cx="502920" cy="502920"/>
          </a:xfrm>
          <a:prstGeom prst="ellipse">
            <a:avLst/>
          </a:prstGeom>
          <a:solidFill>
            <a:srgbClr val="0A0F1F"/>
          </a:solidFill>
          <a:ln/>
        </p:spPr>
        <p:txBody>
          <a:bodyPr/>
          <a:lstStyle/>
          <a:p>
            <a:endParaRPr/>
          </a:p>
        </p:txBody>
      </p:sp>
      <p:pic>
        <p:nvPicPr>
          <p:cNvPr id="17" name="Image 2" descr="icons_cloud_00E5FF.png"/>
          <p:cNvPicPr>
            <a:picLocks noChangeAspect="1"/>
          </p:cNvPicPr>
          <p:nvPr/>
        </p:nvPicPr>
        <p:blipFill>
          <a:blip r:embed="rId5"/>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Federated access to</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linked business systems</a:t>
            </a:r>
            <a:endParaRPr lang="en-US" sz="1150" dirty="0"/>
          </a:p>
        </p:txBody>
      </p:sp>
      <p:sp>
        <p:nvSpPr>
          <p:cNvPr id="19" name="Shape 14"/>
          <p:cNvSpPr/>
          <p:nvPr/>
        </p:nvSpPr>
        <p:spPr>
          <a:xfrm>
            <a:off x="8656320" y="3319272"/>
            <a:ext cx="579120" cy="219456"/>
          </a:xfrm>
          <a:prstGeom prst="rightArrow">
            <a:avLst/>
          </a:prstGeom>
          <a:solidFill>
            <a:srgbClr val="7C5CFC"/>
          </a:solidFill>
          <a:ln/>
        </p:spPr>
        <p:txBody>
          <a:bodyPr/>
          <a:lstStyle/>
          <a:p>
            <a:endParaRPr/>
          </a:p>
        </p:txBody>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txBody>
          <a:bodyPr/>
          <a:lstStyle/>
          <a:p>
            <a:endParaRPr/>
          </a:p>
        </p:txBody>
      </p:sp>
      <p:sp>
        <p:nvSpPr>
          <p:cNvPr id="21" name="Shape 16"/>
          <p:cNvSpPr/>
          <p:nvPr/>
        </p:nvSpPr>
        <p:spPr>
          <a:xfrm>
            <a:off x="10126980" y="2926080"/>
            <a:ext cx="502920" cy="502920"/>
          </a:xfrm>
          <a:prstGeom prst="ellipse">
            <a:avLst/>
          </a:prstGeom>
          <a:solidFill>
            <a:srgbClr val="FF5C7A"/>
          </a:solidFill>
          <a:ln/>
        </p:spPr>
        <p:txBody>
          <a:bodyPr/>
          <a:lstStyle/>
          <a:p>
            <a:endParaRPr/>
          </a:p>
        </p:txBody>
      </p:sp>
      <p:pic>
        <p:nvPicPr>
          <p:cNvPr id="22" name="Image 3" descr="icons_skull_FFFFFF.png"/>
          <p:cNvPicPr>
            <a:picLocks noChangeAspect="1"/>
          </p:cNvPicPr>
          <p:nvPr/>
        </p:nvPicPr>
        <p:blipFill>
          <a:blip r:embed="rId6"/>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Business-critical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txBody>
          <a:bodyPr/>
          <a:lstStyle/>
          <a:p>
            <a:endParaRPr/>
          </a:p>
        </p:txBody>
      </p:sp>
      <p:sp>
        <p:nvSpPr>
          <p:cNvPr id="25" name="Text 19"/>
          <p:cNvSpPr/>
          <p:nvPr/>
        </p:nvSpPr>
        <p:spPr>
          <a:xfrm>
            <a:off x="914400" y="4709160"/>
            <a:ext cx="10332720" cy="1234440"/>
          </a:xfrm>
          <a:prstGeom prst="rect">
            <a:avLst/>
          </a:prstGeom>
          <a:noFill/>
          <a:ln/>
        </p:spPr>
        <p:txBody>
          <a:bodyPr wrap="square" rtlCol="0" anchor="ctr"/>
          <a:lstStyle/>
          <a:p>
            <a:pPr marL="0" indent="0">
              <a:buNone/>
            </a:pPr>
            <a:r>
              <a:rPr lang="en-US" sz="1350" i="1" dirty="0">
                <a:solidFill>
                  <a:srgbClr val="8E9BC0"/>
                </a:solidFill>
                <a:latin typeface="Calibri" pitchFamily="34" charset="0"/>
                <a:ea typeface="Calibri" pitchFamily="34" charset="-122"/>
                <a:cs typeface="Calibri" pitchFamily="34" charset="-120"/>
              </a:rPr>
              <a:t>Inspired by real-world patterns: a gap in conditional access or an admin session compromise on the identity provider gave access far beyond what any single on-prem AD compromise would have granted.</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gap that let it happen</a:t>
            </a:r>
            <a:endParaRPr lang="en-US" sz="3200" dirty="0"/>
          </a:p>
        </p:txBody>
      </p:sp>
      <p:sp>
        <p:nvSpPr>
          <p:cNvPr id="4" name="Shape 2"/>
          <p:cNvSpPr/>
          <p:nvPr/>
        </p:nvSpPr>
        <p:spPr>
          <a:xfrm>
            <a:off x="1005840" y="2286000"/>
            <a:ext cx="10149840" cy="2221992"/>
          </a:xfrm>
          <a:prstGeom prst="rect">
            <a:avLst/>
          </a:prstGeom>
          <a:solidFill>
            <a:srgbClr val="F5F7FB"/>
          </a:solidFill>
          <a:ln/>
        </p:spPr>
        <p:txBody>
          <a:bodyPr/>
          <a:lstStyle/>
          <a:p>
            <a:endParaRPr/>
          </a:p>
        </p:txBody>
      </p:sp>
      <p:sp>
        <p:nvSpPr>
          <p:cNvPr id="5" name="Shape 3"/>
          <p:cNvSpPr/>
          <p:nvPr/>
        </p:nvSpPr>
        <p:spPr>
          <a:xfrm>
            <a:off x="1005840" y="1920240"/>
            <a:ext cx="10149840" cy="365760"/>
          </a:xfrm>
          <a:prstGeom prst="roundRect">
            <a:avLst>
              <a:gd name="adj" fmla="val 15000"/>
            </a:avLst>
          </a:prstGeom>
          <a:solidFill>
            <a:srgbClr val="D8DCE6"/>
          </a:solidFill>
          <a:ln/>
        </p:spPr>
        <p:txBody>
          <a:bodyPr/>
          <a:lstStyle/>
          <a:p>
            <a:endParaRPr/>
          </a:p>
        </p:txBody>
      </p:sp>
      <p:sp>
        <p:nvSpPr>
          <p:cNvPr id="6" name="Shape 4"/>
          <p:cNvSpPr/>
          <p:nvPr/>
        </p:nvSpPr>
        <p:spPr>
          <a:xfrm>
            <a:off x="1207008" y="2057400"/>
            <a:ext cx="100584" cy="100584"/>
          </a:xfrm>
          <a:prstGeom prst="ellipse">
            <a:avLst/>
          </a:prstGeom>
          <a:solidFill>
            <a:srgbClr val="FF5F56"/>
          </a:solidFill>
          <a:ln/>
        </p:spPr>
        <p:txBody>
          <a:bodyPr/>
          <a:lstStyle/>
          <a:p>
            <a:endParaRPr/>
          </a:p>
        </p:txBody>
      </p:sp>
      <p:sp>
        <p:nvSpPr>
          <p:cNvPr id="7" name="Shape 5"/>
          <p:cNvSpPr/>
          <p:nvPr/>
        </p:nvSpPr>
        <p:spPr>
          <a:xfrm>
            <a:off x="1408176" y="2057400"/>
            <a:ext cx="100584" cy="100584"/>
          </a:xfrm>
          <a:prstGeom prst="ellipse">
            <a:avLst/>
          </a:prstGeom>
          <a:solidFill>
            <a:srgbClr val="FFBD2E"/>
          </a:solidFill>
          <a:ln/>
        </p:spPr>
        <p:txBody>
          <a:bodyPr/>
          <a:lstStyle/>
          <a:p>
            <a:endParaRPr/>
          </a:p>
        </p:txBody>
      </p:sp>
      <p:sp>
        <p:nvSpPr>
          <p:cNvPr id="8" name="Shape 6"/>
          <p:cNvSpPr/>
          <p:nvPr/>
        </p:nvSpPr>
        <p:spPr>
          <a:xfrm>
            <a:off x="1609344" y="2057400"/>
            <a:ext cx="100584" cy="100584"/>
          </a:xfrm>
          <a:prstGeom prst="ellipse">
            <a:avLst/>
          </a:prstGeom>
          <a:solidFill>
            <a:srgbClr val="27C93F"/>
          </a:solidFill>
          <a:ln/>
        </p:spPr>
        <p:txBody>
          <a:bodyPr/>
          <a:lstStyle/>
          <a:p>
            <a:endParaRPr/>
          </a:p>
        </p:txBody>
      </p:sp>
      <p:sp>
        <p:nvSpPr>
          <p:cNvPr id="9" name="Shape 7"/>
          <p:cNvSpPr/>
          <p:nvPr/>
        </p:nvSpPr>
        <p:spPr>
          <a:xfrm>
            <a:off x="2011680" y="1993392"/>
            <a:ext cx="8046720" cy="219456"/>
          </a:xfrm>
          <a:prstGeom prst="roundRect">
            <a:avLst>
              <a:gd name="adj" fmla="val 25000"/>
            </a:avLst>
          </a:prstGeom>
          <a:solidFill>
            <a:srgbClr val="EDEFF5"/>
          </a:solidFill>
          <a:ln/>
        </p:spPr>
        <p:txBody>
          <a:bodyPr/>
          <a:lstStyle/>
          <a:p>
            <a:endParaRPr/>
          </a:p>
        </p:txBody>
      </p:sp>
      <p:sp>
        <p:nvSpPr>
          <p:cNvPr id="10" name="Text 8"/>
          <p:cNvSpPr/>
          <p:nvPr/>
        </p:nvSpPr>
        <p:spPr>
          <a:xfrm>
            <a:off x="2148840" y="1993392"/>
            <a:ext cx="7863840" cy="219456"/>
          </a:xfrm>
          <a:prstGeom prst="rect">
            <a:avLst/>
          </a:prstGeom>
          <a:noFill/>
          <a:ln/>
        </p:spPr>
        <p:txBody>
          <a:bodyPr wrap="square" rtlCol="0" anchor="ctr"/>
          <a:lstStyle/>
          <a:p>
            <a:pPr marL="0" indent="0">
              <a:buNone/>
            </a:pPr>
            <a:r>
              <a:rPr lang="en-US" sz="950" dirty="0">
                <a:solidFill>
                  <a:srgbClr val="6B7280"/>
                </a:solidFill>
                <a:latin typeface="Consolas" pitchFamily="34" charset="0"/>
                <a:ea typeface="Consolas" pitchFamily="34" charset="-122"/>
                <a:cs typeface="Consolas" pitchFamily="34" charset="-120"/>
              </a:rPr>
              <a:t>🔒 identity-admin.example/conditional-access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Conditional Access Policies</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txBody>
          <a:bodyPr/>
          <a:lstStyle/>
          <a:p>
            <a:endParaRPr/>
          </a:p>
        </p:txBody>
      </p:sp>
      <p:sp>
        <p:nvSpPr>
          <p:cNvPr id="13" name="Text 11"/>
          <p:cNvSpPr/>
          <p:nvPr/>
        </p:nvSpPr>
        <p:spPr>
          <a:xfrm>
            <a:off x="1325880" y="2880360"/>
            <a:ext cx="7223760" cy="512064"/>
          </a:xfrm>
          <a:prstGeom prst="rect">
            <a:avLst/>
          </a:prstGeom>
          <a:noFill/>
          <a:ln/>
        </p:spPr>
        <p:txBody>
          <a:bodyPr wrap="square" rtlCol="0" anchor="ctr"/>
          <a:lstStyle/>
          <a:p>
            <a:pPr marL="0" indent="0">
              <a:buNone/>
            </a:pPr>
            <a:r>
              <a:rPr lang="en-US" sz="1150" dirty="0">
                <a:solidFill>
                  <a:srgbClr val="1A1F2E"/>
                </a:solidFill>
                <a:latin typeface="Calibri" pitchFamily="34" charset="0"/>
                <a:ea typeface="Calibri" pitchFamily="34" charset="-122"/>
                <a:cs typeface="Calibri" pitchFamily="34" charset="-120"/>
              </a:rPr>
              <a:t>Block Legacy Authentication</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txBody>
          <a:bodyPr/>
          <a:lstStyle/>
          <a:p>
            <a:endParaRPr/>
          </a:p>
        </p:txBody>
      </p:sp>
      <p:sp>
        <p:nvSpPr>
          <p:cNvPr id="15" name="Text 13"/>
          <p:cNvSpPr/>
          <p:nvPr/>
        </p:nvSpPr>
        <p:spPr>
          <a:xfrm>
            <a:off x="8961120" y="2990088"/>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ENABLED</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txBody>
          <a:bodyPr/>
          <a:lstStyle/>
          <a:p>
            <a:endParaRPr/>
          </a:p>
        </p:txBody>
      </p:sp>
      <p:sp>
        <p:nvSpPr>
          <p:cNvPr id="17" name="Shape 15"/>
          <p:cNvSpPr/>
          <p:nvPr/>
        </p:nvSpPr>
        <p:spPr>
          <a:xfrm>
            <a:off x="1005840" y="3392424"/>
            <a:ext cx="54864" cy="512064"/>
          </a:xfrm>
          <a:prstGeom prst="rect">
            <a:avLst/>
          </a:prstGeom>
          <a:solidFill>
            <a:srgbClr val="DC2626"/>
          </a:solidFill>
          <a:ln/>
        </p:spPr>
        <p:txBody>
          <a:bodyPr/>
          <a:lstStyle/>
          <a:p>
            <a:endParaRPr/>
          </a:p>
        </p:txBody>
      </p:sp>
      <p:sp>
        <p:nvSpPr>
          <p:cNvPr id="18" name="Text 16"/>
          <p:cNvSpPr/>
          <p:nvPr/>
        </p:nvSpPr>
        <p:spPr>
          <a:xfrm>
            <a:off x="1325880" y="3392424"/>
            <a:ext cx="7223760" cy="51206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Require MFA - All Users</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txBody>
          <a:bodyPr/>
          <a:lstStyle/>
          <a:p>
            <a:endParaRPr/>
          </a:p>
        </p:txBody>
      </p:sp>
      <p:sp>
        <p:nvSpPr>
          <p:cNvPr id="20" name="Text 18"/>
          <p:cNvSpPr/>
          <p:nvPr/>
        </p:nvSpPr>
        <p:spPr>
          <a:xfrm>
            <a:off x="8961120" y="3502152"/>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OFF</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txBody>
          <a:bodyPr/>
          <a:lstStyle/>
          <a:p>
            <a:endParaRPr/>
          </a:p>
        </p:txBody>
      </p:sp>
      <p:sp>
        <p:nvSpPr>
          <p:cNvPr id="22" name="Text 20"/>
          <p:cNvSpPr/>
          <p:nvPr/>
        </p:nvSpPr>
        <p:spPr>
          <a:xfrm>
            <a:off x="1325880" y="3904488"/>
            <a:ext cx="7223760" cy="512064"/>
          </a:xfrm>
          <a:prstGeom prst="rect">
            <a:avLst/>
          </a:prstGeom>
          <a:noFill/>
          <a:ln/>
        </p:spPr>
        <p:txBody>
          <a:bodyPr wrap="square" rtlCol="0" anchor="ctr"/>
          <a:lstStyle/>
          <a:p>
            <a:pPr marL="0" indent="0">
              <a:buNone/>
            </a:pPr>
            <a:r>
              <a:rPr lang="en-US" sz="1150" dirty="0">
                <a:solidFill>
                  <a:srgbClr val="1A1F2E"/>
                </a:solidFill>
                <a:latin typeface="Calibri" pitchFamily="34" charset="0"/>
                <a:ea typeface="Calibri" pitchFamily="34" charset="-122"/>
                <a:cs typeface="Calibri" pitchFamily="34" charset="-120"/>
              </a:rPr>
              <a:t>Require Compliant Device - Admins</a:t>
            </a:r>
            <a:endParaRPr lang="en-US" sz="1150" dirty="0"/>
          </a:p>
        </p:txBody>
      </p:sp>
      <p:sp>
        <p:nvSpPr>
          <p:cNvPr id="23" name="Shape 21"/>
          <p:cNvSpPr/>
          <p:nvPr/>
        </p:nvSpPr>
        <p:spPr>
          <a:xfrm>
            <a:off x="8961120" y="4014216"/>
            <a:ext cx="1828800" cy="292608"/>
          </a:xfrm>
          <a:prstGeom prst="roundRect">
            <a:avLst>
              <a:gd name="adj" fmla="val 50000"/>
            </a:avLst>
          </a:prstGeom>
          <a:solidFill>
            <a:srgbClr val="D97706"/>
          </a:solidFill>
          <a:ln/>
        </p:spPr>
        <p:txBody>
          <a:bodyPr/>
          <a:lstStyle/>
          <a:p>
            <a:endParaRPr/>
          </a:p>
        </p:txBody>
      </p:sp>
      <p:sp>
        <p:nvSpPr>
          <p:cNvPr id="24" name="Text 22"/>
          <p:cNvSpPr/>
          <p:nvPr/>
        </p:nvSpPr>
        <p:spPr>
          <a:xfrm>
            <a:off x="8961120" y="4014216"/>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REPORT-ONLY</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marL="0" indent="0" algn="ctr">
              <a:buNone/>
            </a:pPr>
            <a:r>
              <a:rPr lang="en-US" sz="1350" i="1" dirty="0">
                <a:solidFill>
                  <a:srgbClr val="8E9BC0"/>
                </a:solidFill>
                <a:latin typeface="Calibri" pitchFamily="34" charset="0"/>
                <a:ea typeface="Calibri" pitchFamily="34" charset="-122"/>
                <a:cs typeface="Calibri" pitchFamily="34" charset="-120"/>
              </a:rPr>
              <a:t>One policy, switched off. That's the entire gap between "we have MFA" and a help-desk phone call becoming Global Admin.</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marL="0" indent="0" algn="ctr">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Text 1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PILLAR 2 OF 5</a:t>
            </a:r>
            <a:endParaRPr lang="en-US" sz="1300" dirty="0"/>
          </a:p>
        </p:txBody>
      </p:sp>
      <p:sp>
        <p:nvSpPr>
          <p:cNvPr id="13" name="Shape 11"/>
          <p:cNvSpPr/>
          <p:nvPr/>
        </p:nvSpPr>
        <p:spPr>
          <a:xfrm>
            <a:off x="822960" y="1828800"/>
            <a:ext cx="1188720" cy="1188720"/>
          </a:xfrm>
          <a:prstGeom prst="ellipse">
            <a:avLst/>
          </a:prstGeom>
          <a:solidFill>
            <a:srgbClr val="121A33"/>
          </a:solidFill>
          <a:ln/>
        </p:spPr>
        <p:txBody>
          <a:bodyPr/>
          <a:lstStyle/>
          <a:p>
            <a:endParaRPr/>
          </a:p>
        </p:txBody>
      </p:sp>
      <p:pic>
        <p:nvPicPr>
          <p:cNvPr id="14" name="Image 0" descr="icons_mobile_00E5FF.png"/>
          <p:cNvPicPr>
            <a:picLocks noChangeAspect="1"/>
          </p:cNvPicPr>
          <p:nvPr/>
        </p:nvPicPr>
        <p:blipFill>
          <a:blip r:embed="rId3"/>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Device Management</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marL="0" indent="0">
              <a:buNone/>
            </a:pPr>
            <a:r>
              <a:rPr lang="en-US" sz="1700" i="1" dirty="0">
                <a:solidFill>
                  <a:srgbClr val="7C5CFC"/>
                </a:solidFill>
                <a:latin typeface="Cambria" pitchFamily="34" charset="0"/>
                <a:ea typeface="Cambria" pitchFamily="34" charset="-122"/>
                <a:cs typeface="Cambria" pitchFamily="34" charset="-120"/>
              </a:rPr>
              <a:t>What trusts my device?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txBody>
          <a:bodyPr/>
          <a:lstStyle/>
          <a:p>
            <a:endParaRPr/>
          </a:p>
        </p:txBody>
      </p:sp>
      <p:sp>
        <p:nvSpPr>
          <p:cNvPr id="18" name="Text 15"/>
          <p:cNvSpPr/>
          <p:nvPr/>
        </p:nvSpPr>
        <p:spPr>
          <a:xfrm>
            <a:off x="1188720" y="3886200"/>
            <a:ext cx="9784080" cy="457200"/>
          </a:xfrm>
          <a:prstGeom prst="rect">
            <a:avLst/>
          </a:prstGeom>
          <a:noFill/>
          <a:ln/>
        </p:spPr>
        <p:txBody>
          <a:bodyPr wrap="square" rtlCol="0" anchor="ctr"/>
          <a:lstStyle/>
          <a:p>
            <a:pPr marL="0" indent="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marL="0" indent="0">
              <a:buNone/>
            </a:pPr>
            <a:r>
              <a:rPr lang="en-US" sz="1400" dirty="0">
                <a:solidFill>
                  <a:srgbClr val="8E9BC0"/>
                </a:solidFill>
                <a:latin typeface="Calibri" pitchFamily="34" charset="0"/>
                <a:ea typeface="Calibri" pitchFamily="34" charset="-122"/>
                <a:cs typeface="Calibri" pitchFamily="34" charset="-120"/>
              </a:rPr>
              <a:t>MDM/UEM platforms decide which endpoints are allowed to authenticate, what policies they receive, and increasingly what certificates and secrets they're issued. It's a trust broker most assessments never touch.</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CHAIN EXAMPLE 2</a:t>
            </a:r>
            <a:endParaRPr lang="en-US" sz="1300" dirty="0"/>
          </a:p>
        </p:txBody>
      </p:sp>
      <p:sp>
        <p:nvSpPr>
          <p:cNvPr id="3" name="Text 1"/>
          <p:cNvSpPr/>
          <p:nvPr/>
        </p:nvSpPr>
        <p:spPr>
          <a:xfrm>
            <a:off x="4327855" y="530352"/>
            <a:ext cx="7223760" cy="320040"/>
          </a:xfrm>
          <a:prstGeom prst="rect">
            <a:avLst/>
          </a:prstGeom>
          <a:noFill/>
          <a:ln/>
        </p:spPr>
        <p:txBody>
          <a:bodyPr wrap="square" rtlCol="0" anchor="ctr"/>
          <a:lstStyle/>
          <a:p>
            <a:pPr marL="0" indent="0" algn="r">
              <a:buNone/>
            </a:pPr>
            <a:r>
              <a:rPr lang="en-US" sz="1050" i="1" dirty="0">
                <a:solidFill>
                  <a:srgbClr val="8E9BC0"/>
                </a:solidFill>
                <a:latin typeface="Calibri" pitchFamily="34" charset="0"/>
                <a:ea typeface="Calibri" pitchFamily="34" charset="-122"/>
                <a:cs typeface="Calibri" pitchFamily="34" charset="-120"/>
              </a:rPr>
              <a:t>Emerging surface - research-driven, not yet a headline breach  |  ATT&amp;CK: T1098.005</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Device management as an endpoint trust broker</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6" name="Shape 4"/>
          <p:cNvSpPr/>
          <p:nvPr/>
        </p:nvSpPr>
        <p:spPr>
          <a:xfrm>
            <a:off x="1531620" y="2926080"/>
            <a:ext cx="502920" cy="502920"/>
          </a:xfrm>
          <a:prstGeom prst="ellipse">
            <a:avLst/>
          </a:prstGeom>
          <a:solidFill>
            <a:srgbClr val="0A0F1F"/>
          </a:solidFill>
          <a:ln/>
        </p:spPr>
        <p:txBody>
          <a:bodyPr/>
          <a:lstStyle/>
          <a:p>
            <a:endParaRPr/>
          </a:p>
        </p:txBody>
      </p:sp>
      <p:pic>
        <p:nvPicPr>
          <p:cNvPr id="7" name="Image 0" descr="icons_mobile_00E5FF.png"/>
          <p:cNvPicPr>
            <a:picLocks noChangeAspect="1"/>
          </p:cNvPicPr>
          <p:nvPr/>
        </p:nvPicPr>
        <p:blipFill>
          <a:blip r:embed="rId3"/>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Device management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portal misconfiguration</a:t>
            </a:r>
            <a:endParaRPr lang="en-US" sz="1150" dirty="0"/>
          </a:p>
        </p:txBody>
      </p:sp>
      <p:sp>
        <p:nvSpPr>
          <p:cNvPr id="9" name="Shape 6"/>
          <p:cNvSpPr/>
          <p:nvPr/>
        </p:nvSpPr>
        <p:spPr>
          <a:xfrm>
            <a:off x="2926080" y="3319272"/>
            <a:ext cx="579120" cy="219456"/>
          </a:xfrm>
          <a:prstGeom prst="rightArrow">
            <a:avLst/>
          </a:prstGeom>
          <a:solidFill>
            <a:srgbClr val="7C5CFC"/>
          </a:solidFill>
          <a:ln/>
        </p:spPr>
        <p:txBody>
          <a:bodyPr/>
          <a:lstStyle/>
          <a:p>
            <a:endParaRPr/>
          </a:p>
        </p:txBody>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1" name="Shape 8"/>
          <p:cNvSpPr/>
          <p:nvPr/>
        </p:nvSpPr>
        <p:spPr>
          <a:xfrm>
            <a:off x="4396740" y="2926080"/>
            <a:ext cx="502920" cy="502920"/>
          </a:xfrm>
          <a:prstGeom prst="ellipse">
            <a:avLst/>
          </a:prstGeom>
          <a:solidFill>
            <a:srgbClr val="0A0F1F"/>
          </a:solidFill>
          <a:ln/>
        </p:spPr>
        <p:txBody>
          <a:bodyPr/>
          <a:lstStyle/>
          <a:p>
            <a:endParaRPr/>
          </a:p>
        </p:txBody>
      </p:sp>
      <p:pic>
        <p:nvPicPr>
          <p:cNvPr id="12" name="Image 1" descr="icons_exchange_00E5FF.png"/>
          <p:cNvPicPr>
            <a:picLocks noChangeAspect="1"/>
          </p:cNvPicPr>
          <p:nvPr/>
        </p:nvPicPr>
        <p:blipFill>
          <a:blip r:embed="rId4"/>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Policy pushed to</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enrolled endpoints</a:t>
            </a:r>
            <a:endParaRPr lang="en-US" sz="1150" dirty="0"/>
          </a:p>
        </p:txBody>
      </p:sp>
      <p:sp>
        <p:nvSpPr>
          <p:cNvPr id="14" name="Shape 10"/>
          <p:cNvSpPr/>
          <p:nvPr/>
        </p:nvSpPr>
        <p:spPr>
          <a:xfrm>
            <a:off x="5791200" y="3319272"/>
            <a:ext cx="579120" cy="219456"/>
          </a:xfrm>
          <a:prstGeom prst="rightArrow">
            <a:avLst/>
          </a:prstGeom>
          <a:solidFill>
            <a:srgbClr val="7C5CFC"/>
          </a:solidFill>
          <a:ln/>
        </p:spPr>
        <p:txBody>
          <a:bodyPr/>
          <a:lstStyle/>
          <a:p>
            <a:endParaRPr/>
          </a:p>
        </p:txBody>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6" name="Shape 12"/>
          <p:cNvSpPr/>
          <p:nvPr/>
        </p:nvSpPr>
        <p:spPr>
          <a:xfrm>
            <a:off x="7261860" y="2926080"/>
            <a:ext cx="502920" cy="502920"/>
          </a:xfrm>
          <a:prstGeom prst="ellipse">
            <a:avLst/>
          </a:prstGeom>
          <a:solidFill>
            <a:srgbClr val="0A0F1F"/>
          </a:solidFill>
          <a:ln/>
        </p:spPr>
        <p:txBody>
          <a:bodyPr/>
          <a:lstStyle/>
          <a:p>
            <a:endParaRPr/>
          </a:p>
        </p:txBody>
      </p:sp>
      <p:pic>
        <p:nvPicPr>
          <p:cNvPr id="17" name="Image 2" descr="icons_laptop_00E5FF.png"/>
          <p:cNvPicPr>
            <a:picLocks noChangeAspect="1"/>
          </p:cNvPicPr>
          <p:nvPr/>
        </p:nvPicPr>
        <p:blipFill>
          <a:blip r:embed="rId5"/>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Trusted device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impersonation</a:t>
            </a:r>
            <a:endParaRPr lang="en-US" sz="1150" dirty="0"/>
          </a:p>
        </p:txBody>
      </p:sp>
      <p:sp>
        <p:nvSpPr>
          <p:cNvPr id="19" name="Shape 14"/>
          <p:cNvSpPr/>
          <p:nvPr/>
        </p:nvSpPr>
        <p:spPr>
          <a:xfrm>
            <a:off x="8656320" y="3319272"/>
            <a:ext cx="579120" cy="219456"/>
          </a:xfrm>
          <a:prstGeom prst="rightArrow">
            <a:avLst/>
          </a:prstGeom>
          <a:solidFill>
            <a:srgbClr val="7C5CFC"/>
          </a:solidFill>
          <a:ln/>
        </p:spPr>
        <p:txBody>
          <a:bodyPr/>
          <a:lstStyle/>
          <a:p>
            <a:endParaRPr/>
          </a:p>
        </p:txBody>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txBody>
          <a:bodyPr/>
          <a:lstStyle/>
          <a:p>
            <a:endParaRPr/>
          </a:p>
        </p:txBody>
      </p:sp>
      <p:sp>
        <p:nvSpPr>
          <p:cNvPr id="21" name="Shape 16"/>
          <p:cNvSpPr/>
          <p:nvPr/>
        </p:nvSpPr>
        <p:spPr>
          <a:xfrm>
            <a:off x="10126980" y="2926080"/>
            <a:ext cx="502920" cy="502920"/>
          </a:xfrm>
          <a:prstGeom prst="ellipse">
            <a:avLst/>
          </a:prstGeom>
          <a:solidFill>
            <a:srgbClr val="FF5C7A"/>
          </a:solidFill>
          <a:ln/>
        </p:spPr>
        <p:txBody>
          <a:bodyPr/>
          <a:lstStyle/>
          <a:p>
            <a:endParaRPr/>
          </a:p>
        </p:txBody>
      </p:sp>
      <p:pic>
        <p:nvPicPr>
          <p:cNvPr id="22" name="Image 3" descr="icons_skull_FFFFFF.png"/>
          <p:cNvPicPr>
            <a:picLocks noChangeAspect="1"/>
          </p:cNvPicPr>
          <p:nvPr/>
        </p:nvPicPr>
        <p:blipFill>
          <a:blip r:embed="rId6"/>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Lateral access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to managed fleet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txBody>
          <a:bodyPr/>
          <a:lstStyle/>
          <a:p>
            <a:endParaRPr/>
          </a:p>
        </p:txBody>
      </p:sp>
      <p:sp>
        <p:nvSpPr>
          <p:cNvPr id="25" name="Text 19"/>
          <p:cNvSpPr/>
          <p:nvPr/>
        </p:nvSpPr>
        <p:spPr>
          <a:xfrm>
            <a:off x="914400" y="4709160"/>
            <a:ext cx="10332720" cy="1234440"/>
          </a:xfrm>
          <a:prstGeom prst="rect">
            <a:avLst/>
          </a:prstGeom>
          <a:noFill/>
          <a:ln/>
        </p:spPr>
        <p:txBody>
          <a:bodyPr wrap="square" rtlCol="0" anchor="ctr"/>
          <a:lstStyle/>
          <a:p>
            <a:pPr marL="0" indent="0">
              <a:buNone/>
            </a:pPr>
            <a:r>
              <a:rPr lang="en-US" sz="1350" i="1" dirty="0">
                <a:solidFill>
                  <a:srgbClr val="8E9BC0"/>
                </a:solidFill>
                <a:latin typeface="Calibri" pitchFamily="34" charset="0"/>
                <a:ea typeface="Calibri" pitchFamily="34" charset="-122"/>
                <a:cs typeface="Calibri" pitchFamily="34" charset="-120"/>
              </a:rPr>
              <a:t>Device management platforms decide which endpoints are trusted - compromise the platform and you inherit that trust across the entire fleet. This pillar is more research-driven than breach-driven today; treat it as where the field is heading, not a settled case study.</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Text 1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PILLAR 3 OF 5</a:t>
            </a:r>
            <a:endParaRPr lang="en-US" sz="1300" dirty="0"/>
          </a:p>
        </p:txBody>
      </p:sp>
      <p:sp>
        <p:nvSpPr>
          <p:cNvPr id="13" name="Shape 11"/>
          <p:cNvSpPr/>
          <p:nvPr/>
        </p:nvSpPr>
        <p:spPr>
          <a:xfrm>
            <a:off x="822960" y="1828800"/>
            <a:ext cx="1188720" cy="1188720"/>
          </a:xfrm>
          <a:prstGeom prst="ellipse">
            <a:avLst/>
          </a:prstGeom>
          <a:solidFill>
            <a:srgbClr val="121A33"/>
          </a:solidFill>
          <a:ln/>
        </p:spPr>
        <p:txBody>
          <a:bodyPr/>
          <a:lstStyle/>
          <a:p>
            <a:endParaRPr/>
          </a:p>
        </p:txBody>
      </p:sp>
      <p:pic>
        <p:nvPicPr>
          <p:cNvPr id="14" name="Image 0" descr="icons_building_00E5FF.png"/>
          <p:cNvPicPr>
            <a:picLocks noChangeAspect="1"/>
          </p:cNvPicPr>
          <p:nvPr/>
        </p:nvPicPr>
        <p:blipFill>
          <a:blip r:embed="rId3"/>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SaaS Platforms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marL="0" indent="0">
              <a:buNone/>
            </a:pPr>
            <a:r>
              <a:rPr lang="en-US" sz="1700" i="1" dirty="0">
                <a:solidFill>
                  <a:srgbClr val="7C5CFC"/>
                </a:solidFill>
                <a:latin typeface="Cambria" pitchFamily="34" charset="0"/>
                <a:ea typeface="Cambria" pitchFamily="34" charset="-122"/>
                <a:cs typeface="Cambria" pitchFamily="34" charset="-120"/>
              </a:rPr>
              <a:t>Where does that trust take me?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txBody>
          <a:bodyPr/>
          <a:lstStyle/>
          <a:p>
            <a:endParaRPr/>
          </a:p>
        </p:txBody>
      </p:sp>
      <p:sp>
        <p:nvSpPr>
          <p:cNvPr id="18" name="Text 15"/>
          <p:cNvSpPr/>
          <p:nvPr/>
        </p:nvSpPr>
        <p:spPr>
          <a:xfrm>
            <a:off x="1188720" y="3886200"/>
            <a:ext cx="9784080" cy="457200"/>
          </a:xfrm>
          <a:prstGeom prst="rect">
            <a:avLst/>
          </a:prstGeom>
          <a:noFill/>
          <a:ln/>
        </p:spPr>
        <p:txBody>
          <a:bodyPr wrap="square" rtlCol="0" anchor="ctr"/>
          <a:lstStyle/>
          <a:p>
            <a:pPr marL="0" indent="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marL="0" indent="0">
              <a:buNone/>
            </a:pPr>
            <a:r>
              <a:rPr lang="en-US" sz="1400" dirty="0">
                <a:solidFill>
                  <a:srgbClr val="8E9BC0"/>
                </a:solidFill>
                <a:latin typeface="Calibri" pitchFamily="34" charset="0"/>
                <a:ea typeface="Calibri" pitchFamily="34" charset="-122"/>
                <a:cs typeface="Calibri" pitchFamily="34" charset="-120"/>
              </a:rPr>
              <a:t>SaaS applications increasingly hold the data and workflows attackers actually want - CRM records, financial systems, source code, HR data - all administered outside the domain entirely.</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CHAIN EXAMPLE 3</a:t>
            </a:r>
            <a:endParaRPr lang="en-US" sz="1300" dirty="0"/>
          </a:p>
        </p:txBody>
      </p:sp>
      <p:sp>
        <p:nvSpPr>
          <p:cNvPr id="3" name="Text 1"/>
          <p:cNvSpPr/>
          <p:nvPr/>
        </p:nvSpPr>
        <p:spPr>
          <a:xfrm>
            <a:off x="4327855" y="530352"/>
            <a:ext cx="7223760" cy="320040"/>
          </a:xfrm>
          <a:prstGeom prst="rect">
            <a:avLst/>
          </a:prstGeom>
          <a:noFill/>
          <a:ln/>
        </p:spPr>
        <p:txBody>
          <a:bodyPr wrap="square" rtlCol="0" anchor="ctr"/>
          <a:lstStyle/>
          <a:p>
            <a:pPr marL="0" indent="0" algn="r">
              <a:buNone/>
            </a:pPr>
            <a:r>
              <a:rPr lang="en-US" sz="1050" i="1" dirty="0">
                <a:solidFill>
                  <a:srgbClr val="8E9BC0"/>
                </a:solidFill>
                <a:latin typeface="Calibri" pitchFamily="34" charset="0"/>
                <a:ea typeface="Calibri" pitchFamily="34" charset="-122"/>
                <a:cs typeface="Calibri" pitchFamily="34" charset="-120"/>
              </a:rPr>
              <a:t>Case study: Snowflake breach, 2024 (UNC5537)  |  ATT&amp;CK: T1078, T1110.004</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SaaS platforms holding the keys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6" name="Shape 4"/>
          <p:cNvSpPr/>
          <p:nvPr/>
        </p:nvSpPr>
        <p:spPr>
          <a:xfrm>
            <a:off x="1531620" y="2926080"/>
            <a:ext cx="502920" cy="502920"/>
          </a:xfrm>
          <a:prstGeom prst="ellipse">
            <a:avLst/>
          </a:prstGeom>
          <a:solidFill>
            <a:srgbClr val="0A0F1F"/>
          </a:solidFill>
          <a:ln/>
        </p:spPr>
        <p:txBody>
          <a:bodyPr/>
          <a:lstStyle/>
          <a:p>
            <a:endParaRPr/>
          </a:p>
        </p:txBody>
      </p:sp>
      <p:pic>
        <p:nvPicPr>
          <p:cNvPr id="7" name="Image 0" descr="icons_building_00E5FF.png"/>
          <p:cNvPicPr>
            <a:picLocks noChangeAspect="1"/>
          </p:cNvPicPr>
          <p:nvPr/>
        </p:nvPicPr>
        <p:blipFill>
          <a:blip r:embed="rId3"/>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Over-privileged SaaS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account, no MFA</a:t>
            </a:r>
            <a:endParaRPr lang="en-US" sz="1150" dirty="0"/>
          </a:p>
        </p:txBody>
      </p:sp>
      <p:sp>
        <p:nvSpPr>
          <p:cNvPr id="9" name="Shape 6"/>
          <p:cNvSpPr/>
          <p:nvPr/>
        </p:nvSpPr>
        <p:spPr>
          <a:xfrm>
            <a:off x="2926080" y="3319272"/>
            <a:ext cx="579120" cy="219456"/>
          </a:xfrm>
          <a:prstGeom prst="rightArrow">
            <a:avLst/>
          </a:prstGeom>
          <a:solidFill>
            <a:srgbClr val="7C5CFC"/>
          </a:solidFill>
          <a:ln/>
        </p:spPr>
        <p:txBody>
          <a:bodyPr/>
          <a:lstStyle/>
          <a:p>
            <a:endParaRPr/>
          </a:p>
        </p:txBody>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1" name="Shape 8"/>
          <p:cNvSpPr/>
          <p:nvPr/>
        </p:nvSpPr>
        <p:spPr>
          <a:xfrm>
            <a:off x="4396740" y="2926080"/>
            <a:ext cx="502920" cy="502920"/>
          </a:xfrm>
          <a:prstGeom prst="ellipse">
            <a:avLst/>
          </a:prstGeom>
          <a:solidFill>
            <a:srgbClr val="0A0F1F"/>
          </a:solidFill>
          <a:ln/>
        </p:spPr>
        <p:txBody>
          <a:bodyPr/>
          <a:lstStyle/>
          <a:p>
            <a:endParaRPr/>
          </a:p>
        </p:txBody>
      </p:sp>
      <p:pic>
        <p:nvPicPr>
          <p:cNvPr id="12" name="Image 1" descr="icons_key_00E5FF.png"/>
          <p:cNvPicPr>
            <a:picLocks noChangeAspect="1"/>
          </p:cNvPicPr>
          <p:nvPr/>
        </p:nvPicPr>
        <p:blipFill>
          <a:blip r:embed="rId4"/>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Stolen credentials from</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infostealer malware</a:t>
            </a:r>
            <a:endParaRPr lang="en-US" sz="1150" dirty="0"/>
          </a:p>
        </p:txBody>
      </p:sp>
      <p:sp>
        <p:nvSpPr>
          <p:cNvPr id="14" name="Shape 10"/>
          <p:cNvSpPr/>
          <p:nvPr/>
        </p:nvSpPr>
        <p:spPr>
          <a:xfrm>
            <a:off x="5791200" y="3319272"/>
            <a:ext cx="579120" cy="219456"/>
          </a:xfrm>
          <a:prstGeom prst="rightArrow">
            <a:avLst/>
          </a:prstGeom>
          <a:solidFill>
            <a:srgbClr val="7C5CFC"/>
          </a:solidFill>
          <a:ln/>
        </p:spPr>
        <p:txBody>
          <a:bodyPr/>
          <a:lstStyle/>
          <a:p>
            <a:endParaRPr/>
          </a:p>
        </p:txBody>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6" name="Shape 12"/>
          <p:cNvSpPr/>
          <p:nvPr/>
        </p:nvSpPr>
        <p:spPr>
          <a:xfrm>
            <a:off x="7261860" y="2926080"/>
            <a:ext cx="502920" cy="502920"/>
          </a:xfrm>
          <a:prstGeom prst="ellipse">
            <a:avLst/>
          </a:prstGeom>
          <a:solidFill>
            <a:srgbClr val="0A0F1F"/>
          </a:solidFill>
          <a:ln/>
        </p:spPr>
        <p:txBody>
          <a:bodyPr/>
          <a:lstStyle/>
          <a:p>
            <a:endParaRPr/>
          </a:p>
        </p:txBody>
      </p:sp>
      <p:pic>
        <p:nvPicPr>
          <p:cNvPr id="17" name="Image 2" descr="icons_usershield_00E5FF.png"/>
          <p:cNvPicPr>
            <a:picLocks noChangeAspect="1"/>
          </p:cNvPicPr>
          <p:nvPr/>
        </p:nvPicPr>
        <p:blipFill>
          <a:blip r:embed="rId5"/>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Direct login to</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customer tenant</a:t>
            </a:r>
            <a:endParaRPr lang="en-US" sz="1150" dirty="0"/>
          </a:p>
        </p:txBody>
      </p:sp>
      <p:sp>
        <p:nvSpPr>
          <p:cNvPr id="19" name="Shape 14"/>
          <p:cNvSpPr/>
          <p:nvPr/>
        </p:nvSpPr>
        <p:spPr>
          <a:xfrm>
            <a:off x="8656320" y="3319272"/>
            <a:ext cx="579120" cy="219456"/>
          </a:xfrm>
          <a:prstGeom prst="rightArrow">
            <a:avLst/>
          </a:prstGeom>
          <a:solidFill>
            <a:srgbClr val="7C5CFC"/>
          </a:solidFill>
          <a:ln/>
        </p:spPr>
        <p:txBody>
          <a:bodyPr/>
          <a:lstStyle/>
          <a:p>
            <a:endParaRPr/>
          </a:p>
        </p:txBody>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txBody>
          <a:bodyPr/>
          <a:lstStyle/>
          <a:p>
            <a:endParaRPr/>
          </a:p>
        </p:txBody>
      </p:sp>
      <p:sp>
        <p:nvSpPr>
          <p:cNvPr id="21" name="Shape 16"/>
          <p:cNvSpPr/>
          <p:nvPr/>
        </p:nvSpPr>
        <p:spPr>
          <a:xfrm>
            <a:off x="10126980" y="2926080"/>
            <a:ext cx="502920" cy="502920"/>
          </a:xfrm>
          <a:prstGeom prst="ellipse">
            <a:avLst/>
          </a:prstGeom>
          <a:solidFill>
            <a:srgbClr val="FF5C7A"/>
          </a:solidFill>
          <a:ln/>
        </p:spPr>
        <p:txBody>
          <a:bodyPr/>
          <a:lstStyle/>
          <a:p>
            <a:endParaRPr/>
          </a:p>
        </p:txBody>
      </p:sp>
      <p:pic>
        <p:nvPicPr>
          <p:cNvPr id="22" name="Image 3" descr="icons_skull_FFFFFF.png"/>
          <p:cNvPicPr>
            <a:picLocks noChangeAspect="1"/>
          </p:cNvPicPr>
          <p:nvPr/>
        </p:nvPicPr>
        <p:blipFill>
          <a:blip r:embed="rId6"/>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Mass data</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exfiltration</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txBody>
          <a:bodyPr/>
          <a:lstStyle/>
          <a:p>
            <a:endParaRPr/>
          </a:p>
        </p:txBody>
      </p:sp>
      <p:sp>
        <p:nvSpPr>
          <p:cNvPr id="25" name="Text 19"/>
          <p:cNvSpPr/>
          <p:nvPr/>
        </p:nvSpPr>
        <p:spPr>
          <a:xfrm>
            <a:off x="914400" y="4709160"/>
            <a:ext cx="10332720" cy="1234440"/>
          </a:xfrm>
          <a:prstGeom prst="rect">
            <a:avLst/>
          </a:prstGeom>
          <a:noFill/>
          <a:ln/>
        </p:spPr>
        <p:txBody>
          <a:bodyPr wrap="square" rtlCol="0" anchor="ctr"/>
          <a:lstStyle/>
          <a:p>
            <a:pPr marL="0" indent="0">
              <a:buNone/>
            </a:pPr>
            <a:r>
              <a:rPr lang="en-US" sz="1350" i="1" dirty="0">
                <a:solidFill>
                  <a:srgbClr val="8E9BC0"/>
                </a:solidFill>
                <a:latin typeface="Calibri" pitchFamily="34" charset="0"/>
                <a:ea typeface="Calibri" pitchFamily="34" charset="-122"/>
                <a:cs typeface="Calibri" pitchFamily="34" charset="-120"/>
              </a:rPr>
              <a:t>SaaS platforms increasingly hold sensitive data and administrative control that never touches the Windows domain at all - and attackers don't need a platform vulnerability, just a valid stolen credential and no MFA.</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Text 1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PILLAR 4 OF 5</a:t>
            </a:r>
            <a:endParaRPr lang="en-US" sz="1300" dirty="0"/>
          </a:p>
        </p:txBody>
      </p:sp>
      <p:sp>
        <p:nvSpPr>
          <p:cNvPr id="13" name="Shape 11"/>
          <p:cNvSpPr/>
          <p:nvPr/>
        </p:nvSpPr>
        <p:spPr>
          <a:xfrm>
            <a:off x="822960" y="1828800"/>
            <a:ext cx="1188720" cy="1188720"/>
          </a:xfrm>
          <a:prstGeom prst="ellipse">
            <a:avLst/>
          </a:prstGeom>
          <a:solidFill>
            <a:srgbClr val="121A33"/>
          </a:solidFill>
          <a:ln/>
        </p:spPr>
        <p:txBody>
          <a:bodyPr/>
          <a:lstStyle/>
          <a:p>
            <a:endParaRPr/>
          </a:p>
        </p:txBody>
      </p:sp>
      <p:pic>
        <p:nvPicPr>
          <p:cNvPr id="14" name="Image 0" descr="icons_exchange_00E5FF.png"/>
          <p:cNvPicPr>
            <a:picLocks noChangeAspect="1"/>
          </p:cNvPicPr>
          <p:nvPr/>
        </p:nvPicPr>
        <p:blipFill>
          <a:blip r:embed="rId3"/>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OAuth &amp; Federation</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marL="0" indent="0">
              <a:buNone/>
            </a:pPr>
            <a:r>
              <a:rPr lang="en-US" sz="1700" i="1" dirty="0">
                <a:solidFill>
                  <a:srgbClr val="7C5CFC"/>
                </a:solidFill>
                <a:latin typeface="Cambria" pitchFamily="34" charset="0"/>
                <a:ea typeface="Cambria" pitchFamily="34" charset="-122"/>
                <a:cs typeface="Cambria" pitchFamily="34" charset="-120"/>
              </a:rPr>
              <a:t>What can that trust authorise?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txBody>
          <a:bodyPr/>
          <a:lstStyle/>
          <a:p>
            <a:endParaRPr/>
          </a:p>
        </p:txBody>
      </p:sp>
      <p:sp>
        <p:nvSpPr>
          <p:cNvPr id="18" name="Text 15"/>
          <p:cNvSpPr/>
          <p:nvPr/>
        </p:nvSpPr>
        <p:spPr>
          <a:xfrm>
            <a:off x="1188720" y="3886200"/>
            <a:ext cx="9784080" cy="457200"/>
          </a:xfrm>
          <a:prstGeom prst="rect">
            <a:avLst/>
          </a:prstGeom>
          <a:noFill/>
          <a:ln/>
        </p:spPr>
        <p:txBody>
          <a:bodyPr wrap="square" rtlCol="0" anchor="ctr"/>
          <a:lstStyle/>
          <a:p>
            <a:pPr marL="0" indent="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marL="0" indent="0">
              <a:buNone/>
            </a:pPr>
            <a:r>
              <a:rPr lang="en-US" sz="1400" dirty="0">
                <a:solidFill>
                  <a:srgbClr val="8E9BC0"/>
                </a:solidFill>
                <a:latin typeface="Calibri" pitchFamily="34" charset="0"/>
                <a:ea typeface="Calibri" pitchFamily="34" charset="-122"/>
                <a:cs typeface="Calibri" pitchFamily="34" charset="-120"/>
              </a:rPr>
              <a:t>OAuth consent and federated trust relationships quietly bridge organisational boundaries. A single over-scoped app registration can become a bridge into a partner's or customer's tenant.</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CHAIN EXAMPLE 4</a:t>
            </a:r>
            <a:endParaRPr lang="en-US" sz="1300" dirty="0"/>
          </a:p>
        </p:txBody>
      </p:sp>
      <p:sp>
        <p:nvSpPr>
          <p:cNvPr id="3" name="Text 1"/>
          <p:cNvSpPr/>
          <p:nvPr/>
        </p:nvSpPr>
        <p:spPr>
          <a:xfrm>
            <a:off x="4327855" y="530352"/>
            <a:ext cx="7223760" cy="320040"/>
          </a:xfrm>
          <a:prstGeom prst="rect">
            <a:avLst/>
          </a:prstGeom>
          <a:noFill/>
          <a:ln/>
        </p:spPr>
        <p:txBody>
          <a:bodyPr wrap="square" rtlCol="0" anchor="ctr"/>
          <a:lstStyle/>
          <a:p>
            <a:pPr marL="0" indent="0" algn="r">
              <a:buNone/>
            </a:pPr>
            <a:r>
              <a:rPr lang="en-US" sz="1050" i="1" dirty="0">
                <a:solidFill>
                  <a:srgbClr val="8E9BC0"/>
                </a:solidFill>
                <a:latin typeface="Calibri" pitchFamily="34" charset="0"/>
                <a:ea typeface="Calibri" pitchFamily="34" charset="-122"/>
                <a:cs typeface="Calibri" pitchFamily="34" charset="-120"/>
              </a:rPr>
              <a:t>Case study: Microsoft breach, Jan 2024 (Midnight Blizzard)  |  ATT&amp;CK: T1528, T1098.001</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OAuth &amp; federation: trust without borders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6" name="Shape 4"/>
          <p:cNvSpPr/>
          <p:nvPr/>
        </p:nvSpPr>
        <p:spPr>
          <a:xfrm>
            <a:off x="1531620" y="2926080"/>
            <a:ext cx="502920" cy="502920"/>
          </a:xfrm>
          <a:prstGeom prst="ellipse">
            <a:avLst/>
          </a:prstGeom>
          <a:solidFill>
            <a:srgbClr val="0A0F1F"/>
          </a:solidFill>
          <a:ln/>
        </p:spPr>
        <p:txBody>
          <a:bodyPr/>
          <a:lstStyle/>
          <a:p>
            <a:endParaRPr/>
          </a:p>
        </p:txBody>
      </p:sp>
      <p:pic>
        <p:nvPicPr>
          <p:cNvPr id="7" name="Image 0" descr="icons_exchange_00E5FF.png"/>
          <p:cNvPicPr>
            <a:picLocks noChangeAspect="1"/>
          </p:cNvPicPr>
          <p:nvPr/>
        </p:nvPicPr>
        <p:blipFill>
          <a:blip r:embed="rId3"/>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Over-permissioned legacy</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OAuth test application</a:t>
            </a:r>
            <a:endParaRPr lang="en-US" sz="1150" dirty="0"/>
          </a:p>
        </p:txBody>
      </p:sp>
      <p:sp>
        <p:nvSpPr>
          <p:cNvPr id="9" name="Shape 6"/>
          <p:cNvSpPr/>
          <p:nvPr/>
        </p:nvSpPr>
        <p:spPr>
          <a:xfrm>
            <a:off x="2926080" y="3319272"/>
            <a:ext cx="579120" cy="219456"/>
          </a:xfrm>
          <a:prstGeom prst="rightArrow">
            <a:avLst/>
          </a:prstGeom>
          <a:solidFill>
            <a:srgbClr val="7C5CFC"/>
          </a:solidFill>
          <a:ln/>
        </p:spPr>
        <p:txBody>
          <a:bodyPr/>
          <a:lstStyle/>
          <a:p>
            <a:endParaRPr/>
          </a:p>
        </p:txBody>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1" name="Shape 8"/>
          <p:cNvSpPr/>
          <p:nvPr/>
        </p:nvSpPr>
        <p:spPr>
          <a:xfrm>
            <a:off x="4396740" y="2926080"/>
            <a:ext cx="502920" cy="502920"/>
          </a:xfrm>
          <a:prstGeom prst="ellipse">
            <a:avLst/>
          </a:prstGeom>
          <a:solidFill>
            <a:srgbClr val="0A0F1F"/>
          </a:solidFill>
          <a:ln/>
        </p:spPr>
        <p:txBody>
          <a:bodyPr/>
          <a:lstStyle/>
          <a:p>
            <a:endParaRPr/>
          </a:p>
        </p:txBody>
      </p:sp>
      <p:pic>
        <p:nvPicPr>
          <p:cNvPr id="12" name="Image 1" descr="icons_link_00E5FF.png"/>
          <p:cNvPicPr>
            <a:picLocks noChangeAspect="1"/>
          </p:cNvPicPr>
          <p:nvPr/>
        </p:nvPicPr>
        <p:blipFill>
          <a:blip r:embed="rId4"/>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Malicious OAuth apps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created via new admin</a:t>
            </a:r>
            <a:endParaRPr lang="en-US" sz="1150" dirty="0"/>
          </a:p>
        </p:txBody>
      </p:sp>
      <p:sp>
        <p:nvSpPr>
          <p:cNvPr id="14" name="Shape 10"/>
          <p:cNvSpPr/>
          <p:nvPr/>
        </p:nvSpPr>
        <p:spPr>
          <a:xfrm>
            <a:off x="5791200" y="3319272"/>
            <a:ext cx="579120" cy="219456"/>
          </a:xfrm>
          <a:prstGeom prst="rightArrow">
            <a:avLst/>
          </a:prstGeom>
          <a:solidFill>
            <a:srgbClr val="7C5CFC"/>
          </a:solidFill>
          <a:ln/>
        </p:spPr>
        <p:txBody>
          <a:bodyPr/>
          <a:lstStyle/>
          <a:p>
            <a:endParaRPr/>
          </a:p>
        </p:txBody>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6" name="Shape 12"/>
          <p:cNvSpPr/>
          <p:nvPr/>
        </p:nvSpPr>
        <p:spPr>
          <a:xfrm>
            <a:off x="7261860" y="2926080"/>
            <a:ext cx="502920" cy="502920"/>
          </a:xfrm>
          <a:prstGeom prst="ellipse">
            <a:avLst/>
          </a:prstGeom>
          <a:solidFill>
            <a:srgbClr val="0A0F1F"/>
          </a:solidFill>
          <a:ln/>
        </p:spPr>
        <p:txBody>
          <a:bodyPr/>
          <a:lstStyle/>
          <a:p>
            <a:endParaRPr/>
          </a:p>
        </p:txBody>
      </p:sp>
      <p:pic>
        <p:nvPicPr>
          <p:cNvPr id="17" name="Image 2" descr="icons_cloud_00E5FF.png"/>
          <p:cNvPicPr>
            <a:picLocks noChangeAspect="1"/>
          </p:cNvPicPr>
          <p:nvPr/>
        </p:nvPicPr>
        <p:blipFill>
          <a:blip r:embed="rId5"/>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full_access_as_app role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granted to attacker apps</a:t>
            </a:r>
            <a:endParaRPr lang="en-US" sz="1150" dirty="0"/>
          </a:p>
        </p:txBody>
      </p:sp>
      <p:sp>
        <p:nvSpPr>
          <p:cNvPr id="19" name="Shape 14"/>
          <p:cNvSpPr/>
          <p:nvPr/>
        </p:nvSpPr>
        <p:spPr>
          <a:xfrm>
            <a:off x="8656320" y="3319272"/>
            <a:ext cx="579120" cy="219456"/>
          </a:xfrm>
          <a:prstGeom prst="rightArrow">
            <a:avLst/>
          </a:prstGeom>
          <a:solidFill>
            <a:srgbClr val="7C5CFC"/>
          </a:solidFill>
          <a:ln/>
        </p:spPr>
        <p:txBody>
          <a:bodyPr/>
          <a:lstStyle/>
          <a:p>
            <a:endParaRPr/>
          </a:p>
        </p:txBody>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txBody>
          <a:bodyPr/>
          <a:lstStyle/>
          <a:p>
            <a:endParaRPr/>
          </a:p>
        </p:txBody>
      </p:sp>
      <p:sp>
        <p:nvSpPr>
          <p:cNvPr id="21" name="Shape 16"/>
          <p:cNvSpPr/>
          <p:nvPr/>
        </p:nvSpPr>
        <p:spPr>
          <a:xfrm>
            <a:off x="10126980" y="2926080"/>
            <a:ext cx="502920" cy="502920"/>
          </a:xfrm>
          <a:prstGeom prst="ellipse">
            <a:avLst/>
          </a:prstGeom>
          <a:solidFill>
            <a:srgbClr val="FF5C7A"/>
          </a:solidFill>
          <a:ln/>
        </p:spPr>
        <p:txBody>
          <a:bodyPr/>
          <a:lstStyle/>
          <a:p>
            <a:endParaRPr/>
          </a:p>
        </p:txBody>
      </p:sp>
      <p:pic>
        <p:nvPicPr>
          <p:cNvPr id="22" name="Image 3" descr="icons_skull_FFFFFF.png"/>
          <p:cNvPicPr>
            <a:picLocks noChangeAspect="1"/>
          </p:cNvPicPr>
          <p:nvPr/>
        </p:nvPicPr>
        <p:blipFill>
          <a:blip r:embed="rId6"/>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Full mailbox access,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senior leadership impact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txBody>
          <a:bodyPr/>
          <a:lstStyle/>
          <a:p>
            <a:endParaRPr/>
          </a:p>
        </p:txBody>
      </p:sp>
      <p:sp>
        <p:nvSpPr>
          <p:cNvPr id="25" name="Text 19"/>
          <p:cNvSpPr/>
          <p:nvPr/>
        </p:nvSpPr>
        <p:spPr>
          <a:xfrm>
            <a:off x="914400" y="4709160"/>
            <a:ext cx="10332720" cy="1234440"/>
          </a:xfrm>
          <a:prstGeom prst="rect">
            <a:avLst/>
          </a:prstGeom>
          <a:noFill/>
          <a:ln/>
        </p:spPr>
        <p:txBody>
          <a:bodyPr wrap="square" rtlCol="0" anchor="ctr"/>
          <a:lstStyle/>
          <a:p>
            <a:pPr marL="0" indent="0">
              <a:buNone/>
            </a:pPr>
            <a:r>
              <a:rPr lang="en-US" sz="1350" i="1" dirty="0">
                <a:solidFill>
                  <a:srgbClr val="8E9BC0"/>
                </a:solidFill>
                <a:latin typeface="Calibri" pitchFamily="34" charset="0"/>
                <a:ea typeface="Calibri" pitchFamily="34" charset="-122"/>
                <a:cs typeface="Calibri" pitchFamily="34" charset="-120"/>
              </a:rPr>
              <a:t>Federated identity introduces entirely new attack paths - a single forgotten, over-scoped OAuth application can become a bridge into an entire tenant, bypassing MFA and session controls altogether.</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app everyone forgot about</a:t>
            </a:r>
            <a:endParaRPr lang="en-US" sz="3200" dirty="0"/>
          </a:p>
        </p:txBody>
      </p:sp>
      <p:sp>
        <p:nvSpPr>
          <p:cNvPr id="4" name="Shape 2"/>
          <p:cNvSpPr/>
          <p:nvPr/>
        </p:nvSpPr>
        <p:spPr>
          <a:xfrm>
            <a:off x="1005840" y="2286000"/>
            <a:ext cx="10149840" cy="2221992"/>
          </a:xfrm>
          <a:prstGeom prst="rect">
            <a:avLst/>
          </a:prstGeom>
          <a:solidFill>
            <a:srgbClr val="F5F7FB"/>
          </a:solidFill>
          <a:ln/>
        </p:spPr>
        <p:txBody>
          <a:bodyPr/>
          <a:lstStyle/>
          <a:p>
            <a:endParaRPr/>
          </a:p>
        </p:txBody>
      </p:sp>
      <p:sp>
        <p:nvSpPr>
          <p:cNvPr id="5" name="Shape 3"/>
          <p:cNvSpPr/>
          <p:nvPr/>
        </p:nvSpPr>
        <p:spPr>
          <a:xfrm>
            <a:off x="1005840" y="1920240"/>
            <a:ext cx="10149840" cy="365760"/>
          </a:xfrm>
          <a:prstGeom prst="roundRect">
            <a:avLst>
              <a:gd name="adj" fmla="val 15000"/>
            </a:avLst>
          </a:prstGeom>
          <a:solidFill>
            <a:srgbClr val="D8DCE6"/>
          </a:solidFill>
          <a:ln/>
        </p:spPr>
        <p:txBody>
          <a:bodyPr/>
          <a:lstStyle/>
          <a:p>
            <a:endParaRPr/>
          </a:p>
        </p:txBody>
      </p:sp>
      <p:sp>
        <p:nvSpPr>
          <p:cNvPr id="6" name="Shape 4"/>
          <p:cNvSpPr/>
          <p:nvPr/>
        </p:nvSpPr>
        <p:spPr>
          <a:xfrm>
            <a:off x="1207008" y="2057400"/>
            <a:ext cx="100584" cy="100584"/>
          </a:xfrm>
          <a:prstGeom prst="ellipse">
            <a:avLst/>
          </a:prstGeom>
          <a:solidFill>
            <a:srgbClr val="FF5F56"/>
          </a:solidFill>
          <a:ln/>
        </p:spPr>
        <p:txBody>
          <a:bodyPr/>
          <a:lstStyle/>
          <a:p>
            <a:endParaRPr/>
          </a:p>
        </p:txBody>
      </p:sp>
      <p:sp>
        <p:nvSpPr>
          <p:cNvPr id="7" name="Shape 5"/>
          <p:cNvSpPr/>
          <p:nvPr/>
        </p:nvSpPr>
        <p:spPr>
          <a:xfrm>
            <a:off x="1408176" y="2057400"/>
            <a:ext cx="100584" cy="100584"/>
          </a:xfrm>
          <a:prstGeom prst="ellipse">
            <a:avLst/>
          </a:prstGeom>
          <a:solidFill>
            <a:srgbClr val="FFBD2E"/>
          </a:solidFill>
          <a:ln/>
        </p:spPr>
        <p:txBody>
          <a:bodyPr/>
          <a:lstStyle/>
          <a:p>
            <a:endParaRPr/>
          </a:p>
        </p:txBody>
      </p:sp>
      <p:sp>
        <p:nvSpPr>
          <p:cNvPr id="8" name="Shape 6"/>
          <p:cNvSpPr/>
          <p:nvPr/>
        </p:nvSpPr>
        <p:spPr>
          <a:xfrm>
            <a:off x="1609344" y="2057400"/>
            <a:ext cx="100584" cy="100584"/>
          </a:xfrm>
          <a:prstGeom prst="ellipse">
            <a:avLst/>
          </a:prstGeom>
          <a:solidFill>
            <a:srgbClr val="27C93F"/>
          </a:solidFill>
          <a:ln/>
        </p:spPr>
        <p:txBody>
          <a:bodyPr/>
          <a:lstStyle/>
          <a:p>
            <a:endParaRPr/>
          </a:p>
        </p:txBody>
      </p:sp>
      <p:sp>
        <p:nvSpPr>
          <p:cNvPr id="9" name="Shape 7"/>
          <p:cNvSpPr/>
          <p:nvPr/>
        </p:nvSpPr>
        <p:spPr>
          <a:xfrm>
            <a:off x="2011680" y="1993392"/>
            <a:ext cx="8046720" cy="219456"/>
          </a:xfrm>
          <a:prstGeom prst="roundRect">
            <a:avLst>
              <a:gd name="adj" fmla="val 25000"/>
            </a:avLst>
          </a:prstGeom>
          <a:solidFill>
            <a:srgbClr val="EDEFF5"/>
          </a:solidFill>
          <a:ln/>
        </p:spPr>
        <p:txBody>
          <a:bodyPr/>
          <a:lstStyle/>
          <a:p>
            <a:endParaRPr/>
          </a:p>
        </p:txBody>
      </p:sp>
      <p:sp>
        <p:nvSpPr>
          <p:cNvPr id="10" name="Text 8"/>
          <p:cNvSpPr/>
          <p:nvPr/>
        </p:nvSpPr>
        <p:spPr>
          <a:xfrm>
            <a:off x="2148840" y="1993392"/>
            <a:ext cx="7863840" cy="219456"/>
          </a:xfrm>
          <a:prstGeom prst="rect">
            <a:avLst/>
          </a:prstGeom>
          <a:noFill/>
          <a:ln/>
        </p:spPr>
        <p:txBody>
          <a:bodyPr wrap="square" rtlCol="0" anchor="ctr"/>
          <a:lstStyle/>
          <a:p>
            <a:pPr marL="0" indent="0">
              <a:buNone/>
            </a:pPr>
            <a:r>
              <a:rPr lang="en-US" sz="950" dirty="0">
                <a:solidFill>
                  <a:srgbClr val="6B7280"/>
                </a:solidFill>
                <a:latin typeface="Consolas" pitchFamily="34" charset="0"/>
                <a:ea typeface="Consolas" pitchFamily="34" charset="-122"/>
                <a:cs typeface="Consolas" pitchFamily="34" charset="-120"/>
              </a:rPr>
              <a:t>🔒 app-permissions.example/enterprise-applications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Enterprise Applications - Admin Consent Granted</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txBody>
          <a:bodyPr/>
          <a:lstStyle/>
          <a:p>
            <a:endParaRPr/>
          </a:p>
        </p:txBody>
      </p:sp>
      <p:sp>
        <p:nvSpPr>
          <p:cNvPr id="13" name="Text 11"/>
          <p:cNvSpPr/>
          <p:nvPr/>
        </p:nvSpPr>
        <p:spPr>
          <a:xfrm>
            <a:off x="1325880" y="2880360"/>
            <a:ext cx="7223760" cy="512064"/>
          </a:xfrm>
          <a:prstGeom prst="rect">
            <a:avLst/>
          </a:prstGeom>
          <a:noFill/>
          <a:ln/>
        </p:spPr>
        <p:txBody>
          <a:bodyPr wrap="square" rtlCol="0" anchor="ctr"/>
          <a:lstStyle/>
          <a:p>
            <a:pPr marL="0" indent="0">
              <a:buNone/>
            </a:pPr>
            <a:r>
              <a:rPr lang="en-US" sz="1150" dirty="0">
                <a:solidFill>
                  <a:srgbClr val="1A1F2E"/>
                </a:solidFill>
                <a:latin typeface="Calibri" pitchFamily="34" charset="0"/>
                <a:ea typeface="Calibri" pitchFamily="34" charset="-122"/>
                <a:cs typeface="Calibri" pitchFamily="34" charset="-120"/>
              </a:rPr>
              <a:t>Approved HR Portal - User.Read</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txBody>
          <a:bodyPr/>
          <a:lstStyle/>
          <a:p>
            <a:endParaRPr/>
          </a:p>
        </p:txBody>
      </p:sp>
      <p:sp>
        <p:nvSpPr>
          <p:cNvPr id="15" name="Text 13"/>
          <p:cNvSpPr/>
          <p:nvPr/>
        </p:nvSpPr>
        <p:spPr>
          <a:xfrm>
            <a:off x="8961120" y="2990088"/>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ACTIVE TODAY</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txBody>
          <a:bodyPr/>
          <a:lstStyle/>
          <a:p>
            <a:endParaRPr/>
          </a:p>
        </p:txBody>
      </p:sp>
      <p:sp>
        <p:nvSpPr>
          <p:cNvPr id="17" name="Shape 15"/>
          <p:cNvSpPr/>
          <p:nvPr/>
        </p:nvSpPr>
        <p:spPr>
          <a:xfrm>
            <a:off x="1005840" y="3392424"/>
            <a:ext cx="54864" cy="512064"/>
          </a:xfrm>
          <a:prstGeom prst="rect">
            <a:avLst/>
          </a:prstGeom>
          <a:solidFill>
            <a:srgbClr val="DC2626"/>
          </a:solidFill>
          <a:ln/>
        </p:spPr>
        <p:txBody>
          <a:bodyPr/>
          <a:lstStyle/>
          <a:p>
            <a:endParaRPr/>
          </a:p>
        </p:txBody>
      </p:sp>
      <p:sp>
        <p:nvSpPr>
          <p:cNvPr id="18" name="Text 16"/>
          <p:cNvSpPr/>
          <p:nvPr/>
        </p:nvSpPr>
        <p:spPr>
          <a:xfrm>
            <a:off x="1325880" y="3392424"/>
            <a:ext cx="7223760" cy="512064"/>
          </a:xfrm>
          <a:prstGeom prst="rect">
            <a:avLst/>
          </a:prstGeom>
          <a:noFill/>
          <a:ln/>
        </p:spPr>
        <p:txBody>
          <a:bodyPr wrap="square" rtlCol="0" anchor="ctr"/>
          <a:lstStyle/>
          <a:p>
            <a:pPr marL="0" indent="0">
              <a:buNone/>
            </a:pPr>
            <a:r>
              <a:rPr lang="en-US" sz="1150" b="1" dirty="0">
                <a:solidFill>
                  <a:srgbClr val="1A1F2E"/>
                </a:solidFill>
                <a:latin typeface="Calibri" pitchFamily="34" charset="0"/>
                <a:ea typeface="Calibri" pitchFamily="34" charset="-122"/>
                <a:cs typeface="Calibri" pitchFamily="34" charset="-120"/>
              </a:rPr>
              <a:t>Legacy Reporting Connector - full_access_as_app</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txBody>
          <a:bodyPr/>
          <a:lstStyle/>
          <a:p>
            <a:endParaRPr/>
          </a:p>
        </p:txBody>
      </p:sp>
      <p:sp>
        <p:nvSpPr>
          <p:cNvPr id="20" name="Text 18"/>
          <p:cNvSpPr/>
          <p:nvPr/>
        </p:nvSpPr>
        <p:spPr>
          <a:xfrm>
            <a:off x="8961120" y="3502152"/>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LAST USED 214 DAYS AGO</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txBody>
          <a:bodyPr/>
          <a:lstStyle/>
          <a:p>
            <a:endParaRPr/>
          </a:p>
        </p:txBody>
      </p:sp>
      <p:sp>
        <p:nvSpPr>
          <p:cNvPr id="22" name="Text 20"/>
          <p:cNvSpPr/>
          <p:nvPr/>
        </p:nvSpPr>
        <p:spPr>
          <a:xfrm>
            <a:off x="1325880" y="3904488"/>
            <a:ext cx="7223760" cy="512064"/>
          </a:xfrm>
          <a:prstGeom prst="rect">
            <a:avLst/>
          </a:prstGeom>
          <a:noFill/>
          <a:ln/>
        </p:spPr>
        <p:txBody>
          <a:bodyPr wrap="square" rtlCol="0" anchor="ctr"/>
          <a:lstStyle/>
          <a:p>
            <a:pPr marL="0" indent="0">
              <a:buNone/>
            </a:pPr>
            <a:r>
              <a:rPr lang="en-US" sz="1150" dirty="0">
                <a:solidFill>
                  <a:srgbClr val="1A1F2E"/>
                </a:solidFill>
                <a:latin typeface="Calibri" pitchFamily="34" charset="0"/>
                <a:ea typeface="Calibri" pitchFamily="34" charset="-122"/>
                <a:cs typeface="Calibri" pitchFamily="34" charset="-120"/>
              </a:rPr>
              <a:t>Expenses Tool - Mail.Read</a:t>
            </a:r>
            <a:endParaRPr lang="en-US" sz="1150" dirty="0"/>
          </a:p>
        </p:txBody>
      </p:sp>
      <p:sp>
        <p:nvSpPr>
          <p:cNvPr id="23" name="Shape 21"/>
          <p:cNvSpPr/>
          <p:nvPr/>
        </p:nvSpPr>
        <p:spPr>
          <a:xfrm>
            <a:off x="8961120" y="4014216"/>
            <a:ext cx="1828800" cy="292608"/>
          </a:xfrm>
          <a:prstGeom prst="roundRect">
            <a:avLst>
              <a:gd name="adj" fmla="val 50000"/>
            </a:avLst>
          </a:prstGeom>
          <a:solidFill>
            <a:srgbClr val="16A34A"/>
          </a:solidFill>
          <a:ln/>
        </p:spPr>
        <p:txBody>
          <a:bodyPr/>
          <a:lstStyle/>
          <a:p>
            <a:endParaRPr/>
          </a:p>
        </p:txBody>
      </p:sp>
      <p:sp>
        <p:nvSpPr>
          <p:cNvPr id="24" name="Text 22"/>
          <p:cNvSpPr/>
          <p:nvPr/>
        </p:nvSpPr>
        <p:spPr>
          <a:xfrm>
            <a:off x="8961120" y="4014216"/>
            <a:ext cx="182880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ACTIVE THIS WEEK</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marL="0" indent="0" algn="ctr">
              <a:buNone/>
            </a:pPr>
            <a:r>
              <a:rPr lang="en-US" sz="1350" i="1" dirty="0">
                <a:solidFill>
                  <a:srgbClr val="8E9BC0"/>
                </a:solidFill>
                <a:latin typeface="Calibri" pitchFamily="34" charset="0"/>
                <a:ea typeface="Calibri" pitchFamily="34" charset="-122"/>
                <a:cs typeface="Calibri" pitchFamily="34" charset="-120"/>
              </a:rPr>
              <a:t>Full mailbox access, granted years ago, never revoked. Nobody remembers this app exists - which is exactly why it's still dangerous.</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marL="0" indent="0" algn="ctr">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070B18"/>
        </a:solidFill>
        <a:effectLst/>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txBody>
          <a:bodyPr/>
          <a:lstStyle/>
          <a:p>
            <a:endParaRPr/>
          </a:p>
        </p:txBody>
      </p:sp>
      <p:sp>
        <p:nvSpPr>
          <p:cNvPr id="3" name="Shape 1"/>
          <p:cNvSpPr/>
          <p:nvPr/>
        </p:nvSpPr>
        <p:spPr>
          <a:xfrm>
            <a:off x="731520" y="2011680"/>
            <a:ext cx="1097280" cy="1645920"/>
          </a:xfrm>
          <a:prstGeom prst="line">
            <a:avLst/>
          </a:prstGeom>
          <a:noFill/>
          <a:ln w="15240">
            <a:solidFill>
              <a:srgbClr val="16204A"/>
            </a:solidFill>
            <a:prstDash val="solid"/>
          </a:ln>
        </p:spPr>
        <p:txBody>
          <a:bodyPr/>
          <a:lstStyle/>
          <a:p>
            <a:endParaRPr/>
          </a:p>
        </p:txBody>
      </p:sp>
      <p:sp>
        <p:nvSpPr>
          <p:cNvPr id="4" name="Shape 2"/>
          <p:cNvSpPr/>
          <p:nvPr/>
        </p:nvSpPr>
        <p:spPr>
          <a:xfrm>
            <a:off x="10789920" y="1097280"/>
            <a:ext cx="640080" cy="1645920"/>
          </a:xfrm>
          <a:prstGeom prst="line">
            <a:avLst/>
          </a:prstGeom>
          <a:noFill/>
          <a:ln w="15240">
            <a:solidFill>
              <a:srgbClr val="16204A"/>
            </a:solidFill>
            <a:prstDash val="solid"/>
          </a:ln>
        </p:spPr>
        <p:txBody>
          <a:bodyPr/>
          <a:lstStyle/>
          <a:p>
            <a:endParaRPr/>
          </a:p>
        </p:txBody>
      </p:sp>
      <p:sp>
        <p:nvSpPr>
          <p:cNvPr id="5" name="Shape 3"/>
          <p:cNvSpPr/>
          <p:nvPr/>
        </p:nvSpPr>
        <p:spPr>
          <a:xfrm>
            <a:off x="10515600" y="2743200"/>
            <a:ext cx="914400" cy="1828800"/>
          </a:xfrm>
          <a:prstGeom prst="line">
            <a:avLst/>
          </a:prstGeom>
          <a:noFill/>
          <a:ln w="15240">
            <a:solidFill>
              <a:srgbClr val="16204A"/>
            </a:solidFill>
            <a:prstDash val="solid"/>
          </a:ln>
        </p:spPr>
        <p:txBody>
          <a:bodyPr/>
          <a:lstStyle/>
          <a:p>
            <a:endParaRPr/>
          </a:p>
        </p:txBody>
      </p:sp>
      <p:sp>
        <p:nvSpPr>
          <p:cNvPr id="6" name="Shape 4"/>
          <p:cNvSpPr/>
          <p:nvPr/>
        </p:nvSpPr>
        <p:spPr>
          <a:xfrm>
            <a:off x="859536" y="859536"/>
            <a:ext cx="109728" cy="109728"/>
          </a:xfrm>
          <a:prstGeom prst="ellipse">
            <a:avLst/>
          </a:prstGeom>
          <a:solidFill>
            <a:srgbClr val="00E5FF"/>
          </a:solidFill>
          <a:ln/>
        </p:spPr>
        <p:txBody>
          <a:bodyPr/>
          <a:lstStyle/>
          <a:p>
            <a:endParaRPr/>
          </a:p>
        </p:txBody>
      </p:sp>
      <p:sp>
        <p:nvSpPr>
          <p:cNvPr id="7" name="Shape 5"/>
          <p:cNvSpPr/>
          <p:nvPr/>
        </p:nvSpPr>
        <p:spPr>
          <a:xfrm>
            <a:off x="1773936" y="1956816"/>
            <a:ext cx="109728" cy="109728"/>
          </a:xfrm>
          <a:prstGeom prst="ellipse">
            <a:avLst/>
          </a:prstGeom>
          <a:solidFill>
            <a:srgbClr val="7C5CFC"/>
          </a:solidFill>
          <a:ln/>
        </p:spPr>
        <p:txBody>
          <a:bodyPr/>
          <a:lstStyle/>
          <a:p>
            <a:endParaRPr/>
          </a:p>
        </p:txBody>
      </p:sp>
      <p:sp>
        <p:nvSpPr>
          <p:cNvPr id="8" name="Shape 6"/>
          <p:cNvSpPr/>
          <p:nvPr/>
        </p:nvSpPr>
        <p:spPr>
          <a:xfrm>
            <a:off x="676656" y="3602736"/>
            <a:ext cx="109728" cy="109728"/>
          </a:xfrm>
          <a:prstGeom prst="ellipse">
            <a:avLst/>
          </a:prstGeom>
          <a:solidFill>
            <a:srgbClr val="7C5CFC"/>
          </a:solidFill>
          <a:ln/>
        </p:spPr>
        <p:txBody>
          <a:bodyPr/>
          <a:lstStyle/>
          <a:p>
            <a:endParaRPr/>
          </a:p>
        </p:txBody>
      </p:sp>
      <p:sp>
        <p:nvSpPr>
          <p:cNvPr id="9" name="Shape 7"/>
          <p:cNvSpPr/>
          <p:nvPr/>
        </p:nvSpPr>
        <p:spPr>
          <a:xfrm>
            <a:off x="10735056" y="1042416"/>
            <a:ext cx="109728" cy="109728"/>
          </a:xfrm>
          <a:prstGeom prst="ellipse">
            <a:avLst/>
          </a:prstGeom>
          <a:solidFill>
            <a:srgbClr val="00E5FF"/>
          </a:solidFill>
          <a:ln/>
        </p:spPr>
        <p:txBody>
          <a:bodyPr/>
          <a:lstStyle/>
          <a:p>
            <a:endParaRPr/>
          </a:p>
        </p:txBody>
      </p:sp>
      <p:sp>
        <p:nvSpPr>
          <p:cNvPr id="10" name="Shape 8"/>
          <p:cNvSpPr/>
          <p:nvPr/>
        </p:nvSpPr>
        <p:spPr>
          <a:xfrm>
            <a:off x="11375136" y="2688336"/>
            <a:ext cx="109728" cy="109728"/>
          </a:xfrm>
          <a:prstGeom prst="ellipse">
            <a:avLst/>
          </a:prstGeom>
          <a:solidFill>
            <a:srgbClr val="7C5CFC"/>
          </a:solidFill>
          <a:ln/>
        </p:spPr>
        <p:txBody>
          <a:bodyPr/>
          <a:lstStyle/>
          <a:p>
            <a:endParaRPr/>
          </a:p>
        </p:txBody>
      </p:sp>
      <p:sp>
        <p:nvSpPr>
          <p:cNvPr id="11" name="Shape 9"/>
          <p:cNvSpPr/>
          <p:nvPr/>
        </p:nvSpPr>
        <p:spPr>
          <a:xfrm>
            <a:off x="10460736" y="4517136"/>
            <a:ext cx="109728" cy="109728"/>
          </a:xfrm>
          <a:prstGeom prst="ellipse">
            <a:avLst/>
          </a:prstGeom>
          <a:solidFill>
            <a:srgbClr val="7C5CFC"/>
          </a:solidFill>
          <a:ln/>
        </p:spPr>
        <p:txBody>
          <a:bodyPr/>
          <a:lstStyle/>
          <a:p>
            <a:endParaRPr/>
          </a:p>
        </p:txBody>
      </p:sp>
      <p:sp>
        <p:nvSpPr>
          <p:cNvPr id="12" name="Text 1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PILLAR 5 OF 5</a:t>
            </a:r>
            <a:endParaRPr lang="en-US" sz="1300" dirty="0"/>
          </a:p>
        </p:txBody>
      </p:sp>
      <p:sp>
        <p:nvSpPr>
          <p:cNvPr id="13" name="Shape 11"/>
          <p:cNvSpPr/>
          <p:nvPr/>
        </p:nvSpPr>
        <p:spPr>
          <a:xfrm>
            <a:off x="822960" y="1828800"/>
            <a:ext cx="1188720" cy="1188720"/>
          </a:xfrm>
          <a:prstGeom prst="ellipse">
            <a:avLst/>
          </a:prstGeom>
          <a:solidFill>
            <a:srgbClr val="121A33"/>
          </a:solidFill>
          <a:ln/>
        </p:spPr>
        <p:txBody>
          <a:bodyPr/>
          <a:lstStyle/>
          <a:p>
            <a:endParaRPr/>
          </a:p>
        </p:txBody>
      </p:sp>
      <p:pic>
        <p:nvPicPr>
          <p:cNvPr id="14" name="Image 0" descr="icons_cloud_00E5FF.png"/>
          <p:cNvPicPr>
            <a:picLocks noChangeAspect="1"/>
          </p:cNvPicPr>
          <p:nvPr/>
        </p:nvPicPr>
        <p:blipFill>
          <a:blip r:embed="rId3"/>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Cloud Admin Planes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marL="0" indent="0">
              <a:buNone/>
            </a:pPr>
            <a:r>
              <a:rPr lang="en-US" sz="1700" i="1" dirty="0">
                <a:solidFill>
                  <a:srgbClr val="7C5CFC"/>
                </a:solidFill>
                <a:latin typeface="Cambria" pitchFamily="34" charset="0"/>
                <a:ea typeface="Cambria" pitchFamily="34" charset="-122"/>
                <a:cs typeface="Cambria" pitchFamily="34" charset="-120"/>
              </a:rPr>
              <a:t>What can that trust become?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txBody>
          <a:bodyPr/>
          <a:lstStyle/>
          <a:p>
            <a:endParaRPr/>
          </a:p>
        </p:txBody>
      </p:sp>
      <p:sp>
        <p:nvSpPr>
          <p:cNvPr id="18" name="Text 15"/>
          <p:cNvSpPr/>
          <p:nvPr/>
        </p:nvSpPr>
        <p:spPr>
          <a:xfrm>
            <a:off x="1188720" y="3886200"/>
            <a:ext cx="9784080" cy="457200"/>
          </a:xfrm>
          <a:prstGeom prst="rect">
            <a:avLst/>
          </a:prstGeom>
          <a:noFill/>
          <a:ln/>
        </p:spPr>
        <p:txBody>
          <a:bodyPr wrap="square" rtlCol="0" anchor="ctr"/>
          <a:lstStyle/>
          <a:p>
            <a:pPr marL="0" indent="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marL="0" indent="0">
              <a:buNone/>
            </a:pPr>
            <a:r>
              <a:rPr lang="en-US" sz="1400" dirty="0">
                <a:solidFill>
                  <a:srgbClr val="8E9BC0"/>
                </a:solidFill>
                <a:latin typeface="Calibri" pitchFamily="34" charset="0"/>
                <a:ea typeface="Calibri" pitchFamily="34" charset="-122"/>
                <a:cs typeface="Calibri" pitchFamily="34" charset="-120"/>
              </a:rPr>
              <a:t>Cloud management planes often govern more infrastructure, with broader blast radius, than any on-premises domain ever did. IAM misconfigurations here can outrank Domain Admin entirely.</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CHAIN EXAMPLE 5</a:t>
            </a:r>
            <a:endParaRPr lang="en-US" sz="1300" dirty="0"/>
          </a:p>
        </p:txBody>
      </p:sp>
      <p:sp>
        <p:nvSpPr>
          <p:cNvPr id="3" name="Text 1"/>
          <p:cNvSpPr/>
          <p:nvPr/>
        </p:nvSpPr>
        <p:spPr>
          <a:xfrm>
            <a:off x="4327855" y="530352"/>
            <a:ext cx="7223760" cy="320040"/>
          </a:xfrm>
          <a:prstGeom prst="rect">
            <a:avLst/>
          </a:prstGeom>
          <a:noFill/>
          <a:ln/>
        </p:spPr>
        <p:txBody>
          <a:bodyPr wrap="square" rtlCol="0" anchor="ctr"/>
          <a:lstStyle/>
          <a:p>
            <a:pPr marL="0" indent="0" algn="r">
              <a:buNone/>
            </a:pPr>
            <a:r>
              <a:rPr lang="en-US" sz="1050" i="1" dirty="0">
                <a:solidFill>
                  <a:srgbClr val="8E9BC0"/>
                </a:solidFill>
                <a:latin typeface="Calibri" pitchFamily="34" charset="0"/>
                <a:ea typeface="Calibri" pitchFamily="34" charset="-122"/>
                <a:cs typeface="Calibri" pitchFamily="34" charset="-120"/>
              </a:rPr>
              <a:t>Well-established: recurring root cause in cloud breach research  |  ATT&amp;CK: T1098.003</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Cloud admin planes: broader than on-prem ever was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6" name="Shape 4"/>
          <p:cNvSpPr/>
          <p:nvPr/>
        </p:nvSpPr>
        <p:spPr>
          <a:xfrm>
            <a:off x="1531620" y="2926080"/>
            <a:ext cx="502920" cy="502920"/>
          </a:xfrm>
          <a:prstGeom prst="ellipse">
            <a:avLst/>
          </a:prstGeom>
          <a:solidFill>
            <a:srgbClr val="0A0F1F"/>
          </a:solidFill>
          <a:ln/>
        </p:spPr>
        <p:txBody>
          <a:bodyPr/>
          <a:lstStyle/>
          <a:p>
            <a:endParaRPr/>
          </a:p>
        </p:txBody>
      </p:sp>
      <p:pic>
        <p:nvPicPr>
          <p:cNvPr id="7" name="Image 0" descr="icons_cloud_00E5FF.png"/>
          <p:cNvPicPr>
            <a:picLocks noChangeAspect="1"/>
          </p:cNvPicPr>
          <p:nvPr/>
        </p:nvPicPr>
        <p:blipFill>
          <a:blip r:embed="rId3"/>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Misconfigured cloud</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IAM role or policy</a:t>
            </a:r>
            <a:endParaRPr lang="en-US" sz="1150" dirty="0"/>
          </a:p>
        </p:txBody>
      </p:sp>
      <p:sp>
        <p:nvSpPr>
          <p:cNvPr id="9" name="Shape 6"/>
          <p:cNvSpPr/>
          <p:nvPr/>
        </p:nvSpPr>
        <p:spPr>
          <a:xfrm>
            <a:off x="2926080" y="3319272"/>
            <a:ext cx="579120" cy="219456"/>
          </a:xfrm>
          <a:prstGeom prst="rightArrow">
            <a:avLst/>
          </a:prstGeom>
          <a:solidFill>
            <a:srgbClr val="7C5CFC"/>
          </a:solidFill>
          <a:ln/>
        </p:spPr>
        <p:txBody>
          <a:bodyPr/>
          <a:lstStyle/>
          <a:p>
            <a:endParaRPr/>
          </a:p>
        </p:txBody>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1" name="Shape 8"/>
          <p:cNvSpPr/>
          <p:nvPr/>
        </p:nvSpPr>
        <p:spPr>
          <a:xfrm>
            <a:off x="4396740" y="2926080"/>
            <a:ext cx="502920" cy="502920"/>
          </a:xfrm>
          <a:prstGeom prst="ellipse">
            <a:avLst/>
          </a:prstGeom>
          <a:solidFill>
            <a:srgbClr val="0A0F1F"/>
          </a:solidFill>
          <a:ln/>
        </p:spPr>
        <p:txBody>
          <a:bodyPr/>
          <a:lstStyle/>
          <a:p>
            <a:endParaRPr/>
          </a:p>
        </p:txBody>
      </p:sp>
      <p:pic>
        <p:nvPicPr>
          <p:cNvPr id="12" name="Image 1" descr="icons_server_00E5FF.png"/>
          <p:cNvPicPr>
            <a:picLocks noChangeAspect="1"/>
          </p:cNvPicPr>
          <p:nvPr/>
        </p:nvPicPr>
        <p:blipFill>
          <a:blip r:embed="rId4"/>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Privilege escalation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within the control plane</a:t>
            </a:r>
            <a:endParaRPr lang="en-US" sz="1150" dirty="0"/>
          </a:p>
        </p:txBody>
      </p:sp>
      <p:sp>
        <p:nvSpPr>
          <p:cNvPr id="14" name="Shape 10"/>
          <p:cNvSpPr/>
          <p:nvPr/>
        </p:nvSpPr>
        <p:spPr>
          <a:xfrm>
            <a:off x="5791200" y="3319272"/>
            <a:ext cx="579120" cy="219456"/>
          </a:xfrm>
          <a:prstGeom prst="rightArrow">
            <a:avLst/>
          </a:prstGeom>
          <a:solidFill>
            <a:srgbClr val="7C5CFC"/>
          </a:solidFill>
          <a:ln/>
        </p:spPr>
        <p:txBody>
          <a:bodyPr/>
          <a:lstStyle/>
          <a:p>
            <a:endParaRPr/>
          </a:p>
        </p:txBody>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txBody>
          <a:bodyPr/>
          <a:lstStyle/>
          <a:p>
            <a:endParaRPr/>
          </a:p>
        </p:txBody>
      </p:sp>
      <p:sp>
        <p:nvSpPr>
          <p:cNvPr id="16" name="Shape 12"/>
          <p:cNvSpPr/>
          <p:nvPr/>
        </p:nvSpPr>
        <p:spPr>
          <a:xfrm>
            <a:off x="7261860" y="2926080"/>
            <a:ext cx="502920" cy="502920"/>
          </a:xfrm>
          <a:prstGeom prst="ellipse">
            <a:avLst/>
          </a:prstGeom>
          <a:solidFill>
            <a:srgbClr val="0A0F1F"/>
          </a:solidFill>
          <a:ln/>
        </p:spPr>
        <p:txBody>
          <a:bodyPr/>
          <a:lstStyle/>
          <a:p>
            <a:endParaRPr/>
          </a:p>
        </p:txBody>
      </p:sp>
      <p:pic>
        <p:nvPicPr>
          <p:cNvPr id="17" name="Image 2" descr="icons_usershield_00E5FF.png"/>
          <p:cNvPicPr>
            <a:picLocks noChangeAspect="1"/>
          </p:cNvPicPr>
          <p:nvPr/>
        </p:nvPicPr>
        <p:blipFill>
          <a:blip r:embed="rId5"/>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Access to every</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workload it governs</a:t>
            </a:r>
            <a:endParaRPr lang="en-US" sz="1150" dirty="0"/>
          </a:p>
        </p:txBody>
      </p:sp>
      <p:sp>
        <p:nvSpPr>
          <p:cNvPr id="19" name="Shape 14"/>
          <p:cNvSpPr/>
          <p:nvPr/>
        </p:nvSpPr>
        <p:spPr>
          <a:xfrm>
            <a:off x="8656320" y="3319272"/>
            <a:ext cx="579120" cy="219456"/>
          </a:xfrm>
          <a:prstGeom prst="rightArrow">
            <a:avLst/>
          </a:prstGeom>
          <a:solidFill>
            <a:srgbClr val="7C5CFC"/>
          </a:solidFill>
          <a:ln/>
        </p:spPr>
        <p:txBody>
          <a:bodyPr/>
          <a:lstStyle/>
          <a:p>
            <a:endParaRPr/>
          </a:p>
        </p:txBody>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txBody>
          <a:bodyPr/>
          <a:lstStyle/>
          <a:p>
            <a:endParaRPr/>
          </a:p>
        </p:txBody>
      </p:sp>
      <p:sp>
        <p:nvSpPr>
          <p:cNvPr id="21" name="Shape 16"/>
          <p:cNvSpPr/>
          <p:nvPr/>
        </p:nvSpPr>
        <p:spPr>
          <a:xfrm>
            <a:off x="10126980" y="2926080"/>
            <a:ext cx="502920" cy="502920"/>
          </a:xfrm>
          <a:prstGeom prst="ellipse">
            <a:avLst/>
          </a:prstGeom>
          <a:solidFill>
            <a:srgbClr val="FF5C7A"/>
          </a:solidFill>
          <a:ln/>
        </p:spPr>
        <p:txBody>
          <a:bodyPr/>
          <a:lstStyle/>
          <a:p>
            <a:endParaRPr/>
          </a:p>
        </p:txBody>
      </p:sp>
      <p:pic>
        <p:nvPicPr>
          <p:cNvPr id="22" name="Image 3" descr="icons_skull_FFFFFF.png"/>
          <p:cNvPicPr>
            <a:picLocks noChangeAspect="1"/>
          </p:cNvPicPr>
          <p:nvPr/>
        </p:nvPicPr>
        <p:blipFill>
          <a:blip r:embed="rId6"/>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Organisation-wide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blast radius</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txBody>
          <a:bodyPr/>
          <a:lstStyle/>
          <a:p>
            <a:endParaRPr/>
          </a:p>
        </p:txBody>
      </p:sp>
      <p:sp>
        <p:nvSpPr>
          <p:cNvPr id="25" name="Text 19"/>
          <p:cNvSpPr/>
          <p:nvPr/>
        </p:nvSpPr>
        <p:spPr>
          <a:xfrm>
            <a:off x="914400" y="4709160"/>
            <a:ext cx="10332720" cy="1234440"/>
          </a:xfrm>
          <a:prstGeom prst="rect">
            <a:avLst/>
          </a:prstGeom>
          <a:noFill/>
          <a:ln/>
        </p:spPr>
        <p:txBody>
          <a:bodyPr wrap="square" rtlCol="0" anchor="ctr"/>
          <a:lstStyle/>
          <a:p>
            <a:pPr marL="0" indent="0">
              <a:buNone/>
            </a:pPr>
            <a:r>
              <a:rPr lang="en-US" sz="1350" i="1" dirty="0">
                <a:solidFill>
                  <a:srgbClr val="8E9BC0"/>
                </a:solidFill>
                <a:latin typeface="Calibri" pitchFamily="34" charset="0"/>
                <a:ea typeface="Calibri" pitchFamily="34" charset="-122"/>
                <a:cs typeface="Calibri" pitchFamily="34" charset="-120"/>
              </a:rPr>
              <a:t>Cloud management planes often provide broader influence than on-premises infrastructure ever did - one control-plane compromise can outrank Domain Admin entirely. IAM misconfiguration remains one of the most consistently cited root causes across cloud breach research year over year.</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F1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686800" cy="320040"/>
          </a:xfrm>
          <a:prstGeom prst="rect">
            <a:avLst/>
          </a:prstGeom>
          <a:noFill/>
        </p:spPr>
        <p:txBody>
          <a:bodyPr wrap="square" lIns="0" tIns="0" rIns="0" bIns="0" anchor="t">
            <a:spAutoFit/>
          </a:bodyPr>
          <a:lstStyle/>
          <a:p>
            <a:pPr algn="l"/>
            <a:r>
              <a:rPr sz="1300" b="1" i="0" spc="200">
                <a:solidFill>
                  <a:srgbClr val="00E5FF"/>
                </a:solidFill>
                <a:latin typeface="Calibri"/>
              </a:rPr>
              <a:t>OPSEC NOTE FOR THE ROOM</a:t>
            </a:r>
          </a:p>
        </p:txBody>
      </p:sp>
      <p:sp>
        <p:nvSpPr>
          <p:cNvPr id="3" name="TextBox 2"/>
          <p:cNvSpPr txBox="1"/>
          <p:nvPr/>
        </p:nvSpPr>
        <p:spPr>
          <a:xfrm>
            <a:off x="640080" y="822960"/>
            <a:ext cx="10515600" cy="914400"/>
          </a:xfrm>
          <a:prstGeom prst="rect">
            <a:avLst/>
          </a:prstGeom>
          <a:noFill/>
        </p:spPr>
        <p:txBody>
          <a:bodyPr wrap="square" lIns="0" tIns="0" rIns="0" bIns="0" anchor="t">
            <a:spAutoFit/>
          </a:bodyPr>
          <a:lstStyle/>
          <a:p>
            <a:pPr algn="l"/>
            <a:r>
              <a:rPr sz="3200" b="1" i="0">
                <a:solidFill>
                  <a:srgbClr val="FFFFFF"/>
                </a:solidFill>
                <a:latin typeface="Cambria"/>
              </a:rPr>
              <a:t>What this actually leaves behind</a:t>
            </a:r>
          </a:p>
        </p:txBody>
      </p:sp>
      <p:sp>
        <p:nvSpPr>
          <p:cNvPr id="4" name="Rectangle 3"/>
          <p:cNvSpPr/>
          <p:nvPr/>
        </p:nvSpPr>
        <p:spPr>
          <a:xfrm>
            <a:off x="640080" y="1874519"/>
            <a:ext cx="1645920" cy="457200"/>
          </a:xfrm>
          <a:prstGeom prst="rect">
            <a:avLst/>
          </a:prstGeom>
          <a:solidFill>
            <a:srgbClr val="162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874519"/>
            <a:ext cx="1280160" cy="457200"/>
          </a:xfrm>
          <a:prstGeom prst="rect">
            <a:avLst/>
          </a:prstGeom>
          <a:noFill/>
        </p:spPr>
        <p:txBody>
          <a:bodyPr wrap="square" lIns="0" tIns="0" rIns="0" bIns="0" anchor="ctr">
            <a:spAutoFit/>
          </a:bodyPr>
          <a:lstStyle/>
          <a:p>
            <a:pPr algn="l"/>
            <a:r>
              <a:rPr sz="1250" b="1" i="0">
                <a:solidFill>
                  <a:srgbClr val="00E5FF"/>
                </a:solidFill>
                <a:latin typeface="Calibri"/>
              </a:rPr>
              <a:t>Pillar</a:t>
            </a:r>
          </a:p>
        </p:txBody>
      </p:sp>
      <p:sp>
        <p:nvSpPr>
          <p:cNvPr id="6" name="Rectangle 5"/>
          <p:cNvSpPr/>
          <p:nvPr/>
        </p:nvSpPr>
        <p:spPr>
          <a:xfrm>
            <a:off x="2286000" y="1874519"/>
            <a:ext cx="5486400" cy="457200"/>
          </a:xfrm>
          <a:prstGeom prst="rect">
            <a:avLst/>
          </a:prstGeom>
          <a:solidFill>
            <a:srgbClr val="162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68880" y="1874519"/>
            <a:ext cx="5120640" cy="457200"/>
          </a:xfrm>
          <a:prstGeom prst="rect">
            <a:avLst/>
          </a:prstGeom>
          <a:noFill/>
        </p:spPr>
        <p:txBody>
          <a:bodyPr wrap="square" lIns="0" tIns="0" rIns="0" bIns="0" anchor="ctr">
            <a:spAutoFit/>
          </a:bodyPr>
          <a:lstStyle/>
          <a:p>
            <a:pPr algn="l"/>
            <a:r>
              <a:rPr sz="1250" b="1" i="0">
                <a:solidFill>
                  <a:srgbClr val="00E5FF"/>
                </a:solidFill>
                <a:latin typeface="Calibri"/>
              </a:rPr>
              <a:t>What Gets Logged</a:t>
            </a:r>
          </a:p>
        </p:txBody>
      </p:sp>
      <p:sp>
        <p:nvSpPr>
          <p:cNvPr id="8" name="Rectangle 7"/>
          <p:cNvSpPr/>
          <p:nvPr/>
        </p:nvSpPr>
        <p:spPr>
          <a:xfrm>
            <a:off x="7772400" y="1874519"/>
            <a:ext cx="3749039" cy="457200"/>
          </a:xfrm>
          <a:prstGeom prst="rect">
            <a:avLst/>
          </a:prstGeom>
          <a:solidFill>
            <a:srgbClr val="162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79" y="1874519"/>
            <a:ext cx="3383279" cy="457200"/>
          </a:xfrm>
          <a:prstGeom prst="rect">
            <a:avLst/>
          </a:prstGeom>
          <a:noFill/>
        </p:spPr>
        <p:txBody>
          <a:bodyPr wrap="square" lIns="0" tIns="0" rIns="0" bIns="0" anchor="ctr">
            <a:spAutoFit/>
          </a:bodyPr>
          <a:lstStyle/>
          <a:p>
            <a:pPr algn="l"/>
            <a:r>
              <a:rPr sz="1250" b="1" i="0">
                <a:solidFill>
                  <a:srgbClr val="00E5FF"/>
                </a:solidFill>
                <a:latin typeface="Calibri"/>
              </a:rPr>
              <a:t>Where To Look</a:t>
            </a:r>
          </a:p>
        </p:txBody>
      </p:sp>
      <p:sp>
        <p:nvSpPr>
          <p:cNvPr id="10" name="Rectangle 9"/>
          <p:cNvSpPr/>
          <p:nvPr/>
        </p:nvSpPr>
        <p:spPr>
          <a:xfrm>
            <a:off x="640080" y="2331720"/>
            <a:ext cx="164592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2331720"/>
            <a:ext cx="1371600" cy="566928"/>
          </a:xfrm>
          <a:prstGeom prst="rect">
            <a:avLst/>
          </a:prstGeom>
          <a:noFill/>
        </p:spPr>
        <p:txBody>
          <a:bodyPr wrap="square" lIns="0" tIns="0" rIns="0" bIns="0" anchor="ctr">
            <a:spAutoFit/>
          </a:bodyPr>
          <a:lstStyle/>
          <a:p>
            <a:pPr algn="l"/>
            <a:r>
              <a:rPr sz="1250" b="1" i="0">
                <a:solidFill>
                  <a:srgbClr val="FFFFFF"/>
                </a:solidFill>
                <a:latin typeface="Calibri"/>
              </a:rPr>
              <a:t>Identity</a:t>
            </a:r>
          </a:p>
        </p:txBody>
      </p:sp>
      <p:sp>
        <p:nvSpPr>
          <p:cNvPr id="12" name="Rectangle 11"/>
          <p:cNvSpPr/>
          <p:nvPr/>
        </p:nvSpPr>
        <p:spPr>
          <a:xfrm>
            <a:off x="2286000" y="2331720"/>
            <a:ext cx="548640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0" y="2331720"/>
            <a:ext cx="5120640" cy="566928"/>
          </a:xfrm>
          <a:prstGeom prst="rect">
            <a:avLst/>
          </a:prstGeom>
          <a:noFill/>
        </p:spPr>
        <p:txBody>
          <a:bodyPr wrap="square" lIns="0" tIns="0" rIns="0" bIns="0" anchor="ctr">
            <a:spAutoFit/>
          </a:bodyPr>
          <a:lstStyle/>
          <a:p>
            <a:pPr algn="l"/>
            <a:r>
              <a:rPr sz="1150" b="0" i="0">
                <a:solidFill>
                  <a:srgbClr val="8E9BC0"/>
                </a:solidFill>
                <a:latin typeface="Calibri"/>
              </a:rPr>
              <a:t>Sign-in from new location/device, MFA method changes</a:t>
            </a:r>
          </a:p>
        </p:txBody>
      </p:sp>
      <p:sp>
        <p:nvSpPr>
          <p:cNvPr id="14" name="Rectangle 13"/>
          <p:cNvSpPr/>
          <p:nvPr/>
        </p:nvSpPr>
        <p:spPr>
          <a:xfrm>
            <a:off x="7772400" y="2331720"/>
            <a:ext cx="3749039"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79" y="2331720"/>
            <a:ext cx="3383279" cy="566928"/>
          </a:xfrm>
          <a:prstGeom prst="rect">
            <a:avLst/>
          </a:prstGeom>
          <a:noFill/>
        </p:spPr>
        <p:txBody>
          <a:bodyPr wrap="square" lIns="0" tIns="0" rIns="0" bIns="0" anchor="ctr">
            <a:spAutoFit/>
          </a:bodyPr>
          <a:lstStyle/>
          <a:p>
            <a:pPr algn="l"/>
            <a:r>
              <a:rPr sz="1150" b="0" i="0">
                <a:solidFill>
                  <a:srgbClr val="8E9BC0"/>
                </a:solidFill>
                <a:latin typeface="Calibri"/>
              </a:rPr>
              <a:t>Entra ID sign-in &amp; audit logs</a:t>
            </a:r>
          </a:p>
        </p:txBody>
      </p:sp>
      <p:sp>
        <p:nvSpPr>
          <p:cNvPr id="16" name="Rectangle 15"/>
          <p:cNvSpPr/>
          <p:nvPr/>
        </p:nvSpPr>
        <p:spPr>
          <a:xfrm>
            <a:off x="640080" y="2898648"/>
            <a:ext cx="1645920"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2898648"/>
            <a:ext cx="1371600" cy="566928"/>
          </a:xfrm>
          <a:prstGeom prst="rect">
            <a:avLst/>
          </a:prstGeom>
          <a:noFill/>
        </p:spPr>
        <p:txBody>
          <a:bodyPr wrap="square" lIns="0" tIns="0" rIns="0" bIns="0" anchor="ctr">
            <a:spAutoFit/>
          </a:bodyPr>
          <a:lstStyle/>
          <a:p>
            <a:pPr algn="l"/>
            <a:r>
              <a:rPr sz="1250" b="1" i="0">
                <a:solidFill>
                  <a:srgbClr val="FFFFFF"/>
                </a:solidFill>
                <a:latin typeface="Calibri"/>
              </a:rPr>
              <a:t>Device</a:t>
            </a:r>
          </a:p>
        </p:txBody>
      </p:sp>
      <p:sp>
        <p:nvSpPr>
          <p:cNvPr id="18" name="Rectangle 17"/>
          <p:cNvSpPr/>
          <p:nvPr/>
        </p:nvSpPr>
        <p:spPr>
          <a:xfrm>
            <a:off x="2286000" y="2898648"/>
            <a:ext cx="5486400"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68880" y="2898648"/>
            <a:ext cx="5120640" cy="566928"/>
          </a:xfrm>
          <a:prstGeom prst="rect">
            <a:avLst/>
          </a:prstGeom>
          <a:noFill/>
        </p:spPr>
        <p:txBody>
          <a:bodyPr wrap="square" lIns="0" tIns="0" rIns="0" bIns="0" anchor="ctr">
            <a:spAutoFit/>
          </a:bodyPr>
          <a:lstStyle/>
          <a:p>
            <a:pPr algn="l"/>
            <a:r>
              <a:rPr sz="1150" b="0" i="0">
                <a:solidFill>
                  <a:srgbClr val="8E9BC0"/>
                </a:solidFill>
                <a:latin typeface="Calibri"/>
              </a:rPr>
              <a:t>New device registration, compliance state change</a:t>
            </a:r>
          </a:p>
        </p:txBody>
      </p:sp>
      <p:sp>
        <p:nvSpPr>
          <p:cNvPr id="20" name="Rectangle 19"/>
          <p:cNvSpPr/>
          <p:nvPr/>
        </p:nvSpPr>
        <p:spPr>
          <a:xfrm>
            <a:off x="7772400" y="2898648"/>
            <a:ext cx="3749039"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9" y="2898648"/>
            <a:ext cx="3383279" cy="566928"/>
          </a:xfrm>
          <a:prstGeom prst="rect">
            <a:avLst/>
          </a:prstGeom>
          <a:noFill/>
        </p:spPr>
        <p:txBody>
          <a:bodyPr wrap="square" lIns="0" tIns="0" rIns="0" bIns="0" anchor="ctr">
            <a:spAutoFit/>
          </a:bodyPr>
          <a:lstStyle/>
          <a:p>
            <a:pPr algn="l"/>
            <a:r>
              <a:rPr sz="1150" b="0" i="0">
                <a:solidFill>
                  <a:srgbClr val="8E9BC0"/>
                </a:solidFill>
                <a:latin typeface="Calibri"/>
              </a:rPr>
              <a:t>Intune audit logs, Entra ID device sign-ins</a:t>
            </a:r>
          </a:p>
        </p:txBody>
      </p:sp>
      <p:sp>
        <p:nvSpPr>
          <p:cNvPr id="22" name="Rectangle 21"/>
          <p:cNvSpPr/>
          <p:nvPr/>
        </p:nvSpPr>
        <p:spPr>
          <a:xfrm>
            <a:off x="640080" y="3465576"/>
            <a:ext cx="164592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59" y="3465576"/>
            <a:ext cx="1371600" cy="566928"/>
          </a:xfrm>
          <a:prstGeom prst="rect">
            <a:avLst/>
          </a:prstGeom>
          <a:noFill/>
        </p:spPr>
        <p:txBody>
          <a:bodyPr wrap="square" lIns="0" tIns="0" rIns="0" bIns="0" anchor="ctr">
            <a:spAutoFit/>
          </a:bodyPr>
          <a:lstStyle/>
          <a:p>
            <a:pPr algn="l"/>
            <a:r>
              <a:rPr sz="1250" b="1" i="0">
                <a:solidFill>
                  <a:srgbClr val="FFFFFF"/>
                </a:solidFill>
                <a:latin typeface="Calibri"/>
              </a:rPr>
              <a:t>SaaS</a:t>
            </a:r>
          </a:p>
        </p:txBody>
      </p:sp>
      <p:sp>
        <p:nvSpPr>
          <p:cNvPr id="24" name="Rectangle 23"/>
          <p:cNvSpPr/>
          <p:nvPr/>
        </p:nvSpPr>
        <p:spPr>
          <a:xfrm>
            <a:off x="2286000" y="3465576"/>
            <a:ext cx="548640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68880" y="3465576"/>
            <a:ext cx="5120640" cy="566928"/>
          </a:xfrm>
          <a:prstGeom prst="rect">
            <a:avLst/>
          </a:prstGeom>
          <a:noFill/>
        </p:spPr>
        <p:txBody>
          <a:bodyPr wrap="square" lIns="0" tIns="0" rIns="0" bIns="0" anchor="ctr">
            <a:spAutoFit/>
          </a:bodyPr>
          <a:lstStyle/>
          <a:p>
            <a:pPr algn="l"/>
            <a:r>
              <a:rPr sz="1150" b="0" i="0">
                <a:solidFill>
                  <a:srgbClr val="8E9BC0"/>
                </a:solidFill>
                <a:latin typeface="Calibri"/>
              </a:rPr>
              <a:t>New session from unfamiliar IP/ASN, role changes</a:t>
            </a:r>
          </a:p>
        </p:txBody>
      </p:sp>
      <p:sp>
        <p:nvSpPr>
          <p:cNvPr id="26" name="Rectangle 25"/>
          <p:cNvSpPr/>
          <p:nvPr/>
        </p:nvSpPr>
        <p:spPr>
          <a:xfrm>
            <a:off x="7772400" y="3465576"/>
            <a:ext cx="3749039"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55279" y="3465576"/>
            <a:ext cx="3383279" cy="566928"/>
          </a:xfrm>
          <a:prstGeom prst="rect">
            <a:avLst/>
          </a:prstGeom>
          <a:noFill/>
        </p:spPr>
        <p:txBody>
          <a:bodyPr wrap="square" lIns="0" tIns="0" rIns="0" bIns="0" anchor="ctr">
            <a:spAutoFit/>
          </a:bodyPr>
          <a:lstStyle/>
          <a:p>
            <a:pPr algn="l"/>
            <a:r>
              <a:rPr sz="1150" b="0" i="0">
                <a:solidFill>
                  <a:srgbClr val="8E9BC0"/>
                </a:solidFill>
                <a:latin typeface="Calibri"/>
              </a:rPr>
              <a:t>Platform admin/audit logs, CASB/SSPM alerts</a:t>
            </a:r>
          </a:p>
        </p:txBody>
      </p:sp>
      <p:sp>
        <p:nvSpPr>
          <p:cNvPr id="28" name="Rectangle 27"/>
          <p:cNvSpPr/>
          <p:nvPr/>
        </p:nvSpPr>
        <p:spPr>
          <a:xfrm>
            <a:off x="640080" y="4032504"/>
            <a:ext cx="1645920"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59" y="4032504"/>
            <a:ext cx="1371600" cy="566928"/>
          </a:xfrm>
          <a:prstGeom prst="rect">
            <a:avLst/>
          </a:prstGeom>
          <a:noFill/>
        </p:spPr>
        <p:txBody>
          <a:bodyPr wrap="square" lIns="0" tIns="0" rIns="0" bIns="0" anchor="ctr">
            <a:spAutoFit/>
          </a:bodyPr>
          <a:lstStyle/>
          <a:p>
            <a:pPr algn="l"/>
            <a:r>
              <a:rPr sz="1250" b="1" i="0">
                <a:solidFill>
                  <a:srgbClr val="FFFFFF"/>
                </a:solidFill>
                <a:latin typeface="Calibri"/>
              </a:rPr>
              <a:t>OAuth</a:t>
            </a:r>
          </a:p>
        </p:txBody>
      </p:sp>
      <p:sp>
        <p:nvSpPr>
          <p:cNvPr id="30" name="Rectangle 29"/>
          <p:cNvSpPr/>
          <p:nvPr/>
        </p:nvSpPr>
        <p:spPr>
          <a:xfrm>
            <a:off x="2286000" y="4032504"/>
            <a:ext cx="5486400"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468880" y="4032504"/>
            <a:ext cx="5120640" cy="566928"/>
          </a:xfrm>
          <a:prstGeom prst="rect">
            <a:avLst/>
          </a:prstGeom>
          <a:noFill/>
        </p:spPr>
        <p:txBody>
          <a:bodyPr wrap="square" lIns="0" tIns="0" rIns="0" bIns="0" anchor="ctr">
            <a:spAutoFit/>
          </a:bodyPr>
          <a:lstStyle/>
          <a:p>
            <a:pPr algn="l"/>
            <a:r>
              <a:rPr sz="1150" b="0" i="0">
                <a:solidFill>
                  <a:srgbClr val="8E9BC0"/>
                </a:solidFill>
                <a:latin typeface="Calibri"/>
              </a:rPr>
              <a:t>New app registration, admin consent grant</a:t>
            </a:r>
          </a:p>
        </p:txBody>
      </p:sp>
      <p:sp>
        <p:nvSpPr>
          <p:cNvPr id="32" name="Rectangle 31"/>
          <p:cNvSpPr/>
          <p:nvPr/>
        </p:nvSpPr>
        <p:spPr>
          <a:xfrm>
            <a:off x="7772400" y="4032504"/>
            <a:ext cx="3749039" cy="566928"/>
          </a:xfrm>
          <a:prstGeom prst="rect">
            <a:avLst/>
          </a:prstGeom>
          <a:solidFill>
            <a:srgbClr val="0E1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55279" y="4032504"/>
            <a:ext cx="3383279" cy="566928"/>
          </a:xfrm>
          <a:prstGeom prst="rect">
            <a:avLst/>
          </a:prstGeom>
          <a:noFill/>
        </p:spPr>
        <p:txBody>
          <a:bodyPr wrap="square" lIns="0" tIns="0" rIns="0" bIns="0" anchor="ctr">
            <a:spAutoFit/>
          </a:bodyPr>
          <a:lstStyle/>
          <a:p>
            <a:pPr algn="l"/>
            <a:r>
              <a:rPr sz="1150" b="0" i="0">
                <a:solidFill>
                  <a:srgbClr val="8E9BC0"/>
                </a:solidFill>
                <a:latin typeface="Calibri"/>
              </a:rPr>
              <a:t>Entra ID enterprise app &amp; consent audit logs</a:t>
            </a:r>
          </a:p>
        </p:txBody>
      </p:sp>
      <p:sp>
        <p:nvSpPr>
          <p:cNvPr id="34" name="Rectangle 33"/>
          <p:cNvSpPr/>
          <p:nvPr/>
        </p:nvSpPr>
        <p:spPr>
          <a:xfrm>
            <a:off x="640080" y="4599432"/>
            <a:ext cx="164592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59" y="4599432"/>
            <a:ext cx="1371600" cy="566928"/>
          </a:xfrm>
          <a:prstGeom prst="rect">
            <a:avLst/>
          </a:prstGeom>
          <a:noFill/>
        </p:spPr>
        <p:txBody>
          <a:bodyPr wrap="square" lIns="0" tIns="0" rIns="0" bIns="0" anchor="ctr">
            <a:spAutoFit/>
          </a:bodyPr>
          <a:lstStyle/>
          <a:p>
            <a:pPr algn="l"/>
            <a:r>
              <a:rPr sz="1250" b="1" i="0">
                <a:solidFill>
                  <a:srgbClr val="FFFFFF"/>
                </a:solidFill>
                <a:latin typeface="Calibri"/>
              </a:rPr>
              <a:t>Cloud</a:t>
            </a:r>
          </a:p>
        </p:txBody>
      </p:sp>
      <p:sp>
        <p:nvSpPr>
          <p:cNvPr id="36" name="Rectangle 35"/>
          <p:cNvSpPr/>
          <p:nvPr/>
        </p:nvSpPr>
        <p:spPr>
          <a:xfrm>
            <a:off x="2286000" y="4599432"/>
            <a:ext cx="5486400"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468880" y="4599432"/>
            <a:ext cx="5120640" cy="566928"/>
          </a:xfrm>
          <a:prstGeom prst="rect">
            <a:avLst/>
          </a:prstGeom>
          <a:noFill/>
        </p:spPr>
        <p:txBody>
          <a:bodyPr wrap="square" lIns="0" tIns="0" rIns="0" bIns="0" anchor="ctr">
            <a:spAutoFit/>
          </a:bodyPr>
          <a:lstStyle/>
          <a:p>
            <a:pPr algn="l"/>
            <a:r>
              <a:rPr sz="1150" b="0" i="0">
                <a:solidFill>
                  <a:srgbClr val="8E9BC0"/>
                </a:solidFill>
                <a:latin typeface="Calibri"/>
              </a:rPr>
              <a:t>New/modified IAM policy, AssumeRole activity</a:t>
            </a:r>
          </a:p>
        </p:txBody>
      </p:sp>
      <p:sp>
        <p:nvSpPr>
          <p:cNvPr id="38" name="Rectangle 37"/>
          <p:cNvSpPr/>
          <p:nvPr/>
        </p:nvSpPr>
        <p:spPr>
          <a:xfrm>
            <a:off x="7772400" y="4599432"/>
            <a:ext cx="3749039" cy="566928"/>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55279" y="4599432"/>
            <a:ext cx="3383279" cy="566928"/>
          </a:xfrm>
          <a:prstGeom prst="rect">
            <a:avLst/>
          </a:prstGeom>
          <a:noFill/>
        </p:spPr>
        <p:txBody>
          <a:bodyPr wrap="square" lIns="0" tIns="0" rIns="0" bIns="0" anchor="ctr">
            <a:spAutoFit/>
          </a:bodyPr>
          <a:lstStyle/>
          <a:p>
            <a:pPr algn="l"/>
            <a:r>
              <a:rPr sz="1150" b="0" i="0">
                <a:solidFill>
                  <a:srgbClr val="8E9BC0"/>
                </a:solidFill>
                <a:latin typeface="Calibri"/>
              </a:rPr>
              <a:t>CloudTrail / Activity Log / Cloud Audit Logs</a:t>
            </a:r>
          </a:p>
        </p:txBody>
      </p:sp>
      <p:sp>
        <p:nvSpPr>
          <p:cNvPr id="40" name="TextBox 39"/>
          <p:cNvSpPr txBox="1"/>
          <p:nvPr/>
        </p:nvSpPr>
        <p:spPr>
          <a:xfrm>
            <a:off x="640080" y="5440680"/>
            <a:ext cx="10881360" cy="457200"/>
          </a:xfrm>
          <a:prstGeom prst="rect">
            <a:avLst/>
          </a:prstGeom>
          <a:noFill/>
        </p:spPr>
        <p:txBody>
          <a:bodyPr wrap="square" lIns="0" tIns="0" rIns="0" bIns="0" anchor="t">
            <a:spAutoFit/>
          </a:bodyPr>
          <a:lstStyle/>
          <a:p>
            <a:pPr algn="ctr"/>
            <a:r>
              <a:rPr sz="1450" b="0" i="1">
                <a:solidFill>
                  <a:srgbClr val="8E9BC0"/>
                </a:solidFill>
                <a:latin typeface="Calibri"/>
              </a:rPr>
              <a:t>Every pillar leaves a trail. Operate accordingly.</a:t>
            </a:r>
          </a:p>
        </p:txBody>
      </p:sp>
      <p:sp>
        <p:nvSpPr>
          <p:cNvPr id="41" name="TextBox 40"/>
          <p:cNvSpPr txBox="1"/>
          <p:nvPr/>
        </p:nvSpPr>
        <p:spPr>
          <a:xfrm>
            <a:off x="10972800" y="6400800"/>
            <a:ext cx="548640" cy="274320"/>
          </a:xfrm>
          <a:prstGeom prst="rect">
            <a:avLst/>
          </a:prstGeom>
          <a:noFill/>
        </p:spPr>
        <p:txBody>
          <a:bodyPr wrap="none" lIns="0" tIns="0" rIns="0" bIns="0">
            <a:spAutoFit/>
          </a:bodyPr>
          <a:lstStyle/>
          <a:p>
            <a:pPr algn="r"/>
            <a:r>
              <a:rPr sz="1000">
                <a:solidFill>
                  <a:srgbClr val="8E9BC0"/>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WATCH WHAT HAPPENS WHEN I FOLLOW TRUST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One identity. Five pillars. No Domain Admin.</a:t>
            </a:r>
            <a:endParaRPr lang="en-US" sz="3200" dirty="0"/>
          </a:p>
        </p:txBody>
      </p:sp>
      <p:sp>
        <p:nvSpPr>
          <p:cNvPr id="4" name="Shape 2"/>
          <p:cNvSpPr/>
          <p:nvPr/>
        </p:nvSpPr>
        <p:spPr>
          <a:xfrm>
            <a:off x="1280160" y="2834640"/>
            <a:ext cx="2057400" cy="1097280"/>
          </a:xfrm>
          <a:prstGeom prst="line">
            <a:avLst/>
          </a:prstGeom>
          <a:noFill/>
          <a:ln w="27940">
            <a:solidFill>
              <a:srgbClr val="7C5CFC"/>
            </a:solidFill>
            <a:prstDash val="solid"/>
          </a:ln>
        </p:spPr>
        <p:txBody>
          <a:bodyPr/>
          <a:lstStyle/>
          <a:p>
            <a:endParaRPr/>
          </a:p>
        </p:txBody>
      </p:sp>
      <p:sp>
        <p:nvSpPr>
          <p:cNvPr id="5" name="Shape 3"/>
          <p:cNvSpPr/>
          <p:nvPr/>
        </p:nvSpPr>
        <p:spPr>
          <a:xfrm flipV="1">
            <a:off x="3337560" y="2834640"/>
            <a:ext cx="2057400" cy="1097280"/>
          </a:xfrm>
          <a:prstGeom prst="line">
            <a:avLst/>
          </a:prstGeom>
          <a:noFill/>
          <a:ln w="27940">
            <a:solidFill>
              <a:srgbClr val="7C5CFC"/>
            </a:solidFill>
            <a:prstDash val="solid"/>
          </a:ln>
        </p:spPr>
        <p:txBody>
          <a:bodyPr/>
          <a:lstStyle/>
          <a:p>
            <a:endParaRPr/>
          </a:p>
        </p:txBody>
      </p:sp>
      <p:sp>
        <p:nvSpPr>
          <p:cNvPr id="6" name="Shape 4"/>
          <p:cNvSpPr/>
          <p:nvPr/>
        </p:nvSpPr>
        <p:spPr>
          <a:xfrm>
            <a:off x="5394960" y="2834640"/>
            <a:ext cx="2057400" cy="1097280"/>
          </a:xfrm>
          <a:prstGeom prst="line">
            <a:avLst/>
          </a:prstGeom>
          <a:noFill/>
          <a:ln w="27940">
            <a:solidFill>
              <a:srgbClr val="7C5CFC"/>
            </a:solidFill>
            <a:prstDash val="solid"/>
          </a:ln>
        </p:spPr>
        <p:txBody>
          <a:bodyPr/>
          <a:lstStyle/>
          <a:p>
            <a:endParaRPr/>
          </a:p>
        </p:txBody>
      </p:sp>
      <p:sp>
        <p:nvSpPr>
          <p:cNvPr id="7" name="Shape 5"/>
          <p:cNvSpPr/>
          <p:nvPr/>
        </p:nvSpPr>
        <p:spPr>
          <a:xfrm flipV="1">
            <a:off x="7452360" y="2834640"/>
            <a:ext cx="2057400" cy="1097280"/>
          </a:xfrm>
          <a:prstGeom prst="line">
            <a:avLst/>
          </a:prstGeom>
          <a:noFill/>
          <a:ln w="27940">
            <a:solidFill>
              <a:srgbClr val="7C5CFC"/>
            </a:solidFill>
            <a:prstDash val="solid"/>
          </a:ln>
        </p:spPr>
        <p:txBody>
          <a:bodyPr/>
          <a:lstStyle/>
          <a:p>
            <a:endParaRPr/>
          </a:p>
        </p:txBody>
      </p:sp>
      <p:sp>
        <p:nvSpPr>
          <p:cNvPr id="8" name="Shape 6"/>
          <p:cNvSpPr/>
          <p:nvPr/>
        </p:nvSpPr>
        <p:spPr>
          <a:xfrm>
            <a:off x="9509760" y="2834640"/>
            <a:ext cx="1920240" cy="1097280"/>
          </a:xfrm>
          <a:prstGeom prst="line">
            <a:avLst/>
          </a:prstGeom>
          <a:noFill/>
          <a:ln w="27940">
            <a:solidFill>
              <a:srgbClr val="7C5CFC"/>
            </a:solidFill>
            <a:prstDash val="solid"/>
          </a:ln>
        </p:spPr>
        <p:txBody>
          <a:bodyPr/>
          <a:lstStyle/>
          <a:p>
            <a:endParaRPr/>
          </a:p>
        </p:txBody>
      </p:sp>
      <p:sp>
        <p:nvSpPr>
          <p:cNvPr id="9" name="Shape 7"/>
          <p:cNvSpPr/>
          <p:nvPr/>
        </p:nvSpPr>
        <p:spPr>
          <a:xfrm>
            <a:off x="822960" y="2377440"/>
            <a:ext cx="914400" cy="914400"/>
          </a:xfrm>
          <a:prstGeom prst="ellipse">
            <a:avLst/>
          </a:prstGeom>
          <a:solidFill>
            <a:srgbClr val="121A33"/>
          </a:solidFill>
          <a:ln w="15240">
            <a:solidFill>
              <a:srgbClr val="00E5FF"/>
            </a:solidFill>
            <a:prstDash val="solid"/>
          </a:ln>
        </p:spPr>
        <p:txBody>
          <a:bodyPr/>
          <a:lstStyle/>
          <a:p>
            <a:endParaRPr/>
          </a:p>
        </p:txBody>
      </p:sp>
      <p:pic>
        <p:nvPicPr>
          <p:cNvPr id="10" name="Image 0" descr="icons_usershield_00E5FF.png"/>
          <p:cNvPicPr>
            <a:picLocks noChangeAspect="1"/>
          </p:cNvPicPr>
          <p:nvPr/>
        </p:nvPicPr>
        <p:blipFill>
          <a:blip r:embed="rId3"/>
          <a:stretch>
            <a:fillRect/>
          </a:stretch>
        </p:blipFill>
        <p:spPr>
          <a:xfrm>
            <a:off x="1042416" y="2596896"/>
            <a:ext cx="475488" cy="475488"/>
          </a:xfrm>
          <a:prstGeom prst="rect">
            <a:avLst/>
          </a:prstGeom>
        </p:spPr>
      </p:pic>
      <p:sp>
        <p:nvSpPr>
          <p:cNvPr id="11" name="Text 8"/>
          <p:cNvSpPr/>
          <p:nvPr/>
        </p:nvSpPr>
        <p:spPr>
          <a:xfrm>
            <a:off x="320040" y="333756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Phished IdP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session token</a:t>
            </a:r>
            <a:endParaRPr lang="en-US" sz="1050" dirty="0"/>
          </a:p>
        </p:txBody>
      </p:sp>
      <p:sp>
        <p:nvSpPr>
          <p:cNvPr id="12" name="Shape 9"/>
          <p:cNvSpPr/>
          <p:nvPr/>
        </p:nvSpPr>
        <p:spPr>
          <a:xfrm>
            <a:off x="2880360" y="3474720"/>
            <a:ext cx="914400" cy="914400"/>
          </a:xfrm>
          <a:prstGeom prst="ellipse">
            <a:avLst/>
          </a:prstGeom>
          <a:solidFill>
            <a:srgbClr val="121A33"/>
          </a:solidFill>
          <a:ln w="15240">
            <a:solidFill>
              <a:srgbClr val="00E5FF"/>
            </a:solidFill>
            <a:prstDash val="solid"/>
          </a:ln>
        </p:spPr>
        <p:txBody>
          <a:bodyPr/>
          <a:lstStyle/>
          <a:p>
            <a:endParaRPr/>
          </a:p>
        </p:txBody>
      </p:sp>
      <p:pic>
        <p:nvPicPr>
          <p:cNvPr id="13" name="Image 1" descr="icons_mobile_00E5FF.png"/>
          <p:cNvPicPr>
            <a:picLocks noChangeAspect="1"/>
          </p:cNvPicPr>
          <p:nvPr/>
        </p:nvPicPr>
        <p:blipFill>
          <a:blip r:embed="rId4"/>
          <a:stretch>
            <a:fillRect/>
          </a:stretch>
        </p:blipFill>
        <p:spPr>
          <a:xfrm>
            <a:off x="3099816" y="3694176"/>
            <a:ext cx="475488" cy="475488"/>
          </a:xfrm>
          <a:prstGeom prst="rect">
            <a:avLst/>
          </a:prstGeom>
        </p:spPr>
      </p:pic>
      <p:sp>
        <p:nvSpPr>
          <p:cNvPr id="14" name="Text 10"/>
          <p:cNvSpPr/>
          <p:nvPr/>
        </p:nvSpPr>
        <p:spPr>
          <a:xfrm>
            <a:off x="2377440" y="443484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Registered as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trusted device</a:t>
            </a:r>
            <a:endParaRPr lang="en-US" sz="1050" dirty="0"/>
          </a:p>
        </p:txBody>
      </p:sp>
      <p:sp>
        <p:nvSpPr>
          <p:cNvPr id="15" name="Shape 11"/>
          <p:cNvSpPr/>
          <p:nvPr/>
        </p:nvSpPr>
        <p:spPr>
          <a:xfrm>
            <a:off x="4937760" y="2377440"/>
            <a:ext cx="914400" cy="914400"/>
          </a:xfrm>
          <a:prstGeom prst="ellipse">
            <a:avLst/>
          </a:prstGeom>
          <a:solidFill>
            <a:srgbClr val="121A33"/>
          </a:solidFill>
          <a:ln w="15240">
            <a:solidFill>
              <a:srgbClr val="00E5FF"/>
            </a:solidFill>
            <a:prstDash val="solid"/>
          </a:ln>
        </p:spPr>
        <p:txBody>
          <a:bodyPr/>
          <a:lstStyle/>
          <a:p>
            <a:endParaRPr/>
          </a:p>
        </p:txBody>
      </p:sp>
      <p:pic>
        <p:nvPicPr>
          <p:cNvPr id="16" name="Image 2" descr="icons_building_00E5FF.png"/>
          <p:cNvPicPr>
            <a:picLocks noChangeAspect="1"/>
          </p:cNvPicPr>
          <p:nvPr/>
        </p:nvPicPr>
        <p:blipFill>
          <a:blip r:embed="rId5"/>
          <a:stretch>
            <a:fillRect/>
          </a:stretch>
        </p:blipFill>
        <p:spPr>
          <a:xfrm>
            <a:off x="5157216" y="2596896"/>
            <a:ext cx="475488" cy="475488"/>
          </a:xfrm>
          <a:prstGeom prst="rect">
            <a:avLst/>
          </a:prstGeom>
        </p:spPr>
      </p:pic>
      <p:sp>
        <p:nvSpPr>
          <p:cNvPr id="17" name="Text 12"/>
          <p:cNvSpPr/>
          <p:nvPr/>
        </p:nvSpPr>
        <p:spPr>
          <a:xfrm>
            <a:off x="4434840" y="333756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SaaS admin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console reached</a:t>
            </a:r>
            <a:endParaRPr lang="en-US" sz="1050" dirty="0"/>
          </a:p>
        </p:txBody>
      </p:sp>
      <p:sp>
        <p:nvSpPr>
          <p:cNvPr id="18" name="Shape 13"/>
          <p:cNvSpPr/>
          <p:nvPr/>
        </p:nvSpPr>
        <p:spPr>
          <a:xfrm>
            <a:off x="6995160" y="3474720"/>
            <a:ext cx="914400" cy="914400"/>
          </a:xfrm>
          <a:prstGeom prst="ellipse">
            <a:avLst/>
          </a:prstGeom>
          <a:solidFill>
            <a:srgbClr val="121A33"/>
          </a:solidFill>
          <a:ln w="15240">
            <a:solidFill>
              <a:srgbClr val="00E5FF"/>
            </a:solidFill>
            <a:prstDash val="solid"/>
          </a:ln>
        </p:spPr>
        <p:txBody>
          <a:bodyPr/>
          <a:lstStyle/>
          <a:p>
            <a:endParaRPr/>
          </a:p>
        </p:txBody>
      </p:sp>
      <p:pic>
        <p:nvPicPr>
          <p:cNvPr id="19" name="Image 3" descr="icons_exchange_00E5FF.png"/>
          <p:cNvPicPr>
            <a:picLocks noChangeAspect="1"/>
          </p:cNvPicPr>
          <p:nvPr/>
        </p:nvPicPr>
        <p:blipFill>
          <a:blip r:embed="rId6"/>
          <a:stretch>
            <a:fillRect/>
          </a:stretch>
        </p:blipFill>
        <p:spPr>
          <a:xfrm>
            <a:off x="7214616" y="3694176"/>
            <a:ext cx="475488" cy="475488"/>
          </a:xfrm>
          <a:prstGeom prst="rect">
            <a:avLst/>
          </a:prstGeom>
        </p:spPr>
      </p:pic>
      <p:sp>
        <p:nvSpPr>
          <p:cNvPr id="20" name="Text 14"/>
          <p:cNvSpPr/>
          <p:nvPr/>
        </p:nvSpPr>
        <p:spPr>
          <a:xfrm>
            <a:off x="6492240" y="443484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OAuth grant to</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partner tenant</a:t>
            </a:r>
            <a:endParaRPr lang="en-US" sz="1050" dirty="0"/>
          </a:p>
        </p:txBody>
      </p:sp>
      <p:sp>
        <p:nvSpPr>
          <p:cNvPr id="21" name="Shape 15"/>
          <p:cNvSpPr/>
          <p:nvPr/>
        </p:nvSpPr>
        <p:spPr>
          <a:xfrm>
            <a:off x="9052560" y="2377440"/>
            <a:ext cx="914400" cy="914400"/>
          </a:xfrm>
          <a:prstGeom prst="ellipse">
            <a:avLst/>
          </a:prstGeom>
          <a:solidFill>
            <a:srgbClr val="121A33"/>
          </a:solidFill>
          <a:ln w="15240">
            <a:solidFill>
              <a:srgbClr val="00E5FF"/>
            </a:solidFill>
            <a:prstDash val="solid"/>
          </a:ln>
        </p:spPr>
        <p:txBody>
          <a:bodyPr/>
          <a:lstStyle/>
          <a:p>
            <a:endParaRPr/>
          </a:p>
        </p:txBody>
      </p:sp>
      <p:pic>
        <p:nvPicPr>
          <p:cNvPr id="22" name="Image 4" descr="icons_cloud_00E5FF.png"/>
          <p:cNvPicPr>
            <a:picLocks noChangeAspect="1"/>
          </p:cNvPicPr>
          <p:nvPr/>
        </p:nvPicPr>
        <p:blipFill>
          <a:blip r:embed="rId7"/>
          <a:stretch>
            <a:fillRect/>
          </a:stretch>
        </p:blipFill>
        <p:spPr>
          <a:xfrm>
            <a:off x="9272016" y="2596896"/>
            <a:ext cx="475488" cy="475488"/>
          </a:xfrm>
          <a:prstGeom prst="rect">
            <a:avLst/>
          </a:prstGeom>
        </p:spPr>
      </p:pic>
      <p:sp>
        <p:nvSpPr>
          <p:cNvPr id="23" name="Text 16"/>
          <p:cNvSpPr/>
          <p:nvPr/>
        </p:nvSpPr>
        <p:spPr>
          <a:xfrm>
            <a:off x="8549640" y="333756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Cloud IAM role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assumed</a:t>
            </a:r>
            <a:endParaRPr lang="en-US" sz="1050" dirty="0"/>
          </a:p>
        </p:txBody>
      </p:sp>
      <p:sp>
        <p:nvSpPr>
          <p:cNvPr id="24" name="Shape 17"/>
          <p:cNvSpPr/>
          <p:nvPr/>
        </p:nvSpPr>
        <p:spPr>
          <a:xfrm>
            <a:off x="10972800" y="3474720"/>
            <a:ext cx="914400" cy="914400"/>
          </a:xfrm>
          <a:prstGeom prst="ellipse">
            <a:avLst/>
          </a:prstGeom>
          <a:solidFill>
            <a:srgbClr val="FF5C7A"/>
          </a:solidFill>
          <a:ln w="15240">
            <a:solidFill>
              <a:srgbClr val="FF5C7A"/>
            </a:solidFill>
            <a:prstDash val="solid"/>
          </a:ln>
        </p:spPr>
        <p:txBody>
          <a:bodyPr/>
          <a:lstStyle/>
          <a:p>
            <a:endParaRPr/>
          </a:p>
        </p:txBody>
      </p:sp>
      <p:pic>
        <p:nvPicPr>
          <p:cNvPr id="25" name="Image 5" descr="icons_skull_FFFFFF.png"/>
          <p:cNvPicPr>
            <a:picLocks noChangeAspect="1"/>
          </p:cNvPicPr>
          <p:nvPr/>
        </p:nvPicPr>
        <p:blipFill>
          <a:blip r:embed="rId8"/>
          <a:stretch>
            <a:fillRect/>
          </a:stretch>
        </p:blipFill>
        <p:spPr>
          <a:xfrm>
            <a:off x="11192256" y="3694176"/>
            <a:ext cx="475488" cy="475488"/>
          </a:xfrm>
          <a:prstGeom prst="rect">
            <a:avLst/>
          </a:prstGeom>
        </p:spPr>
      </p:pic>
      <p:sp>
        <p:nvSpPr>
          <p:cNvPr id="26" name="Text 18"/>
          <p:cNvSpPr/>
          <p:nvPr/>
        </p:nvSpPr>
        <p:spPr>
          <a:xfrm>
            <a:off x="10469880" y="4434840"/>
            <a:ext cx="1920240" cy="5943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Full estate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compromise</a:t>
            </a:r>
            <a:endParaRPr lang="en-US" sz="1050" dirty="0"/>
          </a:p>
        </p:txBody>
      </p:sp>
      <p:sp>
        <p:nvSpPr>
          <p:cNvPr id="27" name="Text 19"/>
          <p:cNvSpPr/>
          <p:nvPr/>
        </p:nvSpPr>
        <p:spPr>
          <a:xfrm>
            <a:off x="640080" y="5669280"/>
            <a:ext cx="10881360" cy="457200"/>
          </a:xfrm>
          <a:prstGeom prst="rect">
            <a:avLst/>
          </a:prstGeom>
          <a:noFill/>
          <a:ln/>
        </p:spPr>
        <p:txBody>
          <a:bodyPr wrap="square" rtlCol="0" anchor="ctr"/>
          <a:lstStyle/>
          <a:p>
            <a:pPr marL="0" indent="0" algn="ctr">
              <a:buNone/>
            </a:pPr>
            <a:r>
              <a:rPr lang="en-US" sz="1500" i="1" dirty="0">
                <a:solidFill>
                  <a:srgbClr val="8E9BC0"/>
                </a:solidFill>
                <a:latin typeface="Calibri" pitchFamily="34" charset="0"/>
                <a:ea typeface="Calibri" pitchFamily="34" charset="-122"/>
                <a:cs typeface="Calibri" pitchFamily="34" charset="-120"/>
              </a:rPr>
              <a:t>No domain controller was ever touched. No BloodHound edge was ever walked.</a:t>
            </a:r>
            <a:endParaRPr lang="en-US" sz="1500" dirty="0"/>
          </a:p>
        </p:txBody>
      </p:sp>
      <p:sp>
        <p:nvSpPr>
          <p:cNvPr id="28" name="Text 20"/>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377440"/>
            <a:ext cx="10515600" cy="2011680"/>
          </a:xfrm>
          <a:prstGeom prst="rect">
            <a:avLst/>
          </a:prstGeom>
          <a:noFill/>
          <a:ln/>
        </p:spPr>
        <p:txBody>
          <a:bodyPr wrap="square" rtlCol="0" anchor="ctr"/>
          <a:lstStyle/>
          <a:p>
            <a:pPr marL="0" indent="0" algn="ctr">
              <a:buNone/>
            </a:pPr>
            <a:r>
              <a:rPr lang="en-US" sz="5000" b="1" dirty="0">
                <a:solidFill>
                  <a:srgbClr val="FF5C7A"/>
                </a:solidFill>
                <a:latin typeface="Cambria" pitchFamily="34" charset="0"/>
                <a:ea typeface="Cambria" pitchFamily="34" charset="-122"/>
                <a:cs typeface="Cambria" pitchFamily="34" charset="-120"/>
              </a:rPr>
              <a:t>I NEVER NEEDED</a:t>
            </a:r>
            <a:endParaRPr lang="en-US" sz="5000" dirty="0"/>
          </a:p>
          <a:p>
            <a:pPr marL="0" indent="0" algn="ctr">
              <a:buNone/>
            </a:pPr>
            <a:r>
              <a:rPr lang="en-US" sz="5000" b="1" dirty="0">
                <a:solidFill>
                  <a:srgbClr val="FF5C7A"/>
                </a:solidFill>
                <a:latin typeface="Cambria" pitchFamily="34" charset="0"/>
                <a:ea typeface="Cambria" pitchFamily="34" charset="-122"/>
                <a:cs typeface="Cambria" pitchFamily="34" charset="-120"/>
              </a:rPr>
              <a:t>DOMAIN ADMIN.</a:t>
            </a:r>
            <a:endParaRPr lang="en-US" sz="5000" dirty="0"/>
          </a:p>
        </p:txBody>
      </p:sp>
      <p:sp>
        <p:nvSpPr>
          <p:cNvPr id="3" name="Text 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468880"/>
            <a:ext cx="10515600" cy="182880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SO WHAT WAS</a:t>
            </a:r>
            <a:endParaRPr lang="en-US" sz="4200" dirty="0"/>
          </a:p>
          <a:p>
            <a:pPr marL="0" indent="0" algn="ctr">
              <a:buNone/>
            </a:pPr>
            <a:r>
              <a:rPr lang="en-US" sz="4200" b="1" dirty="0">
                <a:solidFill>
                  <a:srgbClr val="FFFFFF"/>
                </a:solidFill>
                <a:latin typeface="Cambria" pitchFamily="34" charset="0"/>
                <a:ea typeface="Cambria" pitchFamily="34" charset="-122"/>
                <a:cs typeface="Cambria" pitchFamily="34" charset="-120"/>
              </a:rPr>
              <a:t>THE OBJECTIVE?</a:t>
            </a:r>
            <a:endParaRPr lang="en-US" sz="4200" dirty="0"/>
          </a:p>
        </p:txBody>
      </p:sp>
      <p:sp>
        <p:nvSpPr>
          <p:cNvPr id="3" name="Text 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05070A"/>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1463040"/>
          </a:xfrm>
          <a:prstGeom prst="rect">
            <a:avLst/>
          </a:prstGeom>
          <a:noFill/>
          <a:ln/>
        </p:spPr>
        <p:txBody>
          <a:bodyPr wrap="square" rtlCol="0" anchor="ctr"/>
          <a:lstStyle/>
          <a:p>
            <a:pPr marL="0" indent="0" algn="ctr">
              <a:buNone/>
            </a:pPr>
            <a:r>
              <a:rPr lang="en-US" sz="6800" b="1" dirty="0">
                <a:solidFill>
                  <a:srgbClr val="00E5FF"/>
                </a:solidFill>
                <a:latin typeface="Cambria" pitchFamily="34" charset="0"/>
                <a:ea typeface="Cambria" pitchFamily="34" charset="-122"/>
                <a:cs typeface="Cambria" pitchFamily="34" charset="-120"/>
              </a:rPr>
              <a:t>REACH.</a:t>
            </a:r>
            <a:endParaRPr lang="en-US" sz="6800" dirty="0"/>
          </a:p>
        </p:txBody>
      </p:sp>
      <p:sp>
        <p:nvSpPr>
          <p:cNvPr id="3" name="Text 1"/>
          <p:cNvSpPr/>
          <p:nvPr/>
        </p:nvSpPr>
        <p:spPr>
          <a:xfrm>
            <a:off x="1280160" y="3886200"/>
            <a:ext cx="9601200" cy="548640"/>
          </a:xfrm>
          <a:prstGeom prst="rect">
            <a:avLst/>
          </a:prstGeom>
          <a:noFill/>
          <a:ln/>
        </p:spPr>
        <p:txBody>
          <a:bodyPr wrap="square" rtlCol="0" anchor="ctr"/>
          <a:lstStyle/>
          <a:p>
            <a:pPr marL="0" indent="0" algn="ctr">
              <a:buNone/>
            </a:pPr>
            <a:r>
              <a:rPr lang="en-US" sz="1500" i="1" dirty="0">
                <a:solidFill>
                  <a:srgbClr val="8E9BC0"/>
                </a:solidFill>
                <a:latin typeface="Calibri" pitchFamily="34" charset="0"/>
                <a:ea typeface="Calibri" pitchFamily="34" charset="-122"/>
                <a:cs typeface="Calibri" pitchFamily="34" charset="-120"/>
              </a:rPr>
              <a:t>Trust is how you get there. Reach is what you're actually measuring.</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686800" cy="320040"/>
          </a:xfrm>
          <a:prstGeom prst="rect">
            <a:avLst/>
          </a:prstGeom>
          <a:noFill/>
        </p:spPr>
        <p:txBody>
          <a:bodyPr wrap="square" lIns="0" tIns="0" rIns="0" bIns="0" anchor="t">
            <a:spAutoFit/>
          </a:bodyPr>
          <a:lstStyle/>
          <a:p>
            <a:pPr algn="l"/>
            <a:r>
              <a:rPr sz="1300" b="1" i="0" spc="200">
                <a:solidFill>
                  <a:srgbClr val="00E5FF"/>
                </a:solidFill>
                <a:latin typeface="Calibri"/>
              </a:rPr>
              <a:t>NOT A NEW IDEA TO THIS ROOM</a:t>
            </a:r>
          </a:p>
        </p:txBody>
      </p:sp>
      <p:sp>
        <p:nvSpPr>
          <p:cNvPr id="3" name="TextBox 2"/>
          <p:cNvSpPr txBox="1"/>
          <p:nvPr/>
        </p:nvSpPr>
        <p:spPr>
          <a:xfrm>
            <a:off x="640080" y="822960"/>
            <a:ext cx="10515600" cy="914400"/>
          </a:xfrm>
          <a:prstGeom prst="rect">
            <a:avLst/>
          </a:prstGeom>
          <a:noFill/>
        </p:spPr>
        <p:txBody>
          <a:bodyPr wrap="square" lIns="0" tIns="0" rIns="0" bIns="0" anchor="t">
            <a:spAutoFit/>
          </a:bodyPr>
          <a:lstStyle/>
          <a:p>
            <a:pPr algn="l"/>
            <a:r>
              <a:rPr sz="3200" b="1" i="0">
                <a:solidFill>
                  <a:srgbClr val="FFFFFF"/>
                </a:solidFill>
                <a:latin typeface="Cambria"/>
              </a:rPr>
              <a:t>This is already how STAR is scoped</a:t>
            </a:r>
          </a:p>
        </p:txBody>
      </p:sp>
      <p:sp>
        <p:nvSpPr>
          <p:cNvPr id="4" name="Rounded Rectangle 3"/>
          <p:cNvSpPr/>
          <p:nvPr/>
        </p:nvSpPr>
        <p:spPr>
          <a:xfrm>
            <a:off x="640080" y="2194560"/>
            <a:ext cx="10881360" cy="2468880"/>
          </a:xfrm>
          <a:prstGeom prst="round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514600"/>
            <a:ext cx="10149840" cy="1188720"/>
          </a:xfrm>
          <a:prstGeom prst="rect">
            <a:avLst/>
          </a:prstGeom>
          <a:noFill/>
        </p:spPr>
        <p:txBody>
          <a:bodyPr wrap="square" lIns="0" tIns="0" rIns="0" bIns="0" anchor="t">
            <a:spAutoFit/>
          </a:bodyPr>
          <a:lstStyle/>
          <a:p>
            <a:pPr algn="l">
              <a:lnSpc>
                <a:spcPct val="115000"/>
              </a:lnSpc>
            </a:pPr>
            <a:r>
              <a:rPr sz="1550" b="1" i="0">
                <a:solidFill>
                  <a:srgbClr val="FFFFFF"/>
                </a:solidFill>
                <a:latin typeface="Calibri"/>
              </a:rPr>
              <a:t>CREST's own Simulated Targeted Attack &amp; Response methodology is built around a defined objective and a realistic threat scenario - not “get Domain Admin.” STAR engagements already score success by what was reached, not which privilege badge was obtained.</a:t>
            </a:r>
          </a:p>
        </p:txBody>
      </p:sp>
      <p:sp>
        <p:nvSpPr>
          <p:cNvPr id="6" name="Rounded Rectangle 5"/>
          <p:cNvSpPr/>
          <p:nvPr/>
        </p:nvSpPr>
        <p:spPr>
          <a:xfrm>
            <a:off x="640080" y="4892040"/>
            <a:ext cx="10881360" cy="1051560"/>
          </a:xfrm>
          <a:prstGeom prst="roundRect">
            <a:avLst/>
          </a:prstGeom>
          <a:solidFill>
            <a:srgbClr val="1A0E22"/>
          </a:solidFill>
          <a:ln w="19050">
            <a:solidFill>
              <a:srgbClr val="FF5C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892040"/>
            <a:ext cx="10881360" cy="1051560"/>
          </a:xfrm>
          <a:prstGeom prst="rect">
            <a:avLst/>
          </a:prstGeom>
          <a:noFill/>
        </p:spPr>
        <p:txBody>
          <a:bodyPr wrap="square" lIns="0" tIns="0" rIns="0" bIns="0" anchor="ctr">
            <a:spAutoFit/>
          </a:bodyPr>
          <a:lstStyle/>
          <a:p>
            <a:pPr algn="ctr"/>
            <a:r>
              <a:rPr sz="1700" b="1" i="0">
                <a:solidFill>
                  <a:srgbClr val="FF5C7A"/>
                </a:solidFill>
                <a:latin typeface="Cambria"/>
              </a:rPr>
              <a:t>SO WHY DOES DAY-TO-DAY PRACTICE STILL DEFAULT TO THE OLD FINISH LINE?</a:t>
            </a:r>
          </a:p>
        </p:txBody>
      </p:sp>
      <p:sp>
        <p:nvSpPr>
          <p:cNvPr id="8" name="TextBox 7"/>
          <p:cNvSpPr txBox="1"/>
          <p:nvPr/>
        </p:nvSpPr>
        <p:spPr>
          <a:xfrm>
            <a:off x="10972800" y="6400800"/>
            <a:ext cx="548640" cy="274320"/>
          </a:xfrm>
          <a:prstGeom prst="rect">
            <a:avLst/>
          </a:prstGeom>
          <a:noFill/>
        </p:spPr>
        <p:txBody>
          <a:bodyPr wrap="none" lIns="0" tIns="0" rIns="0" bIns="0">
            <a:spAutoFit/>
          </a:bodyPr>
          <a:lstStyle/>
          <a:p>
            <a:pPr algn="r"/>
            <a:r>
              <a:rPr sz="1000">
                <a:solidFill>
                  <a:srgbClr val="8E9BC0"/>
                </a:solidFill>
                <a:latin typeface="Calibr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THE REAL FINDING</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We have a metric problem</a:t>
            </a:r>
            <a:endParaRPr lang="en-US" sz="3200" dirty="0"/>
          </a:p>
        </p:txBody>
      </p:sp>
      <p:sp>
        <p:nvSpPr>
          <p:cNvPr id="4" name="Shape 2"/>
          <p:cNvSpPr/>
          <p:nvPr/>
        </p:nvSpPr>
        <p:spPr>
          <a:xfrm>
            <a:off x="640080" y="1554480"/>
            <a:ext cx="5120640" cy="2880360"/>
          </a:xfrm>
          <a:prstGeom prst="roundRect">
            <a:avLst>
              <a:gd name="adj" fmla="val 3810"/>
            </a:avLst>
          </a:prstGeom>
          <a:solidFill>
            <a:srgbClr val="121A33"/>
          </a:solidFill>
          <a:ln w="15240">
            <a:solidFill>
              <a:srgbClr val="8E9BC0"/>
            </a:solidFill>
            <a:prstDash val="solid"/>
          </a:ln>
        </p:spPr>
        <p:txBody>
          <a:bodyPr/>
          <a:lstStyle/>
          <a:p>
            <a:endParaRPr/>
          </a:p>
        </p:txBody>
      </p:sp>
      <p:sp>
        <p:nvSpPr>
          <p:cNvPr id="5" name="Text 3"/>
          <p:cNvSpPr/>
          <p:nvPr/>
        </p:nvSpPr>
        <p:spPr>
          <a:xfrm>
            <a:off x="914400" y="1755648"/>
            <a:ext cx="4572000" cy="320040"/>
          </a:xfrm>
          <a:prstGeom prst="rect">
            <a:avLst/>
          </a:prstGeom>
          <a:noFill/>
          <a:ln/>
        </p:spPr>
        <p:txBody>
          <a:bodyPr wrap="square" rtlCol="0" anchor="ctr"/>
          <a:lstStyle/>
          <a:p>
            <a:pPr marL="0" indent="0">
              <a:buNone/>
            </a:pPr>
            <a:r>
              <a:rPr lang="en-US" sz="1400" b="1" kern="0" spc="100" dirty="0">
                <a:solidFill>
                  <a:srgbClr val="8E9BC0"/>
                </a:solidFill>
                <a:latin typeface="Calibri" pitchFamily="34" charset="0"/>
                <a:ea typeface="Calibri" pitchFamily="34" charset="-122"/>
                <a:cs typeface="Calibri" pitchFamily="34" charset="-120"/>
              </a:rPr>
              <a:t>OLD METRIC</a:t>
            </a:r>
            <a:endParaRPr lang="en-US" sz="1400" dirty="0"/>
          </a:p>
        </p:txBody>
      </p:sp>
      <p:sp>
        <p:nvSpPr>
          <p:cNvPr id="6" name="Shape 4"/>
          <p:cNvSpPr/>
          <p:nvPr/>
        </p:nvSpPr>
        <p:spPr>
          <a:xfrm>
            <a:off x="914400" y="2212848"/>
            <a:ext cx="4572000" cy="600456"/>
          </a:xfrm>
          <a:prstGeom prst="roundRect">
            <a:avLst>
              <a:gd name="adj" fmla="val 9137"/>
            </a:avLst>
          </a:prstGeom>
          <a:solidFill>
            <a:srgbClr val="0E1530"/>
          </a:solidFill>
          <a:ln/>
        </p:spPr>
        <p:txBody>
          <a:bodyPr/>
          <a:lstStyle/>
          <a:p>
            <a:endParaRPr/>
          </a:p>
        </p:txBody>
      </p:sp>
      <p:sp>
        <p:nvSpPr>
          <p:cNvPr id="7" name="Text 5"/>
          <p:cNvSpPr/>
          <p:nvPr/>
        </p:nvSpPr>
        <p:spPr>
          <a:xfrm>
            <a:off x="1051560" y="2212848"/>
            <a:ext cx="4297680" cy="600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Privilege gained</a:t>
            </a:r>
            <a:endParaRPr lang="en-US" sz="1200" dirty="0"/>
          </a:p>
        </p:txBody>
      </p:sp>
      <p:sp>
        <p:nvSpPr>
          <p:cNvPr id="8" name="Shape 6"/>
          <p:cNvSpPr/>
          <p:nvPr/>
        </p:nvSpPr>
        <p:spPr>
          <a:xfrm>
            <a:off x="914400" y="2895600"/>
            <a:ext cx="4572000" cy="600456"/>
          </a:xfrm>
          <a:prstGeom prst="roundRect">
            <a:avLst>
              <a:gd name="adj" fmla="val 9137"/>
            </a:avLst>
          </a:prstGeom>
          <a:solidFill>
            <a:srgbClr val="0E1530"/>
          </a:solidFill>
          <a:ln/>
        </p:spPr>
        <p:txBody>
          <a:bodyPr/>
          <a:lstStyle/>
          <a:p>
            <a:endParaRPr/>
          </a:p>
        </p:txBody>
      </p:sp>
      <p:sp>
        <p:nvSpPr>
          <p:cNvPr id="9" name="Text 7"/>
          <p:cNvSpPr/>
          <p:nvPr/>
        </p:nvSpPr>
        <p:spPr>
          <a:xfrm>
            <a:off x="1051560" y="2895600"/>
            <a:ext cx="4297680" cy="600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Domain Admin</a:t>
            </a:r>
            <a:endParaRPr lang="en-US" sz="1200" dirty="0"/>
          </a:p>
        </p:txBody>
      </p:sp>
      <p:sp>
        <p:nvSpPr>
          <p:cNvPr id="10" name="Shape 8"/>
          <p:cNvSpPr/>
          <p:nvPr/>
        </p:nvSpPr>
        <p:spPr>
          <a:xfrm>
            <a:off x="914400" y="3578352"/>
            <a:ext cx="4572000" cy="600456"/>
          </a:xfrm>
          <a:prstGeom prst="roundRect">
            <a:avLst>
              <a:gd name="adj" fmla="val 9137"/>
            </a:avLst>
          </a:prstGeom>
          <a:solidFill>
            <a:srgbClr val="0E1530"/>
          </a:solidFill>
          <a:ln/>
        </p:spPr>
        <p:txBody>
          <a:bodyPr/>
          <a:lstStyle/>
          <a:p>
            <a:endParaRPr/>
          </a:p>
        </p:txBody>
      </p:sp>
      <p:sp>
        <p:nvSpPr>
          <p:cNvPr id="11" name="Text 9"/>
          <p:cNvSpPr/>
          <p:nvPr/>
        </p:nvSpPr>
        <p:spPr>
          <a:xfrm>
            <a:off x="1051560" y="3578352"/>
            <a:ext cx="4297680" cy="600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10 / 10</a:t>
            </a:r>
            <a:endParaRPr lang="en-US" sz="1200" dirty="0"/>
          </a:p>
        </p:txBody>
      </p:sp>
      <p:sp>
        <p:nvSpPr>
          <p:cNvPr id="12" name="Shape 10"/>
          <p:cNvSpPr/>
          <p:nvPr/>
        </p:nvSpPr>
        <p:spPr>
          <a:xfrm>
            <a:off x="6217920" y="1554480"/>
            <a:ext cx="5120640" cy="2880360"/>
          </a:xfrm>
          <a:prstGeom prst="roundRect">
            <a:avLst>
              <a:gd name="adj" fmla="val 3810"/>
            </a:avLst>
          </a:prstGeom>
          <a:solidFill>
            <a:srgbClr val="121A33"/>
          </a:solidFill>
          <a:ln w="15240">
            <a:solidFill>
              <a:srgbClr val="00E5FF"/>
            </a:solidFill>
            <a:prstDash val="solid"/>
          </a:ln>
        </p:spPr>
        <p:txBody>
          <a:bodyPr/>
          <a:lstStyle/>
          <a:p>
            <a:endParaRPr/>
          </a:p>
        </p:txBody>
      </p:sp>
      <p:sp>
        <p:nvSpPr>
          <p:cNvPr id="13" name="Text 11"/>
          <p:cNvSpPr/>
          <p:nvPr/>
        </p:nvSpPr>
        <p:spPr>
          <a:xfrm>
            <a:off x="6492240" y="1755648"/>
            <a:ext cx="4572000" cy="320040"/>
          </a:xfrm>
          <a:prstGeom prst="rect">
            <a:avLst/>
          </a:prstGeom>
          <a:noFill/>
          <a:ln/>
        </p:spPr>
        <p:txBody>
          <a:bodyPr wrap="square" rtlCol="0" anchor="ctr"/>
          <a:lstStyle/>
          <a:p>
            <a:pPr marL="0" indent="0">
              <a:buNone/>
            </a:pPr>
            <a:r>
              <a:rPr lang="en-US" sz="1400" b="1" kern="0" spc="100" dirty="0">
                <a:solidFill>
                  <a:srgbClr val="00E5FF"/>
                </a:solidFill>
                <a:latin typeface="Calibri" pitchFamily="34" charset="0"/>
                <a:ea typeface="Calibri" pitchFamily="34" charset="-122"/>
                <a:cs typeface="Calibri" pitchFamily="34" charset="-120"/>
              </a:rPr>
              <a:t>NEW METRIC</a:t>
            </a:r>
            <a:endParaRPr lang="en-US" sz="1400" dirty="0"/>
          </a:p>
        </p:txBody>
      </p:sp>
      <p:sp>
        <p:nvSpPr>
          <p:cNvPr id="14" name="Shape 12"/>
          <p:cNvSpPr/>
          <p:nvPr/>
        </p:nvSpPr>
        <p:spPr>
          <a:xfrm>
            <a:off x="6492240" y="2212848"/>
            <a:ext cx="4572000" cy="327355"/>
          </a:xfrm>
          <a:prstGeom prst="roundRect">
            <a:avLst>
              <a:gd name="adj" fmla="val 16760"/>
            </a:avLst>
          </a:prstGeom>
          <a:solidFill>
            <a:srgbClr val="0E1530"/>
          </a:solidFill>
          <a:ln/>
        </p:spPr>
        <p:txBody>
          <a:bodyPr/>
          <a:lstStyle/>
          <a:p>
            <a:endParaRPr/>
          </a:p>
        </p:txBody>
      </p:sp>
      <p:sp>
        <p:nvSpPr>
          <p:cNvPr id="15" name="Text 13"/>
          <p:cNvSpPr/>
          <p:nvPr/>
        </p:nvSpPr>
        <p:spPr>
          <a:xfrm>
            <a:off x="6629400" y="2212848"/>
            <a:ext cx="4297680" cy="327355"/>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Trust traversed</a:t>
            </a:r>
            <a:endParaRPr lang="en-US" sz="1200" dirty="0"/>
          </a:p>
        </p:txBody>
      </p:sp>
      <p:sp>
        <p:nvSpPr>
          <p:cNvPr id="16" name="Shape 14"/>
          <p:cNvSpPr/>
          <p:nvPr/>
        </p:nvSpPr>
        <p:spPr>
          <a:xfrm>
            <a:off x="6492240" y="2622499"/>
            <a:ext cx="4572000" cy="327355"/>
          </a:xfrm>
          <a:prstGeom prst="roundRect">
            <a:avLst>
              <a:gd name="adj" fmla="val 16760"/>
            </a:avLst>
          </a:prstGeom>
          <a:solidFill>
            <a:srgbClr val="0E1530"/>
          </a:solidFill>
          <a:ln/>
        </p:spPr>
        <p:txBody>
          <a:bodyPr/>
          <a:lstStyle/>
          <a:p>
            <a:endParaRPr/>
          </a:p>
        </p:txBody>
      </p:sp>
      <p:sp>
        <p:nvSpPr>
          <p:cNvPr id="17" name="Text 15"/>
          <p:cNvSpPr/>
          <p:nvPr/>
        </p:nvSpPr>
        <p:spPr>
          <a:xfrm>
            <a:off x="6629400" y="2622499"/>
            <a:ext cx="4297680" cy="327355"/>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Systems reached</a:t>
            </a:r>
            <a:endParaRPr lang="en-US" sz="1200" dirty="0"/>
          </a:p>
        </p:txBody>
      </p:sp>
      <p:sp>
        <p:nvSpPr>
          <p:cNvPr id="18" name="Shape 16"/>
          <p:cNvSpPr/>
          <p:nvPr/>
        </p:nvSpPr>
        <p:spPr>
          <a:xfrm>
            <a:off x="6492240" y="3032150"/>
            <a:ext cx="4572000" cy="327355"/>
          </a:xfrm>
          <a:prstGeom prst="roundRect">
            <a:avLst>
              <a:gd name="adj" fmla="val 16760"/>
            </a:avLst>
          </a:prstGeom>
          <a:solidFill>
            <a:srgbClr val="0E1530"/>
          </a:solidFill>
          <a:ln/>
        </p:spPr>
        <p:txBody>
          <a:bodyPr/>
          <a:lstStyle/>
          <a:p>
            <a:endParaRPr/>
          </a:p>
        </p:txBody>
      </p:sp>
      <p:sp>
        <p:nvSpPr>
          <p:cNvPr id="19" name="Text 17"/>
          <p:cNvSpPr/>
          <p:nvPr/>
        </p:nvSpPr>
        <p:spPr>
          <a:xfrm>
            <a:off x="6629400" y="3032150"/>
            <a:ext cx="4297680" cy="327355"/>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accessed</a:t>
            </a:r>
            <a:endParaRPr lang="en-US" sz="1200" dirty="0"/>
          </a:p>
        </p:txBody>
      </p:sp>
      <p:sp>
        <p:nvSpPr>
          <p:cNvPr id="20" name="Shape 18"/>
          <p:cNvSpPr/>
          <p:nvPr/>
        </p:nvSpPr>
        <p:spPr>
          <a:xfrm>
            <a:off x="6492240" y="3441802"/>
            <a:ext cx="4572000" cy="327355"/>
          </a:xfrm>
          <a:prstGeom prst="roundRect">
            <a:avLst>
              <a:gd name="adj" fmla="val 16760"/>
            </a:avLst>
          </a:prstGeom>
          <a:solidFill>
            <a:srgbClr val="0E1530"/>
          </a:solidFill>
          <a:ln/>
        </p:spPr>
        <p:txBody>
          <a:bodyPr/>
          <a:lstStyle/>
          <a:p>
            <a:endParaRPr/>
          </a:p>
        </p:txBody>
      </p:sp>
      <p:sp>
        <p:nvSpPr>
          <p:cNvPr id="21" name="Text 19"/>
          <p:cNvSpPr/>
          <p:nvPr/>
        </p:nvSpPr>
        <p:spPr>
          <a:xfrm>
            <a:off x="6629400" y="3441802"/>
            <a:ext cx="4297680" cy="327355"/>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Business impact</a:t>
            </a:r>
            <a:endParaRPr lang="en-US" sz="1200" dirty="0"/>
          </a:p>
        </p:txBody>
      </p:sp>
      <p:sp>
        <p:nvSpPr>
          <p:cNvPr id="22" name="Shape 20"/>
          <p:cNvSpPr/>
          <p:nvPr/>
        </p:nvSpPr>
        <p:spPr>
          <a:xfrm>
            <a:off x="6492240" y="3851453"/>
            <a:ext cx="4572000" cy="327355"/>
          </a:xfrm>
          <a:prstGeom prst="roundRect">
            <a:avLst>
              <a:gd name="adj" fmla="val 16760"/>
            </a:avLst>
          </a:prstGeom>
          <a:solidFill>
            <a:srgbClr val="0E1530"/>
          </a:solidFill>
          <a:ln/>
        </p:spPr>
        <p:txBody>
          <a:bodyPr/>
          <a:lstStyle/>
          <a:p>
            <a:endParaRPr/>
          </a:p>
        </p:txBody>
      </p:sp>
      <p:sp>
        <p:nvSpPr>
          <p:cNvPr id="23" name="Text 21"/>
          <p:cNvSpPr/>
          <p:nvPr/>
        </p:nvSpPr>
        <p:spPr>
          <a:xfrm>
            <a:off x="6629400" y="3851453"/>
            <a:ext cx="4297680" cy="327355"/>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Blast radius</a:t>
            </a:r>
            <a:endParaRPr lang="en-US" sz="1200" dirty="0"/>
          </a:p>
        </p:txBody>
      </p:sp>
      <p:sp>
        <p:nvSpPr>
          <p:cNvPr id="24" name="Shape 22"/>
          <p:cNvSpPr/>
          <p:nvPr/>
        </p:nvSpPr>
        <p:spPr>
          <a:xfrm>
            <a:off x="640080" y="4709160"/>
            <a:ext cx="10881360" cy="1600200"/>
          </a:xfrm>
          <a:prstGeom prst="roundRect">
            <a:avLst>
              <a:gd name="adj" fmla="val 6857"/>
            </a:avLst>
          </a:prstGeom>
          <a:solidFill>
            <a:srgbClr val="1A0E22"/>
          </a:solidFill>
          <a:ln w="25400">
            <a:solidFill>
              <a:srgbClr val="FF5C7A"/>
            </a:solidFill>
            <a:prstDash val="solid"/>
          </a:ln>
        </p:spPr>
        <p:txBody>
          <a:bodyPr/>
          <a:lstStyle/>
          <a:p>
            <a:endParaRPr/>
          </a:p>
        </p:txBody>
      </p:sp>
      <p:sp>
        <p:nvSpPr>
          <p:cNvPr id="25" name="Text 23"/>
          <p:cNvSpPr/>
          <p:nvPr/>
        </p:nvSpPr>
        <p:spPr>
          <a:xfrm>
            <a:off x="640080" y="4709160"/>
            <a:ext cx="10881360" cy="1600200"/>
          </a:xfrm>
          <a:prstGeom prst="rect">
            <a:avLst/>
          </a:prstGeom>
          <a:noFill/>
          <a:ln/>
        </p:spPr>
        <p:txBody>
          <a:bodyPr wrap="square" rtlCol="0" anchor="ctr"/>
          <a:lstStyle/>
          <a:p>
            <a:pPr marL="0" indent="0" algn="ctr">
              <a:buNone/>
            </a:pPr>
            <a:r>
              <a:rPr lang="en-US" sz="2700" b="1" dirty="0">
                <a:solidFill>
                  <a:srgbClr val="FF5C7A"/>
                </a:solidFill>
                <a:latin typeface="Cambria" pitchFamily="34" charset="0"/>
                <a:ea typeface="Cambria" pitchFamily="34" charset="-122"/>
                <a:cs typeface="Cambria" pitchFamily="34" charset="-120"/>
              </a:rPr>
              <a:t>STOP REPORTING THE BADGE.</a:t>
            </a:r>
            <a:endParaRPr lang="en-US" sz="2700" dirty="0"/>
          </a:p>
          <a:p>
            <a:pPr marL="0" indent="0" algn="ctr">
              <a:buNone/>
            </a:pPr>
            <a:r>
              <a:rPr lang="en-US" sz="2700" b="1" dirty="0">
                <a:solidFill>
                  <a:srgbClr val="FF5C7A"/>
                </a:solidFill>
                <a:latin typeface="Cambria" pitchFamily="34" charset="0"/>
                <a:ea typeface="Cambria" pitchFamily="34" charset="-122"/>
                <a:cs typeface="Cambria" pitchFamily="34" charset="-120"/>
              </a:rPr>
              <a:t>START REPORTING THE BLAST RADIUS.</a:t>
            </a:r>
            <a:endParaRPr lang="en-US" sz="2700" dirty="0"/>
          </a:p>
        </p:txBody>
      </p:sp>
      <p:sp>
        <p:nvSpPr>
          <p:cNvPr id="26" name="Text 24"/>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BRINGING IT TOGETHER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Active Directory is one node in a larger trust graph</a:t>
            </a:r>
            <a:endParaRPr lang="en-US" sz="3200" dirty="0"/>
          </a:p>
        </p:txBody>
      </p:sp>
      <p:sp>
        <p:nvSpPr>
          <p:cNvPr id="4" name="Shape 2"/>
          <p:cNvSpPr/>
          <p:nvPr/>
        </p:nvSpPr>
        <p:spPr>
          <a:xfrm>
            <a:off x="3108960" y="3749040"/>
            <a:ext cx="1371600" cy="1371600"/>
          </a:xfrm>
          <a:prstGeom prst="ellipse">
            <a:avLst/>
          </a:prstGeom>
          <a:solidFill>
            <a:srgbClr val="7C5CFC"/>
          </a:solidFill>
          <a:ln/>
        </p:spPr>
        <p:txBody>
          <a:bodyPr/>
          <a:lstStyle/>
          <a:p>
            <a:endParaRPr/>
          </a:p>
        </p:txBody>
      </p:sp>
      <p:pic>
        <p:nvPicPr>
          <p:cNvPr id="5" name="Image 0" descr="icons_server_0A0F1F.png"/>
          <p:cNvPicPr>
            <a:picLocks noChangeAspect="1"/>
          </p:cNvPicPr>
          <p:nvPr/>
        </p:nvPicPr>
        <p:blipFill>
          <a:blip r:embed="rId3"/>
          <a:stretch>
            <a:fillRect/>
          </a:stretch>
        </p:blipFill>
        <p:spPr>
          <a:xfrm>
            <a:off x="3438144" y="4078224"/>
            <a:ext cx="713232" cy="713232"/>
          </a:xfrm>
          <a:prstGeom prst="rect">
            <a:avLst/>
          </a:prstGeom>
        </p:spPr>
      </p:pic>
      <p:sp>
        <p:nvSpPr>
          <p:cNvPr id="6" name="Text 3"/>
          <p:cNvSpPr/>
          <p:nvPr/>
        </p:nvSpPr>
        <p:spPr>
          <a:xfrm>
            <a:off x="2834640" y="5212080"/>
            <a:ext cx="1920240"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Active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Directory</a:t>
            </a:r>
            <a:endParaRPr lang="en-US" sz="1200" dirty="0"/>
          </a:p>
        </p:txBody>
      </p:sp>
      <p:sp>
        <p:nvSpPr>
          <p:cNvPr id="7" name="Shape 4"/>
          <p:cNvSpPr/>
          <p:nvPr/>
        </p:nvSpPr>
        <p:spPr>
          <a:xfrm flipV="1">
            <a:off x="3794760" y="1828800"/>
            <a:ext cx="3063240" cy="2606040"/>
          </a:xfrm>
          <a:prstGeom prst="line">
            <a:avLst/>
          </a:prstGeom>
          <a:noFill/>
          <a:ln w="25400">
            <a:solidFill>
              <a:srgbClr val="3E4F8C"/>
            </a:solidFill>
            <a:prstDash val="solid"/>
          </a:ln>
        </p:spPr>
        <p:txBody>
          <a:bodyPr/>
          <a:lstStyle/>
          <a:p>
            <a:endParaRPr/>
          </a:p>
        </p:txBody>
      </p:sp>
      <p:sp>
        <p:nvSpPr>
          <p:cNvPr id="8" name="Shape 5"/>
          <p:cNvSpPr/>
          <p:nvPr/>
        </p:nvSpPr>
        <p:spPr>
          <a:xfrm flipV="1">
            <a:off x="3794760" y="3108960"/>
            <a:ext cx="5623560" cy="1325880"/>
          </a:xfrm>
          <a:prstGeom prst="line">
            <a:avLst/>
          </a:prstGeom>
          <a:noFill/>
          <a:ln w="25400">
            <a:solidFill>
              <a:srgbClr val="3E4F8C"/>
            </a:solidFill>
            <a:prstDash val="solid"/>
          </a:ln>
        </p:spPr>
        <p:txBody>
          <a:bodyPr/>
          <a:lstStyle/>
          <a:p>
            <a:endParaRPr/>
          </a:p>
        </p:txBody>
      </p:sp>
      <p:sp>
        <p:nvSpPr>
          <p:cNvPr id="9" name="Shape 6"/>
          <p:cNvSpPr/>
          <p:nvPr/>
        </p:nvSpPr>
        <p:spPr>
          <a:xfrm>
            <a:off x="3794760" y="4434840"/>
            <a:ext cx="5623560" cy="594360"/>
          </a:xfrm>
          <a:prstGeom prst="line">
            <a:avLst/>
          </a:prstGeom>
          <a:noFill/>
          <a:ln w="25400">
            <a:solidFill>
              <a:srgbClr val="3E4F8C"/>
            </a:solidFill>
            <a:prstDash val="solid"/>
          </a:ln>
        </p:spPr>
        <p:txBody>
          <a:bodyPr/>
          <a:lstStyle/>
          <a:p>
            <a:endParaRPr/>
          </a:p>
        </p:txBody>
      </p:sp>
      <p:sp>
        <p:nvSpPr>
          <p:cNvPr id="10" name="Shape 7"/>
          <p:cNvSpPr/>
          <p:nvPr/>
        </p:nvSpPr>
        <p:spPr>
          <a:xfrm>
            <a:off x="3794760" y="4434840"/>
            <a:ext cx="3063240" cy="1234440"/>
          </a:xfrm>
          <a:prstGeom prst="line">
            <a:avLst/>
          </a:prstGeom>
          <a:noFill/>
          <a:ln w="25400">
            <a:solidFill>
              <a:srgbClr val="3E4F8C"/>
            </a:solidFill>
            <a:prstDash val="solid"/>
          </a:ln>
        </p:spPr>
        <p:txBody>
          <a:bodyPr/>
          <a:lstStyle/>
          <a:p>
            <a:endParaRPr/>
          </a:p>
        </p:txBody>
      </p:sp>
      <p:sp>
        <p:nvSpPr>
          <p:cNvPr id="11" name="Shape 8"/>
          <p:cNvSpPr/>
          <p:nvPr/>
        </p:nvSpPr>
        <p:spPr>
          <a:xfrm>
            <a:off x="3794760" y="4434840"/>
            <a:ext cx="1234440" cy="594360"/>
          </a:xfrm>
          <a:prstGeom prst="line">
            <a:avLst/>
          </a:prstGeom>
          <a:noFill/>
          <a:ln w="25400">
            <a:solidFill>
              <a:srgbClr val="3E4F8C"/>
            </a:solidFill>
            <a:prstDash val="solid"/>
          </a:ln>
        </p:spPr>
        <p:txBody>
          <a:bodyPr/>
          <a:lstStyle/>
          <a:p>
            <a:endParaRPr/>
          </a:p>
        </p:txBody>
      </p:sp>
      <p:sp>
        <p:nvSpPr>
          <p:cNvPr id="12" name="Shape 9"/>
          <p:cNvSpPr/>
          <p:nvPr/>
        </p:nvSpPr>
        <p:spPr>
          <a:xfrm>
            <a:off x="6400800" y="1371600"/>
            <a:ext cx="914400" cy="914400"/>
          </a:xfrm>
          <a:prstGeom prst="ellipse">
            <a:avLst/>
          </a:prstGeom>
          <a:solidFill>
            <a:srgbClr val="121A33"/>
          </a:solidFill>
          <a:ln w="12700">
            <a:solidFill>
              <a:srgbClr val="00E5FF"/>
            </a:solidFill>
            <a:prstDash val="solid"/>
          </a:ln>
        </p:spPr>
        <p:txBody>
          <a:bodyPr/>
          <a:lstStyle/>
          <a:p>
            <a:endParaRPr/>
          </a:p>
        </p:txBody>
      </p:sp>
      <p:pic>
        <p:nvPicPr>
          <p:cNvPr id="13" name="Image 1" descr="icons_usershield_00E5FF.png"/>
          <p:cNvPicPr>
            <a:picLocks noChangeAspect="1"/>
          </p:cNvPicPr>
          <p:nvPr/>
        </p:nvPicPr>
        <p:blipFill>
          <a:blip r:embed="rId4"/>
          <a:stretch>
            <a:fillRect/>
          </a:stretch>
        </p:blipFill>
        <p:spPr>
          <a:xfrm>
            <a:off x="6620256" y="1591056"/>
            <a:ext cx="475488" cy="475488"/>
          </a:xfrm>
          <a:prstGeom prst="rect">
            <a:avLst/>
          </a:prstGeom>
        </p:spPr>
      </p:pic>
      <p:sp>
        <p:nvSpPr>
          <p:cNvPr id="14" name="Text 10"/>
          <p:cNvSpPr/>
          <p:nvPr/>
        </p:nvSpPr>
        <p:spPr>
          <a:xfrm>
            <a:off x="6035040" y="2331720"/>
            <a:ext cx="1645920" cy="5486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Identity</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p>
        </p:txBody>
      </p:sp>
      <p:sp>
        <p:nvSpPr>
          <p:cNvPr id="15" name="Shape 11"/>
          <p:cNvSpPr/>
          <p:nvPr/>
        </p:nvSpPr>
        <p:spPr>
          <a:xfrm>
            <a:off x="8961120" y="2651760"/>
            <a:ext cx="914400" cy="914400"/>
          </a:xfrm>
          <a:prstGeom prst="ellipse">
            <a:avLst/>
          </a:prstGeom>
          <a:solidFill>
            <a:srgbClr val="121A33"/>
          </a:solidFill>
          <a:ln w="12700">
            <a:solidFill>
              <a:srgbClr val="00E5FF"/>
            </a:solidFill>
            <a:prstDash val="solid"/>
          </a:ln>
        </p:spPr>
        <p:txBody>
          <a:bodyPr/>
          <a:lstStyle/>
          <a:p>
            <a:endParaRPr/>
          </a:p>
        </p:txBody>
      </p:sp>
      <p:pic>
        <p:nvPicPr>
          <p:cNvPr id="16" name="Image 2" descr="icons_building_00E5FF.png"/>
          <p:cNvPicPr>
            <a:picLocks noChangeAspect="1"/>
          </p:cNvPicPr>
          <p:nvPr/>
        </p:nvPicPr>
        <p:blipFill>
          <a:blip r:embed="rId5"/>
          <a:stretch>
            <a:fillRect/>
          </a:stretch>
        </p:blipFill>
        <p:spPr>
          <a:xfrm>
            <a:off x="9180576" y="2871216"/>
            <a:ext cx="475488" cy="475488"/>
          </a:xfrm>
          <a:prstGeom prst="rect">
            <a:avLst/>
          </a:prstGeom>
        </p:spPr>
      </p:pic>
      <p:sp>
        <p:nvSpPr>
          <p:cNvPr id="17" name="Text 12"/>
          <p:cNvSpPr/>
          <p:nvPr/>
        </p:nvSpPr>
        <p:spPr>
          <a:xfrm>
            <a:off x="8595360" y="3611880"/>
            <a:ext cx="1645920" cy="5486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SaaS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Platforms</a:t>
            </a:r>
            <a:endParaRPr lang="en-US" sz="1050" dirty="0"/>
          </a:p>
        </p:txBody>
      </p:sp>
      <p:sp>
        <p:nvSpPr>
          <p:cNvPr id="18" name="Shape 13"/>
          <p:cNvSpPr/>
          <p:nvPr/>
        </p:nvSpPr>
        <p:spPr>
          <a:xfrm>
            <a:off x="8961120" y="4572000"/>
            <a:ext cx="914400" cy="914400"/>
          </a:xfrm>
          <a:prstGeom prst="ellipse">
            <a:avLst/>
          </a:prstGeom>
          <a:solidFill>
            <a:srgbClr val="121A33"/>
          </a:solidFill>
          <a:ln w="12700">
            <a:solidFill>
              <a:srgbClr val="00E5FF"/>
            </a:solidFill>
            <a:prstDash val="solid"/>
          </a:ln>
        </p:spPr>
        <p:txBody>
          <a:bodyPr/>
          <a:lstStyle/>
          <a:p>
            <a:endParaRPr/>
          </a:p>
        </p:txBody>
      </p:sp>
      <p:pic>
        <p:nvPicPr>
          <p:cNvPr id="19" name="Image 3" descr="icons_mobile_00E5FF.png"/>
          <p:cNvPicPr>
            <a:picLocks noChangeAspect="1"/>
          </p:cNvPicPr>
          <p:nvPr/>
        </p:nvPicPr>
        <p:blipFill>
          <a:blip r:embed="rId6"/>
          <a:stretch>
            <a:fillRect/>
          </a:stretch>
        </p:blipFill>
        <p:spPr>
          <a:xfrm>
            <a:off x="9180576" y="4791456"/>
            <a:ext cx="475488" cy="475488"/>
          </a:xfrm>
          <a:prstGeom prst="rect">
            <a:avLst/>
          </a:prstGeom>
        </p:spPr>
      </p:pic>
      <p:sp>
        <p:nvSpPr>
          <p:cNvPr id="20" name="Text 14"/>
          <p:cNvSpPr/>
          <p:nvPr/>
        </p:nvSpPr>
        <p:spPr>
          <a:xfrm>
            <a:off x="8595360" y="5532120"/>
            <a:ext cx="1645920" cy="5486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Device Mgmt</a:t>
            </a:r>
            <a:endParaRPr lang="en-US" sz="1050" dirty="0"/>
          </a:p>
        </p:txBody>
      </p:sp>
      <p:sp>
        <p:nvSpPr>
          <p:cNvPr id="21" name="Shape 15"/>
          <p:cNvSpPr/>
          <p:nvPr/>
        </p:nvSpPr>
        <p:spPr>
          <a:xfrm>
            <a:off x="6400800" y="5212080"/>
            <a:ext cx="914400" cy="914400"/>
          </a:xfrm>
          <a:prstGeom prst="ellipse">
            <a:avLst/>
          </a:prstGeom>
          <a:solidFill>
            <a:srgbClr val="121A33"/>
          </a:solidFill>
          <a:ln w="12700">
            <a:solidFill>
              <a:srgbClr val="00E5FF"/>
            </a:solidFill>
            <a:prstDash val="solid"/>
          </a:ln>
        </p:spPr>
        <p:txBody>
          <a:bodyPr/>
          <a:lstStyle/>
          <a:p>
            <a:endParaRPr/>
          </a:p>
        </p:txBody>
      </p:sp>
      <p:pic>
        <p:nvPicPr>
          <p:cNvPr id="22" name="Image 4" descr="icons_cloud_00E5FF.png"/>
          <p:cNvPicPr>
            <a:picLocks noChangeAspect="1"/>
          </p:cNvPicPr>
          <p:nvPr/>
        </p:nvPicPr>
        <p:blipFill>
          <a:blip r:embed="rId7"/>
          <a:stretch>
            <a:fillRect/>
          </a:stretch>
        </p:blipFill>
        <p:spPr>
          <a:xfrm>
            <a:off x="6620256" y="5431536"/>
            <a:ext cx="475488" cy="475488"/>
          </a:xfrm>
          <a:prstGeom prst="rect">
            <a:avLst/>
          </a:prstGeom>
        </p:spPr>
      </p:pic>
      <p:sp>
        <p:nvSpPr>
          <p:cNvPr id="23" name="Text 16"/>
          <p:cNvSpPr/>
          <p:nvPr/>
        </p:nvSpPr>
        <p:spPr>
          <a:xfrm>
            <a:off x="6035040" y="6172200"/>
            <a:ext cx="1645920" cy="5486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Cloud Admin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Plane</a:t>
            </a:r>
            <a:endParaRPr lang="en-US" sz="1050" dirty="0"/>
          </a:p>
        </p:txBody>
      </p:sp>
      <p:sp>
        <p:nvSpPr>
          <p:cNvPr id="24" name="Shape 17"/>
          <p:cNvSpPr/>
          <p:nvPr/>
        </p:nvSpPr>
        <p:spPr>
          <a:xfrm>
            <a:off x="4572000" y="4572000"/>
            <a:ext cx="914400" cy="914400"/>
          </a:xfrm>
          <a:prstGeom prst="ellipse">
            <a:avLst/>
          </a:prstGeom>
          <a:solidFill>
            <a:srgbClr val="121A33"/>
          </a:solidFill>
          <a:ln w="12700">
            <a:solidFill>
              <a:srgbClr val="00E5FF"/>
            </a:solidFill>
            <a:prstDash val="solid"/>
          </a:ln>
        </p:spPr>
        <p:txBody>
          <a:bodyPr/>
          <a:lstStyle/>
          <a:p>
            <a:endParaRPr/>
          </a:p>
        </p:txBody>
      </p:sp>
      <p:pic>
        <p:nvPicPr>
          <p:cNvPr id="25" name="Image 5" descr="icons_exchange_00E5FF.png"/>
          <p:cNvPicPr>
            <a:picLocks noChangeAspect="1"/>
          </p:cNvPicPr>
          <p:nvPr/>
        </p:nvPicPr>
        <p:blipFill>
          <a:blip r:embed="rId8"/>
          <a:stretch>
            <a:fillRect/>
          </a:stretch>
        </p:blipFill>
        <p:spPr>
          <a:xfrm>
            <a:off x="4791456" y="4791456"/>
            <a:ext cx="475488" cy="475488"/>
          </a:xfrm>
          <a:prstGeom prst="rect">
            <a:avLst/>
          </a:prstGeom>
        </p:spPr>
      </p:pic>
      <p:sp>
        <p:nvSpPr>
          <p:cNvPr id="26" name="Text 18"/>
          <p:cNvSpPr/>
          <p:nvPr/>
        </p:nvSpPr>
        <p:spPr>
          <a:xfrm>
            <a:off x="4206240" y="5532120"/>
            <a:ext cx="1645920" cy="5486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OAuth &amp;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Federation</a:t>
            </a:r>
            <a:endParaRPr lang="en-US" sz="1050" dirty="0"/>
          </a:p>
        </p:txBody>
      </p:sp>
      <p:sp>
        <p:nvSpPr>
          <p:cNvPr id="27" name="Text 1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STRESS-TESTING THE THESIS</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Let's challenge the argument</a:t>
            </a:r>
            <a:endParaRPr lang="en-US" sz="3200" dirty="0"/>
          </a:p>
        </p:txBody>
      </p:sp>
      <p:sp>
        <p:nvSpPr>
          <p:cNvPr id="4" name="Shape 2"/>
          <p:cNvSpPr/>
          <p:nvPr/>
        </p:nvSpPr>
        <p:spPr>
          <a:xfrm>
            <a:off x="640080" y="1691640"/>
            <a:ext cx="10881360" cy="914400"/>
          </a:xfrm>
          <a:prstGeom prst="roundRect">
            <a:avLst>
              <a:gd name="adj" fmla="val 10000"/>
            </a:avLst>
          </a:prstGeom>
          <a:solidFill>
            <a:srgbClr val="121A33"/>
          </a:solidFill>
          <a:ln/>
        </p:spPr>
        <p:txBody>
          <a:bodyPr/>
          <a:lstStyle/>
          <a:p>
            <a:endParaRPr/>
          </a:p>
        </p:txBody>
      </p:sp>
      <p:sp>
        <p:nvSpPr>
          <p:cNvPr id="5" name="Shape 3"/>
          <p:cNvSpPr/>
          <p:nvPr/>
        </p:nvSpPr>
        <p:spPr>
          <a:xfrm>
            <a:off x="914400" y="1892808"/>
            <a:ext cx="502920" cy="502920"/>
          </a:xfrm>
          <a:prstGeom prst="ellipse">
            <a:avLst/>
          </a:prstGeom>
          <a:solidFill>
            <a:srgbClr val="0A0F1F"/>
          </a:solidFill>
          <a:ln/>
        </p:spPr>
        <p:txBody>
          <a:bodyPr/>
          <a:lstStyle/>
          <a:p>
            <a:endParaRPr/>
          </a:p>
        </p:txBody>
      </p:sp>
      <p:pic>
        <p:nvPicPr>
          <p:cNvPr id="6" name="Image 0" descr="icons_check_3ED598.png"/>
          <p:cNvPicPr>
            <a:picLocks noChangeAspect="1"/>
          </p:cNvPicPr>
          <p:nvPr/>
        </p:nvPicPr>
        <p:blipFill>
          <a:blip r:embed="rId3"/>
          <a:stretch>
            <a:fillRect/>
          </a:stretch>
        </p:blipFill>
        <p:spPr>
          <a:xfrm>
            <a:off x="1035101" y="2013509"/>
            <a:ext cx="261518" cy="261518"/>
          </a:xfrm>
          <a:prstGeom prst="rect">
            <a:avLst/>
          </a:prstGeom>
        </p:spPr>
      </p:pic>
      <p:sp>
        <p:nvSpPr>
          <p:cNvPr id="7" name="Text 4"/>
          <p:cNvSpPr/>
          <p:nvPr/>
        </p:nvSpPr>
        <p:spPr>
          <a:xfrm>
            <a:off x="1874520" y="1783080"/>
            <a:ext cx="8138160" cy="347472"/>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Is this actually happening?</a:t>
            </a:r>
            <a:endParaRPr lang="en-US" sz="1550" dirty="0"/>
          </a:p>
        </p:txBody>
      </p:sp>
      <p:sp>
        <p:nvSpPr>
          <p:cNvPr id="8" name="Text 5"/>
          <p:cNvSpPr/>
          <p:nvPr/>
        </p:nvSpPr>
        <p:spPr>
          <a:xfrm>
            <a:off x="1874520" y="2148840"/>
            <a:ext cx="8138160" cy="384048"/>
          </a:xfrm>
          <a:prstGeom prst="rect">
            <a:avLst/>
          </a:prstGeom>
          <a:noFill/>
          <a:ln/>
        </p:spPr>
        <p:txBody>
          <a:bodyPr wrap="square" rtlCol="0" anchor="t"/>
          <a:lstStyle/>
          <a:p>
            <a:pPr marL="0" indent="0">
              <a:buNone/>
            </a:pPr>
            <a:r>
              <a:rPr lang="en-US" sz="1100" dirty="0">
                <a:solidFill>
                  <a:srgbClr val="8E9BC0"/>
                </a:solidFill>
                <a:latin typeface="Calibri" pitchFamily="34" charset="0"/>
                <a:ea typeface="Calibri" pitchFamily="34" charset="-122"/>
                <a:cs typeface="Calibri" pitchFamily="34" charset="-120"/>
              </a:rPr>
              <a:t>Yes - four of the five pillars have named, public breach evidence.</a:t>
            </a:r>
            <a:endParaRPr lang="en-US" sz="1100" dirty="0"/>
          </a:p>
        </p:txBody>
      </p:sp>
      <p:sp>
        <p:nvSpPr>
          <p:cNvPr id="9" name="Shape 6"/>
          <p:cNvSpPr/>
          <p:nvPr/>
        </p:nvSpPr>
        <p:spPr>
          <a:xfrm>
            <a:off x="640080" y="2724912"/>
            <a:ext cx="10881360" cy="914400"/>
          </a:xfrm>
          <a:prstGeom prst="roundRect">
            <a:avLst>
              <a:gd name="adj" fmla="val 10000"/>
            </a:avLst>
          </a:prstGeom>
          <a:solidFill>
            <a:srgbClr val="121A33"/>
          </a:solidFill>
          <a:ln/>
        </p:spPr>
        <p:txBody>
          <a:bodyPr/>
          <a:lstStyle/>
          <a:p>
            <a:endParaRPr/>
          </a:p>
        </p:txBody>
      </p:sp>
      <p:sp>
        <p:nvSpPr>
          <p:cNvPr id="10" name="Shape 7"/>
          <p:cNvSpPr/>
          <p:nvPr/>
        </p:nvSpPr>
        <p:spPr>
          <a:xfrm>
            <a:off x="914400" y="2926080"/>
            <a:ext cx="502920" cy="502920"/>
          </a:xfrm>
          <a:prstGeom prst="ellipse">
            <a:avLst/>
          </a:prstGeom>
          <a:solidFill>
            <a:srgbClr val="0A0F1F"/>
          </a:solidFill>
          <a:ln/>
        </p:spPr>
        <p:txBody>
          <a:bodyPr/>
          <a:lstStyle/>
          <a:p>
            <a:endParaRPr/>
          </a:p>
        </p:txBody>
      </p:sp>
      <p:pic>
        <p:nvPicPr>
          <p:cNvPr id="11" name="Image 1" descr="icons_check_3ED598.png"/>
          <p:cNvPicPr>
            <a:picLocks noChangeAspect="1"/>
          </p:cNvPicPr>
          <p:nvPr/>
        </p:nvPicPr>
        <p:blipFill>
          <a:blip r:embed="rId3"/>
          <a:stretch>
            <a:fillRect/>
          </a:stretch>
        </p:blipFill>
        <p:spPr>
          <a:xfrm>
            <a:off x="1035101" y="3046781"/>
            <a:ext cx="261518" cy="261518"/>
          </a:xfrm>
          <a:prstGeom prst="rect">
            <a:avLst/>
          </a:prstGeom>
        </p:spPr>
      </p:pic>
      <p:sp>
        <p:nvSpPr>
          <p:cNvPr id="12" name="Text 8"/>
          <p:cNvSpPr/>
          <p:nvPr/>
        </p:nvSpPr>
        <p:spPr>
          <a:xfrm>
            <a:off x="1874520" y="2816352"/>
            <a:ext cx="8138160" cy="347472"/>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Is this really different from AD?</a:t>
            </a:r>
            <a:endParaRPr lang="en-US" sz="1550" dirty="0"/>
          </a:p>
        </p:txBody>
      </p:sp>
      <p:sp>
        <p:nvSpPr>
          <p:cNvPr id="13" name="Text 9"/>
          <p:cNvSpPr/>
          <p:nvPr/>
        </p:nvSpPr>
        <p:spPr>
          <a:xfrm>
            <a:off x="1874520" y="3182112"/>
            <a:ext cx="8138160" cy="384048"/>
          </a:xfrm>
          <a:prstGeom prst="rect">
            <a:avLst/>
          </a:prstGeom>
          <a:noFill/>
          <a:ln/>
        </p:spPr>
        <p:txBody>
          <a:bodyPr wrap="square" rtlCol="0" anchor="t"/>
          <a:lstStyle/>
          <a:p>
            <a:pPr marL="0" indent="0">
              <a:buNone/>
            </a:pPr>
            <a:r>
              <a:rPr lang="en-US" sz="1100" dirty="0">
                <a:solidFill>
                  <a:srgbClr val="8E9BC0"/>
                </a:solidFill>
                <a:latin typeface="Calibri" pitchFamily="34" charset="0"/>
                <a:ea typeface="Calibri" pitchFamily="34" charset="-122"/>
                <a:cs typeface="Calibri" pitchFamily="34" charset="-120"/>
              </a:rPr>
              <a:t>Yes - the trust relationships extend well beyond the domain boundary.</a:t>
            </a:r>
            <a:endParaRPr lang="en-US" sz="1100" dirty="0"/>
          </a:p>
        </p:txBody>
      </p:sp>
      <p:sp>
        <p:nvSpPr>
          <p:cNvPr id="14" name="Shape 10"/>
          <p:cNvSpPr/>
          <p:nvPr/>
        </p:nvSpPr>
        <p:spPr>
          <a:xfrm>
            <a:off x="640080" y="3758184"/>
            <a:ext cx="10881360" cy="914400"/>
          </a:xfrm>
          <a:prstGeom prst="roundRect">
            <a:avLst>
              <a:gd name="adj" fmla="val 10000"/>
            </a:avLst>
          </a:prstGeom>
          <a:solidFill>
            <a:srgbClr val="121A33"/>
          </a:solidFill>
          <a:ln/>
        </p:spPr>
        <p:txBody>
          <a:bodyPr/>
          <a:lstStyle/>
          <a:p>
            <a:endParaRPr/>
          </a:p>
        </p:txBody>
      </p:sp>
      <p:sp>
        <p:nvSpPr>
          <p:cNvPr id="15" name="Shape 11"/>
          <p:cNvSpPr/>
          <p:nvPr/>
        </p:nvSpPr>
        <p:spPr>
          <a:xfrm>
            <a:off x="914400" y="3959352"/>
            <a:ext cx="502920" cy="502920"/>
          </a:xfrm>
          <a:prstGeom prst="ellipse">
            <a:avLst/>
          </a:prstGeom>
          <a:solidFill>
            <a:srgbClr val="0A0F1F"/>
          </a:solidFill>
          <a:ln/>
        </p:spPr>
        <p:txBody>
          <a:bodyPr/>
          <a:lstStyle/>
          <a:p>
            <a:endParaRPr/>
          </a:p>
        </p:txBody>
      </p:sp>
      <p:pic>
        <p:nvPicPr>
          <p:cNvPr id="16" name="Image 2" descr="icons_search_FFFFFF.png"/>
          <p:cNvPicPr>
            <a:picLocks noChangeAspect="1"/>
          </p:cNvPicPr>
          <p:nvPr/>
        </p:nvPicPr>
        <p:blipFill>
          <a:blip r:embed="rId4"/>
          <a:stretch>
            <a:fillRect/>
          </a:stretch>
        </p:blipFill>
        <p:spPr>
          <a:xfrm>
            <a:off x="1035101" y="4080053"/>
            <a:ext cx="261518" cy="261518"/>
          </a:xfrm>
          <a:prstGeom prst="rect">
            <a:avLst/>
          </a:prstGeom>
        </p:spPr>
      </p:pic>
      <p:sp>
        <p:nvSpPr>
          <p:cNvPr id="17" name="Text 12"/>
          <p:cNvSpPr/>
          <p:nvPr/>
        </p:nvSpPr>
        <p:spPr>
          <a:xfrm>
            <a:off x="1874520" y="3849624"/>
            <a:ext cx="6309360" cy="347472"/>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Is device management proven?</a:t>
            </a:r>
            <a:endParaRPr lang="en-US" sz="1550" dirty="0"/>
          </a:p>
        </p:txBody>
      </p:sp>
      <p:sp>
        <p:nvSpPr>
          <p:cNvPr id="18" name="Text 13"/>
          <p:cNvSpPr/>
          <p:nvPr/>
        </p:nvSpPr>
        <p:spPr>
          <a:xfrm>
            <a:off x="1874520" y="4215384"/>
            <a:ext cx="6309360" cy="384048"/>
          </a:xfrm>
          <a:prstGeom prst="rect">
            <a:avLst/>
          </a:prstGeom>
          <a:noFill/>
          <a:ln/>
        </p:spPr>
        <p:txBody>
          <a:bodyPr wrap="square" rtlCol="0" anchor="t"/>
          <a:lstStyle/>
          <a:p>
            <a:pPr marL="0" indent="0">
              <a:buNone/>
            </a:pPr>
            <a:r>
              <a:rPr lang="en-US" sz="1100" dirty="0">
                <a:solidFill>
                  <a:srgbClr val="8E9BC0"/>
                </a:solidFill>
                <a:latin typeface="Calibri" pitchFamily="34" charset="0"/>
                <a:ea typeface="Calibri" pitchFamily="34" charset="-122"/>
                <a:cs typeface="Calibri" pitchFamily="34" charset="-120"/>
              </a:rPr>
              <a:t>Not yet at the same level - it's an emerging, research-driven surface.</a:t>
            </a:r>
            <a:endParaRPr lang="en-US" sz="1100" dirty="0"/>
          </a:p>
        </p:txBody>
      </p:sp>
      <p:sp>
        <p:nvSpPr>
          <p:cNvPr id="19" name="Shape 14"/>
          <p:cNvSpPr/>
          <p:nvPr/>
        </p:nvSpPr>
        <p:spPr>
          <a:xfrm>
            <a:off x="8778240" y="4041648"/>
            <a:ext cx="2377440" cy="347472"/>
          </a:xfrm>
          <a:prstGeom prst="roundRect">
            <a:avLst>
              <a:gd name="adj" fmla="val 21053"/>
            </a:avLst>
          </a:prstGeom>
          <a:solidFill>
            <a:srgbClr val="3A2C0E"/>
          </a:solidFill>
          <a:ln w="12700">
            <a:solidFill>
              <a:srgbClr val="F5A623"/>
            </a:solidFill>
            <a:prstDash val="solid"/>
          </a:ln>
        </p:spPr>
        <p:txBody>
          <a:bodyPr/>
          <a:lstStyle/>
          <a:p>
            <a:endParaRPr/>
          </a:p>
        </p:txBody>
      </p:sp>
      <p:sp>
        <p:nvSpPr>
          <p:cNvPr id="20" name="Text 15"/>
          <p:cNvSpPr/>
          <p:nvPr/>
        </p:nvSpPr>
        <p:spPr>
          <a:xfrm>
            <a:off x="8778240" y="4041648"/>
            <a:ext cx="2377440" cy="347472"/>
          </a:xfrm>
          <a:prstGeom prst="rect">
            <a:avLst/>
          </a:prstGeom>
          <a:noFill/>
          <a:ln/>
        </p:spPr>
        <p:txBody>
          <a:bodyPr wrap="square" rtlCol="0" anchor="ctr"/>
          <a:lstStyle/>
          <a:p>
            <a:pPr marL="0" indent="0" algn="ctr">
              <a:buNone/>
            </a:pPr>
            <a:r>
              <a:rPr lang="en-US" sz="1100" b="1" dirty="0">
                <a:solidFill>
                  <a:srgbClr val="F5A623"/>
                </a:solidFill>
                <a:latin typeface="Calibri" pitchFamily="34" charset="0"/>
                <a:ea typeface="Calibri" pitchFamily="34" charset="-122"/>
                <a:cs typeface="Calibri" pitchFamily="34" charset="-120"/>
              </a:rPr>
              <a:t>EMERGING</a:t>
            </a:r>
            <a:endParaRPr lang="en-US" sz="1100" dirty="0"/>
          </a:p>
        </p:txBody>
      </p:sp>
      <p:sp>
        <p:nvSpPr>
          <p:cNvPr id="21" name="Shape 16"/>
          <p:cNvSpPr/>
          <p:nvPr/>
        </p:nvSpPr>
        <p:spPr>
          <a:xfrm>
            <a:off x="640080" y="4791456"/>
            <a:ext cx="10881360" cy="914400"/>
          </a:xfrm>
          <a:prstGeom prst="roundRect">
            <a:avLst>
              <a:gd name="adj" fmla="val 10000"/>
            </a:avLst>
          </a:prstGeom>
          <a:solidFill>
            <a:srgbClr val="121A33"/>
          </a:solidFill>
          <a:ln/>
        </p:spPr>
        <p:txBody>
          <a:bodyPr/>
          <a:lstStyle/>
          <a:p>
            <a:endParaRPr/>
          </a:p>
        </p:txBody>
      </p:sp>
      <p:sp>
        <p:nvSpPr>
          <p:cNvPr id="22" name="Shape 17"/>
          <p:cNvSpPr/>
          <p:nvPr/>
        </p:nvSpPr>
        <p:spPr>
          <a:xfrm>
            <a:off x="914400" y="4992624"/>
            <a:ext cx="502920" cy="502920"/>
          </a:xfrm>
          <a:prstGeom prst="ellipse">
            <a:avLst/>
          </a:prstGeom>
          <a:solidFill>
            <a:srgbClr val="0A0F1F"/>
          </a:solidFill>
          <a:ln/>
        </p:spPr>
        <p:txBody>
          <a:bodyPr/>
          <a:lstStyle/>
          <a:p>
            <a:endParaRPr/>
          </a:p>
        </p:txBody>
      </p:sp>
      <p:pic>
        <p:nvPicPr>
          <p:cNvPr id="23" name="Image 3" descr="icons_question_FFFFFF.png"/>
          <p:cNvPicPr>
            <a:picLocks noChangeAspect="1"/>
          </p:cNvPicPr>
          <p:nvPr/>
        </p:nvPicPr>
        <p:blipFill>
          <a:blip r:embed="rId5"/>
          <a:stretch>
            <a:fillRect/>
          </a:stretch>
        </p:blipFill>
        <p:spPr>
          <a:xfrm>
            <a:off x="1035101" y="5113325"/>
            <a:ext cx="261518" cy="261518"/>
          </a:xfrm>
          <a:prstGeom prst="rect">
            <a:avLst/>
          </a:prstGeom>
        </p:spPr>
      </p:pic>
      <p:sp>
        <p:nvSpPr>
          <p:cNvPr id="24" name="Text 18"/>
          <p:cNvSpPr/>
          <p:nvPr/>
        </p:nvSpPr>
        <p:spPr>
          <a:xfrm>
            <a:off x="1874520" y="4882896"/>
            <a:ext cx="6309360" cy="347472"/>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Are those screenshots real?</a:t>
            </a:r>
            <a:endParaRPr lang="en-US" sz="1550" dirty="0"/>
          </a:p>
        </p:txBody>
      </p:sp>
      <p:sp>
        <p:nvSpPr>
          <p:cNvPr id="25" name="Text 19"/>
          <p:cNvSpPr/>
          <p:nvPr/>
        </p:nvSpPr>
        <p:spPr>
          <a:xfrm>
            <a:off x="1874520" y="5248656"/>
            <a:ext cx="6309360" cy="384048"/>
          </a:xfrm>
          <a:prstGeom prst="rect">
            <a:avLst/>
          </a:prstGeom>
          <a:noFill/>
          <a:ln/>
        </p:spPr>
        <p:txBody>
          <a:bodyPr wrap="square" rtlCol="0" anchor="t"/>
          <a:lstStyle/>
          <a:p>
            <a:pPr marL="0" indent="0">
              <a:buNone/>
            </a:pPr>
            <a:r>
              <a:rPr lang="en-US" sz="1100" dirty="0">
                <a:solidFill>
                  <a:srgbClr val="8E9BC0"/>
                </a:solidFill>
                <a:latin typeface="Calibri" pitchFamily="34" charset="0"/>
                <a:ea typeface="Calibri" pitchFamily="34" charset="-122"/>
                <a:cs typeface="Calibri" pitchFamily="34" charset="-120"/>
              </a:rPr>
              <a:t>No - they're illustrative mockups of common patterns, not a real tenant.</a:t>
            </a:r>
            <a:endParaRPr lang="en-US" sz="1100" dirty="0"/>
          </a:p>
        </p:txBody>
      </p:sp>
      <p:sp>
        <p:nvSpPr>
          <p:cNvPr id="26" name="Shape 20"/>
          <p:cNvSpPr/>
          <p:nvPr/>
        </p:nvSpPr>
        <p:spPr>
          <a:xfrm>
            <a:off x="8778240" y="5074920"/>
            <a:ext cx="2377440" cy="347472"/>
          </a:xfrm>
          <a:prstGeom prst="roundRect">
            <a:avLst>
              <a:gd name="adj" fmla="val 21053"/>
            </a:avLst>
          </a:prstGeom>
          <a:solidFill>
            <a:srgbClr val="3A2C0E"/>
          </a:solidFill>
          <a:ln w="12700">
            <a:solidFill>
              <a:srgbClr val="F5A623"/>
            </a:solidFill>
            <a:prstDash val="solid"/>
          </a:ln>
        </p:spPr>
        <p:txBody>
          <a:bodyPr/>
          <a:lstStyle/>
          <a:p>
            <a:endParaRPr/>
          </a:p>
        </p:txBody>
      </p:sp>
      <p:sp>
        <p:nvSpPr>
          <p:cNvPr id="27" name="Text 21"/>
          <p:cNvSpPr/>
          <p:nvPr/>
        </p:nvSpPr>
        <p:spPr>
          <a:xfrm>
            <a:off x="8778240" y="5074920"/>
            <a:ext cx="2377440" cy="347472"/>
          </a:xfrm>
          <a:prstGeom prst="rect">
            <a:avLst/>
          </a:prstGeom>
          <a:noFill/>
          <a:ln/>
        </p:spPr>
        <p:txBody>
          <a:bodyPr wrap="square" rtlCol="0" anchor="ctr"/>
          <a:lstStyle/>
          <a:p>
            <a:pPr marL="0" indent="0" algn="ctr">
              <a:buNone/>
            </a:pPr>
            <a:r>
              <a:rPr lang="en-US" sz="1100" b="1" dirty="0">
                <a:solidFill>
                  <a:srgbClr val="F5A623"/>
                </a:solidFill>
                <a:latin typeface="Calibri" pitchFamily="34" charset="0"/>
                <a:ea typeface="Calibri" pitchFamily="34" charset="-122"/>
                <a:cs typeface="Calibri" pitchFamily="34" charset="-120"/>
              </a:rPr>
              <a:t>MOCKUP</a:t>
            </a:r>
            <a:endParaRPr lang="en-US" sz="1100" dirty="0"/>
          </a:p>
        </p:txBody>
      </p:sp>
      <p:sp>
        <p:nvSpPr>
          <p:cNvPr id="28" name="Text 22"/>
          <p:cNvSpPr/>
          <p:nvPr/>
        </p:nvSpPr>
        <p:spPr>
          <a:xfrm>
            <a:off x="640080" y="5943600"/>
            <a:ext cx="10881360" cy="365760"/>
          </a:xfrm>
          <a:prstGeom prst="rect">
            <a:avLst/>
          </a:prstGeom>
          <a:noFill/>
          <a:ln/>
        </p:spPr>
        <p:txBody>
          <a:bodyPr wrap="square" rtlCol="0" anchor="ctr"/>
          <a:lstStyle/>
          <a:p>
            <a:pPr marL="0" indent="0" algn="ctr">
              <a:buNone/>
            </a:pPr>
            <a:r>
              <a:rPr lang="en-US" sz="1300" i="1" dirty="0">
                <a:solidFill>
                  <a:srgbClr val="8E9BC0"/>
                </a:solidFill>
                <a:latin typeface="Calibri" pitchFamily="34" charset="0"/>
                <a:ea typeface="Calibri" pitchFamily="34" charset="-122"/>
                <a:cs typeface="Calibri" pitchFamily="34" charset="-120"/>
              </a:rPr>
              <a:t>I'm deliberately separating what we know from what I think is coming.</a:t>
            </a:r>
            <a:endParaRPr lang="en-US" sz="1300" dirty="0"/>
          </a:p>
        </p:txBody>
      </p:sp>
      <p:sp>
        <p:nvSpPr>
          <p:cNvPr id="29" name="Text 23"/>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TO BE CLEAR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This isn't a talk about the death of Active Directory</a:t>
            </a:r>
            <a:endParaRPr lang="en-US" sz="3200" dirty="0"/>
          </a:p>
        </p:txBody>
      </p:sp>
      <p:sp>
        <p:nvSpPr>
          <p:cNvPr id="4" name="Shape 2"/>
          <p:cNvSpPr/>
          <p:nvPr/>
        </p:nvSpPr>
        <p:spPr>
          <a:xfrm>
            <a:off x="640080" y="2286000"/>
            <a:ext cx="10881360" cy="3017520"/>
          </a:xfrm>
          <a:prstGeom prst="roundRect">
            <a:avLst>
              <a:gd name="adj" fmla="val 3636"/>
            </a:avLst>
          </a:prstGeom>
          <a:solidFill>
            <a:srgbClr val="121A33"/>
          </a:solidFill>
          <a:ln/>
        </p:spPr>
        <p:txBody>
          <a:bodyPr/>
          <a:lstStyle/>
          <a:p>
            <a:endParaRPr/>
          </a:p>
        </p:txBody>
      </p:sp>
      <p:sp>
        <p:nvSpPr>
          <p:cNvPr id="5" name="Shape 3"/>
          <p:cNvSpPr/>
          <p:nvPr/>
        </p:nvSpPr>
        <p:spPr>
          <a:xfrm>
            <a:off x="1005840" y="2651760"/>
            <a:ext cx="822960" cy="822960"/>
          </a:xfrm>
          <a:prstGeom prst="ellipse">
            <a:avLst/>
          </a:prstGeom>
          <a:solidFill>
            <a:srgbClr val="0A0F1F"/>
          </a:solidFill>
          <a:ln/>
        </p:spPr>
        <p:txBody>
          <a:bodyPr/>
          <a:lstStyle/>
          <a:p>
            <a:endParaRPr/>
          </a:p>
        </p:txBody>
      </p:sp>
      <p:pic>
        <p:nvPicPr>
          <p:cNvPr id="6" name="Image 0" descr="icons_check_00E5FF.png"/>
          <p:cNvPicPr>
            <a:picLocks noChangeAspect="1"/>
          </p:cNvPicPr>
          <p:nvPr/>
        </p:nvPicPr>
        <p:blipFill>
          <a:blip r:embed="rId3"/>
          <a:stretch>
            <a:fillRect/>
          </a:stretch>
        </p:blipFill>
        <p:spPr>
          <a:xfrm>
            <a:off x="1203350" y="2849270"/>
            <a:ext cx="427939" cy="427939"/>
          </a:xfrm>
          <a:prstGeom prst="rect">
            <a:avLst/>
          </a:prstGeom>
        </p:spPr>
      </p:pic>
      <p:sp>
        <p:nvSpPr>
          <p:cNvPr id="7" name="Text 4"/>
          <p:cNvSpPr/>
          <p:nvPr/>
        </p:nvSpPr>
        <p:spPr>
          <a:xfrm>
            <a:off x="2194560" y="2651760"/>
            <a:ext cx="8961120" cy="822960"/>
          </a:xfrm>
          <a:prstGeom prst="rect">
            <a:avLst/>
          </a:prstGeom>
          <a:noFill/>
          <a:ln/>
        </p:spPr>
        <p:txBody>
          <a:bodyPr wrap="square"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Active Directory remains a critical component of many enterprise environments.</a:t>
            </a:r>
            <a:endParaRPr lang="en-US" sz="1700" dirty="0"/>
          </a:p>
        </p:txBody>
      </p:sp>
      <p:sp>
        <p:nvSpPr>
          <p:cNvPr id="8" name="Text 5"/>
          <p:cNvSpPr/>
          <p:nvPr/>
        </p:nvSpPr>
        <p:spPr>
          <a:xfrm>
            <a:off x="2194560" y="3429000"/>
            <a:ext cx="8961120" cy="1645920"/>
          </a:xfrm>
          <a:prstGeom prst="rect">
            <a:avLst/>
          </a:prstGeom>
          <a:noFill/>
          <a:ln/>
        </p:spPr>
        <p:txBody>
          <a:bodyPr wrap="square" rtlCol="0" anchor="t"/>
          <a:lstStyle/>
          <a:p>
            <a:pPr marL="0" indent="0">
              <a:buNone/>
            </a:pPr>
            <a:r>
              <a:rPr lang="en-US" sz="1450" dirty="0">
                <a:solidFill>
                  <a:srgbClr val="8E9BC0"/>
                </a:solidFill>
                <a:latin typeface="Calibri" pitchFamily="34" charset="0"/>
                <a:ea typeface="Calibri" pitchFamily="34" charset="-122"/>
                <a:cs typeface="Calibri" pitchFamily="34" charset="-120"/>
              </a:rPr>
              <a:t>What's changing is the assumption that compromising it is the finish line. AD is increasingly just one node - often a well-defended one - in a much larger, interconnected trust graph.</a:t>
            </a:r>
            <a:endParaRPr lang="en-US" sz="1450" dirty="0"/>
          </a:p>
        </p:txBody>
      </p:sp>
      <p:sp>
        <p:nvSpPr>
          <p:cNvPr id="9" name="Text 6"/>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9">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SO WHAT DO WE DO ABOUT IT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practical framework for modern internal assessments</a:t>
            </a:r>
            <a:endParaRPr lang="en-US" sz="3200" dirty="0"/>
          </a:p>
        </p:txBody>
      </p:sp>
      <p:sp>
        <p:nvSpPr>
          <p:cNvPr id="4" name="Shape 2"/>
          <p:cNvSpPr/>
          <p:nvPr/>
        </p:nvSpPr>
        <p:spPr>
          <a:xfrm>
            <a:off x="640080" y="2286000"/>
            <a:ext cx="731520" cy="731520"/>
          </a:xfrm>
          <a:prstGeom prst="ellipse">
            <a:avLst/>
          </a:prstGeom>
          <a:solidFill>
            <a:srgbClr val="121A33"/>
          </a:solidFill>
          <a:ln/>
        </p:spPr>
        <p:txBody>
          <a:bodyPr/>
          <a:lstStyle/>
          <a:p>
            <a:endParaRPr/>
          </a:p>
        </p:txBody>
      </p:sp>
      <p:pic>
        <p:nvPicPr>
          <p:cNvPr id="5" name="Image 0" descr="icons_map_00E5FF.png"/>
          <p:cNvPicPr>
            <a:picLocks noChangeAspect="1"/>
          </p:cNvPicPr>
          <p:nvPr/>
        </p:nvPicPr>
        <p:blipFill>
          <a:blip r:embed="rId3"/>
          <a:stretch>
            <a:fillRect/>
          </a:stretch>
        </p:blipFill>
        <p:spPr>
          <a:xfrm>
            <a:off x="815645" y="2461565"/>
            <a:ext cx="380390" cy="380390"/>
          </a:xfrm>
          <a:prstGeom prst="rect">
            <a:avLst/>
          </a:prstGeom>
        </p:spPr>
      </p:pic>
      <p:sp>
        <p:nvSpPr>
          <p:cNvPr id="6" name="Text 3"/>
          <p:cNvSpPr/>
          <p:nvPr/>
        </p:nvSpPr>
        <p:spPr>
          <a:xfrm>
            <a:off x="640080" y="2011680"/>
            <a:ext cx="731520" cy="274320"/>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1645920" y="2267712"/>
            <a:ext cx="39319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Map the full trust graph</a:t>
            </a:r>
            <a:endParaRPr lang="en-US" sz="1600" dirty="0"/>
          </a:p>
        </p:txBody>
      </p:sp>
      <p:sp>
        <p:nvSpPr>
          <p:cNvPr id="8" name="Text 5"/>
          <p:cNvSpPr/>
          <p:nvPr/>
        </p:nvSpPr>
        <p:spPr>
          <a:xfrm>
            <a:off x="5669280" y="2267712"/>
            <a:ext cx="5669280" cy="640080"/>
          </a:xfrm>
          <a:prstGeom prst="rect">
            <a:avLst/>
          </a:prstGeom>
          <a:noFill/>
          <a:ln/>
        </p:spPr>
        <p:txBody>
          <a:bodyPr wrap="square" rtlCol="0" anchor="t"/>
          <a:lstStyle/>
          <a:p>
            <a:pPr marL="0" indent="0">
              <a:buNone/>
            </a:pPr>
            <a:r>
              <a:rPr lang="en-US" sz="1300" dirty="0">
                <a:solidFill>
                  <a:srgbClr val="8E9BC0"/>
                </a:solidFill>
                <a:latin typeface="Calibri" pitchFamily="34" charset="0"/>
                <a:ea typeface="Calibri" pitchFamily="34" charset="-122"/>
                <a:cs typeface="Calibri" pitchFamily="34" charset="-120"/>
              </a:rPr>
              <a:t>Not just the domain - IdP, SaaS, devices, cloud, federation</a:t>
            </a:r>
            <a:endParaRPr lang="en-US" sz="1300" dirty="0"/>
          </a:p>
        </p:txBody>
      </p:sp>
      <p:sp>
        <p:nvSpPr>
          <p:cNvPr id="9" name="Shape 6"/>
          <p:cNvSpPr/>
          <p:nvPr/>
        </p:nvSpPr>
        <p:spPr>
          <a:xfrm>
            <a:off x="640080" y="3246120"/>
            <a:ext cx="731520" cy="731520"/>
          </a:xfrm>
          <a:prstGeom prst="ellipse">
            <a:avLst/>
          </a:prstGeom>
          <a:solidFill>
            <a:srgbClr val="121A33"/>
          </a:solidFill>
          <a:ln/>
        </p:spPr>
        <p:txBody>
          <a:bodyPr/>
          <a:lstStyle/>
          <a:p>
            <a:endParaRPr/>
          </a:p>
        </p:txBody>
      </p:sp>
      <p:pic>
        <p:nvPicPr>
          <p:cNvPr id="10" name="Image 1" descr="icons_search_00E5FF.png"/>
          <p:cNvPicPr>
            <a:picLocks noChangeAspect="1"/>
          </p:cNvPicPr>
          <p:nvPr/>
        </p:nvPicPr>
        <p:blipFill>
          <a:blip r:embed="rId4"/>
          <a:stretch>
            <a:fillRect/>
          </a:stretch>
        </p:blipFill>
        <p:spPr>
          <a:xfrm>
            <a:off x="815645" y="3421685"/>
            <a:ext cx="380390" cy="380390"/>
          </a:xfrm>
          <a:prstGeom prst="rect">
            <a:avLst/>
          </a:prstGeom>
        </p:spPr>
      </p:pic>
      <p:sp>
        <p:nvSpPr>
          <p:cNvPr id="11" name="Text 7"/>
          <p:cNvSpPr/>
          <p:nvPr/>
        </p:nvSpPr>
        <p:spPr>
          <a:xfrm>
            <a:off x="640080" y="2971800"/>
            <a:ext cx="731520" cy="274320"/>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2</a:t>
            </a:r>
            <a:endParaRPr lang="en-US" sz="1100" dirty="0"/>
          </a:p>
        </p:txBody>
      </p:sp>
      <p:sp>
        <p:nvSpPr>
          <p:cNvPr id="12" name="Text 8"/>
          <p:cNvSpPr/>
          <p:nvPr/>
        </p:nvSpPr>
        <p:spPr>
          <a:xfrm>
            <a:off x="1645920" y="3227832"/>
            <a:ext cx="39319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Enumerate each pillar</a:t>
            </a:r>
            <a:endParaRPr lang="en-US" sz="1600" dirty="0"/>
          </a:p>
        </p:txBody>
      </p:sp>
      <p:sp>
        <p:nvSpPr>
          <p:cNvPr id="13" name="Text 9"/>
          <p:cNvSpPr/>
          <p:nvPr/>
        </p:nvSpPr>
        <p:spPr>
          <a:xfrm>
            <a:off x="5669280" y="3227832"/>
            <a:ext cx="5669280" cy="640080"/>
          </a:xfrm>
          <a:prstGeom prst="rect">
            <a:avLst/>
          </a:prstGeom>
          <a:noFill/>
          <a:ln/>
        </p:spPr>
        <p:txBody>
          <a:bodyPr wrap="square" rtlCol="0" anchor="t"/>
          <a:lstStyle/>
          <a:p>
            <a:pPr marL="0" indent="0">
              <a:buNone/>
            </a:pPr>
            <a:r>
              <a:rPr lang="en-US" sz="1300" dirty="0">
                <a:solidFill>
                  <a:srgbClr val="8E9BC0"/>
                </a:solidFill>
                <a:latin typeface="Calibri" pitchFamily="34" charset="0"/>
                <a:ea typeface="Calibri" pitchFamily="34" charset="-122"/>
                <a:cs typeface="Calibri" pitchFamily="34" charset="-120"/>
              </a:rPr>
              <a:t>Conditional access, app consents, IAM policies, MDM enrollment</a:t>
            </a:r>
            <a:endParaRPr lang="en-US" sz="1300" dirty="0"/>
          </a:p>
        </p:txBody>
      </p:sp>
      <p:sp>
        <p:nvSpPr>
          <p:cNvPr id="14" name="Shape 10"/>
          <p:cNvSpPr/>
          <p:nvPr/>
        </p:nvSpPr>
        <p:spPr>
          <a:xfrm>
            <a:off x="640080" y="4206240"/>
            <a:ext cx="731520" cy="731520"/>
          </a:xfrm>
          <a:prstGeom prst="ellipse">
            <a:avLst/>
          </a:prstGeom>
          <a:solidFill>
            <a:srgbClr val="121A33"/>
          </a:solidFill>
          <a:ln/>
        </p:spPr>
        <p:txBody>
          <a:bodyPr/>
          <a:lstStyle/>
          <a:p>
            <a:endParaRPr/>
          </a:p>
        </p:txBody>
      </p:sp>
      <p:pic>
        <p:nvPicPr>
          <p:cNvPr id="15" name="Image 2" descr="icons_route_00E5FF.png"/>
          <p:cNvPicPr>
            <a:picLocks noChangeAspect="1"/>
          </p:cNvPicPr>
          <p:nvPr/>
        </p:nvPicPr>
        <p:blipFill>
          <a:blip r:embed="rId5"/>
          <a:stretch>
            <a:fillRect/>
          </a:stretch>
        </p:blipFill>
        <p:spPr>
          <a:xfrm>
            <a:off x="815645" y="4381805"/>
            <a:ext cx="380390" cy="380390"/>
          </a:xfrm>
          <a:prstGeom prst="rect">
            <a:avLst/>
          </a:prstGeom>
        </p:spPr>
      </p:pic>
      <p:sp>
        <p:nvSpPr>
          <p:cNvPr id="16" name="Text 11"/>
          <p:cNvSpPr/>
          <p:nvPr/>
        </p:nvSpPr>
        <p:spPr>
          <a:xfrm>
            <a:off x="640080" y="3931920"/>
            <a:ext cx="731520" cy="274320"/>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3</a:t>
            </a:r>
            <a:endParaRPr lang="en-US" sz="1100" dirty="0"/>
          </a:p>
        </p:txBody>
      </p:sp>
      <p:sp>
        <p:nvSpPr>
          <p:cNvPr id="17" name="Text 12"/>
          <p:cNvSpPr/>
          <p:nvPr/>
        </p:nvSpPr>
        <p:spPr>
          <a:xfrm>
            <a:off x="1645920" y="4187952"/>
            <a:ext cx="39319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Chain across boundaries</a:t>
            </a:r>
            <a:endParaRPr lang="en-US" sz="1600" dirty="0"/>
          </a:p>
        </p:txBody>
      </p:sp>
      <p:sp>
        <p:nvSpPr>
          <p:cNvPr id="18" name="Text 13"/>
          <p:cNvSpPr/>
          <p:nvPr/>
        </p:nvSpPr>
        <p:spPr>
          <a:xfrm>
            <a:off x="5669280" y="4187952"/>
            <a:ext cx="5669280" cy="640080"/>
          </a:xfrm>
          <a:prstGeom prst="rect">
            <a:avLst/>
          </a:prstGeom>
          <a:noFill/>
          <a:ln/>
        </p:spPr>
        <p:txBody>
          <a:bodyPr wrap="square" rtlCol="0" anchor="t"/>
          <a:lstStyle/>
          <a:p>
            <a:pPr marL="0" indent="0">
              <a:buNone/>
            </a:pPr>
            <a:r>
              <a:rPr lang="en-US" sz="1300" dirty="0">
                <a:solidFill>
                  <a:srgbClr val="8E9BC0"/>
                </a:solidFill>
                <a:latin typeface="Calibri" pitchFamily="34" charset="0"/>
                <a:ea typeface="Calibri" pitchFamily="34" charset="-122"/>
                <a:cs typeface="Calibri" pitchFamily="34" charset="-120"/>
              </a:rPr>
              <a:t>Look for privilege that crosses from one system into another</a:t>
            </a:r>
            <a:endParaRPr lang="en-US" sz="1300" dirty="0"/>
          </a:p>
        </p:txBody>
      </p:sp>
      <p:sp>
        <p:nvSpPr>
          <p:cNvPr id="19" name="Shape 14"/>
          <p:cNvSpPr/>
          <p:nvPr/>
        </p:nvSpPr>
        <p:spPr>
          <a:xfrm>
            <a:off x="640080" y="5166360"/>
            <a:ext cx="731520" cy="731520"/>
          </a:xfrm>
          <a:prstGeom prst="ellipse">
            <a:avLst/>
          </a:prstGeom>
          <a:solidFill>
            <a:srgbClr val="121A33"/>
          </a:solidFill>
          <a:ln/>
        </p:spPr>
        <p:txBody>
          <a:bodyPr/>
          <a:lstStyle/>
          <a:p>
            <a:endParaRPr/>
          </a:p>
        </p:txBody>
      </p:sp>
      <p:pic>
        <p:nvPicPr>
          <p:cNvPr id="20" name="Image 3" descr="icons_flag_00E5FF.png"/>
          <p:cNvPicPr>
            <a:picLocks noChangeAspect="1"/>
          </p:cNvPicPr>
          <p:nvPr/>
        </p:nvPicPr>
        <p:blipFill>
          <a:blip r:embed="rId6"/>
          <a:stretch>
            <a:fillRect/>
          </a:stretch>
        </p:blipFill>
        <p:spPr>
          <a:xfrm>
            <a:off x="815645" y="5341925"/>
            <a:ext cx="380390" cy="380390"/>
          </a:xfrm>
          <a:prstGeom prst="rect">
            <a:avLst/>
          </a:prstGeom>
        </p:spPr>
      </p:pic>
      <p:sp>
        <p:nvSpPr>
          <p:cNvPr id="21" name="Text 15"/>
          <p:cNvSpPr/>
          <p:nvPr/>
        </p:nvSpPr>
        <p:spPr>
          <a:xfrm>
            <a:off x="640080" y="4892040"/>
            <a:ext cx="731520" cy="274320"/>
          </a:xfrm>
          <a:prstGeom prst="rect">
            <a:avLst/>
          </a:prstGeom>
          <a:noFill/>
          <a:ln/>
        </p:spPr>
        <p:txBody>
          <a:bodyPr wrap="square" rtlCol="0" anchor="ctr"/>
          <a:lstStyle/>
          <a:p>
            <a:pPr marL="0" indent="0" algn="ctr">
              <a:buNone/>
            </a:pPr>
            <a:r>
              <a:rPr lang="en-US" sz="1100" dirty="0">
                <a:solidFill>
                  <a:srgbClr val="8E9BC0"/>
                </a:solidFill>
                <a:latin typeface="Calibri" pitchFamily="34" charset="0"/>
                <a:ea typeface="Calibri" pitchFamily="34" charset="-122"/>
                <a:cs typeface="Calibri" pitchFamily="34" charset="-120"/>
              </a:rPr>
              <a:t>4</a:t>
            </a:r>
            <a:endParaRPr lang="en-US" sz="1100" dirty="0"/>
          </a:p>
        </p:txBody>
      </p:sp>
      <p:sp>
        <p:nvSpPr>
          <p:cNvPr id="22" name="Text 16"/>
          <p:cNvSpPr/>
          <p:nvPr/>
        </p:nvSpPr>
        <p:spPr>
          <a:xfrm>
            <a:off x="1645920" y="5148072"/>
            <a:ext cx="39319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Redefine “game over”</a:t>
            </a:r>
            <a:endParaRPr lang="en-US" sz="1600" dirty="0"/>
          </a:p>
        </p:txBody>
      </p:sp>
      <p:sp>
        <p:nvSpPr>
          <p:cNvPr id="23" name="Text 17"/>
          <p:cNvSpPr/>
          <p:nvPr/>
        </p:nvSpPr>
        <p:spPr>
          <a:xfrm>
            <a:off x="5669280" y="5148072"/>
            <a:ext cx="5669280" cy="640080"/>
          </a:xfrm>
          <a:prstGeom prst="rect">
            <a:avLst/>
          </a:prstGeom>
          <a:noFill/>
          <a:ln/>
        </p:spPr>
        <p:txBody>
          <a:bodyPr wrap="square" rtlCol="0" anchor="t"/>
          <a:lstStyle/>
          <a:p>
            <a:pPr marL="0" indent="0">
              <a:buNone/>
            </a:pPr>
            <a:r>
              <a:rPr lang="en-US" sz="1300" dirty="0">
                <a:solidFill>
                  <a:srgbClr val="8E9BC0"/>
                </a:solidFill>
                <a:latin typeface="Calibri" pitchFamily="34" charset="0"/>
                <a:ea typeface="Calibri" pitchFamily="34" charset="-122"/>
                <a:cs typeface="Calibri" pitchFamily="34" charset="-120"/>
              </a:rPr>
              <a:t>You already know this one - blast radius, not badges</a:t>
            </a:r>
            <a:endParaRPr lang="en-US" sz="1300" dirty="0"/>
          </a:p>
        </p:txBody>
      </p:sp>
      <p:sp>
        <p:nvSpPr>
          <p:cNvPr id="24" name="Text 1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3B6D11-CE53-4EB4-9921-2580C6D8A07D}"/>
              </a:ext>
            </a:extLst>
          </p:cNvPr>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WHO THIS IS FOR</a:t>
            </a:r>
            <a:endParaRPr lang="en-US" sz="1300" dirty="0"/>
          </a:p>
        </p:txBody>
      </p:sp>
      <p:sp>
        <p:nvSpPr>
          <p:cNvPr id="3" name="Text 1">
            <a:extLst>
              <a:ext uri="{FF2B5EF4-FFF2-40B4-BE49-F238E27FC236}">
                <a16:creationId xmlns:a16="http://schemas.microsoft.com/office/drawing/2014/main" id="{756C8CDF-4970-40F6-AB0B-65422D1BA02E}"/>
              </a:ext>
            </a:extLst>
          </p:cNvPr>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new perspective, whichever seat you're in</a:t>
            </a:r>
            <a:endParaRPr lang="en-US" sz="3200" dirty="0"/>
          </a:p>
        </p:txBody>
      </p:sp>
      <p:sp>
        <p:nvSpPr>
          <p:cNvPr id="4" name="Shape 2">
            <a:extLst>
              <a:ext uri="{FF2B5EF4-FFF2-40B4-BE49-F238E27FC236}">
                <a16:creationId xmlns:a16="http://schemas.microsoft.com/office/drawing/2014/main" id="{BA452039-A0CE-4B9B-A437-E62DE300CEA5}"/>
              </a:ext>
            </a:extLst>
          </p:cNvPr>
          <p:cNvSpPr/>
          <p:nvPr/>
        </p:nvSpPr>
        <p:spPr>
          <a:xfrm>
            <a:off x="640080" y="2286000"/>
            <a:ext cx="5212080" cy="1554480"/>
          </a:xfrm>
          <a:prstGeom prst="roundRect">
            <a:avLst>
              <a:gd name="adj" fmla="val 5882"/>
            </a:avLst>
          </a:prstGeom>
          <a:solidFill>
            <a:srgbClr val="121A33"/>
          </a:solidFill>
          <a:ln/>
        </p:spPr>
      </p:sp>
      <p:sp>
        <p:nvSpPr>
          <p:cNvPr id="5" name="Shape 3">
            <a:extLst>
              <a:ext uri="{FF2B5EF4-FFF2-40B4-BE49-F238E27FC236}">
                <a16:creationId xmlns:a16="http://schemas.microsoft.com/office/drawing/2014/main" id="{5190C10D-3E0E-43DD-859F-8C778F1A10C2}"/>
              </a:ext>
            </a:extLst>
          </p:cNvPr>
          <p:cNvSpPr/>
          <p:nvPr/>
        </p:nvSpPr>
        <p:spPr>
          <a:xfrm>
            <a:off x="914400" y="2651760"/>
            <a:ext cx="822960" cy="822960"/>
          </a:xfrm>
          <a:prstGeom prst="ellipse">
            <a:avLst/>
          </a:prstGeom>
          <a:solidFill>
            <a:srgbClr val="0A0F1F"/>
          </a:solidFill>
          <a:ln/>
        </p:spPr>
      </p:sp>
      <p:pic>
        <p:nvPicPr>
          <p:cNvPr id="6" name="Image 0" descr="icons_usershield_00E5FF.png">
            <a:extLst>
              <a:ext uri="{FF2B5EF4-FFF2-40B4-BE49-F238E27FC236}">
                <a16:creationId xmlns:a16="http://schemas.microsoft.com/office/drawing/2014/main" id="{2A5EE2E1-F04E-468D-8686-867C275ADB50}"/>
              </a:ext>
            </a:extLst>
          </p:cNvPr>
          <p:cNvPicPr>
            <a:picLocks noChangeAspect="1"/>
          </p:cNvPicPr>
          <p:nvPr/>
        </p:nvPicPr>
        <p:blipFill>
          <a:blip r:embed="rId3"/>
          <a:stretch>
            <a:fillRect/>
          </a:stretch>
        </p:blipFill>
        <p:spPr>
          <a:xfrm>
            <a:off x="1111910" y="2849270"/>
            <a:ext cx="427939" cy="427939"/>
          </a:xfrm>
          <a:prstGeom prst="rect">
            <a:avLst/>
          </a:prstGeom>
        </p:spPr>
      </p:pic>
      <p:sp>
        <p:nvSpPr>
          <p:cNvPr id="7" name="Text 4">
            <a:extLst>
              <a:ext uri="{FF2B5EF4-FFF2-40B4-BE49-F238E27FC236}">
                <a16:creationId xmlns:a16="http://schemas.microsoft.com/office/drawing/2014/main" id="{04979C9A-0435-4CA8-A721-769DD49EE4CD}"/>
              </a:ext>
            </a:extLst>
          </p:cNvPr>
          <p:cNvSpPr/>
          <p:nvPr/>
        </p:nvSpPr>
        <p:spPr>
          <a:xfrm>
            <a:off x="1920240" y="2514600"/>
            <a:ext cx="3749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Penetration Testers</a:t>
            </a:r>
            <a:endParaRPr lang="en-US" sz="1500" dirty="0"/>
          </a:p>
        </p:txBody>
      </p:sp>
      <p:sp>
        <p:nvSpPr>
          <p:cNvPr id="8" name="Text 5">
            <a:extLst>
              <a:ext uri="{FF2B5EF4-FFF2-40B4-BE49-F238E27FC236}">
                <a16:creationId xmlns:a16="http://schemas.microsoft.com/office/drawing/2014/main" id="{D00D2A77-665D-4DB5-AB65-B7A6B2D4116B}"/>
              </a:ext>
            </a:extLst>
          </p:cNvPr>
          <p:cNvSpPr/>
          <p:nvPr/>
        </p:nvSpPr>
        <p:spPr>
          <a:xfrm>
            <a:off x="1920240" y="2926080"/>
            <a:ext cx="3749040" cy="73152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Scope assessments beyond the domain boundary</a:t>
            </a:r>
            <a:endParaRPr lang="en-US" sz="1250" dirty="0"/>
          </a:p>
        </p:txBody>
      </p:sp>
      <p:sp>
        <p:nvSpPr>
          <p:cNvPr id="9" name="Shape 6">
            <a:extLst>
              <a:ext uri="{FF2B5EF4-FFF2-40B4-BE49-F238E27FC236}">
                <a16:creationId xmlns:a16="http://schemas.microsoft.com/office/drawing/2014/main" id="{58FECCEF-D9A7-42CA-A9AE-E0F546039714}"/>
              </a:ext>
            </a:extLst>
          </p:cNvPr>
          <p:cNvSpPr/>
          <p:nvPr/>
        </p:nvSpPr>
        <p:spPr>
          <a:xfrm>
            <a:off x="6309360" y="2286000"/>
            <a:ext cx="5212080" cy="1554480"/>
          </a:xfrm>
          <a:prstGeom prst="roundRect">
            <a:avLst>
              <a:gd name="adj" fmla="val 5882"/>
            </a:avLst>
          </a:prstGeom>
          <a:solidFill>
            <a:srgbClr val="121A33"/>
          </a:solidFill>
          <a:ln/>
        </p:spPr>
      </p:sp>
      <p:sp>
        <p:nvSpPr>
          <p:cNvPr id="10" name="Shape 7">
            <a:extLst>
              <a:ext uri="{FF2B5EF4-FFF2-40B4-BE49-F238E27FC236}">
                <a16:creationId xmlns:a16="http://schemas.microsoft.com/office/drawing/2014/main" id="{49156C5D-847B-4E23-9052-F1D7E2B9354E}"/>
              </a:ext>
            </a:extLst>
          </p:cNvPr>
          <p:cNvSpPr/>
          <p:nvPr/>
        </p:nvSpPr>
        <p:spPr>
          <a:xfrm>
            <a:off x="6583680" y="2651760"/>
            <a:ext cx="822960" cy="822960"/>
          </a:xfrm>
          <a:prstGeom prst="ellipse">
            <a:avLst/>
          </a:prstGeom>
          <a:solidFill>
            <a:srgbClr val="0A0F1F"/>
          </a:solidFill>
          <a:ln/>
        </p:spPr>
      </p:sp>
      <p:pic>
        <p:nvPicPr>
          <p:cNvPr id="11" name="Image 1" descr="icons_shield_00E5FF.png">
            <a:extLst>
              <a:ext uri="{FF2B5EF4-FFF2-40B4-BE49-F238E27FC236}">
                <a16:creationId xmlns:a16="http://schemas.microsoft.com/office/drawing/2014/main" id="{75642DCF-F52A-45EE-A2B9-FC6203366470}"/>
              </a:ext>
            </a:extLst>
          </p:cNvPr>
          <p:cNvPicPr>
            <a:picLocks noChangeAspect="1"/>
          </p:cNvPicPr>
          <p:nvPr/>
        </p:nvPicPr>
        <p:blipFill>
          <a:blip r:embed="rId4"/>
          <a:stretch>
            <a:fillRect/>
          </a:stretch>
        </p:blipFill>
        <p:spPr>
          <a:xfrm>
            <a:off x="6781190" y="2849270"/>
            <a:ext cx="427939" cy="427939"/>
          </a:xfrm>
          <a:prstGeom prst="rect">
            <a:avLst/>
          </a:prstGeom>
        </p:spPr>
      </p:pic>
      <p:sp>
        <p:nvSpPr>
          <p:cNvPr id="12" name="Text 8">
            <a:extLst>
              <a:ext uri="{FF2B5EF4-FFF2-40B4-BE49-F238E27FC236}">
                <a16:creationId xmlns:a16="http://schemas.microsoft.com/office/drawing/2014/main" id="{14890531-0E5F-4FA4-BB8F-F18FC55FE4CC}"/>
              </a:ext>
            </a:extLst>
          </p:cNvPr>
          <p:cNvSpPr/>
          <p:nvPr/>
        </p:nvSpPr>
        <p:spPr>
          <a:xfrm>
            <a:off x="7589520" y="2514600"/>
            <a:ext cx="3749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Red Teamers</a:t>
            </a:r>
            <a:endParaRPr lang="en-US" sz="1500" dirty="0"/>
          </a:p>
        </p:txBody>
      </p:sp>
      <p:sp>
        <p:nvSpPr>
          <p:cNvPr id="13" name="Text 9">
            <a:extLst>
              <a:ext uri="{FF2B5EF4-FFF2-40B4-BE49-F238E27FC236}">
                <a16:creationId xmlns:a16="http://schemas.microsoft.com/office/drawing/2014/main" id="{5A649661-C6A4-4B2E-84E7-A49DC22DC292}"/>
              </a:ext>
            </a:extLst>
          </p:cNvPr>
          <p:cNvSpPr/>
          <p:nvPr/>
        </p:nvSpPr>
        <p:spPr>
          <a:xfrm>
            <a:off x="7589520" y="2926080"/>
            <a:ext cx="3749040" cy="73152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Chain identity, cloud and SaaS into real objectives</a:t>
            </a:r>
            <a:endParaRPr lang="en-US" sz="1250" dirty="0"/>
          </a:p>
        </p:txBody>
      </p:sp>
      <p:sp>
        <p:nvSpPr>
          <p:cNvPr id="14" name="Shape 10">
            <a:extLst>
              <a:ext uri="{FF2B5EF4-FFF2-40B4-BE49-F238E27FC236}">
                <a16:creationId xmlns:a16="http://schemas.microsoft.com/office/drawing/2014/main" id="{153931F3-2B47-4A81-BC63-F516CBE45ECD}"/>
              </a:ext>
            </a:extLst>
          </p:cNvPr>
          <p:cNvSpPr/>
          <p:nvPr/>
        </p:nvSpPr>
        <p:spPr>
          <a:xfrm>
            <a:off x="640080" y="4160520"/>
            <a:ext cx="5212080" cy="1554480"/>
          </a:xfrm>
          <a:prstGeom prst="roundRect">
            <a:avLst>
              <a:gd name="adj" fmla="val 5882"/>
            </a:avLst>
          </a:prstGeom>
          <a:solidFill>
            <a:srgbClr val="121A33"/>
          </a:solidFill>
          <a:ln/>
        </p:spPr>
      </p:sp>
      <p:sp>
        <p:nvSpPr>
          <p:cNvPr id="15" name="Shape 11">
            <a:extLst>
              <a:ext uri="{FF2B5EF4-FFF2-40B4-BE49-F238E27FC236}">
                <a16:creationId xmlns:a16="http://schemas.microsoft.com/office/drawing/2014/main" id="{75CB0969-ECE8-4499-9D7B-19D720123F19}"/>
              </a:ext>
            </a:extLst>
          </p:cNvPr>
          <p:cNvSpPr/>
          <p:nvPr/>
        </p:nvSpPr>
        <p:spPr>
          <a:xfrm>
            <a:off x="914400" y="4526280"/>
            <a:ext cx="822960" cy="822960"/>
          </a:xfrm>
          <a:prstGeom prst="ellipse">
            <a:avLst/>
          </a:prstGeom>
          <a:solidFill>
            <a:srgbClr val="0A0F1F"/>
          </a:solidFill>
          <a:ln/>
        </p:spPr>
      </p:sp>
      <p:pic>
        <p:nvPicPr>
          <p:cNvPr id="16" name="Image 2" descr="icons_check_00E5FF.png">
            <a:extLst>
              <a:ext uri="{FF2B5EF4-FFF2-40B4-BE49-F238E27FC236}">
                <a16:creationId xmlns:a16="http://schemas.microsoft.com/office/drawing/2014/main" id="{0076ABFC-BBBD-4B43-B1EE-30A075E6B696}"/>
              </a:ext>
            </a:extLst>
          </p:cNvPr>
          <p:cNvPicPr>
            <a:picLocks noChangeAspect="1"/>
          </p:cNvPicPr>
          <p:nvPr/>
        </p:nvPicPr>
        <p:blipFill>
          <a:blip r:embed="rId5"/>
          <a:stretch>
            <a:fillRect/>
          </a:stretch>
        </p:blipFill>
        <p:spPr>
          <a:xfrm>
            <a:off x="1111910" y="4723790"/>
            <a:ext cx="427939" cy="427939"/>
          </a:xfrm>
          <a:prstGeom prst="rect">
            <a:avLst/>
          </a:prstGeom>
        </p:spPr>
      </p:pic>
      <p:sp>
        <p:nvSpPr>
          <p:cNvPr id="17" name="Text 12">
            <a:extLst>
              <a:ext uri="{FF2B5EF4-FFF2-40B4-BE49-F238E27FC236}">
                <a16:creationId xmlns:a16="http://schemas.microsoft.com/office/drawing/2014/main" id="{03C071CC-DF29-4426-AC58-A312190CC35B}"/>
              </a:ext>
            </a:extLst>
          </p:cNvPr>
          <p:cNvSpPr/>
          <p:nvPr/>
        </p:nvSpPr>
        <p:spPr>
          <a:xfrm>
            <a:off x="1920240" y="4389120"/>
            <a:ext cx="3749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Blue Teamers</a:t>
            </a:r>
            <a:endParaRPr lang="en-US" sz="1500" dirty="0"/>
          </a:p>
        </p:txBody>
      </p:sp>
      <p:sp>
        <p:nvSpPr>
          <p:cNvPr id="18" name="Text 13">
            <a:extLst>
              <a:ext uri="{FF2B5EF4-FFF2-40B4-BE49-F238E27FC236}">
                <a16:creationId xmlns:a16="http://schemas.microsoft.com/office/drawing/2014/main" id="{968A2A75-282A-4536-BF1A-372D60DFF097}"/>
              </a:ext>
            </a:extLst>
          </p:cNvPr>
          <p:cNvSpPr/>
          <p:nvPr/>
        </p:nvSpPr>
        <p:spPr>
          <a:xfrm>
            <a:off x="1920240" y="4800600"/>
            <a:ext cx="3749040" cy="73152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Extend detection to IdP, SaaS and device management</a:t>
            </a:r>
            <a:endParaRPr lang="en-US" sz="1250" dirty="0"/>
          </a:p>
        </p:txBody>
      </p:sp>
      <p:sp>
        <p:nvSpPr>
          <p:cNvPr id="19" name="Shape 14">
            <a:extLst>
              <a:ext uri="{FF2B5EF4-FFF2-40B4-BE49-F238E27FC236}">
                <a16:creationId xmlns:a16="http://schemas.microsoft.com/office/drawing/2014/main" id="{AA9BE834-0805-451E-AC5E-D87B3C7B6EFB}"/>
              </a:ext>
            </a:extLst>
          </p:cNvPr>
          <p:cNvSpPr/>
          <p:nvPr/>
        </p:nvSpPr>
        <p:spPr>
          <a:xfrm>
            <a:off x="6309360" y="4160520"/>
            <a:ext cx="5212080" cy="1554480"/>
          </a:xfrm>
          <a:prstGeom prst="roundRect">
            <a:avLst>
              <a:gd name="adj" fmla="val 5882"/>
            </a:avLst>
          </a:prstGeom>
          <a:solidFill>
            <a:srgbClr val="121A33"/>
          </a:solidFill>
          <a:ln/>
        </p:spPr>
      </p:sp>
      <p:sp>
        <p:nvSpPr>
          <p:cNvPr id="20" name="Shape 15">
            <a:extLst>
              <a:ext uri="{FF2B5EF4-FFF2-40B4-BE49-F238E27FC236}">
                <a16:creationId xmlns:a16="http://schemas.microsoft.com/office/drawing/2014/main" id="{9EFF5AA1-4B4C-4B44-8FFA-86AD74DA59A4}"/>
              </a:ext>
            </a:extLst>
          </p:cNvPr>
          <p:cNvSpPr/>
          <p:nvPr/>
        </p:nvSpPr>
        <p:spPr>
          <a:xfrm>
            <a:off x="6583680" y="4526280"/>
            <a:ext cx="822960" cy="822960"/>
          </a:xfrm>
          <a:prstGeom prst="ellipse">
            <a:avLst/>
          </a:prstGeom>
          <a:solidFill>
            <a:srgbClr val="0A0F1F"/>
          </a:solidFill>
          <a:ln/>
        </p:spPr>
      </p:sp>
      <p:pic>
        <p:nvPicPr>
          <p:cNvPr id="21" name="Image 3" descr="icons_building_00E5FF.png">
            <a:extLst>
              <a:ext uri="{FF2B5EF4-FFF2-40B4-BE49-F238E27FC236}">
                <a16:creationId xmlns:a16="http://schemas.microsoft.com/office/drawing/2014/main" id="{B05E4CA8-D51E-4087-9871-7933FC662BA1}"/>
              </a:ext>
            </a:extLst>
          </p:cNvPr>
          <p:cNvPicPr>
            <a:picLocks noChangeAspect="1"/>
          </p:cNvPicPr>
          <p:nvPr/>
        </p:nvPicPr>
        <p:blipFill>
          <a:blip r:embed="rId6"/>
          <a:stretch>
            <a:fillRect/>
          </a:stretch>
        </p:blipFill>
        <p:spPr>
          <a:xfrm>
            <a:off x="6781190" y="4723790"/>
            <a:ext cx="427939" cy="427939"/>
          </a:xfrm>
          <a:prstGeom prst="rect">
            <a:avLst/>
          </a:prstGeom>
        </p:spPr>
      </p:pic>
      <p:sp>
        <p:nvSpPr>
          <p:cNvPr id="22" name="Text 16">
            <a:extLst>
              <a:ext uri="{FF2B5EF4-FFF2-40B4-BE49-F238E27FC236}">
                <a16:creationId xmlns:a16="http://schemas.microsoft.com/office/drawing/2014/main" id="{4C1A2D90-1072-485C-AE0F-97E57D92169E}"/>
              </a:ext>
            </a:extLst>
          </p:cNvPr>
          <p:cNvSpPr/>
          <p:nvPr/>
        </p:nvSpPr>
        <p:spPr>
          <a:xfrm>
            <a:off x="7589520" y="4389120"/>
            <a:ext cx="3749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Security Leaders</a:t>
            </a:r>
            <a:endParaRPr lang="en-US" sz="1500" dirty="0"/>
          </a:p>
        </p:txBody>
      </p:sp>
      <p:sp>
        <p:nvSpPr>
          <p:cNvPr id="23" name="Text 17">
            <a:extLst>
              <a:ext uri="{FF2B5EF4-FFF2-40B4-BE49-F238E27FC236}">
                <a16:creationId xmlns:a16="http://schemas.microsoft.com/office/drawing/2014/main" id="{5EEA388D-7E8A-4884-A9D3-288B892ED40D}"/>
              </a:ext>
            </a:extLst>
          </p:cNvPr>
          <p:cNvSpPr/>
          <p:nvPr/>
        </p:nvSpPr>
        <p:spPr>
          <a:xfrm>
            <a:off x="7589520" y="4800600"/>
            <a:ext cx="3749040" cy="731520"/>
          </a:xfrm>
          <a:prstGeom prst="rect">
            <a:avLst/>
          </a:prstGeom>
          <a:noFill/>
          <a:ln/>
        </p:spPr>
        <p:txBody>
          <a:bodyPr wrap="square" rtlCol="0" anchor="t"/>
          <a:lstStyle/>
          <a:p>
            <a:pPr marL="0" indent="0">
              <a:buNone/>
            </a:pPr>
            <a:r>
              <a:rPr lang="en-US" sz="1250" dirty="0">
                <a:solidFill>
                  <a:srgbClr val="8E9BC0"/>
                </a:solidFill>
                <a:latin typeface="Calibri" pitchFamily="34" charset="0"/>
                <a:ea typeface="Calibri" pitchFamily="34" charset="-122"/>
                <a:cs typeface="Calibri" pitchFamily="34" charset="-120"/>
              </a:rPr>
              <a:t>Rethink where enterprise trust actually lives</a:t>
            </a:r>
            <a:endParaRPr lang="en-US" sz="1250" dirty="0"/>
          </a:p>
        </p:txBody>
      </p:sp>
      <p:sp>
        <p:nvSpPr>
          <p:cNvPr id="24" name="Text 18">
            <a:extLst>
              <a:ext uri="{FF2B5EF4-FFF2-40B4-BE49-F238E27FC236}">
                <a16:creationId xmlns:a16="http://schemas.microsoft.com/office/drawing/2014/main" id="{BC8D907B-B84B-46DF-AB53-EA673C566DE3}"/>
              </a:ext>
            </a:extLst>
          </p:cNvPr>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40</a:t>
            </a:r>
            <a:endParaRPr lang="en-US" sz="1000" dirty="0"/>
          </a:p>
        </p:txBody>
      </p:sp>
    </p:spTree>
    <p:extLst>
      <p:ext uri="{BB962C8B-B14F-4D97-AF65-F5344CB8AC3E}">
        <p14:creationId xmlns:p14="http://schemas.microsoft.com/office/powerpoint/2010/main" val="42641756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1">
    <p:bg>
      <p:bgPr>
        <a:solidFill>
          <a:srgbClr val="070B18"/>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00E5FF"/>
                </a:solidFill>
                <a:latin typeface="Calibri" pitchFamily="34" charset="0"/>
                <a:ea typeface="Calibri" pitchFamily="34" charset="-122"/>
                <a:cs typeface="Calibri" pitchFamily="34" charset="-120"/>
              </a:rPr>
              <a:t>KEY TAKEAWAYS</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to carry back to your next engagement</a:t>
            </a:r>
            <a:endParaRPr lang="en-US" sz="3200" dirty="0"/>
          </a:p>
        </p:txBody>
      </p:sp>
      <p:sp>
        <p:nvSpPr>
          <p:cNvPr id="4" name="Shape 2"/>
          <p:cNvSpPr/>
          <p:nvPr/>
        </p:nvSpPr>
        <p:spPr>
          <a:xfrm>
            <a:off x="640080" y="2377440"/>
            <a:ext cx="502920" cy="502920"/>
          </a:xfrm>
          <a:prstGeom prst="ellipse">
            <a:avLst/>
          </a:prstGeom>
          <a:solidFill>
            <a:srgbClr val="7C5CFC"/>
          </a:solidFill>
          <a:ln/>
        </p:spPr>
        <p:txBody>
          <a:bodyPr/>
          <a:lstStyle/>
          <a:p>
            <a:endParaRPr/>
          </a:p>
        </p:txBody>
      </p:sp>
      <p:sp>
        <p:nvSpPr>
          <p:cNvPr id="5" name="Text 3"/>
          <p:cNvSpPr/>
          <p:nvPr/>
        </p:nvSpPr>
        <p:spPr>
          <a:xfrm>
            <a:off x="640080" y="237744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71600" y="2331720"/>
            <a:ext cx="10058400" cy="1005840"/>
          </a:xfrm>
          <a:prstGeom prst="rect">
            <a:avLst/>
          </a:prstGeom>
          <a:noFill/>
          <a:ln/>
        </p:spPr>
        <p:txBody>
          <a:bodyPr wrap="square"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definition of the "internal network" has already changed - assessments need to catch up</a:t>
            </a:r>
            <a:endParaRPr lang="en-US" sz="1600" dirty="0"/>
          </a:p>
        </p:txBody>
      </p:sp>
      <p:sp>
        <p:nvSpPr>
          <p:cNvPr id="7" name="Shape 5"/>
          <p:cNvSpPr/>
          <p:nvPr/>
        </p:nvSpPr>
        <p:spPr>
          <a:xfrm>
            <a:off x="640080" y="3657600"/>
            <a:ext cx="502920" cy="502920"/>
          </a:xfrm>
          <a:prstGeom prst="ellipse">
            <a:avLst/>
          </a:prstGeom>
          <a:solidFill>
            <a:srgbClr val="7C5CFC"/>
          </a:solidFill>
          <a:ln/>
        </p:spPr>
        <p:txBody>
          <a:bodyPr/>
          <a:lstStyle/>
          <a:p>
            <a:endParaRPr/>
          </a:p>
        </p:txBody>
      </p:sp>
      <p:sp>
        <p:nvSpPr>
          <p:cNvPr id="8" name="Text 6"/>
          <p:cNvSpPr/>
          <p:nvPr/>
        </p:nvSpPr>
        <p:spPr>
          <a:xfrm>
            <a:off x="640080" y="36576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371600" y="3611880"/>
            <a:ext cx="10058400" cy="1005840"/>
          </a:xfrm>
          <a:prstGeom prst="rect">
            <a:avLst/>
          </a:prstGeom>
          <a:noFill/>
          <a:ln/>
        </p:spPr>
        <p:txBody>
          <a:bodyPr wrap="square" rtlCol="0" anchor="t"/>
          <a:lstStyle/>
          <a:p>
            <a:pPr marL="0" indent="0">
              <a:buNone/>
            </a:pPr>
            <a:r>
              <a:rPr lang="en-US" sz="1600" dirty="0">
                <a:solidFill>
                  <a:srgbClr val="FFFFFF"/>
                </a:solidFill>
                <a:latin typeface="Calibri" pitchFamily="34" charset="0"/>
                <a:ea typeface="Calibri" pitchFamily="34" charset="-122"/>
                <a:cs typeface="Calibri" pitchFamily="34" charset="-120"/>
              </a:rPr>
              <a:t>Domain Admin is a milestone, not always the objective - trace paths through IdP, SaaS, cloud and device management too</a:t>
            </a:r>
            <a:endParaRPr lang="en-US" sz="1600" dirty="0"/>
          </a:p>
        </p:txBody>
      </p:sp>
      <p:sp>
        <p:nvSpPr>
          <p:cNvPr id="10" name="Shape 8"/>
          <p:cNvSpPr/>
          <p:nvPr/>
        </p:nvSpPr>
        <p:spPr>
          <a:xfrm>
            <a:off x="640080" y="4937760"/>
            <a:ext cx="502920" cy="502920"/>
          </a:xfrm>
          <a:prstGeom prst="ellipse">
            <a:avLst/>
          </a:prstGeom>
          <a:solidFill>
            <a:srgbClr val="7C5CFC"/>
          </a:solidFill>
          <a:ln/>
        </p:spPr>
        <p:txBody>
          <a:bodyPr/>
          <a:lstStyle/>
          <a:p>
            <a:endParaRPr/>
          </a:p>
        </p:txBody>
      </p:sp>
      <p:sp>
        <p:nvSpPr>
          <p:cNvPr id="11" name="Text 9"/>
          <p:cNvSpPr/>
          <p:nvPr/>
        </p:nvSpPr>
        <p:spPr>
          <a:xfrm>
            <a:off x="640080" y="493776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371600" y="4892040"/>
            <a:ext cx="10058400" cy="1005840"/>
          </a:xfrm>
          <a:prstGeom prst="rect">
            <a:avLst/>
          </a:prstGeom>
          <a:noFill/>
          <a:ln/>
        </p:spPr>
        <p:txBody>
          <a:bodyPr wrap="square" rtlCol="0" anchor="t"/>
          <a:lstStyle/>
          <a:p>
            <a:pPr marL="0" indent="0">
              <a:buNone/>
            </a:pPr>
            <a:r>
              <a:rPr lang="en-US" sz="1600" dirty="0">
                <a:solidFill>
                  <a:srgbClr val="FFFFFF"/>
                </a:solidFill>
                <a:latin typeface="Calibri" pitchFamily="34" charset="0"/>
                <a:ea typeface="Calibri" pitchFamily="34" charset="-122"/>
                <a:cs typeface="Calibri" pitchFamily="34" charset="-120"/>
              </a:rPr>
              <a:t>Privilege is no longer the unit of compromise. Reach is - trust is how you get there, and a chain across a graph beats a single escalation</a:t>
            </a:r>
            <a:endParaRPr lang="en-US" sz="1600" dirty="0"/>
          </a:p>
        </p:txBody>
      </p:sp>
      <p:sp>
        <p:nvSpPr>
          <p:cNvPr id="13" name="Text 1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2">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822960" y="1005840"/>
            <a:ext cx="822960" cy="1371600"/>
          </a:xfrm>
          <a:prstGeom prst="line">
            <a:avLst/>
          </a:prstGeom>
          <a:noFill/>
          <a:ln w="15240">
            <a:solidFill>
              <a:srgbClr val="16204A"/>
            </a:solidFill>
            <a:prstDash val="solid"/>
          </a:ln>
        </p:spPr>
        <p:txBody>
          <a:bodyPr/>
          <a:lstStyle/>
          <a:p>
            <a:endParaRPr/>
          </a:p>
        </p:txBody>
      </p:sp>
      <p:sp>
        <p:nvSpPr>
          <p:cNvPr id="3" name="Shape 1"/>
          <p:cNvSpPr/>
          <p:nvPr/>
        </p:nvSpPr>
        <p:spPr>
          <a:xfrm>
            <a:off x="1097280" y="2377440"/>
            <a:ext cx="548640" cy="2011680"/>
          </a:xfrm>
          <a:prstGeom prst="line">
            <a:avLst/>
          </a:prstGeom>
          <a:noFill/>
          <a:ln w="15240">
            <a:solidFill>
              <a:srgbClr val="16204A"/>
            </a:solidFill>
            <a:prstDash val="solid"/>
          </a:ln>
        </p:spPr>
        <p:txBody>
          <a:bodyPr/>
          <a:lstStyle/>
          <a:p>
            <a:endParaRPr/>
          </a:p>
        </p:txBody>
      </p:sp>
      <p:sp>
        <p:nvSpPr>
          <p:cNvPr id="4" name="Shape 2"/>
          <p:cNvSpPr/>
          <p:nvPr/>
        </p:nvSpPr>
        <p:spPr>
          <a:xfrm>
            <a:off x="1097280" y="4389120"/>
            <a:ext cx="1280160" cy="1005840"/>
          </a:xfrm>
          <a:prstGeom prst="line">
            <a:avLst/>
          </a:prstGeom>
          <a:noFill/>
          <a:ln w="15240">
            <a:solidFill>
              <a:srgbClr val="16204A"/>
            </a:solidFill>
            <a:prstDash val="solid"/>
          </a:ln>
        </p:spPr>
        <p:txBody>
          <a:bodyPr/>
          <a:lstStyle/>
          <a:p>
            <a:endParaRPr/>
          </a:p>
        </p:txBody>
      </p:sp>
      <p:sp>
        <p:nvSpPr>
          <p:cNvPr id="5" name="Shape 3"/>
          <p:cNvSpPr/>
          <p:nvPr/>
        </p:nvSpPr>
        <p:spPr>
          <a:xfrm>
            <a:off x="548640" y="1005840"/>
            <a:ext cx="274320" cy="2103120"/>
          </a:xfrm>
          <a:prstGeom prst="line">
            <a:avLst/>
          </a:prstGeom>
          <a:noFill/>
          <a:ln w="15240">
            <a:solidFill>
              <a:srgbClr val="16204A"/>
            </a:solidFill>
            <a:prstDash val="solid"/>
          </a:ln>
        </p:spPr>
        <p:txBody>
          <a:bodyPr/>
          <a:lstStyle/>
          <a:p>
            <a:endParaRPr/>
          </a:p>
        </p:txBody>
      </p:sp>
      <p:sp>
        <p:nvSpPr>
          <p:cNvPr id="6" name="Shape 4"/>
          <p:cNvSpPr/>
          <p:nvPr/>
        </p:nvSpPr>
        <p:spPr>
          <a:xfrm>
            <a:off x="548640" y="2377440"/>
            <a:ext cx="1097280" cy="731520"/>
          </a:xfrm>
          <a:prstGeom prst="line">
            <a:avLst/>
          </a:prstGeom>
          <a:noFill/>
          <a:ln w="15240">
            <a:solidFill>
              <a:srgbClr val="16204A"/>
            </a:solidFill>
            <a:prstDash val="solid"/>
          </a:ln>
        </p:spPr>
        <p:txBody>
          <a:bodyPr/>
          <a:lstStyle/>
          <a:p>
            <a:endParaRPr/>
          </a:p>
        </p:txBody>
      </p:sp>
      <p:sp>
        <p:nvSpPr>
          <p:cNvPr id="7" name="Shape 5"/>
          <p:cNvSpPr/>
          <p:nvPr/>
        </p:nvSpPr>
        <p:spPr>
          <a:xfrm>
            <a:off x="10607040" y="1188720"/>
            <a:ext cx="640080" cy="1463040"/>
          </a:xfrm>
          <a:prstGeom prst="line">
            <a:avLst/>
          </a:prstGeom>
          <a:noFill/>
          <a:ln w="15240">
            <a:solidFill>
              <a:srgbClr val="16204A"/>
            </a:solidFill>
            <a:prstDash val="solid"/>
          </a:ln>
        </p:spPr>
        <p:txBody>
          <a:bodyPr/>
          <a:lstStyle/>
          <a:p>
            <a:endParaRPr/>
          </a:p>
        </p:txBody>
      </p:sp>
      <p:sp>
        <p:nvSpPr>
          <p:cNvPr id="8" name="Shape 6"/>
          <p:cNvSpPr/>
          <p:nvPr/>
        </p:nvSpPr>
        <p:spPr>
          <a:xfrm>
            <a:off x="10607040" y="2651760"/>
            <a:ext cx="914400" cy="1554480"/>
          </a:xfrm>
          <a:prstGeom prst="line">
            <a:avLst/>
          </a:prstGeom>
          <a:noFill/>
          <a:ln w="15240">
            <a:solidFill>
              <a:srgbClr val="16204A"/>
            </a:solidFill>
            <a:prstDash val="solid"/>
          </a:ln>
        </p:spPr>
        <p:txBody>
          <a:bodyPr/>
          <a:lstStyle/>
          <a:p>
            <a:endParaRPr/>
          </a:p>
        </p:txBody>
      </p:sp>
      <p:sp>
        <p:nvSpPr>
          <p:cNvPr id="9" name="Shape 7"/>
          <p:cNvSpPr/>
          <p:nvPr/>
        </p:nvSpPr>
        <p:spPr>
          <a:xfrm>
            <a:off x="10332720" y="4206240"/>
            <a:ext cx="1188720" cy="1097280"/>
          </a:xfrm>
          <a:prstGeom prst="line">
            <a:avLst/>
          </a:prstGeom>
          <a:noFill/>
          <a:ln w="15240">
            <a:solidFill>
              <a:srgbClr val="16204A"/>
            </a:solidFill>
            <a:prstDash val="solid"/>
          </a:ln>
        </p:spPr>
        <p:txBody>
          <a:bodyPr/>
          <a:lstStyle/>
          <a:p>
            <a:endParaRPr/>
          </a:p>
        </p:txBody>
      </p:sp>
      <p:sp>
        <p:nvSpPr>
          <p:cNvPr id="10" name="Shape 8"/>
          <p:cNvSpPr/>
          <p:nvPr/>
        </p:nvSpPr>
        <p:spPr>
          <a:xfrm>
            <a:off x="10332720" y="5303520"/>
            <a:ext cx="640080" cy="822960"/>
          </a:xfrm>
          <a:prstGeom prst="line">
            <a:avLst/>
          </a:prstGeom>
          <a:noFill/>
          <a:ln w="15240">
            <a:solidFill>
              <a:srgbClr val="16204A"/>
            </a:solidFill>
            <a:prstDash val="solid"/>
          </a:ln>
        </p:spPr>
        <p:txBody>
          <a:bodyPr/>
          <a:lstStyle/>
          <a:p>
            <a:endParaRPr/>
          </a:p>
        </p:txBody>
      </p:sp>
      <p:sp>
        <p:nvSpPr>
          <p:cNvPr id="11" name="Shape 9"/>
          <p:cNvSpPr/>
          <p:nvPr/>
        </p:nvSpPr>
        <p:spPr>
          <a:xfrm>
            <a:off x="10972800" y="1188720"/>
            <a:ext cx="274320" cy="4937760"/>
          </a:xfrm>
          <a:prstGeom prst="line">
            <a:avLst/>
          </a:prstGeom>
          <a:noFill/>
          <a:ln w="15240">
            <a:solidFill>
              <a:srgbClr val="16204A"/>
            </a:solidFill>
            <a:prstDash val="solid"/>
          </a:ln>
        </p:spPr>
        <p:txBody>
          <a:bodyPr/>
          <a:lstStyle/>
          <a:p>
            <a:endParaRPr/>
          </a:p>
        </p:txBody>
      </p:sp>
      <p:sp>
        <p:nvSpPr>
          <p:cNvPr id="12" name="Shape 10"/>
          <p:cNvSpPr/>
          <p:nvPr/>
        </p:nvSpPr>
        <p:spPr>
          <a:xfrm>
            <a:off x="768096" y="950976"/>
            <a:ext cx="109728" cy="109728"/>
          </a:xfrm>
          <a:prstGeom prst="ellipse">
            <a:avLst/>
          </a:prstGeom>
          <a:solidFill>
            <a:srgbClr val="00E5FF"/>
          </a:solidFill>
          <a:ln/>
        </p:spPr>
        <p:txBody>
          <a:bodyPr/>
          <a:lstStyle/>
          <a:p>
            <a:endParaRPr/>
          </a:p>
        </p:txBody>
      </p:sp>
      <p:sp>
        <p:nvSpPr>
          <p:cNvPr id="13" name="Shape 11"/>
          <p:cNvSpPr/>
          <p:nvPr/>
        </p:nvSpPr>
        <p:spPr>
          <a:xfrm>
            <a:off x="1591056" y="2322576"/>
            <a:ext cx="109728" cy="109728"/>
          </a:xfrm>
          <a:prstGeom prst="ellipse">
            <a:avLst/>
          </a:prstGeom>
          <a:solidFill>
            <a:srgbClr val="7C5CFC"/>
          </a:solidFill>
          <a:ln/>
        </p:spPr>
        <p:txBody>
          <a:bodyPr/>
          <a:lstStyle/>
          <a:p>
            <a:endParaRPr/>
          </a:p>
        </p:txBody>
      </p:sp>
      <p:sp>
        <p:nvSpPr>
          <p:cNvPr id="14" name="Shape 12"/>
          <p:cNvSpPr/>
          <p:nvPr/>
        </p:nvSpPr>
        <p:spPr>
          <a:xfrm>
            <a:off x="1042416" y="4334256"/>
            <a:ext cx="109728" cy="109728"/>
          </a:xfrm>
          <a:prstGeom prst="ellipse">
            <a:avLst/>
          </a:prstGeom>
          <a:solidFill>
            <a:srgbClr val="7C5CFC"/>
          </a:solidFill>
          <a:ln/>
        </p:spPr>
        <p:txBody>
          <a:bodyPr/>
          <a:lstStyle/>
          <a:p>
            <a:endParaRPr/>
          </a:p>
        </p:txBody>
      </p:sp>
      <p:sp>
        <p:nvSpPr>
          <p:cNvPr id="15" name="Shape 13"/>
          <p:cNvSpPr/>
          <p:nvPr/>
        </p:nvSpPr>
        <p:spPr>
          <a:xfrm>
            <a:off x="2322576" y="5340096"/>
            <a:ext cx="109728" cy="109728"/>
          </a:xfrm>
          <a:prstGeom prst="ellipse">
            <a:avLst/>
          </a:prstGeom>
          <a:solidFill>
            <a:srgbClr val="00E5FF"/>
          </a:solidFill>
          <a:ln/>
        </p:spPr>
        <p:txBody>
          <a:bodyPr/>
          <a:lstStyle/>
          <a:p>
            <a:endParaRPr/>
          </a:p>
        </p:txBody>
      </p:sp>
      <p:sp>
        <p:nvSpPr>
          <p:cNvPr id="16" name="Shape 14"/>
          <p:cNvSpPr/>
          <p:nvPr/>
        </p:nvSpPr>
        <p:spPr>
          <a:xfrm>
            <a:off x="493776" y="3054096"/>
            <a:ext cx="109728" cy="109728"/>
          </a:xfrm>
          <a:prstGeom prst="ellipse">
            <a:avLst/>
          </a:prstGeom>
          <a:solidFill>
            <a:srgbClr val="7C5CFC"/>
          </a:solidFill>
          <a:ln/>
        </p:spPr>
        <p:txBody>
          <a:bodyPr/>
          <a:lstStyle/>
          <a:p>
            <a:endParaRPr/>
          </a:p>
        </p:txBody>
      </p:sp>
      <p:sp>
        <p:nvSpPr>
          <p:cNvPr id="17" name="Shape 15"/>
          <p:cNvSpPr/>
          <p:nvPr/>
        </p:nvSpPr>
        <p:spPr>
          <a:xfrm>
            <a:off x="11192256" y="1133856"/>
            <a:ext cx="109728" cy="109728"/>
          </a:xfrm>
          <a:prstGeom prst="ellipse">
            <a:avLst/>
          </a:prstGeom>
          <a:solidFill>
            <a:srgbClr val="7C5CFC"/>
          </a:solidFill>
          <a:ln/>
        </p:spPr>
        <p:txBody>
          <a:bodyPr/>
          <a:lstStyle/>
          <a:p>
            <a:endParaRPr/>
          </a:p>
        </p:txBody>
      </p:sp>
      <p:sp>
        <p:nvSpPr>
          <p:cNvPr id="18" name="Shape 16"/>
          <p:cNvSpPr/>
          <p:nvPr/>
        </p:nvSpPr>
        <p:spPr>
          <a:xfrm>
            <a:off x="10552176" y="2596896"/>
            <a:ext cx="109728" cy="109728"/>
          </a:xfrm>
          <a:prstGeom prst="ellipse">
            <a:avLst/>
          </a:prstGeom>
          <a:solidFill>
            <a:srgbClr val="00E5FF"/>
          </a:solidFill>
          <a:ln/>
        </p:spPr>
        <p:txBody>
          <a:bodyPr/>
          <a:lstStyle/>
          <a:p>
            <a:endParaRPr/>
          </a:p>
        </p:txBody>
      </p:sp>
      <p:sp>
        <p:nvSpPr>
          <p:cNvPr id="19" name="Shape 17"/>
          <p:cNvSpPr/>
          <p:nvPr/>
        </p:nvSpPr>
        <p:spPr>
          <a:xfrm>
            <a:off x="11466576" y="4151376"/>
            <a:ext cx="109728" cy="109728"/>
          </a:xfrm>
          <a:prstGeom prst="ellipse">
            <a:avLst/>
          </a:prstGeom>
          <a:solidFill>
            <a:srgbClr val="7C5CFC"/>
          </a:solidFill>
          <a:ln/>
        </p:spPr>
        <p:txBody>
          <a:bodyPr/>
          <a:lstStyle/>
          <a:p>
            <a:endParaRPr/>
          </a:p>
        </p:txBody>
      </p:sp>
      <p:sp>
        <p:nvSpPr>
          <p:cNvPr id="20" name="Shape 18"/>
          <p:cNvSpPr/>
          <p:nvPr/>
        </p:nvSpPr>
        <p:spPr>
          <a:xfrm>
            <a:off x="10277856" y="5248656"/>
            <a:ext cx="109728" cy="109728"/>
          </a:xfrm>
          <a:prstGeom prst="ellipse">
            <a:avLst/>
          </a:prstGeom>
          <a:solidFill>
            <a:srgbClr val="7C5CFC"/>
          </a:solidFill>
          <a:ln/>
        </p:spPr>
        <p:txBody>
          <a:bodyPr/>
          <a:lstStyle/>
          <a:p>
            <a:endParaRPr/>
          </a:p>
        </p:txBody>
      </p:sp>
      <p:sp>
        <p:nvSpPr>
          <p:cNvPr id="21" name="Shape 19"/>
          <p:cNvSpPr/>
          <p:nvPr/>
        </p:nvSpPr>
        <p:spPr>
          <a:xfrm>
            <a:off x="10917936" y="6071616"/>
            <a:ext cx="109728" cy="109728"/>
          </a:xfrm>
          <a:prstGeom prst="ellipse">
            <a:avLst/>
          </a:prstGeom>
          <a:solidFill>
            <a:srgbClr val="00E5FF"/>
          </a:solidFill>
          <a:ln/>
        </p:spPr>
        <p:txBody>
          <a:bodyPr/>
          <a:lstStyle/>
          <a:p>
            <a:endParaRPr/>
          </a:p>
        </p:txBody>
      </p:sp>
      <p:sp>
        <p:nvSpPr>
          <p:cNvPr id="22" name="Text 20"/>
          <p:cNvSpPr/>
          <p:nvPr/>
        </p:nvSpPr>
        <p:spPr>
          <a:xfrm>
            <a:off x="822960" y="2194560"/>
            <a:ext cx="91440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23" name="Text 21"/>
          <p:cNvSpPr/>
          <p:nvPr/>
        </p:nvSpPr>
        <p:spPr>
          <a:xfrm>
            <a:off x="822960" y="3108960"/>
            <a:ext cx="9144000" cy="640080"/>
          </a:xfrm>
          <a:prstGeom prst="rect">
            <a:avLst/>
          </a:prstGeom>
          <a:noFill/>
          <a:ln/>
        </p:spPr>
        <p:txBody>
          <a:bodyPr wrap="square" rtlCol="0" anchor="ctr"/>
          <a:lstStyle/>
          <a:p>
            <a:pPr marL="0" indent="0">
              <a:buNone/>
            </a:pPr>
            <a:r>
              <a:rPr lang="en-US" sz="2200" i="1" dirty="0">
                <a:solidFill>
                  <a:srgbClr val="00E5FF"/>
                </a:solidFill>
                <a:latin typeface="Cambria" pitchFamily="34" charset="0"/>
                <a:ea typeface="Cambria" pitchFamily="34" charset="-122"/>
                <a:cs typeface="Cambria" pitchFamily="34" charset="-120"/>
              </a:rPr>
              <a:t>Questions?</a:t>
            </a:r>
            <a:endParaRPr lang="en-US" sz="2200" dirty="0"/>
          </a:p>
        </p:txBody>
      </p:sp>
      <p:sp>
        <p:nvSpPr>
          <p:cNvPr id="24" name="Shape 22"/>
          <p:cNvSpPr/>
          <p:nvPr/>
        </p:nvSpPr>
        <p:spPr>
          <a:xfrm>
            <a:off x="822960" y="3977640"/>
            <a:ext cx="2011680" cy="0"/>
          </a:xfrm>
          <a:prstGeom prst="line">
            <a:avLst/>
          </a:prstGeom>
          <a:noFill/>
          <a:ln w="25400">
            <a:solidFill>
              <a:srgbClr val="00E5FF"/>
            </a:solidFill>
            <a:prstDash val="solid"/>
          </a:ln>
        </p:spPr>
        <p:txBody>
          <a:bodyPr/>
          <a:lstStyle/>
          <a:p>
            <a:endParaRPr/>
          </a:p>
        </p:txBody>
      </p:sp>
      <p:sp>
        <p:nvSpPr>
          <p:cNvPr id="25" name="Text 23"/>
          <p:cNvSpPr/>
          <p:nvPr/>
        </p:nvSpPr>
        <p:spPr>
          <a:xfrm>
            <a:off x="822960" y="4206240"/>
            <a:ext cx="914400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Dumisani Masimini (Dumi)  |  Offensive Security Consultant, WorkNest Secure</a:t>
            </a:r>
            <a:endParaRPr lang="en-US" sz="1400" dirty="0"/>
          </a:p>
        </p:txBody>
      </p:sp>
      <p:sp>
        <p:nvSpPr>
          <p:cNvPr id="26" name="Text 24"/>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3">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100" b="1" kern="0" spc="200" dirty="0">
                <a:solidFill>
                  <a:srgbClr val="8E9BC0"/>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Evidence detail, pillar by pillar</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3794760"/>
        </p:xfrm>
        <a:graphic>
          <a:graphicData uri="http://schemas.openxmlformats.org/drawingml/2006/table">
            <a:tbl>
              <a:tblPr/>
              <a:tblGrid>
                <a:gridCol w="1463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632460">
                <a:tc>
                  <a:txBody>
                    <a:bodyPr/>
                    <a:lstStyle/>
                    <a:p>
                      <a:pPr marL="0" indent="0">
                        <a:buNone/>
                      </a:pPr>
                      <a:r>
                        <a:rPr lang="en-US" sz="1200" b="1" dirty="0">
                          <a:solidFill>
                            <a:srgbClr val="00E5FF"/>
                          </a:solidFill>
                        </a:rPr>
                        <a:t>Pillar</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marL="0" indent="0">
                        <a:buNone/>
                      </a:pPr>
                      <a:r>
                        <a:rPr lang="en-US" sz="1200" b="1" dirty="0">
                          <a:solidFill>
                            <a:srgbClr val="00E5FF"/>
                          </a:solidFill>
                        </a:rPr>
                        <a:t>Evidence</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marL="0" indent="0">
                        <a:buNone/>
                      </a:pPr>
                      <a:r>
                        <a:rPr lang="en-US" sz="1200" b="1" dirty="0">
                          <a:solidFill>
                            <a:srgbClr val="00E5FF"/>
                          </a:solidFill>
                        </a:rPr>
                        <a:t>Real-world anchor</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marL="0" indent="0">
                        <a:buNone/>
                      </a:pPr>
                      <a:r>
                        <a:rPr lang="en-US" sz="1200" b="1" dirty="0">
                          <a:solidFill>
                            <a:srgbClr val="00E5FF"/>
                          </a:solidFill>
                        </a:rPr>
                        <a:t>Likely challenge</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extLst>
                  <a:ext uri="{0D108BD9-81ED-4DB2-BD59-A6C34878D82A}">
                    <a16:rowId xmlns:a16="http://schemas.microsoft.com/office/drawing/2014/main" val="10000"/>
                  </a:ext>
                </a:extLst>
              </a:tr>
              <a:tr h="632460">
                <a:tc>
                  <a:txBody>
                    <a:bodyPr/>
                    <a:lstStyle/>
                    <a:p>
                      <a:pPr marL="0" indent="0">
                        <a:buNone/>
                      </a:pPr>
                      <a:r>
                        <a:rPr lang="en-US" sz="1150" b="1" dirty="0">
                          <a:solidFill>
                            <a:srgbClr val="FFFFFF"/>
                          </a:solidFill>
                        </a:rPr>
                        <a:t>Identity</a:t>
                      </a:r>
                      <a:endParaRPr lang="en-US" sz="1150" dirty="0"/>
                    </a:p>
                    <a:p>
                      <a:pPr marL="0" indent="0">
                        <a:buNone/>
                      </a:pPr>
                      <a:r>
                        <a:rPr lang="en-US" sz="1150" b="1" dirty="0">
                          <a:solidFill>
                            <a:srgbClr val="FFFFFF"/>
                          </a:solidFill>
                        </a:rPr>
                        <a:t>Providers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dirty="0">
                          <a:solidFill>
                            <a:srgbClr val="8E9BC0"/>
                          </a:solidFill>
                        </a:rPr>
                        <a:t>MGM Resorts / Caesars, Sept 2023 (Scattered Spider) - help-desk vishing into Okta, $100M+ impact</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i="1" dirty="0">
                          <a:solidFill>
                            <a:srgbClr val="8E9BC0"/>
                          </a:solidFill>
                        </a:rPr>
                        <a:t>“Doesn't hybrid sync tie this back to AD anyway?”</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extLst>
                  <a:ext uri="{0D108BD9-81ED-4DB2-BD59-A6C34878D82A}">
                    <a16:rowId xmlns:a16="http://schemas.microsoft.com/office/drawing/2014/main" val="10001"/>
                  </a:ext>
                </a:extLst>
              </a:tr>
              <a:tr h="632460">
                <a:tc>
                  <a:txBody>
                    <a:bodyPr/>
                    <a:lstStyle/>
                    <a:p>
                      <a:pPr marL="0" indent="0">
                        <a:buNone/>
                      </a:pPr>
                      <a:r>
                        <a:rPr lang="en-US" sz="1150" b="1" dirty="0">
                          <a:solidFill>
                            <a:srgbClr val="FFFFFF"/>
                          </a:solidFill>
                        </a:rPr>
                        <a:t>Device</a:t>
                      </a:r>
                      <a:endParaRPr lang="en-US" sz="1150" dirty="0"/>
                    </a:p>
                    <a:p>
                      <a:pPr marL="0" indent="0">
                        <a:buNone/>
                      </a:pPr>
                      <a:r>
                        <a:rPr lang="en-US" sz="1150" b="1" dirty="0">
                          <a:solidFill>
                            <a:srgbClr val="FFFFFF"/>
                          </a:solidFill>
                        </a:rPr>
                        <a:t>Management</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150" b="1" dirty="0">
                          <a:solidFill>
                            <a:srgbClr val="F5A623"/>
                          </a:solidFill>
                        </a:rPr>
                        <a:t>Emerging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050" dirty="0">
                          <a:solidFill>
                            <a:srgbClr val="8E9BC0"/>
                          </a:solidFill>
                        </a:rPr>
                        <a:t>Research-driven (Intune/Jamf misconfig talks) - no named headline breach yet</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050" i="1" dirty="0">
                          <a:solidFill>
                            <a:srgbClr val="8E9BC0"/>
                          </a:solidFill>
                        </a:rPr>
                        <a:t>“Has this actually happened in the wild?”</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extLst>
                  <a:ext uri="{0D108BD9-81ED-4DB2-BD59-A6C34878D82A}">
                    <a16:rowId xmlns:a16="http://schemas.microsoft.com/office/drawing/2014/main" val="10002"/>
                  </a:ext>
                </a:extLst>
              </a:tr>
              <a:tr h="632460">
                <a:tc>
                  <a:txBody>
                    <a:bodyPr/>
                    <a:lstStyle/>
                    <a:p>
                      <a:pPr marL="0" indent="0">
                        <a:buNone/>
                      </a:pPr>
                      <a:r>
                        <a:rPr lang="en-US" sz="1150" b="1" dirty="0">
                          <a:solidFill>
                            <a:srgbClr val="FFFFFF"/>
                          </a:solidFill>
                        </a:rPr>
                        <a:t>SaaS</a:t>
                      </a:r>
                      <a:endParaRPr lang="en-US" sz="1150" dirty="0"/>
                    </a:p>
                    <a:p>
                      <a:pPr marL="0" indent="0">
                        <a:buNone/>
                      </a:pPr>
                      <a:r>
                        <a:rPr lang="en-US" sz="1150" b="1" dirty="0">
                          <a:solidFill>
                            <a:srgbClr val="FFFFFF"/>
                          </a:solidFill>
                        </a:rPr>
                        <a:t>Platforms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dirty="0">
                          <a:solidFill>
                            <a:srgbClr val="8E9BC0"/>
                          </a:solidFill>
                        </a:rPr>
                        <a:t>Snowflake customer breach, 2024 (UNC5537) - ~165 orgs, stolen creds, no MFA</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i="1" dirty="0">
                          <a:solidFill>
                            <a:srgbClr val="8E9BC0"/>
                          </a:solidFill>
                        </a:rPr>
                        <a:t>“Isn't this just a credential/MFA problem, not a new pillar?”</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extLst>
                  <a:ext uri="{0D108BD9-81ED-4DB2-BD59-A6C34878D82A}">
                    <a16:rowId xmlns:a16="http://schemas.microsoft.com/office/drawing/2014/main" val="10003"/>
                  </a:ext>
                </a:extLst>
              </a:tr>
              <a:tr h="632460">
                <a:tc>
                  <a:txBody>
                    <a:bodyPr/>
                    <a:lstStyle/>
                    <a:p>
                      <a:pPr marL="0" indent="0">
                        <a:buNone/>
                      </a:pPr>
                      <a:r>
                        <a:rPr lang="en-US" sz="1150" b="1" dirty="0">
                          <a:solidFill>
                            <a:srgbClr val="FFFFFF"/>
                          </a:solidFill>
                        </a:rPr>
                        <a:t>OAuth &amp;</a:t>
                      </a:r>
                      <a:endParaRPr lang="en-US" sz="1150" dirty="0"/>
                    </a:p>
                    <a:p>
                      <a:pPr marL="0" indent="0">
                        <a:buNone/>
                      </a:pPr>
                      <a:r>
                        <a:rPr lang="en-US" sz="1150" b="1" dirty="0">
                          <a:solidFill>
                            <a:srgbClr val="FFFFFF"/>
                          </a:solidFill>
                        </a:rPr>
                        <a:t>Federation</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050" dirty="0">
                          <a:solidFill>
                            <a:srgbClr val="8E9BC0"/>
                          </a:solidFill>
                        </a:rPr>
                        <a:t>Microsoft corporate breach, Jan 2024 (Midnight Blizzard/APT29) - malicious OAuth apps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marL="0" indent="0">
                        <a:buNone/>
                      </a:pPr>
                      <a:r>
                        <a:rPr lang="en-US" sz="1050" i="1" dirty="0">
                          <a:solidFill>
                            <a:srgbClr val="8E9BC0"/>
                          </a:solidFill>
                        </a:rPr>
                        <a:t>“How common is this outside nation-state actors?”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extLst>
                  <a:ext uri="{0D108BD9-81ED-4DB2-BD59-A6C34878D82A}">
                    <a16:rowId xmlns:a16="http://schemas.microsoft.com/office/drawing/2014/main" val="10004"/>
                  </a:ext>
                </a:extLst>
              </a:tr>
              <a:tr h="632460">
                <a:tc>
                  <a:txBody>
                    <a:bodyPr/>
                    <a:lstStyle/>
                    <a:p>
                      <a:pPr marL="0" indent="0">
                        <a:buNone/>
                      </a:pPr>
                      <a:r>
                        <a:rPr lang="en-US" sz="1150" b="1" dirty="0">
                          <a:solidFill>
                            <a:srgbClr val="FFFFFF"/>
                          </a:solidFill>
                        </a:rPr>
                        <a:t>Cloud Admin</a:t>
                      </a:r>
                      <a:endParaRPr lang="en-US" sz="1150" dirty="0"/>
                    </a:p>
                    <a:p>
                      <a:pPr marL="0" indent="0">
                        <a:buNone/>
                      </a:pPr>
                      <a:r>
                        <a:rPr lang="en-US" sz="1150" b="1" dirty="0">
                          <a:solidFill>
                            <a:srgbClr val="FFFFFF"/>
                          </a:solidFill>
                        </a:rPr>
                        <a:t>Planes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150" b="1" dirty="0">
                          <a:solidFill>
                            <a:srgbClr val="3ED598"/>
                          </a:solidFill>
                        </a:rPr>
                        <a:t>Mature</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dirty="0">
                          <a:solidFill>
                            <a:srgbClr val="8E9BC0"/>
                          </a:solidFill>
                        </a:rPr>
                        <a:t>Recurring root cause across cloud breach research for years (Pacu, ScoutSuite exist because of this)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marL="0" indent="0">
                        <a:buNone/>
                      </a:pPr>
                      <a:r>
                        <a:rPr lang="en-US" sz="1050" i="1" dirty="0">
                          <a:solidFill>
                            <a:srgbClr val="8E9BC0"/>
                          </a:solidFill>
                        </a:rPr>
                        <a:t>“Isn't cloud IAM misconfig old news - what's new here?”</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extLst>
                  <a:ext uri="{0D108BD9-81ED-4DB2-BD59-A6C34878D82A}">
                    <a16:rowId xmlns:a16="http://schemas.microsoft.com/office/drawing/2014/main" val="10005"/>
                  </a:ext>
                </a:extLst>
              </a:tr>
            </a:tbl>
          </a:graphicData>
        </a:graphic>
      </p:graphicFrame>
      <p:sp>
        <p:nvSpPr>
          <p:cNvPr id="5" name="Text 2"/>
          <p:cNvSpPr/>
          <p:nvPr/>
        </p:nvSpPr>
        <p:spPr>
          <a:xfrm>
            <a:off x="640080" y="5715000"/>
            <a:ext cx="10881360" cy="457200"/>
          </a:xfrm>
          <a:prstGeom prst="rect">
            <a:avLst/>
          </a:prstGeom>
          <a:noFill/>
          <a:ln/>
        </p:spPr>
        <p:txBody>
          <a:bodyPr wrap="square" rtlCol="0" anchor="ctr"/>
          <a:lstStyle/>
          <a:p>
            <a:pPr marL="0" indent="0" algn="ctr">
              <a:buNone/>
            </a:pPr>
            <a:r>
              <a:rPr lang="en-US" sz="1200" i="1" dirty="0">
                <a:solidFill>
                  <a:srgbClr val="8E9BC0"/>
                </a:solidFill>
                <a:latin typeface="Calibri" pitchFamily="34" charset="0"/>
                <a:ea typeface="Calibri" pitchFamily="34" charset="-122"/>
                <a:cs typeface="Calibri" pitchFamily="34" charset="-120"/>
              </a:rPr>
              <a:t>Not for the main talk - pull this up only if someone in Q&amp;A pushes on a specific pillar's evidence.</a:t>
            </a:r>
            <a:endParaRPr lang="en-US" sz="1200" dirty="0"/>
          </a:p>
        </p:txBody>
      </p:sp>
      <p:sp>
        <p:nvSpPr>
          <p:cNvPr id="6" name="Text 3"/>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0A0F1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100" b="1" kern="0" spc="200" dirty="0">
                <a:solidFill>
                  <a:srgbClr val="8E9BC0"/>
                </a:solidFill>
                <a:latin typeface="Calibri" pitchFamily="34" charset="0"/>
                <a:ea typeface="Calibri" pitchFamily="34" charset="-122"/>
                <a:cs typeface="Calibri" pitchFamily="34" charset="-120"/>
              </a:rPr>
              <a:t>APPENDIX - QUICK REFERENCE</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Glossary</a:t>
            </a:r>
            <a:endParaRPr lang="en-US" sz="3200" dirty="0"/>
          </a:p>
        </p:txBody>
      </p:sp>
      <p:sp>
        <p:nvSpPr>
          <p:cNvPr id="4" name="Shape 2"/>
          <p:cNvSpPr/>
          <p:nvPr/>
        </p:nvSpPr>
        <p:spPr>
          <a:xfrm>
            <a:off x="640080" y="1783080"/>
            <a:ext cx="3447288" cy="1234440"/>
          </a:xfrm>
          <a:prstGeom prst="roundRect">
            <a:avLst>
              <a:gd name="adj" fmla="val 7407"/>
            </a:avLst>
          </a:prstGeom>
          <a:solidFill>
            <a:srgbClr val="121A33"/>
          </a:solidFill>
          <a:ln/>
        </p:spPr>
        <p:txBody>
          <a:bodyPr/>
          <a:lstStyle/>
          <a:p>
            <a:endParaRPr/>
          </a:p>
        </p:txBody>
      </p:sp>
      <p:sp>
        <p:nvSpPr>
          <p:cNvPr id="5" name="Text 3"/>
          <p:cNvSpPr/>
          <p:nvPr/>
        </p:nvSpPr>
        <p:spPr>
          <a:xfrm>
            <a:off x="822960" y="189280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IdP</a:t>
            </a:r>
            <a:endParaRPr lang="en-US" sz="1350" dirty="0"/>
          </a:p>
        </p:txBody>
      </p:sp>
      <p:sp>
        <p:nvSpPr>
          <p:cNvPr id="6" name="Text 4"/>
          <p:cNvSpPr/>
          <p:nvPr/>
        </p:nvSpPr>
        <p:spPr>
          <a:xfrm>
            <a:off x="822960" y="222199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Identity Provider - the system that authenticates users and issues the tokens everything else trusts</a:t>
            </a:r>
            <a:endParaRPr lang="en-US" sz="1000" dirty="0"/>
          </a:p>
        </p:txBody>
      </p:sp>
      <p:sp>
        <p:nvSpPr>
          <p:cNvPr id="7" name="Shape 5"/>
          <p:cNvSpPr/>
          <p:nvPr/>
        </p:nvSpPr>
        <p:spPr>
          <a:xfrm>
            <a:off x="4343400" y="1783080"/>
            <a:ext cx="3447288" cy="1234440"/>
          </a:xfrm>
          <a:prstGeom prst="roundRect">
            <a:avLst>
              <a:gd name="adj" fmla="val 7407"/>
            </a:avLst>
          </a:prstGeom>
          <a:solidFill>
            <a:srgbClr val="121A33"/>
          </a:solidFill>
          <a:ln/>
        </p:spPr>
        <p:txBody>
          <a:bodyPr/>
          <a:lstStyle/>
          <a:p>
            <a:endParaRPr/>
          </a:p>
        </p:txBody>
      </p:sp>
      <p:sp>
        <p:nvSpPr>
          <p:cNvPr id="8" name="Text 6"/>
          <p:cNvSpPr/>
          <p:nvPr/>
        </p:nvSpPr>
        <p:spPr>
          <a:xfrm>
            <a:off x="4526280" y="189280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Entra ID</a:t>
            </a:r>
            <a:endParaRPr lang="en-US" sz="1350" dirty="0"/>
          </a:p>
        </p:txBody>
      </p:sp>
      <p:sp>
        <p:nvSpPr>
          <p:cNvPr id="9" name="Text 7"/>
          <p:cNvSpPr/>
          <p:nvPr/>
        </p:nvSpPr>
        <p:spPr>
          <a:xfrm>
            <a:off x="4526280" y="222199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Microsoft's cloud identity platform (formerly Azure AD) - identity for M365 and beyond</a:t>
            </a:r>
            <a:endParaRPr lang="en-US" sz="1000" dirty="0"/>
          </a:p>
        </p:txBody>
      </p:sp>
      <p:sp>
        <p:nvSpPr>
          <p:cNvPr id="10" name="Shape 8"/>
          <p:cNvSpPr/>
          <p:nvPr/>
        </p:nvSpPr>
        <p:spPr>
          <a:xfrm>
            <a:off x="8046720" y="1783080"/>
            <a:ext cx="3447288" cy="1234440"/>
          </a:xfrm>
          <a:prstGeom prst="roundRect">
            <a:avLst>
              <a:gd name="adj" fmla="val 7407"/>
            </a:avLst>
          </a:prstGeom>
          <a:solidFill>
            <a:srgbClr val="121A33"/>
          </a:solidFill>
          <a:ln/>
        </p:spPr>
        <p:txBody>
          <a:bodyPr/>
          <a:lstStyle/>
          <a:p>
            <a:endParaRPr/>
          </a:p>
        </p:txBody>
      </p:sp>
      <p:sp>
        <p:nvSpPr>
          <p:cNvPr id="11" name="Text 9"/>
          <p:cNvSpPr/>
          <p:nvPr/>
        </p:nvSpPr>
        <p:spPr>
          <a:xfrm>
            <a:off x="8229600" y="189280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SaaS</a:t>
            </a:r>
            <a:endParaRPr lang="en-US" sz="1350" dirty="0"/>
          </a:p>
        </p:txBody>
      </p:sp>
      <p:sp>
        <p:nvSpPr>
          <p:cNvPr id="12" name="Text 10"/>
          <p:cNvSpPr/>
          <p:nvPr/>
        </p:nvSpPr>
        <p:spPr>
          <a:xfrm>
            <a:off x="8229600" y="222199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Software-as-a-Service - hosted applications you access over the web, not run on your own servers</a:t>
            </a:r>
            <a:endParaRPr lang="en-US" sz="1000" dirty="0"/>
          </a:p>
        </p:txBody>
      </p:sp>
      <p:sp>
        <p:nvSpPr>
          <p:cNvPr id="13" name="Shape 11"/>
          <p:cNvSpPr/>
          <p:nvPr/>
        </p:nvSpPr>
        <p:spPr>
          <a:xfrm>
            <a:off x="640080" y="3200400"/>
            <a:ext cx="3447288" cy="1234440"/>
          </a:xfrm>
          <a:prstGeom prst="roundRect">
            <a:avLst>
              <a:gd name="adj" fmla="val 7407"/>
            </a:avLst>
          </a:prstGeom>
          <a:solidFill>
            <a:srgbClr val="121A33"/>
          </a:solidFill>
          <a:ln/>
        </p:spPr>
        <p:txBody>
          <a:bodyPr/>
          <a:lstStyle/>
          <a:p>
            <a:endParaRPr/>
          </a:p>
        </p:txBody>
      </p:sp>
      <p:sp>
        <p:nvSpPr>
          <p:cNvPr id="14" name="Text 12"/>
          <p:cNvSpPr/>
          <p:nvPr/>
        </p:nvSpPr>
        <p:spPr>
          <a:xfrm>
            <a:off x="822960" y="331012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MDM / UEM</a:t>
            </a:r>
            <a:endParaRPr lang="en-US" sz="1350" dirty="0"/>
          </a:p>
        </p:txBody>
      </p:sp>
      <p:sp>
        <p:nvSpPr>
          <p:cNvPr id="15" name="Text 13"/>
          <p:cNvSpPr/>
          <p:nvPr/>
        </p:nvSpPr>
        <p:spPr>
          <a:xfrm>
            <a:off x="822960" y="363931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Mobile / Unified Endpoint Management - platforms that enroll and enforce policy on devices</a:t>
            </a:r>
            <a:endParaRPr lang="en-US" sz="1000" dirty="0"/>
          </a:p>
        </p:txBody>
      </p:sp>
      <p:sp>
        <p:nvSpPr>
          <p:cNvPr id="16" name="Shape 14"/>
          <p:cNvSpPr/>
          <p:nvPr/>
        </p:nvSpPr>
        <p:spPr>
          <a:xfrm>
            <a:off x="4343400" y="3200400"/>
            <a:ext cx="3447288" cy="1234440"/>
          </a:xfrm>
          <a:prstGeom prst="roundRect">
            <a:avLst>
              <a:gd name="adj" fmla="val 7407"/>
            </a:avLst>
          </a:prstGeom>
          <a:solidFill>
            <a:srgbClr val="121A33"/>
          </a:solidFill>
          <a:ln/>
        </p:spPr>
        <p:txBody>
          <a:bodyPr/>
          <a:lstStyle/>
          <a:p>
            <a:endParaRPr/>
          </a:p>
        </p:txBody>
      </p:sp>
      <p:sp>
        <p:nvSpPr>
          <p:cNvPr id="17" name="Text 15"/>
          <p:cNvSpPr/>
          <p:nvPr/>
        </p:nvSpPr>
        <p:spPr>
          <a:xfrm>
            <a:off x="4526280" y="331012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Intune</a:t>
            </a:r>
            <a:endParaRPr lang="en-US" sz="1350" dirty="0"/>
          </a:p>
        </p:txBody>
      </p:sp>
      <p:sp>
        <p:nvSpPr>
          <p:cNvPr id="18" name="Text 16"/>
          <p:cNvSpPr/>
          <p:nvPr/>
        </p:nvSpPr>
        <p:spPr>
          <a:xfrm>
            <a:off x="4526280" y="363931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Microsoft's MDM/UEM platform for managing and securing devices</a:t>
            </a:r>
            <a:endParaRPr lang="en-US" sz="1000" dirty="0"/>
          </a:p>
        </p:txBody>
      </p:sp>
      <p:sp>
        <p:nvSpPr>
          <p:cNvPr id="19" name="Shape 17"/>
          <p:cNvSpPr/>
          <p:nvPr/>
        </p:nvSpPr>
        <p:spPr>
          <a:xfrm>
            <a:off x="8046720" y="3200400"/>
            <a:ext cx="3447288" cy="1234440"/>
          </a:xfrm>
          <a:prstGeom prst="roundRect">
            <a:avLst>
              <a:gd name="adj" fmla="val 7407"/>
            </a:avLst>
          </a:prstGeom>
          <a:solidFill>
            <a:srgbClr val="121A33"/>
          </a:solidFill>
          <a:ln/>
        </p:spPr>
        <p:txBody>
          <a:bodyPr/>
          <a:lstStyle/>
          <a:p>
            <a:endParaRPr/>
          </a:p>
        </p:txBody>
      </p:sp>
      <p:sp>
        <p:nvSpPr>
          <p:cNvPr id="20" name="Text 18"/>
          <p:cNvSpPr/>
          <p:nvPr/>
        </p:nvSpPr>
        <p:spPr>
          <a:xfrm>
            <a:off x="8229600" y="331012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Jamf</a:t>
            </a:r>
            <a:endParaRPr lang="en-US" sz="1350" dirty="0"/>
          </a:p>
        </p:txBody>
      </p:sp>
      <p:sp>
        <p:nvSpPr>
          <p:cNvPr id="21" name="Text 19"/>
          <p:cNvSpPr/>
          <p:nvPr/>
        </p:nvSpPr>
        <p:spPr>
          <a:xfrm>
            <a:off x="8229600" y="363931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A leading MDM platform built specifically for managing Apple devices</a:t>
            </a:r>
            <a:endParaRPr lang="en-US" sz="1000" dirty="0"/>
          </a:p>
        </p:txBody>
      </p:sp>
      <p:sp>
        <p:nvSpPr>
          <p:cNvPr id="22" name="Shape 20"/>
          <p:cNvSpPr/>
          <p:nvPr/>
        </p:nvSpPr>
        <p:spPr>
          <a:xfrm>
            <a:off x="640080" y="4617720"/>
            <a:ext cx="3447288" cy="1234440"/>
          </a:xfrm>
          <a:prstGeom prst="roundRect">
            <a:avLst>
              <a:gd name="adj" fmla="val 7407"/>
            </a:avLst>
          </a:prstGeom>
          <a:solidFill>
            <a:srgbClr val="121A33"/>
          </a:solidFill>
          <a:ln/>
        </p:spPr>
        <p:txBody>
          <a:bodyPr/>
          <a:lstStyle/>
          <a:p>
            <a:endParaRPr/>
          </a:p>
        </p:txBody>
      </p:sp>
      <p:sp>
        <p:nvSpPr>
          <p:cNvPr id="23" name="Text 21"/>
          <p:cNvSpPr/>
          <p:nvPr/>
        </p:nvSpPr>
        <p:spPr>
          <a:xfrm>
            <a:off x="822960" y="472744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OAuth</a:t>
            </a:r>
            <a:endParaRPr lang="en-US" sz="1350" dirty="0"/>
          </a:p>
        </p:txBody>
      </p:sp>
      <p:sp>
        <p:nvSpPr>
          <p:cNvPr id="24" name="Text 22"/>
          <p:cNvSpPr/>
          <p:nvPr/>
        </p:nvSpPr>
        <p:spPr>
          <a:xfrm>
            <a:off x="822960" y="505663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An authorisation framework - lets an app act on a user's behalf without their password</a:t>
            </a:r>
            <a:endParaRPr lang="en-US" sz="1000" dirty="0"/>
          </a:p>
        </p:txBody>
      </p:sp>
      <p:sp>
        <p:nvSpPr>
          <p:cNvPr id="25" name="Shape 23"/>
          <p:cNvSpPr/>
          <p:nvPr/>
        </p:nvSpPr>
        <p:spPr>
          <a:xfrm>
            <a:off x="4343400" y="4617720"/>
            <a:ext cx="3447288" cy="1234440"/>
          </a:xfrm>
          <a:prstGeom prst="roundRect">
            <a:avLst>
              <a:gd name="adj" fmla="val 7407"/>
            </a:avLst>
          </a:prstGeom>
          <a:solidFill>
            <a:srgbClr val="121A33"/>
          </a:solidFill>
          <a:ln/>
        </p:spPr>
        <p:txBody>
          <a:bodyPr/>
          <a:lstStyle/>
          <a:p>
            <a:endParaRPr/>
          </a:p>
        </p:txBody>
      </p:sp>
      <p:sp>
        <p:nvSpPr>
          <p:cNvPr id="26" name="Text 24"/>
          <p:cNvSpPr/>
          <p:nvPr/>
        </p:nvSpPr>
        <p:spPr>
          <a:xfrm>
            <a:off x="4526280" y="472744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full_access_as_app</a:t>
            </a:r>
            <a:endParaRPr lang="en-US" sz="1350" dirty="0"/>
          </a:p>
        </p:txBody>
      </p:sp>
      <p:sp>
        <p:nvSpPr>
          <p:cNvPr id="27" name="Text 25"/>
          <p:cNvSpPr/>
          <p:nvPr/>
        </p:nvSpPr>
        <p:spPr>
          <a:xfrm>
            <a:off x="4526280" y="505663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An Exchange Online permission granting an app full mailbox access as itself, not as a user</a:t>
            </a:r>
            <a:endParaRPr lang="en-US" sz="1000" dirty="0"/>
          </a:p>
        </p:txBody>
      </p:sp>
      <p:sp>
        <p:nvSpPr>
          <p:cNvPr id="28" name="Shape 26"/>
          <p:cNvSpPr/>
          <p:nvPr/>
        </p:nvSpPr>
        <p:spPr>
          <a:xfrm>
            <a:off x="8046720" y="4617720"/>
            <a:ext cx="3447288" cy="1234440"/>
          </a:xfrm>
          <a:prstGeom prst="roundRect">
            <a:avLst>
              <a:gd name="adj" fmla="val 7407"/>
            </a:avLst>
          </a:prstGeom>
          <a:solidFill>
            <a:srgbClr val="121A33"/>
          </a:solidFill>
          <a:ln/>
        </p:spPr>
        <p:txBody>
          <a:bodyPr/>
          <a:lstStyle/>
          <a:p>
            <a:endParaRPr/>
          </a:p>
        </p:txBody>
      </p:sp>
      <p:sp>
        <p:nvSpPr>
          <p:cNvPr id="29" name="Text 27"/>
          <p:cNvSpPr/>
          <p:nvPr/>
        </p:nvSpPr>
        <p:spPr>
          <a:xfrm>
            <a:off x="8229600" y="4727448"/>
            <a:ext cx="3081528" cy="320040"/>
          </a:xfrm>
          <a:prstGeom prst="rect">
            <a:avLst/>
          </a:prstGeom>
          <a:noFill/>
          <a:ln/>
        </p:spPr>
        <p:txBody>
          <a:bodyPr wrap="square" rtlCol="0" anchor="ctr"/>
          <a:lstStyle/>
          <a:p>
            <a:pPr marL="0" indent="0">
              <a:buNone/>
            </a:pPr>
            <a:r>
              <a:rPr lang="en-US" sz="1350" b="1" dirty="0">
                <a:solidFill>
                  <a:srgbClr val="00E5FF"/>
                </a:solidFill>
                <a:latin typeface="Calibri" pitchFamily="34" charset="0"/>
                <a:ea typeface="Calibri" pitchFamily="34" charset="-122"/>
                <a:cs typeface="Calibri" pitchFamily="34" charset="-120"/>
              </a:rPr>
              <a:t>IAM</a:t>
            </a:r>
            <a:endParaRPr lang="en-US" sz="1350" dirty="0"/>
          </a:p>
        </p:txBody>
      </p:sp>
      <p:sp>
        <p:nvSpPr>
          <p:cNvPr id="30" name="Text 28"/>
          <p:cNvSpPr/>
          <p:nvPr/>
        </p:nvSpPr>
        <p:spPr>
          <a:xfrm>
            <a:off x="8229600" y="5056632"/>
            <a:ext cx="3081528" cy="749808"/>
          </a:xfrm>
          <a:prstGeom prst="rect">
            <a:avLst/>
          </a:prstGeom>
          <a:noFill/>
          <a:ln/>
        </p:spPr>
        <p:txBody>
          <a:bodyPr wrap="square" rtlCol="0" anchor="t"/>
          <a:lstStyle/>
          <a:p>
            <a:pPr marL="0" indent="0">
              <a:buNone/>
            </a:pPr>
            <a:r>
              <a:rPr lang="en-US" sz="1000" dirty="0">
                <a:solidFill>
                  <a:srgbClr val="8E9BC0"/>
                </a:solidFill>
                <a:latin typeface="Calibri" pitchFamily="34" charset="0"/>
                <a:ea typeface="Calibri" pitchFamily="34" charset="-122"/>
                <a:cs typeface="Calibri" pitchFamily="34" charset="-120"/>
              </a:rPr>
              <a:t>Identity and Access Management - the roles and policies deciding who can do what to cloud resources</a:t>
            </a:r>
            <a:endParaRPr lang="en-US" sz="1000" dirty="0"/>
          </a:p>
        </p:txBody>
      </p:sp>
      <p:sp>
        <p:nvSpPr>
          <p:cNvPr id="31" name="Text 2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8E9BC0"/>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5260</Words>
  <Application>Microsoft Office PowerPoint</Application>
  <PresentationFormat>Widescreen</PresentationFormat>
  <Paragraphs>676</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 Mas</cp:lastModifiedBy>
  <cp:revision>34</cp:revision>
  <dcterms:created xsi:type="dcterms:W3CDTF">2026-08-20T21:47:42Z</dcterms:created>
  <dcterms:modified xsi:type="dcterms:W3CDTF">2026-09-15T22:24:56Z</dcterms:modified>
</cp:coreProperties>
</file>